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47"/>
  </p:notesMasterIdLst>
  <p:sldIdLst>
    <p:sldId id="300" r:id="rId3"/>
    <p:sldId id="30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302"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3533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888152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1595872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de encuadre. Presenta la arquitectura y el propósito del Módulo 1 dentro del Programa FdF-NAE.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FdF-NAE V2, M1; Guía del Facilitador/a V2, §6.1. Mantener diez horas: dos presenciales, dos sincrónicas y seis asincrónicas; C1, C2, C3 y C4. M1 desarrolla el núcleo pedagógico. Las prácticas de diagnóstico formativo, diseño, microfacilitación y evaluación se integran en el Portafolio, especialmente como aportes al Diseño de réplica territorial que se concreta en M6 mediante K10. No generan un quinto producto ni una entrega calificable por cada ejercicio.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módulo constituye el núcleo pedagógico del programa. Integra diagnóstico de necesidades formativas, diseño curricular y de sesiones, facilitación activa y evaluación del aprendizaje.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Competencias del módulo: C1 Diagnosticar necesidades de formación y desarrollo de capacidades; C2 Diseñar procesos formativos orientados a competencias con enfoque inclusivo y sostenible; C3 Facilitar aprendizajes activos y gestionar dinámicas grupales en contextos diversos; C4 Evaluar el aprendizaje y el proceso formativo para la mejora continua.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esperados de aprendizaje del Módulo 1, puntos 1 a 5, según el Programa FdF NAE_V2.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esperados de aprendizaje del Módulo 1, puntos 6 a 10, según el Programa FdF NAE_V2.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enfoque metodológico; Guía V2, §§6.1 y 10. Los dos ciclos se relacionan sin confundirse: diagnosticar necesidades de aprendizaje de las personas no equivale a diagnosticar integralmente el negocio. La formación desarrolla capacidades para acompañar; algunas necesidades empresariales requerirán mentoría, asesoría o asistencia técnica. En M1 usar K01 para aprender a diagnosticar, diseñar, facilitar, evaluar y mejorar; la multiplicación se concreta posteriormente en el diseño territorial.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1. Diagnóstico de necesidades formativas (2 h virtuales asincrónicas). Contenidos: Conceptos clave: necesidad formativa vs. necesidad empresarial; brecha de capacidades; diagnóstico participativo. Caracterización del grupo destinatario: perfiles, experiencias previas, motivaciones, barreras de acceso (género, edad, discapacidad, conectividad). Análisis del contexto territorial: recursos disponibles, actores de apoyo, restricciones logísticas y tecnológicas. Herramientas de diagnóstico: entrevistas, grupos focales, cuestionarios, observación, análisis documental. Priorización: matriz de priorización simplificada (impacto/urgencia). Ejercicio guiado: aplicación a un caso NAE simulado.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Conceptos clave del Tema 1: necesidad formativa vs. necesidad empresarial; brecha de capacidades; diagnóstico participativo. La competencia C1 se orienta al diagnóstico de necesidades de formación y desarrollo de capacidades.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Caracterización del grupo destinatario: perfiles, experiencias previas, motivaciones, barreras de acceso (género, edad, discapacidad, conectividad).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M1 Tema 1; Guía V2, ficha M1-T1. Entrevista, grupo focal, cuestionario, observación y análisis documental son técnicas pedagógicas contempladas por el Programa, no nuevos códigos de la Caja de Herramientas. M1 utiliza K01 como caso transversal. No aplicar K02 o K03 obligatoriamente en este módulo.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M1 Tema 1; Guía V2, ficha M1-T1. Usar impacto y urgencia para priorizar las necesidades formativas y valorar si la formación es una respuesta viable a la brecha identificada. Separar problemas que requieren abastecimiento, financiamiento, asistencia especializada u otros apoyos. La matriz simplificada de aprendizaje no es K03 Problemática Jerarquizada ni un producto evaluativo independiente.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§6.1 y ficha M1-T1; K01 Caso La Colmena; Guía de evaluación V1, §12. La ficha completa ocupa dos horas asincrónicas: 0–15 activación; 15–35 conceptos; 35–65 aplicación; 65–90 priorización; 90–110 revisión entre pares; 110–120 cierre. El rótulo 30 + 25 minutos corresponde a aplicación y priorización dentro de esas dos horas. Clasificar con K01 brechas de capacidad y necesidades de otros apoyos, caracterizar destinatarios y justificar. La Colmena presenta información dispersa, dificultades de costeo, decisiones concentradas y barreras de cuidado para algunas trabajadoras. Esas evidencias permiten formular hipótesis de necesidades de aprendizaje, pero no prueban por sí solas desconocimiento individual. Registrar qué se requiere confirmar mediante entrevista u observación. No inventar datos para llenar vacíos ni confundir personal de la empresa con el grupo de personas formadoras cuando se cambie la situación didáctica. La matriz es práctica sin calificación separada.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2. Diseño curricular y de sesiones formativas (3 h virtuales asincrónicas). Contenidos: Formulación de resultados de aprendizaje: características (observables, medibles, alcanzables). Diseño de secuencias didácticas: estructura de apertura, desarrollo y cierre; dosificación y tiempos. Selección de metodologías y recursos: criterios de elección (resultado esperado, características del grupo, tiempo, recursos disponibles); adaptación a baja conectividad. Incorporación de enfoques transversales: género, inclusión, sostenibilidad en contenidos, ejemplos, materiales y dinámicas. Articulación con la evaluación: alineación entre competencias, actividades y criterios de evaluación (matriz de alineación). Ejercicio guiado: diseño de una sesión a partir de una necesidad priorizada.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Formulación de resultados de aprendizaje: características observables, medibles, alcanzables y coherentes con las competencias que se pretende desarrollar.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Diseño de secuencias didácticas: estructura de apertura, desarrollo y cierre; dosificación y tiempos.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Selección de metodologías y recursos: criterios de elección (resultado esperado, características del grupo, tiempo, recursos disponibles); adaptación a baja conectividad.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M1 Tema 2 y enfoques transversales; Guía V2, capítulo 8; K01. Considerar responsabilidades de cuidado y distribución de la participación; no asumir menor capacidad por género, edad o discapacidad. Incorporar sostenibilidad económica, social y ambiental e innovación viable en ejemplos y decisiones. Proteger información, explicar propósito formativo y diferenciar datos, opiniones y supuestos. En K01, contrastar crecimiento de ventas con registros insuficientes de rentabilidad, sin dar una solución empresarial predeterminada.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M1 Tema 2; Guía V2, fichas M1-T2 y M1-T4. K01 es el recurso común para prácticas. Seleccionar actividad, recurso, evidencia y criterio que permitan observar el resultado esperado. La participación por sí sola no demuestra aprendizaje. En C3 observar cómo la actividad hace practicar lo esperado y cómo se comprueba el aprendizaje. Esta matriz es evidencia de práctica o componente del diseño; no un producto calificable adicional.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ficha M1-T2; Programa V2, M1 Tema 2. Tres horas asincrónicas: 0–20 modelado de resultados; 20–50 secuencia; 50–110 diseño; 110–140 alineación y enfoques transversales; 140–170 revisión entre pares; 170–180 cierre. El rótulo 60 minutos identifica el tramo de diseño, no toda la ficha. Utilizar la necesidad priorizada de K01 y completar resultado, contenidos, apertura, desarrollo, cierre, tiempos, metodología, recursos y evaluación; prever versión sin conexión. Ficha y matriz son prácticas que aportan al Diseño de réplica territorial, no dos productos evaluativos.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3. Facilitación activa y gestión de dinámicas grupales (2 h presenciales). Contenidos: Principios de la educación de personas adultas: andragogía, aprendizaje experiencial, aprendizaje autodirigido, rol de la experiencia previa. Metodologías activas: estudio de casos, aprendizaje basado en problemas, simulaciones, demostraciones, trabajo colaborativo, análisis de experiencias, ejercicios de aplicación. Criterios de selección y combinación. Técnicas de facilitación: preguntas reflexivas, parafraseo, síntesis, andamiaje, devolución, cierre. Gestión de la comunicación y el grupo: escucha activa, clima seguro y respetuoso, distribución equitativa de la participación, gestión de expectativas y diversidad. Manejo de situaciones críticas: conflictos, desacuerdos, participantes dominantes o pasivos, resistencia al cambio, interrupciones externas. Contextualización y flexibilidad: adaptación de la facilitación a la evolución del grupo, a las condiciones del territorio y a la disponibilidad de recursos.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Principios de la educación de personas adultas: andragogía, aprendizaje experiencial, aprendizaje autodirigido, rol de la experiencia previa.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Metodologías activas del Tema 3: estudio de casos, aprendizaje basado en problemas, simulaciones, demostraciones, trabajo colaborativo, análisis de experiencias y ejercicios de aplicación. Criterios de selección y combinación.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Técnicas de facilitación: preguntas reflexivas, parafraseo, síntesis, andamiaje, devolución, cierre.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Gestión de la comunicación y el grupo: escucha activa, clima seguro y respetuoso, distribución equitativa de la participación, gestión de expectativas y diversidad.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Manejo de situaciones críticas: conflictos, desacuerdos, participantes dominantes o pasivos, resistencia al cambio, interrupciones externas. Contextualización y flexibilidad: adaptación de la facilitación a la evolución del grupo, a las condiciones del territorio y a la disponibilidad de recursos.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§6.1 y ficha M1-T3. Las microfacilitaciones ocupan 25–85 minutos del taller presencial de dos horas. En grupos pequeños, facilitar segmentos de ocho a diez minutos a partir del diseño basado en K01; pares observan con criterios acordados. Prever rotación compatible con tamaño del grupo. Valorar metodología activa, preguntas, escucha, aprendizaje, participación, tiempo y cierre. Los criterios de observación son formativos; las Rúbricas de Evaluación V1 suministradas corresponden a productos del Portafolio y no incluyen una rúbrica específica de microfacilitación. No presentar una de esas rúbricas de producto como rúbrica oficial de la microfacilitación ni añadir una nota independiente. Registrar una fortaleza y una mejora concreta.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4. Evaluación del aprendizaje y mejora del proceso (1 h virtual asincrónica + 2 h virtuales sincrónicas). Contenidos: Tipos de evaluación: diagnóstica, formativa y final (sumativa); funciones y momentos. Criterios e instrumentos de evaluación: rúbricas, listas de cotejo, escalas de valoración, portafolios, pruebas situacionales. Coherencia con las competencias. Retroalimentación: características de una retroalimentación útil, respetuosa y orientada al desarrollo; técnicas y formatos. Análisis de evidencias de aprendizaje: identificación de logros y dificultades; interpretación pedagógica. Mejora del proceso formativo: ajuste de contenidos, métodos, tiempos y recursos a partir de los resultados de la evaluación; documentación de decisiones.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§§10.1–10.4; Guía de evaluación V1, §§2–5, 15–17. La evaluación diagnóstica tiene uso pedagógico y peso cero. El Portafolio reúne cuatro productos, pesa 70 % y recibe retroalimentación y posibilidad de mejora. La prueba teórica final, después de los seis módulos, pesa 30 %. Aprobación académica: nota final igual o superior a 70/100. La asistencia no aporta puntos. Certificación conjunta UA–MES requiere además al menos 80 % de horas, participación regional, al menos dos sesiones de multiplicación provincial, evidencias de aplicación, mínimo nivel 2 en las siete competencias y nivel 3 en C2, C3 y C4, según el Programa. No convertir la frase operativa de la Guía de evaluación sobre formación totalmente a distancia en una modificación automática de la modalidad, carga o requisitos del Programa. Para la diagnóstica se prevé formato impreso en cursos presenciales cuando corresponda.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M1 Tema 4 y §10.2; Guía de evaluación V1, §§7–10 y 13; Rúbricas de Evaluación V1. Hay cuatro productos integradores. El documento de rúbricas incluye también una rúbrica de Problemática Jerarquizada: es un componente del diagnóstico que prepara el plan, no un quinto producto, como aclara la Guía de evaluación. Cada rúbrica suministrada tiene cinco criterios y cuatro niveles: Sólido 4, Adecuado 3, Parcial 2, Insuficiente 1; máximo 20 puntos y conversión (puntaje/20)×100. La referencia operativa de 70/100 en un producto no reemplaza el criterio normativo de aprobación académica global. Las rúbricas no introducen nuevos productos ni una nota por cada práctica. Diferenciar niveles de rúbrica de producto de los niveles de dominio competencial exigidos para certificar.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Retroalimentación: características de una retroalimentación útil, respetuosa y orientada al desarrollo; técnicas y formatos.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Análisis de evidencias de aprendizaje: identificación de logros y dificultades; interpretación pedagógica. Mejora del proceso formativo: ajuste de contenidos, métodos, tiempos y recursos a partir de los resultados de la evaluación; documentación de decisiones.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ficha M1-T4; Guía de evaluación V1, §§13–14; Rúbricas de Evaluación V1. La ficha tiene una hora asincrónica: 0–30 clasificar evaluaciones y 30–60 elaborar un instrumento breve para la sesión. Las dos horas sincrónicas son 0–20 calibración; 20–70 aplicación a muestras de desempeño; 70–105 retroalimentación; 105–120 cierre y ajuste. El rótulo 50 + 35 minutos corresponde a aplicación y retroalimentación. Para la microfacilitación usar un instrumento breve coherente con los criterios acordados; las cinco rúbricas V1 valoran productos empresariales y de réplica, no constituyen una rúbrica específica de esta práctica. Compartir los criterios antes de observar y justificar con evidencias. Retroalimentar mediante evidencia, criterio, logro, mejora y acción. El resultado es un ajuste pedagógico, no el Plan de Mejora empresarial del Producto 2 ni una nueva tarea calificable.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de aplicación territorial: conecta el Módulo 1 con las condiciones de implementación en Cuba y con la lógica de multiplicación territorial del Programa FdF-NAE.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§6.1; K01; Guía de evaluación V1. Preparar K01 y fichas en papel, microfacilitaciones sin proyector y listas de cotejo impresas. Mantener propósito, resultado, evidencia y criterio cuando cambie el soporte. Acordar cómo consolidar o entregar evidencias cuando se recupere conectividad. No confundir una adaptación de recursos con modificación de requisitos académicos.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K01 Caso La Colmena; Guía V2, §7.2 y capítulo 7; Programa V2, M1 y selección de herramientas. K01 es el hilo conductor de M1. La Colmena es ficticia; cuenta con catorce personas, nueve mujeres y cinco hombres, y combina crecimiento con dificultades organizativas, costeo inconsistente, información dispersa y restricciones de energía, conectividad y recursos. No toda dificultad se resuelve con capacitación; justificar qué capacidad se pretende desarrollar y qué apoyo distinto se requiere. En ejercicios y microfacilitaciones usar la información disponible, explicitar vacíos, evitar inventar datos y reconocer más de una decisión razonable. No aplicar herramientas K02–K10 obligatoriamente en M1. Las referencias procedentes de CVI/PNUD son complementarias y su selección no constituye una secuencia universal ni sustituye arquitectura, competencias, productos o criterios FdF-NAE.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§10.2 producto 4; Guía V2, §§6, 6.1 y 6.6; Guía de evaluación V1, §10; Rúbricas V1, Plan de Multiplicación Territorial. M1 produce insumos pedagógicos para el cuarto producto: caracterización, necesidades, resultados, diseño de sesión, metodología, evaluación y adaptaciones. El Diseño de réplica territorial se completa y articula en M6 mediante K10; no se exige terminar K10 como entrega autónoma de M1. La rúbrica territorial valora fidelidad metodológica, contextualización, inclusión/transversales, contingencia y calidad/evidencias.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evidencias de dominio y §10.2; Guía V2, §§6 y 9.3. Las evidencias de C1–C4 son prácticas observables o componentes del Portafolio. Pueden integrarse como fichas, anexos, registros o criterios en los cuatro productos según corresponda; no son una lista de entregas calificables independientes. Observar calidad del desempeño, retroalimentar y permitir mejoras. Las rúbricas V1 no convierten cada ficha o microfacilitación en un nuevo producto.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Guía V2, ficha M1-T3. Taller presencial de 120 minutos: apertura 0–10; demostración 10–25; microfacilitaciones 25–85; situaciones críticas 85–105; balance 105–115; cierre 115–120. La última fila agrupa balance y cierre preservando sus tiempos. No ampliar la carga. Las secuencias de ocho a diez minutos se realizan en grupos pequeños, con observación entre pares y K01 como recurso de aplicación. Al cierre cada persona registra una fortaleza y una mejora prioritaria.</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Bibliografía básica del módulo según Programa FdF NAE_V2.</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reflexivo del Módulo 1: analizar desempeño como persona formadora e identificar oportunidades de mejora.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4281137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7"/>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3" name="Google Shape;13;p37"/>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4" name="Google Shape;14;p37"/>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47860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8"/>
          <p:cNvSpPr txBox="1">
            <a:spLocks noGrp="1"/>
          </p:cNvSpPr>
          <p:nvPr>
            <p:ph type="ctrTitle"/>
          </p:nvPr>
        </p:nvSpPr>
        <p:spPr>
          <a:xfrm>
            <a:off x="914400" y="2840567"/>
            <a:ext cx="10363200" cy="196003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a:spLocks noGrp="1"/>
          </p:cNvSpPr>
          <p:nvPr>
            <p:ph type="subTitle" idx="1"/>
          </p:nvPr>
        </p:nvSpPr>
        <p:spPr>
          <a:xfrm>
            <a:off x="1828800" y="5181600"/>
            <a:ext cx="8534400" cy="2336800"/>
          </a:xfrm>
          <a:prstGeom prst="rect">
            <a:avLst/>
          </a:prstGeom>
          <a:noFill/>
          <a:ln>
            <a:noFill/>
          </a:ln>
        </p:spPr>
        <p:txBody>
          <a:bodyPr spcFirstLastPara="1" wrap="square" lIns="91425" tIns="45700" rIns="91425" bIns="45700" anchor="t" anchorCtr="0">
            <a:normAutofit/>
          </a:bodyPr>
          <a:lstStyle>
            <a:lvl1pPr lvl="0" algn="ctr">
              <a:spcBef>
                <a:spcPts val="853"/>
              </a:spcBef>
              <a:spcAft>
                <a:spcPts val="0"/>
              </a:spcAft>
              <a:buClr>
                <a:srgbClr val="888888"/>
              </a:buClr>
              <a:buSzPts val="3200"/>
              <a:buNone/>
              <a:defRPr>
                <a:solidFill>
                  <a:srgbClr val="888888"/>
                </a:solidFill>
              </a:defRPr>
            </a:lvl1pPr>
            <a:lvl2pPr lvl="1" algn="ctr">
              <a:spcBef>
                <a:spcPts val="747"/>
              </a:spcBef>
              <a:spcAft>
                <a:spcPts val="0"/>
              </a:spcAft>
              <a:buClr>
                <a:srgbClr val="888888"/>
              </a:buClr>
              <a:buSzPts val="2800"/>
              <a:buNone/>
              <a:defRPr>
                <a:solidFill>
                  <a:srgbClr val="888888"/>
                </a:solidFill>
              </a:defRPr>
            </a:lvl2pPr>
            <a:lvl3pPr lvl="2" algn="ctr">
              <a:spcBef>
                <a:spcPts val="640"/>
              </a:spcBef>
              <a:spcAft>
                <a:spcPts val="0"/>
              </a:spcAft>
              <a:buClr>
                <a:srgbClr val="888888"/>
              </a:buClr>
              <a:buSzPts val="2400"/>
              <a:buNone/>
              <a:defRPr>
                <a:solidFill>
                  <a:srgbClr val="888888"/>
                </a:solidFill>
              </a:defRPr>
            </a:lvl3pPr>
            <a:lvl4pPr lvl="3" algn="ctr">
              <a:spcBef>
                <a:spcPts val="533"/>
              </a:spcBef>
              <a:spcAft>
                <a:spcPts val="0"/>
              </a:spcAft>
              <a:buClr>
                <a:srgbClr val="888888"/>
              </a:buClr>
              <a:buSzPts val="2000"/>
              <a:buNone/>
              <a:defRPr>
                <a:solidFill>
                  <a:srgbClr val="888888"/>
                </a:solidFill>
              </a:defRPr>
            </a:lvl4pPr>
            <a:lvl5pPr lvl="4" algn="ctr">
              <a:spcBef>
                <a:spcPts val="533"/>
              </a:spcBef>
              <a:spcAft>
                <a:spcPts val="0"/>
              </a:spcAft>
              <a:buClr>
                <a:srgbClr val="888888"/>
              </a:buClr>
              <a:buSzPts val="2000"/>
              <a:buNone/>
              <a:defRPr>
                <a:solidFill>
                  <a:srgbClr val="888888"/>
                </a:solidFill>
              </a:defRPr>
            </a:lvl5pPr>
            <a:lvl6pPr lvl="5" algn="ctr">
              <a:spcBef>
                <a:spcPts val="533"/>
              </a:spcBef>
              <a:spcAft>
                <a:spcPts val="0"/>
              </a:spcAft>
              <a:buClr>
                <a:srgbClr val="888888"/>
              </a:buClr>
              <a:buSzPts val="2000"/>
              <a:buNone/>
              <a:defRPr>
                <a:solidFill>
                  <a:srgbClr val="888888"/>
                </a:solidFill>
              </a:defRPr>
            </a:lvl6pPr>
            <a:lvl7pPr lvl="6" algn="ctr">
              <a:spcBef>
                <a:spcPts val="533"/>
              </a:spcBef>
              <a:spcAft>
                <a:spcPts val="0"/>
              </a:spcAft>
              <a:buClr>
                <a:srgbClr val="888888"/>
              </a:buClr>
              <a:buSzPts val="2000"/>
              <a:buNone/>
              <a:defRPr>
                <a:solidFill>
                  <a:srgbClr val="888888"/>
                </a:solidFill>
              </a:defRPr>
            </a:lvl7pPr>
            <a:lvl8pPr lvl="7" algn="ctr">
              <a:spcBef>
                <a:spcPts val="533"/>
              </a:spcBef>
              <a:spcAft>
                <a:spcPts val="0"/>
              </a:spcAft>
              <a:buClr>
                <a:srgbClr val="888888"/>
              </a:buClr>
              <a:buSzPts val="2000"/>
              <a:buNone/>
              <a:defRPr>
                <a:solidFill>
                  <a:srgbClr val="888888"/>
                </a:solidFill>
              </a:defRPr>
            </a:lvl8pPr>
            <a:lvl9pPr lvl="8" algn="ctr">
              <a:spcBef>
                <a:spcPts val="533"/>
              </a:spcBef>
              <a:spcAft>
                <a:spcPts val="0"/>
              </a:spcAft>
              <a:buClr>
                <a:srgbClr val="888888"/>
              </a:buClr>
              <a:buSzPts val="2000"/>
              <a:buNone/>
              <a:defRPr>
                <a:solidFill>
                  <a:srgbClr val="888888"/>
                </a:solidFill>
              </a:defRPr>
            </a:lvl9pPr>
          </a:lstStyle>
          <a:p>
            <a:endParaRPr/>
          </a:p>
        </p:txBody>
      </p:sp>
      <p:sp>
        <p:nvSpPr>
          <p:cNvPr id="18" name="Google Shape;18;p38"/>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9" name="Google Shape;19;p38"/>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0" name="Google Shape;20;p38"/>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275648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39"/>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9"/>
          <p:cNvSpPr txBox="1">
            <a:spLocks noGrp="1"/>
          </p:cNvSpPr>
          <p:nvPr>
            <p:ph type="body" idx="1"/>
          </p:nvPr>
        </p:nvSpPr>
        <p:spPr>
          <a:xfrm>
            <a:off x="609600" y="2133601"/>
            <a:ext cx="10972800" cy="6034617"/>
          </a:xfrm>
          <a:prstGeom prst="rect">
            <a:avLst/>
          </a:prstGeom>
          <a:noFill/>
          <a:ln>
            <a:noFill/>
          </a:ln>
        </p:spPr>
        <p:txBody>
          <a:bodyPr spcFirstLastPara="1" wrap="square" lIns="91425" tIns="45700" rIns="91425" bIns="45700" anchor="t" anchorCtr="0">
            <a:norm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24" name="Google Shape;24;p39"/>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5" name="Google Shape;25;p39"/>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6" name="Google Shape;26;p39"/>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41832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963084" y="5875867"/>
            <a:ext cx="10363200" cy="18161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5333"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963084" y="3875618"/>
            <a:ext cx="10363200" cy="2000249"/>
          </a:xfrm>
          <a:prstGeom prst="rect">
            <a:avLst/>
          </a:prstGeom>
          <a:noFill/>
          <a:ln>
            <a:noFill/>
          </a:ln>
        </p:spPr>
        <p:txBody>
          <a:bodyPr spcFirstLastPara="1" wrap="square" lIns="91425" tIns="45700" rIns="91425" bIns="45700" anchor="b" anchorCtr="0">
            <a:normAutofit/>
          </a:bodyPr>
          <a:lstStyle>
            <a:lvl1pPr marL="609585" lvl="0" indent="-304792" algn="l">
              <a:spcBef>
                <a:spcPts val="533"/>
              </a:spcBef>
              <a:spcAft>
                <a:spcPts val="0"/>
              </a:spcAft>
              <a:buClr>
                <a:srgbClr val="888888"/>
              </a:buClr>
              <a:buSzPts val="2000"/>
              <a:buNone/>
              <a:defRPr sz="2667">
                <a:solidFill>
                  <a:srgbClr val="888888"/>
                </a:solidFill>
              </a:defRPr>
            </a:lvl1pPr>
            <a:lvl2pPr marL="1219170" lvl="1" indent="-304792" algn="l">
              <a:spcBef>
                <a:spcPts val="480"/>
              </a:spcBef>
              <a:spcAft>
                <a:spcPts val="0"/>
              </a:spcAft>
              <a:buClr>
                <a:srgbClr val="888888"/>
              </a:buClr>
              <a:buSzPts val="1800"/>
              <a:buNone/>
              <a:defRPr sz="2400">
                <a:solidFill>
                  <a:srgbClr val="888888"/>
                </a:solidFill>
              </a:defRPr>
            </a:lvl2pPr>
            <a:lvl3pPr marL="1828754" lvl="2" indent="-304792" algn="l">
              <a:spcBef>
                <a:spcPts val="427"/>
              </a:spcBef>
              <a:spcAft>
                <a:spcPts val="0"/>
              </a:spcAft>
              <a:buClr>
                <a:srgbClr val="888888"/>
              </a:buClr>
              <a:buSzPts val="1600"/>
              <a:buNone/>
              <a:defRPr sz="2133">
                <a:solidFill>
                  <a:srgbClr val="888888"/>
                </a:solidFill>
              </a:defRPr>
            </a:lvl3pPr>
            <a:lvl4pPr marL="2438339" lvl="3" indent="-304792" algn="l">
              <a:spcBef>
                <a:spcPts val="373"/>
              </a:spcBef>
              <a:spcAft>
                <a:spcPts val="0"/>
              </a:spcAft>
              <a:buClr>
                <a:srgbClr val="888888"/>
              </a:buClr>
              <a:buSzPts val="1400"/>
              <a:buNone/>
              <a:defRPr sz="1867">
                <a:solidFill>
                  <a:srgbClr val="888888"/>
                </a:solidFill>
              </a:defRPr>
            </a:lvl4pPr>
            <a:lvl5pPr marL="3047924" lvl="4" indent="-304792" algn="l">
              <a:spcBef>
                <a:spcPts val="373"/>
              </a:spcBef>
              <a:spcAft>
                <a:spcPts val="0"/>
              </a:spcAft>
              <a:buClr>
                <a:srgbClr val="888888"/>
              </a:buClr>
              <a:buSzPts val="1400"/>
              <a:buNone/>
              <a:defRPr sz="1867">
                <a:solidFill>
                  <a:srgbClr val="888888"/>
                </a:solidFill>
              </a:defRPr>
            </a:lvl5pPr>
            <a:lvl6pPr marL="3657509" lvl="5" indent="-304792" algn="l">
              <a:spcBef>
                <a:spcPts val="373"/>
              </a:spcBef>
              <a:spcAft>
                <a:spcPts val="0"/>
              </a:spcAft>
              <a:buClr>
                <a:srgbClr val="888888"/>
              </a:buClr>
              <a:buSzPts val="1400"/>
              <a:buNone/>
              <a:defRPr sz="1867">
                <a:solidFill>
                  <a:srgbClr val="888888"/>
                </a:solidFill>
              </a:defRPr>
            </a:lvl6pPr>
            <a:lvl7pPr marL="4267093" lvl="6" indent="-304792" algn="l">
              <a:spcBef>
                <a:spcPts val="373"/>
              </a:spcBef>
              <a:spcAft>
                <a:spcPts val="0"/>
              </a:spcAft>
              <a:buClr>
                <a:srgbClr val="888888"/>
              </a:buClr>
              <a:buSzPts val="1400"/>
              <a:buNone/>
              <a:defRPr sz="1867">
                <a:solidFill>
                  <a:srgbClr val="888888"/>
                </a:solidFill>
              </a:defRPr>
            </a:lvl7pPr>
            <a:lvl8pPr marL="4876678" lvl="7" indent="-304792" algn="l">
              <a:spcBef>
                <a:spcPts val="373"/>
              </a:spcBef>
              <a:spcAft>
                <a:spcPts val="0"/>
              </a:spcAft>
              <a:buClr>
                <a:srgbClr val="888888"/>
              </a:buClr>
              <a:buSzPts val="1400"/>
              <a:buNone/>
              <a:defRPr sz="1867">
                <a:solidFill>
                  <a:srgbClr val="888888"/>
                </a:solidFill>
              </a:defRPr>
            </a:lvl8pPr>
            <a:lvl9pPr marL="5486263" lvl="8" indent="-304792" algn="l">
              <a:spcBef>
                <a:spcPts val="373"/>
              </a:spcBef>
              <a:spcAft>
                <a:spcPts val="0"/>
              </a:spcAft>
              <a:buClr>
                <a:srgbClr val="888888"/>
              </a:buClr>
              <a:buSzPts val="1400"/>
              <a:buNone/>
              <a:defRPr sz="1867">
                <a:solidFill>
                  <a:srgbClr val="888888"/>
                </a:solidFill>
              </a:defRPr>
            </a:lvl9pPr>
          </a:lstStyle>
          <a:p>
            <a:endParaRPr/>
          </a:p>
        </p:txBody>
      </p:sp>
      <p:sp>
        <p:nvSpPr>
          <p:cNvPr id="30" name="Google Shape;30;p40"/>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1" name="Google Shape;31;p40"/>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2" name="Google Shape;32;p40"/>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956552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609600" y="2133601"/>
            <a:ext cx="5384800" cy="6034617"/>
          </a:xfrm>
          <a:prstGeom prst="rect">
            <a:avLst/>
          </a:prstGeom>
          <a:noFill/>
          <a:ln>
            <a:noFill/>
          </a:ln>
        </p:spPr>
        <p:txBody>
          <a:bodyPr spcFirstLastPara="1" wrap="square" lIns="91425" tIns="45700" rIns="91425" bIns="45700" anchor="t" anchorCtr="0">
            <a:normAutofit/>
          </a:bodyPr>
          <a:lstStyle>
            <a:lvl1pPr marL="609585" lvl="0" indent="-541853" algn="l">
              <a:spcBef>
                <a:spcPts val="747"/>
              </a:spcBef>
              <a:spcAft>
                <a:spcPts val="0"/>
              </a:spcAft>
              <a:buClr>
                <a:schemeClr val="dk1"/>
              </a:buClr>
              <a:buSzPts val="2800"/>
              <a:buChar char="•"/>
              <a:defRPr sz="3733"/>
            </a:lvl1pPr>
            <a:lvl2pPr marL="1219170" lvl="1" indent="-507987" algn="l">
              <a:spcBef>
                <a:spcPts val="640"/>
              </a:spcBef>
              <a:spcAft>
                <a:spcPts val="0"/>
              </a:spcAft>
              <a:buClr>
                <a:schemeClr val="dk1"/>
              </a:buClr>
              <a:buSzPts val="2400"/>
              <a:buChar char="–"/>
              <a:defRPr sz="3200"/>
            </a:lvl2pPr>
            <a:lvl3pPr marL="1828754" lvl="2" indent="-474121" algn="l">
              <a:spcBef>
                <a:spcPts val="533"/>
              </a:spcBef>
              <a:spcAft>
                <a:spcPts val="0"/>
              </a:spcAft>
              <a:buClr>
                <a:schemeClr val="dk1"/>
              </a:buClr>
              <a:buSzPts val="2000"/>
              <a:buChar char="•"/>
              <a:defRPr sz="2667"/>
            </a:lvl3pPr>
            <a:lvl4pPr marL="2438339" lvl="3" indent="-457189" algn="l">
              <a:spcBef>
                <a:spcPts val="480"/>
              </a:spcBef>
              <a:spcAft>
                <a:spcPts val="0"/>
              </a:spcAft>
              <a:buClr>
                <a:schemeClr val="dk1"/>
              </a:buClr>
              <a:buSzPts val="1800"/>
              <a:buChar char="–"/>
              <a:defRPr sz="2400"/>
            </a:lvl4pPr>
            <a:lvl5pPr marL="3047924" lvl="4" indent="-457189" algn="l">
              <a:spcBef>
                <a:spcPts val="480"/>
              </a:spcBef>
              <a:spcAft>
                <a:spcPts val="0"/>
              </a:spcAft>
              <a:buClr>
                <a:schemeClr val="dk1"/>
              </a:buClr>
              <a:buSzPts val="1800"/>
              <a:buChar char="»"/>
              <a:defRPr sz="2400"/>
            </a:lvl5pPr>
            <a:lvl6pPr marL="3657509" lvl="5" indent="-457189" algn="l">
              <a:spcBef>
                <a:spcPts val="480"/>
              </a:spcBef>
              <a:spcAft>
                <a:spcPts val="0"/>
              </a:spcAft>
              <a:buClr>
                <a:schemeClr val="dk1"/>
              </a:buClr>
              <a:buSzPts val="1800"/>
              <a:buChar char="•"/>
              <a:defRPr sz="2400"/>
            </a:lvl6pPr>
            <a:lvl7pPr marL="4267093" lvl="6" indent="-457189" algn="l">
              <a:spcBef>
                <a:spcPts val="480"/>
              </a:spcBef>
              <a:spcAft>
                <a:spcPts val="0"/>
              </a:spcAft>
              <a:buClr>
                <a:schemeClr val="dk1"/>
              </a:buClr>
              <a:buSzPts val="1800"/>
              <a:buChar char="•"/>
              <a:defRPr sz="2400"/>
            </a:lvl7pPr>
            <a:lvl8pPr marL="4876678" lvl="7" indent="-457189" algn="l">
              <a:spcBef>
                <a:spcPts val="480"/>
              </a:spcBef>
              <a:spcAft>
                <a:spcPts val="0"/>
              </a:spcAft>
              <a:buClr>
                <a:schemeClr val="dk1"/>
              </a:buClr>
              <a:buSzPts val="1800"/>
              <a:buChar char="•"/>
              <a:defRPr sz="2400"/>
            </a:lvl8pPr>
            <a:lvl9pPr marL="5486263" lvl="8" indent="-457189" algn="l">
              <a:spcBef>
                <a:spcPts val="480"/>
              </a:spcBef>
              <a:spcAft>
                <a:spcPts val="0"/>
              </a:spcAft>
              <a:buClr>
                <a:schemeClr val="dk1"/>
              </a:buClr>
              <a:buSzPts val="1800"/>
              <a:buChar char="•"/>
              <a:defRPr sz="2400"/>
            </a:lvl9pPr>
          </a:lstStyle>
          <a:p>
            <a:endParaRPr/>
          </a:p>
        </p:txBody>
      </p:sp>
      <p:sp>
        <p:nvSpPr>
          <p:cNvPr id="36" name="Google Shape;36;p41"/>
          <p:cNvSpPr txBox="1">
            <a:spLocks noGrp="1"/>
          </p:cNvSpPr>
          <p:nvPr>
            <p:ph type="body" idx="2"/>
          </p:nvPr>
        </p:nvSpPr>
        <p:spPr>
          <a:xfrm>
            <a:off x="6197600" y="2133601"/>
            <a:ext cx="5384800" cy="6034617"/>
          </a:xfrm>
          <a:prstGeom prst="rect">
            <a:avLst/>
          </a:prstGeom>
          <a:noFill/>
          <a:ln>
            <a:noFill/>
          </a:ln>
        </p:spPr>
        <p:txBody>
          <a:bodyPr spcFirstLastPara="1" wrap="square" lIns="91425" tIns="45700" rIns="91425" bIns="45700" anchor="t" anchorCtr="0">
            <a:normAutofit/>
          </a:bodyPr>
          <a:lstStyle>
            <a:lvl1pPr marL="609585" lvl="0" indent="-541853" algn="l">
              <a:spcBef>
                <a:spcPts val="747"/>
              </a:spcBef>
              <a:spcAft>
                <a:spcPts val="0"/>
              </a:spcAft>
              <a:buClr>
                <a:schemeClr val="dk1"/>
              </a:buClr>
              <a:buSzPts val="2800"/>
              <a:buChar char="•"/>
              <a:defRPr sz="3733"/>
            </a:lvl1pPr>
            <a:lvl2pPr marL="1219170" lvl="1" indent="-507987" algn="l">
              <a:spcBef>
                <a:spcPts val="640"/>
              </a:spcBef>
              <a:spcAft>
                <a:spcPts val="0"/>
              </a:spcAft>
              <a:buClr>
                <a:schemeClr val="dk1"/>
              </a:buClr>
              <a:buSzPts val="2400"/>
              <a:buChar char="–"/>
              <a:defRPr sz="3200"/>
            </a:lvl2pPr>
            <a:lvl3pPr marL="1828754" lvl="2" indent="-474121" algn="l">
              <a:spcBef>
                <a:spcPts val="533"/>
              </a:spcBef>
              <a:spcAft>
                <a:spcPts val="0"/>
              </a:spcAft>
              <a:buClr>
                <a:schemeClr val="dk1"/>
              </a:buClr>
              <a:buSzPts val="2000"/>
              <a:buChar char="•"/>
              <a:defRPr sz="2667"/>
            </a:lvl3pPr>
            <a:lvl4pPr marL="2438339" lvl="3" indent="-457189" algn="l">
              <a:spcBef>
                <a:spcPts val="480"/>
              </a:spcBef>
              <a:spcAft>
                <a:spcPts val="0"/>
              </a:spcAft>
              <a:buClr>
                <a:schemeClr val="dk1"/>
              </a:buClr>
              <a:buSzPts val="1800"/>
              <a:buChar char="–"/>
              <a:defRPr sz="2400"/>
            </a:lvl4pPr>
            <a:lvl5pPr marL="3047924" lvl="4" indent="-457189" algn="l">
              <a:spcBef>
                <a:spcPts val="480"/>
              </a:spcBef>
              <a:spcAft>
                <a:spcPts val="0"/>
              </a:spcAft>
              <a:buClr>
                <a:schemeClr val="dk1"/>
              </a:buClr>
              <a:buSzPts val="1800"/>
              <a:buChar char="»"/>
              <a:defRPr sz="2400"/>
            </a:lvl5pPr>
            <a:lvl6pPr marL="3657509" lvl="5" indent="-457189" algn="l">
              <a:spcBef>
                <a:spcPts val="480"/>
              </a:spcBef>
              <a:spcAft>
                <a:spcPts val="0"/>
              </a:spcAft>
              <a:buClr>
                <a:schemeClr val="dk1"/>
              </a:buClr>
              <a:buSzPts val="1800"/>
              <a:buChar char="•"/>
              <a:defRPr sz="2400"/>
            </a:lvl6pPr>
            <a:lvl7pPr marL="4267093" lvl="6" indent="-457189" algn="l">
              <a:spcBef>
                <a:spcPts val="480"/>
              </a:spcBef>
              <a:spcAft>
                <a:spcPts val="0"/>
              </a:spcAft>
              <a:buClr>
                <a:schemeClr val="dk1"/>
              </a:buClr>
              <a:buSzPts val="1800"/>
              <a:buChar char="•"/>
              <a:defRPr sz="2400"/>
            </a:lvl7pPr>
            <a:lvl8pPr marL="4876678" lvl="7" indent="-457189" algn="l">
              <a:spcBef>
                <a:spcPts val="480"/>
              </a:spcBef>
              <a:spcAft>
                <a:spcPts val="0"/>
              </a:spcAft>
              <a:buClr>
                <a:schemeClr val="dk1"/>
              </a:buClr>
              <a:buSzPts val="1800"/>
              <a:buChar char="•"/>
              <a:defRPr sz="2400"/>
            </a:lvl8pPr>
            <a:lvl9pPr marL="5486263" lvl="8" indent="-457189" algn="l">
              <a:spcBef>
                <a:spcPts val="480"/>
              </a:spcBef>
              <a:spcAft>
                <a:spcPts val="0"/>
              </a:spcAft>
              <a:buClr>
                <a:schemeClr val="dk1"/>
              </a:buClr>
              <a:buSzPts val="1800"/>
              <a:buChar char="•"/>
              <a:defRPr sz="2400"/>
            </a:lvl9pPr>
          </a:lstStyle>
          <a:p>
            <a:endParaRPr/>
          </a:p>
        </p:txBody>
      </p:sp>
      <p:sp>
        <p:nvSpPr>
          <p:cNvPr id="37" name="Google Shape;37;p41"/>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8" name="Google Shape;38;p41"/>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9" name="Google Shape;39;p41"/>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972531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42"/>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609600" y="2046817"/>
            <a:ext cx="5386917" cy="853016"/>
          </a:xfrm>
          <a:prstGeom prst="rect">
            <a:avLst/>
          </a:prstGeom>
          <a:noFill/>
          <a:ln>
            <a:noFill/>
          </a:ln>
        </p:spPr>
        <p:txBody>
          <a:bodyPr spcFirstLastPara="1" wrap="square" lIns="91425" tIns="45700" rIns="91425" bIns="45700" anchor="b" anchorCtr="0">
            <a:normAutofit/>
          </a:bodyPr>
          <a:lstStyle>
            <a:lvl1pPr marL="609585" lvl="0" indent="-304792" algn="l">
              <a:spcBef>
                <a:spcPts val="640"/>
              </a:spcBef>
              <a:spcAft>
                <a:spcPts val="0"/>
              </a:spcAft>
              <a:buClr>
                <a:schemeClr val="dk1"/>
              </a:buClr>
              <a:buSzPts val="2400"/>
              <a:buNone/>
              <a:defRPr sz="3200" b="1"/>
            </a:lvl1pPr>
            <a:lvl2pPr marL="1219170" lvl="1" indent="-304792" algn="l">
              <a:spcBef>
                <a:spcPts val="533"/>
              </a:spcBef>
              <a:spcAft>
                <a:spcPts val="0"/>
              </a:spcAft>
              <a:buClr>
                <a:schemeClr val="dk1"/>
              </a:buClr>
              <a:buSzPts val="2000"/>
              <a:buNone/>
              <a:defRPr sz="2667" b="1"/>
            </a:lvl2pPr>
            <a:lvl3pPr marL="1828754" lvl="2" indent="-304792" algn="l">
              <a:spcBef>
                <a:spcPts val="480"/>
              </a:spcBef>
              <a:spcAft>
                <a:spcPts val="0"/>
              </a:spcAft>
              <a:buClr>
                <a:schemeClr val="dk1"/>
              </a:buClr>
              <a:buSzPts val="1800"/>
              <a:buNone/>
              <a:defRPr sz="2400" b="1"/>
            </a:lvl3pPr>
            <a:lvl4pPr marL="2438339" lvl="3" indent="-304792" algn="l">
              <a:spcBef>
                <a:spcPts val="427"/>
              </a:spcBef>
              <a:spcAft>
                <a:spcPts val="0"/>
              </a:spcAft>
              <a:buClr>
                <a:schemeClr val="dk1"/>
              </a:buClr>
              <a:buSzPts val="1600"/>
              <a:buNone/>
              <a:defRPr sz="2133" b="1"/>
            </a:lvl4pPr>
            <a:lvl5pPr marL="3047924" lvl="4" indent="-304792" algn="l">
              <a:spcBef>
                <a:spcPts val="427"/>
              </a:spcBef>
              <a:spcAft>
                <a:spcPts val="0"/>
              </a:spcAft>
              <a:buClr>
                <a:schemeClr val="dk1"/>
              </a:buClr>
              <a:buSzPts val="1600"/>
              <a:buNone/>
              <a:defRPr sz="2133" b="1"/>
            </a:lvl5pPr>
            <a:lvl6pPr marL="3657509" lvl="5" indent="-304792" algn="l">
              <a:spcBef>
                <a:spcPts val="427"/>
              </a:spcBef>
              <a:spcAft>
                <a:spcPts val="0"/>
              </a:spcAft>
              <a:buClr>
                <a:schemeClr val="dk1"/>
              </a:buClr>
              <a:buSzPts val="1600"/>
              <a:buNone/>
              <a:defRPr sz="2133" b="1"/>
            </a:lvl6pPr>
            <a:lvl7pPr marL="4267093" lvl="6" indent="-304792" algn="l">
              <a:spcBef>
                <a:spcPts val="427"/>
              </a:spcBef>
              <a:spcAft>
                <a:spcPts val="0"/>
              </a:spcAft>
              <a:buClr>
                <a:schemeClr val="dk1"/>
              </a:buClr>
              <a:buSzPts val="1600"/>
              <a:buNone/>
              <a:defRPr sz="2133" b="1"/>
            </a:lvl7pPr>
            <a:lvl8pPr marL="4876678" lvl="7" indent="-304792" algn="l">
              <a:spcBef>
                <a:spcPts val="427"/>
              </a:spcBef>
              <a:spcAft>
                <a:spcPts val="0"/>
              </a:spcAft>
              <a:buClr>
                <a:schemeClr val="dk1"/>
              </a:buClr>
              <a:buSzPts val="1600"/>
              <a:buNone/>
              <a:defRPr sz="2133" b="1"/>
            </a:lvl8pPr>
            <a:lvl9pPr marL="5486263" lvl="8" indent="-304792" algn="l">
              <a:spcBef>
                <a:spcPts val="427"/>
              </a:spcBef>
              <a:spcAft>
                <a:spcPts val="0"/>
              </a:spcAft>
              <a:buClr>
                <a:schemeClr val="dk1"/>
              </a:buClr>
              <a:buSzPts val="1600"/>
              <a:buNone/>
              <a:defRPr sz="2133" b="1"/>
            </a:lvl9pPr>
          </a:lstStyle>
          <a:p>
            <a:endParaRPr/>
          </a:p>
        </p:txBody>
      </p:sp>
      <p:sp>
        <p:nvSpPr>
          <p:cNvPr id="43" name="Google Shape;43;p42"/>
          <p:cNvSpPr txBox="1">
            <a:spLocks noGrp="1"/>
          </p:cNvSpPr>
          <p:nvPr>
            <p:ph type="body" idx="2"/>
          </p:nvPr>
        </p:nvSpPr>
        <p:spPr>
          <a:xfrm>
            <a:off x="609600" y="2899833"/>
            <a:ext cx="5386917" cy="5268384"/>
          </a:xfrm>
          <a:prstGeom prst="rect">
            <a:avLst/>
          </a:prstGeom>
          <a:noFill/>
          <a:ln>
            <a:noFill/>
          </a:ln>
        </p:spPr>
        <p:txBody>
          <a:bodyPr spcFirstLastPara="1" wrap="square" lIns="91425" tIns="45700" rIns="91425" bIns="45700" anchor="t" anchorCtr="0">
            <a:normAutofit/>
          </a:bodyPr>
          <a:lstStyle>
            <a:lvl1pPr marL="609585" lvl="0" indent="-507987" algn="l">
              <a:spcBef>
                <a:spcPts val="640"/>
              </a:spcBef>
              <a:spcAft>
                <a:spcPts val="0"/>
              </a:spcAft>
              <a:buClr>
                <a:schemeClr val="dk1"/>
              </a:buClr>
              <a:buSzPts val="2400"/>
              <a:buChar char="•"/>
              <a:defRPr sz="3200"/>
            </a:lvl1pPr>
            <a:lvl2pPr marL="1219170" lvl="1" indent="-474121" algn="l">
              <a:spcBef>
                <a:spcPts val="533"/>
              </a:spcBef>
              <a:spcAft>
                <a:spcPts val="0"/>
              </a:spcAft>
              <a:buClr>
                <a:schemeClr val="dk1"/>
              </a:buClr>
              <a:buSzPts val="2000"/>
              <a:buChar char="–"/>
              <a:defRPr sz="2667"/>
            </a:lvl2pPr>
            <a:lvl3pPr marL="1828754" lvl="2" indent="-457189" algn="l">
              <a:spcBef>
                <a:spcPts val="480"/>
              </a:spcBef>
              <a:spcAft>
                <a:spcPts val="0"/>
              </a:spcAft>
              <a:buClr>
                <a:schemeClr val="dk1"/>
              </a:buClr>
              <a:buSzPts val="1800"/>
              <a:buChar char="•"/>
              <a:defRPr sz="2400"/>
            </a:lvl3pPr>
            <a:lvl4pPr marL="2438339" lvl="3" indent="-440256" algn="l">
              <a:spcBef>
                <a:spcPts val="427"/>
              </a:spcBef>
              <a:spcAft>
                <a:spcPts val="0"/>
              </a:spcAft>
              <a:buClr>
                <a:schemeClr val="dk1"/>
              </a:buClr>
              <a:buSzPts val="1600"/>
              <a:buChar char="–"/>
              <a:defRPr sz="2133"/>
            </a:lvl4pPr>
            <a:lvl5pPr marL="3047924" lvl="4" indent="-440256" algn="l">
              <a:spcBef>
                <a:spcPts val="427"/>
              </a:spcBef>
              <a:spcAft>
                <a:spcPts val="0"/>
              </a:spcAft>
              <a:buClr>
                <a:schemeClr val="dk1"/>
              </a:buClr>
              <a:buSzPts val="1600"/>
              <a:buChar char="»"/>
              <a:defRPr sz="2133"/>
            </a:lvl5pPr>
            <a:lvl6pPr marL="3657509" lvl="5" indent="-440256" algn="l">
              <a:spcBef>
                <a:spcPts val="427"/>
              </a:spcBef>
              <a:spcAft>
                <a:spcPts val="0"/>
              </a:spcAft>
              <a:buClr>
                <a:schemeClr val="dk1"/>
              </a:buClr>
              <a:buSzPts val="1600"/>
              <a:buChar char="•"/>
              <a:defRPr sz="2133"/>
            </a:lvl6pPr>
            <a:lvl7pPr marL="4267093" lvl="6" indent="-440256" algn="l">
              <a:spcBef>
                <a:spcPts val="427"/>
              </a:spcBef>
              <a:spcAft>
                <a:spcPts val="0"/>
              </a:spcAft>
              <a:buClr>
                <a:schemeClr val="dk1"/>
              </a:buClr>
              <a:buSzPts val="1600"/>
              <a:buChar char="•"/>
              <a:defRPr sz="2133"/>
            </a:lvl7pPr>
            <a:lvl8pPr marL="4876678" lvl="7" indent="-440256" algn="l">
              <a:spcBef>
                <a:spcPts val="427"/>
              </a:spcBef>
              <a:spcAft>
                <a:spcPts val="0"/>
              </a:spcAft>
              <a:buClr>
                <a:schemeClr val="dk1"/>
              </a:buClr>
              <a:buSzPts val="1600"/>
              <a:buChar char="•"/>
              <a:defRPr sz="2133"/>
            </a:lvl8pPr>
            <a:lvl9pPr marL="5486263" lvl="8" indent="-440256" algn="l">
              <a:spcBef>
                <a:spcPts val="427"/>
              </a:spcBef>
              <a:spcAft>
                <a:spcPts val="0"/>
              </a:spcAft>
              <a:buClr>
                <a:schemeClr val="dk1"/>
              </a:buClr>
              <a:buSzPts val="1600"/>
              <a:buChar char="•"/>
              <a:defRPr sz="2133"/>
            </a:lvl9pPr>
          </a:lstStyle>
          <a:p>
            <a:endParaRPr/>
          </a:p>
        </p:txBody>
      </p:sp>
      <p:sp>
        <p:nvSpPr>
          <p:cNvPr id="44" name="Google Shape;44;p42"/>
          <p:cNvSpPr txBox="1">
            <a:spLocks noGrp="1"/>
          </p:cNvSpPr>
          <p:nvPr>
            <p:ph type="body" idx="3"/>
          </p:nvPr>
        </p:nvSpPr>
        <p:spPr>
          <a:xfrm>
            <a:off x="6193368" y="2046817"/>
            <a:ext cx="5389033" cy="853016"/>
          </a:xfrm>
          <a:prstGeom prst="rect">
            <a:avLst/>
          </a:prstGeom>
          <a:noFill/>
          <a:ln>
            <a:noFill/>
          </a:ln>
        </p:spPr>
        <p:txBody>
          <a:bodyPr spcFirstLastPara="1" wrap="square" lIns="91425" tIns="45700" rIns="91425" bIns="45700" anchor="b" anchorCtr="0">
            <a:normAutofit/>
          </a:bodyPr>
          <a:lstStyle>
            <a:lvl1pPr marL="609585" lvl="0" indent="-304792" algn="l">
              <a:spcBef>
                <a:spcPts val="640"/>
              </a:spcBef>
              <a:spcAft>
                <a:spcPts val="0"/>
              </a:spcAft>
              <a:buClr>
                <a:schemeClr val="dk1"/>
              </a:buClr>
              <a:buSzPts val="2400"/>
              <a:buNone/>
              <a:defRPr sz="3200" b="1"/>
            </a:lvl1pPr>
            <a:lvl2pPr marL="1219170" lvl="1" indent="-304792" algn="l">
              <a:spcBef>
                <a:spcPts val="533"/>
              </a:spcBef>
              <a:spcAft>
                <a:spcPts val="0"/>
              </a:spcAft>
              <a:buClr>
                <a:schemeClr val="dk1"/>
              </a:buClr>
              <a:buSzPts val="2000"/>
              <a:buNone/>
              <a:defRPr sz="2667" b="1"/>
            </a:lvl2pPr>
            <a:lvl3pPr marL="1828754" lvl="2" indent="-304792" algn="l">
              <a:spcBef>
                <a:spcPts val="480"/>
              </a:spcBef>
              <a:spcAft>
                <a:spcPts val="0"/>
              </a:spcAft>
              <a:buClr>
                <a:schemeClr val="dk1"/>
              </a:buClr>
              <a:buSzPts val="1800"/>
              <a:buNone/>
              <a:defRPr sz="2400" b="1"/>
            </a:lvl3pPr>
            <a:lvl4pPr marL="2438339" lvl="3" indent="-304792" algn="l">
              <a:spcBef>
                <a:spcPts val="427"/>
              </a:spcBef>
              <a:spcAft>
                <a:spcPts val="0"/>
              </a:spcAft>
              <a:buClr>
                <a:schemeClr val="dk1"/>
              </a:buClr>
              <a:buSzPts val="1600"/>
              <a:buNone/>
              <a:defRPr sz="2133" b="1"/>
            </a:lvl4pPr>
            <a:lvl5pPr marL="3047924" lvl="4" indent="-304792" algn="l">
              <a:spcBef>
                <a:spcPts val="427"/>
              </a:spcBef>
              <a:spcAft>
                <a:spcPts val="0"/>
              </a:spcAft>
              <a:buClr>
                <a:schemeClr val="dk1"/>
              </a:buClr>
              <a:buSzPts val="1600"/>
              <a:buNone/>
              <a:defRPr sz="2133" b="1"/>
            </a:lvl5pPr>
            <a:lvl6pPr marL="3657509" lvl="5" indent="-304792" algn="l">
              <a:spcBef>
                <a:spcPts val="427"/>
              </a:spcBef>
              <a:spcAft>
                <a:spcPts val="0"/>
              </a:spcAft>
              <a:buClr>
                <a:schemeClr val="dk1"/>
              </a:buClr>
              <a:buSzPts val="1600"/>
              <a:buNone/>
              <a:defRPr sz="2133" b="1"/>
            </a:lvl6pPr>
            <a:lvl7pPr marL="4267093" lvl="6" indent="-304792" algn="l">
              <a:spcBef>
                <a:spcPts val="427"/>
              </a:spcBef>
              <a:spcAft>
                <a:spcPts val="0"/>
              </a:spcAft>
              <a:buClr>
                <a:schemeClr val="dk1"/>
              </a:buClr>
              <a:buSzPts val="1600"/>
              <a:buNone/>
              <a:defRPr sz="2133" b="1"/>
            </a:lvl7pPr>
            <a:lvl8pPr marL="4876678" lvl="7" indent="-304792" algn="l">
              <a:spcBef>
                <a:spcPts val="427"/>
              </a:spcBef>
              <a:spcAft>
                <a:spcPts val="0"/>
              </a:spcAft>
              <a:buClr>
                <a:schemeClr val="dk1"/>
              </a:buClr>
              <a:buSzPts val="1600"/>
              <a:buNone/>
              <a:defRPr sz="2133" b="1"/>
            </a:lvl8pPr>
            <a:lvl9pPr marL="5486263" lvl="8" indent="-304792" algn="l">
              <a:spcBef>
                <a:spcPts val="427"/>
              </a:spcBef>
              <a:spcAft>
                <a:spcPts val="0"/>
              </a:spcAft>
              <a:buClr>
                <a:schemeClr val="dk1"/>
              </a:buClr>
              <a:buSzPts val="1600"/>
              <a:buNone/>
              <a:defRPr sz="2133" b="1"/>
            </a:lvl9pPr>
          </a:lstStyle>
          <a:p>
            <a:endParaRPr/>
          </a:p>
        </p:txBody>
      </p:sp>
      <p:sp>
        <p:nvSpPr>
          <p:cNvPr id="45" name="Google Shape;45;p42"/>
          <p:cNvSpPr txBox="1">
            <a:spLocks noGrp="1"/>
          </p:cNvSpPr>
          <p:nvPr>
            <p:ph type="body" idx="4"/>
          </p:nvPr>
        </p:nvSpPr>
        <p:spPr>
          <a:xfrm>
            <a:off x="6193368" y="2899833"/>
            <a:ext cx="5389033" cy="5268384"/>
          </a:xfrm>
          <a:prstGeom prst="rect">
            <a:avLst/>
          </a:prstGeom>
          <a:noFill/>
          <a:ln>
            <a:noFill/>
          </a:ln>
        </p:spPr>
        <p:txBody>
          <a:bodyPr spcFirstLastPara="1" wrap="square" lIns="91425" tIns="45700" rIns="91425" bIns="45700" anchor="t" anchorCtr="0">
            <a:normAutofit/>
          </a:bodyPr>
          <a:lstStyle>
            <a:lvl1pPr marL="609585" lvl="0" indent="-507987" algn="l">
              <a:spcBef>
                <a:spcPts val="640"/>
              </a:spcBef>
              <a:spcAft>
                <a:spcPts val="0"/>
              </a:spcAft>
              <a:buClr>
                <a:schemeClr val="dk1"/>
              </a:buClr>
              <a:buSzPts val="2400"/>
              <a:buChar char="•"/>
              <a:defRPr sz="3200"/>
            </a:lvl1pPr>
            <a:lvl2pPr marL="1219170" lvl="1" indent="-474121" algn="l">
              <a:spcBef>
                <a:spcPts val="533"/>
              </a:spcBef>
              <a:spcAft>
                <a:spcPts val="0"/>
              </a:spcAft>
              <a:buClr>
                <a:schemeClr val="dk1"/>
              </a:buClr>
              <a:buSzPts val="2000"/>
              <a:buChar char="–"/>
              <a:defRPr sz="2667"/>
            </a:lvl2pPr>
            <a:lvl3pPr marL="1828754" lvl="2" indent="-457189" algn="l">
              <a:spcBef>
                <a:spcPts val="480"/>
              </a:spcBef>
              <a:spcAft>
                <a:spcPts val="0"/>
              </a:spcAft>
              <a:buClr>
                <a:schemeClr val="dk1"/>
              </a:buClr>
              <a:buSzPts val="1800"/>
              <a:buChar char="•"/>
              <a:defRPr sz="2400"/>
            </a:lvl3pPr>
            <a:lvl4pPr marL="2438339" lvl="3" indent="-440256" algn="l">
              <a:spcBef>
                <a:spcPts val="427"/>
              </a:spcBef>
              <a:spcAft>
                <a:spcPts val="0"/>
              </a:spcAft>
              <a:buClr>
                <a:schemeClr val="dk1"/>
              </a:buClr>
              <a:buSzPts val="1600"/>
              <a:buChar char="–"/>
              <a:defRPr sz="2133"/>
            </a:lvl4pPr>
            <a:lvl5pPr marL="3047924" lvl="4" indent="-440256" algn="l">
              <a:spcBef>
                <a:spcPts val="427"/>
              </a:spcBef>
              <a:spcAft>
                <a:spcPts val="0"/>
              </a:spcAft>
              <a:buClr>
                <a:schemeClr val="dk1"/>
              </a:buClr>
              <a:buSzPts val="1600"/>
              <a:buChar char="»"/>
              <a:defRPr sz="2133"/>
            </a:lvl5pPr>
            <a:lvl6pPr marL="3657509" lvl="5" indent="-440256" algn="l">
              <a:spcBef>
                <a:spcPts val="427"/>
              </a:spcBef>
              <a:spcAft>
                <a:spcPts val="0"/>
              </a:spcAft>
              <a:buClr>
                <a:schemeClr val="dk1"/>
              </a:buClr>
              <a:buSzPts val="1600"/>
              <a:buChar char="•"/>
              <a:defRPr sz="2133"/>
            </a:lvl6pPr>
            <a:lvl7pPr marL="4267093" lvl="6" indent="-440256" algn="l">
              <a:spcBef>
                <a:spcPts val="427"/>
              </a:spcBef>
              <a:spcAft>
                <a:spcPts val="0"/>
              </a:spcAft>
              <a:buClr>
                <a:schemeClr val="dk1"/>
              </a:buClr>
              <a:buSzPts val="1600"/>
              <a:buChar char="•"/>
              <a:defRPr sz="2133"/>
            </a:lvl7pPr>
            <a:lvl8pPr marL="4876678" lvl="7" indent="-440256" algn="l">
              <a:spcBef>
                <a:spcPts val="427"/>
              </a:spcBef>
              <a:spcAft>
                <a:spcPts val="0"/>
              </a:spcAft>
              <a:buClr>
                <a:schemeClr val="dk1"/>
              </a:buClr>
              <a:buSzPts val="1600"/>
              <a:buChar char="•"/>
              <a:defRPr sz="2133"/>
            </a:lvl8pPr>
            <a:lvl9pPr marL="5486263" lvl="8" indent="-440256" algn="l">
              <a:spcBef>
                <a:spcPts val="427"/>
              </a:spcBef>
              <a:spcAft>
                <a:spcPts val="0"/>
              </a:spcAft>
              <a:buClr>
                <a:schemeClr val="dk1"/>
              </a:buClr>
              <a:buSzPts val="1600"/>
              <a:buChar char="•"/>
              <a:defRPr sz="2133"/>
            </a:lvl9pPr>
          </a:lstStyle>
          <a:p>
            <a:endParaRPr/>
          </a:p>
        </p:txBody>
      </p:sp>
      <p:sp>
        <p:nvSpPr>
          <p:cNvPr id="46" name="Google Shape;46;p42"/>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47" name="Google Shape;47;p42"/>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48" name="Google Shape;48;p42"/>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01030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43"/>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3"/>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52" name="Google Shape;52;p43"/>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53" name="Google Shape;53;p43"/>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869891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609601" y="364067"/>
            <a:ext cx="4011084" cy="1549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667"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4766733" y="364067"/>
            <a:ext cx="6815667" cy="7804151"/>
          </a:xfrm>
          <a:prstGeom prst="rect">
            <a:avLst/>
          </a:prstGeom>
          <a:noFill/>
          <a:ln>
            <a:noFill/>
          </a:ln>
        </p:spPr>
        <p:txBody>
          <a:bodyPr spcFirstLastPara="1" wrap="square" lIns="91425" tIns="45700" rIns="91425" bIns="45700" anchor="t" anchorCtr="0">
            <a:normAutofit/>
          </a:bodyPr>
          <a:lstStyle>
            <a:lvl1pPr marL="609585" lvl="0" indent="-575719" algn="l">
              <a:spcBef>
                <a:spcPts val="853"/>
              </a:spcBef>
              <a:spcAft>
                <a:spcPts val="0"/>
              </a:spcAft>
              <a:buClr>
                <a:schemeClr val="dk1"/>
              </a:buClr>
              <a:buSzPts val="3200"/>
              <a:buChar char="•"/>
              <a:defRPr sz="4267"/>
            </a:lvl1pPr>
            <a:lvl2pPr marL="1219170" lvl="1" indent="-541853" algn="l">
              <a:spcBef>
                <a:spcPts val="747"/>
              </a:spcBef>
              <a:spcAft>
                <a:spcPts val="0"/>
              </a:spcAft>
              <a:buClr>
                <a:schemeClr val="dk1"/>
              </a:buClr>
              <a:buSzPts val="2800"/>
              <a:buChar char="–"/>
              <a:defRPr sz="3733"/>
            </a:lvl2pPr>
            <a:lvl3pPr marL="1828754" lvl="2" indent="-507987" algn="l">
              <a:spcBef>
                <a:spcPts val="640"/>
              </a:spcBef>
              <a:spcAft>
                <a:spcPts val="0"/>
              </a:spcAft>
              <a:buClr>
                <a:schemeClr val="dk1"/>
              </a:buClr>
              <a:buSzPts val="2400"/>
              <a:buChar char="•"/>
              <a:defRPr sz="3200"/>
            </a:lvl3pPr>
            <a:lvl4pPr marL="2438339" lvl="3" indent="-474121" algn="l">
              <a:spcBef>
                <a:spcPts val="533"/>
              </a:spcBef>
              <a:spcAft>
                <a:spcPts val="0"/>
              </a:spcAft>
              <a:buClr>
                <a:schemeClr val="dk1"/>
              </a:buClr>
              <a:buSzPts val="2000"/>
              <a:buChar char="–"/>
              <a:defRPr sz="2667"/>
            </a:lvl4pPr>
            <a:lvl5pPr marL="3047924" lvl="4" indent="-474121" algn="l">
              <a:spcBef>
                <a:spcPts val="533"/>
              </a:spcBef>
              <a:spcAft>
                <a:spcPts val="0"/>
              </a:spcAft>
              <a:buClr>
                <a:schemeClr val="dk1"/>
              </a:buClr>
              <a:buSzPts val="2000"/>
              <a:buChar char="»"/>
              <a:defRPr sz="2667"/>
            </a:lvl5pPr>
            <a:lvl6pPr marL="3657509" lvl="5" indent="-474121" algn="l">
              <a:spcBef>
                <a:spcPts val="533"/>
              </a:spcBef>
              <a:spcAft>
                <a:spcPts val="0"/>
              </a:spcAft>
              <a:buClr>
                <a:schemeClr val="dk1"/>
              </a:buClr>
              <a:buSzPts val="2000"/>
              <a:buChar char="•"/>
              <a:defRPr sz="2667"/>
            </a:lvl6pPr>
            <a:lvl7pPr marL="4267093" lvl="6" indent="-474121" algn="l">
              <a:spcBef>
                <a:spcPts val="533"/>
              </a:spcBef>
              <a:spcAft>
                <a:spcPts val="0"/>
              </a:spcAft>
              <a:buClr>
                <a:schemeClr val="dk1"/>
              </a:buClr>
              <a:buSzPts val="2000"/>
              <a:buChar char="•"/>
              <a:defRPr sz="2667"/>
            </a:lvl7pPr>
            <a:lvl8pPr marL="4876678" lvl="7" indent="-474121" algn="l">
              <a:spcBef>
                <a:spcPts val="533"/>
              </a:spcBef>
              <a:spcAft>
                <a:spcPts val="0"/>
              </a:spcAft>
              <a:buClr>
                <a:schemeClr val="dk1"/>
              </a:buClr>
              <a:buSzPts val="2000"/>
              <a:buChar char="•"/>
              <a:defRPr sz="2667"/>
            </a:lvl8pPr>
            <a:lvl9pPr marL="5486263" lvl="8" indent="-474121" algn="l">
              <a:spcBef>
                <a:spcPts val="533"/>
              </a:spcBef>
              <a:spcAft>
                <a:spcPts val="0"/>
              </a:spcAft>
              <a:buClr>
                <a:schemeClr val="dk1"/>
              </a:buClr>
              <a:buSzPts val="2000"/>
              <a:buChar char="•"/>
              <a:defRPr sz="2667"/>
            </a:lvl9pPr>
          </a:lstStyle>
          <a:p>
            <a:endParaRPr/>
          </a:p>
        </p:txBody>
      </p:sp>
      <p:sp>
        <p:nvSpPr>
          <p:cNvPr id="57" name="Google Shape;57;p44"/>
          <p:cNvSpPr txBox="1">
            <a:spLocks noGrp="1"/>
          </p:cNvSpPr>
          <p:nvPr>
            <p:ph type="body" idx="2"/>
          </p:nvPr>
        </p:nvSpPr>
        <p:spPr>
          <a:xfrm>
            <a:off x="609601" y="1913467"/>
            <a:ext cx="4011084" cy="6254751"/>
          </a:xfrm>
          <a:prstGeom prst="rect">
            <a:avLst/>
          </a:prstGeom>
          <a:noFill/>
          <a:ln>
            <a:noFill/>
          </a:ln>
        </p:spPr>
        <p:txBody>
          <a:bodyPr spcFirstLastPara="1" wrap="square" lIns="91425" tIns="45700" rIns="91425" bIns="45700" anchor="t" anchorCtr="0">
            <a:normAutofit/>
          </a:bodyPr>
          <a:lstStyle>
            <a:lvl1pPr marL="609585" lvl="0" indent="-304792" algn="l">
              <a:spcBef>
                <a:spcPts val="373"/>
              </a:spcBef>
              <a:spcAft>
                <a:spcPts val="0"/>
              </a:spcAft>
              <a:buClr>
                <a:schemeClr val="dk1"/>
              </a:buClr>
              <a:buSzPts val="1400"/>
              <a:buNone/>
              <a:defRPr sz="1867"/>
            </a:lvl1pPr>
            <a:lvl2pPr marL="1219170" lvl="1" indent="-304792" algn="l">
              <a:spcBef>
                <a:spcPts val="320"/>
              </a:spcBef>
              <a:spcAft>
                <a:spcPts val="0"/>
              </a:spcAft>
              <a:buClr>
                <a:schemeClr val="dk1"/>
              </a:buClr>
              <a:buSzPts val="1200"/>
              <a:buNone/>
              <a:defRPr sz="1600"/>
            </a:lvl2pPr>
            <a:lvl3pPr marL="1828754" lvl="2" indent="-304792" algn="l">
              <a:spcBef>
                <a:spcPts val="267"/>
              </a:spcBef>
              <a:spcAft>
                <a:spcPts val="0"/>
              </a:spcAft>
              <a:buClr>
                <a:schemeClr val="dk1"/>
              </a:buClr>
              <a:buSzPts val="1000"/>
              <a:buNone/>
              <a:defRPr sz="1333"/>
            </a:lvl3pPr>
            <a:lvl4pPr marL="2438339" lvl="3" indent="-304792" algn="l">
              <a:spcBef>
                <a:spcPts val="240"/>
              </a:spcBef>
              <a:spcAft>
                <a:spcPts val="0"/>
              </a:spcAft>
              <a:buClr>
                <a:schemeClr val="dk1"/>
              </a:buClr>
              <a:buSzPts val="900"/>
              <a:buNone/>
              <a:defRPr sz="1200"/>
            </a:lvl4pPr>
            <a:lvl5pPr marL="3047924" lvl="4" indent="-304792" algn="l">
              <a:spcBef>
                <a:spcPts val="240"/>
              </a:spcBef>
              <a:spcAft>
                <a:spcPts val="0"/>
              </a:spcAft>
              <a:buClr>
                <a:schemeClr val="dk1"/>
              </a:buClr>
              <a:buSzPts val="900"/>
              <a:buNone/>
              <a:defRPr sz="1200"/>
            </a:lvl5pPr>
            <a:lvl6pPr marL="3657509" lvl="5" indent="-304792" algn="l">
              <a:spcBef>
                <a:spcPts val="240"/>
              </a:spcBef>
              <a:spcAft>
                <a:spcPts val="0"/>
              </a:spcAft>
              <a:buClr>
                <a:schemeClr val="dk1"/>
              </a:buClr>
              <a:buSzPts val="900"/>
              <a:buNone/>
              <a:defRPr sz="1200"/>
            </a:lvl6pPr>
            <a:lvl7pPr marL="4267093" lvl="6" indent="-304792" algn="l">
              <a:spcBef>
                <a:spcPts val="240"/>
              </a:spcBef>
              <a:spcAft>
                <a:spcPts val="0"/>
              </a:spcAft>
              <a:buClr>
                <a:schemeClr val="dk1"/>
              </a:buClr>
              <a:buSzPts val="900"/>
              <a:buNone/>
              <a:defRPr sz="1200"/>
            </a:lvl7pPr>
            <a:lvl8pPr marL="4876678" lvl="7" indent="-304792" algn="l">
              <a:spcBef>
                <a:spcPts val="240"/>
              </a:spcBef>
              <a:spcAft>
                <a:spcPts val="0"/>
              </a:spcAft>
              <a:buClr>
                <a:schemeClr val="dk1"/>
              </a:buClr>
              <a:buSzPts val="900"/>
              <a:buNone/>
              <a:defRPr sz="1200"/>
            </a:lvl8pPr>
            <a:lvl9pPr marL="5486263" lvl="8" indent="-304792" algn="l">
              <a:spcBef>
                <a:spcPts val="240"/>
              </a:spcBef>
              <a:spcAft>
                <a:spcPts val="0"/>
              </a:spcAft>
              <a:buClr>
                <a:schemeClr val="dk1"/>
              </a:buClr>
              <a:buSzPts val="900"/>
              <a:buNone/>
              <a:defRPr sz="1200"/>
            </a:lvl9pPr>
          </a:lstStyle>
          <a:p>
            <a:endParaRPr/>
          </a:p>
        </p:txBody>
      </p:sp>
      <p:sp>
        <p:nvSpPr>
          <p:cNvPr id="58" name="Google Shape;58;p44"/>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59" name="Google Shape;59;p44"/>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60" name="Google Shape;60;p44"/>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99546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45"/>
          <p:cNvSpPr txBox="1">
            <a:spLocks noGrp="1"/>
          </p:cNvSpPr>
          <p:nvPr>
            <p:ph type="title"/>
          </p:nvPr>
        </p:nvSpPr>
        <p:spPr>
          <a:xfrm>
            <a:off x="2389717" y="6400800"/>
            <a:ext cx="7315200" cy="75565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667"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5"/>
          <p:cNvSpPr>
            <a:spLocks noGrp="1"/>
          </p:cNvSpPr>
          <p:nvPr>
            <p:ph type="pic" idx="2"/>
          </p:nvPr>
        </p:nvSpPr>
        <p:spPr>
          <a:xfrm>
            <a:off x="2389717" y="817033"/>
            <a:ext cx="7315200" cy="5486400"/>
          </a:xfrm>
          <a:prstGeom prst="rect">
            <a:avLst/>
          </a:prstGeom>
          <a:noFill/>
          <a:ln>
            <a:noFill/>
          </a:ln>
        </p:spPr>
        <p:txBody>
          <a:bodyPr/>
          <a:lstStyle/>
          <a:p>
            <a:endParaRPr lang="es-ES"/>
          </a:p>
        </p:txBody>
      </p:sp>
      <p:sp>
        <p:nvSpPr>
          <p:cNvPr id="64" name="Google Shape;64;p45"/>
          <p:cNvSpPr txBox="1">
            <a:spLocks noGrp="1"/>
          </p:cNvSpPr>
          <p:nvPr>
            <p:ph type="body" idx="1"/>
          </p:nvPr>
        </p:nvSpPr>
        <p:spPr>
          <a:xfrm>
            <a:off x="2389717" y="7156451"/>
            <a:ext cx="7315200" cy="1073149"/>
          </a:xfrm>
          <a:prstGeom prst="rect">
            <a:avLst/>
          </a:prstGeom>
          <a:noFill/>
          <a:ln>
            <a:noFill/>
          </a:ln>
        </p:spPr>
        <p:txBody>
          <a:bodyPr spcFirstLastPara="1" wrap="square" lIns="91425" tIns="45700" rIns="91425" bIns="45700" anchor="t" anchorCtr="0">
            <a:normAutofit/>
          </a:bodyPr>
          <a:lstStyle>
            <a:lvl1pPr marL="609585" lvl="0" indent="-304792" algn="l">
              <a:spcBef>
                <a:spcPts val="373"/>
              </a:spcBef>
              <a:spcAft>
                <a:spcPts val="0"/>
              </a:spcAft>
              <a:buClr>
                <a:schemeClr val="dk1"/>
              </a:buClr>
              <a:buSzPts val="1400"/>
              <a:buNone/>
              <a:defRPr sz="1867"/>
            </a:lvl1pPr>
            <a:lvl2pPr marL="1219170" lvl="1" indent="-304792" algn="l">
              <a:spcBef>
                <a:spcPts val="320"/>
              </a:spcBef>
              <a:spcAft>
                <a:spcPts val="0"/>
              </a:spcAft>
              <a:buClr>
                <a:schemeClr val="dk1"/>
              </a:buClr>
              <a:buSzPts val="1200"/>
              <a:buNone/>
              <a:defRPr sz="1600"/>
            </a:lvl2pPr>
            <a:lvl3pPr marL="1828754" lvl="2" indent="-304792" algn="l">
              <a:spcBef>
                <a:spcPts val="267"/>
              </a:spcBef>
              <a:spcAft>
                <a:spcPts val="0"/>
              </a:spcAft>
              <a:buClr>
                <a:schemeClr val="dk1"/>
              </a:buClr>
              <a:buSzPts val="1000"/>
              <a:buNone/>
              <a:defRPr sz="1333"/>
            </a:lvl3pPr>
            <a:lvl4pPr marL="2438339" lvl="3" indent="-304792" algn="l">
              <a:spcBef>
                <a:spcPts val="240"/>
              </a:spcBef>
              <a:spcAft>
                <a:spcPts val="0"/>
              </a:spcAft>
              <a:buClr>
                <a:schemeClr val="dk1"/>
              </a:buClr>
              <a:buSzPts val="900"/>
              <a:buNone/>
              <a:defRPr sz="1200"/>
            </a:lvl4pPr>
            <a:lvl5pPr marL="3047924" lvl="4" indent="-304792" algn="l">
              <a:spcBef>
                <a:spcPts val="240"/>
              </a:spcBef>
              <a:spcAft>
                <a:spcPts val="0"/>
              </a:spcAft>
              <a:buClr>
                <a:schemeClr val="dk1"/>
              </a:buClr>
              <a:buSzPts val="900"/>
              <a:buNone/>
              <a:defRPr sz="1200"/>
            </a:lvl5pPr>
            <a:lvl6pPr marL="3657509" lvl="5" indent="-304792" algn="l">
              <a:spcBef>
                <a:spcPts val="240"/>
              </a:spcBef>
              <a:spcAft>
                <a:spcPts val="0"/>
              </a:spcAft>
              <a:buClr>
                <a:schemeClr val="dk1"/>
              </a:buClr>
              <a:buSzPts val="900"/>
              <a:buNone/>
              <a:defRPr sz="1200"/>
            </a:lvl6pPr>
            <a:lvl7pPr marL="4267093" lvl="6" indent="-304792" algn="l">
              <a:spcBef>
                <a:spcPts val="240"/>
              </a:spcBef>
              <a:spcAft>
                <a:spcPts val="0"/>
              </a:spcAft>
              <a:buClr>
                <a:schemeClr val="dk1"/>
              </a:buClr>
              <a:buSzPts val="900"/>
              <a:buNone/>
              <a:defRPr sz="1200"/>
            </a:lvl7pPr>
            <a:lvl8pPr marL="4876678" lvl="7" indent="-304792" algn="l">
              <a:spcBef>
                <a:spcPts val="240"/>
              </a:spcBef>
              <a:spcAft>
                <a:spcPts val="0"/>
              </a:spcAft>
              <a:buClr>
                <a:schemeClr val="dk1"/>
              </a:buClr>
              <a:buSzPts val="900"/>
              <a:buNone/>
              <a:defRPr sz="1200"/>
            </a:lvl8pPr>
            <a:lvl9pPr marL="5486263" lvl="8" indent="-304792" algn="l">
              <a:spcBef>
                <a:spcPts val="240"/>
              </a:spcBef>
              <a:spcAft>
                <a:spcPts val="0"/>
              </a:spcAft>
              <a:buClr>
                <a:schemeClr val="dk1"/>
              </a:buClr>
              <a:buSzPts val="900"/>
              <a:buNone/>
              <a:defRPr sz="1200"/>
            </a:lvl9pPr>
          </a:lstStyle>
          <a:p>
            <a:endParaRPr/>
          </a:p>
        </p:txBody>
      </p:sp>
      <p:sp>
        <p:nvSpPr>
          <p:cNvPr id="65" name="Google Shape;65;p45"/>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66" name="Google Shape;66;p45"/>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67" name="Google Shape;67;p45"/>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420138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3078693" y="-335491"/>
            <a:ext cx="6034617" cy="10972800"/>
          </a:xfrm>
          <a:prstGeom prst="rect">
            <a:avLst/>
          </a:prstGeom>
          <a:noFill/>
          <a:ln>
            <a:noFill/>
          </a:ln>
        </p:spPr>
        <p:txBody>
          <a:bodyPr spcFirstLastPara="1" wrap="square" lIns="91425" tIns="45700" rIns="91425" bIns="45700" anchor="t" anchorCtr="0">
            <a:norm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72" name="Google Shape;72;p46"/>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73" name="Google Shape;73;p46"/>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805047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47"/>
          <p:cNvSpPr txBox="1">
            <a:spLocks noGrp="1"/>
          </p:cNvSpPr>
          <p:nvPr>
            <p:ph type="title"/>
          </p:nvPr>
        </p:nvSpPr>
        <p:spPr>
          <a:xfrm rot="5400000">
            <a:off x="6309785" y="2895601"/>
            <a:ext cx="7802033"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7"/>
          <p:cNvSpPr txBox="1">
            <a:spLocks noGrp="1"/>
          </p:cNvSpPr>
          <p:nvPr>
            <p:ph type="body" idx="1"/>
          </p:nvPr>
        </p:nvSpPr>
        <p:spPr>
          <a:xfrm rot="5400000">
            <a:off x="721785" y="254000"/>
            <a:ext cx="7802033" cy="8026400"/>
          </a:xfrm>
          <a:prstGeom prst="rect">
            <a:avLst/>
          </a:prstGeom>
          <a:noFill/>
          <a:ln>
            <a:noFill/>
          </a:ln>
        </p:spPr>
        <p:txBody>
          <a:bodyPr spcFirstLastPara="1" wrap="square" lIns="91425" tIns="45700" rIns="91425" bIns="45700" anchor="t" anchorCtr="0">
            <a:norm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77" name="Google Shape;77;p47"/>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78" name="Google Shape;78;p47"/>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79" name="Google Shape;79;p47"/>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0849452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91F112A6-B1C4-AE3C-F6E7-6250AD64552E}"/>
              </a:ext>
            </a:extLst>
          </p:cNvPr>
          <p:cNvSpPr/>
          <p:nvPr userDrawn="1"/>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9" descr="image3.png">
            <a:extLst>
              <a:ext uri="{FF2B5EF4-FFF2-40B4-BE49-F238E27FC236}">
                <a16:creationId xmlns:a16="http://schemas.microsoft.com/office/drawing/2014/main" id="{259A7051-31AC-0065-8E4D-8F16A367489A}"/>
              </a:ext>
            </a:extLst>
          </p:cNvPr>
          <p:cNvPicPr>
            <a:picLocks noChangeAspect="1"/>
          </p:cNvPicPr>
          <p:nvPr userDrawn="1"/>
        </p:nvPicPr>
        <p:blipFill>
          <a:blip r:embed="rId3"/>
          <a:stretch>
            <a:fillRect/>
          </a:stretch>
        </p:blipFill>
        <p:spPr>
          <a:xfrm>
            <a:off x="4289907" y="6301166"/>
            <a:ext cx="3611880" cy="49187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6"/>
          <p:cNvSpPr txBox="1">
            <a:spLocks noGrp="1"/>
          </p:cNvSpPr>
          <p:nvPr>
            <p:ph type="body" idx="1"/>
          </p:nvPr>
        </p:nvSpPr>
        <p:spPr>
          <a:xfrm>
            <a:off x="609600" y="2133601"/>
            <a:ext cx="10972800" cy="6034617"/>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6"/>
          <p:cNvSpPr txBox="1">
            <a:spLocks noGrp="1"/>
          </p:cNvSpPr>
          <p:nvPr>
            <p:ph type="dt" idx="10"/>
          </p:nvPr>
        </p:nvSpPr>
        <p:spPr>
          <a:xfrm>
            <a:off x="609600" y="8475134"/>
            <a:ext cx="284480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 name="Google Shape;9;p36"/>
          <p:cNvSpPr txBox="1">
            <a:spLocks noGrp="1"/>
          </p:cNvSpPr>
          <p:nvPr>
            <p:ph type="ftr" idx="11"/>
          </p:nvPr>
        </p:nvSpPr>
        <p:spPr>
          <a:xfrm>
            <a:off x="4165600" y="8475134"/>
            <a:ext cx="3860800"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pPr marL="0" marR="0" lvl="0" indent="0" algn="ctr" defTabSz="1219170"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 name="Google Shape;10;p36"/>
          <p:cNvSpPr txBox="1">
            <a:spLocks noGrp="1"/>
          </p:cNvSpPr>
          <p:nvPr>
            <p:ph type="sldNum" idx="12"/>
          </p:nvPr>
        </p:nvSpPr>
        <p:spPr>
          <a:xfrm>
            <a:off x="8737600" y="8475134"/>
            <a:ext cx="284480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00" b="0" i="0" u="none" strike="noStrike" cap="none">
                <a:solidFill>
                  <a:srgbClr val="888888"/>
                </a:solidFill>
                <a:latin typeface="Calibri"/>
                <a:ea typeface="Calibri"/>
                <a:cs typeface="Calibri"/>
                <a:sym typeface="Calibri"/>
              </a:defRPr>
            </a:lvl1pPr>
            <a:lvl2pPr marL="0" marR="0" lvl="1" indent="0" algn="r" rtl="0">
              <a:spcBef>
                <a:spcPts val="0"/>
              </a:spcBef>
              <a:buNone/>
              <a:defRPr sz="1600" b="0" i="0" u="none" strike="noStrike" cap="none">
                <a:solidFill>
                  <a:srgbClr val="888888"/>
                </a:solidFill>
                <a:latin typeface="Calibri"/>
                <a:ea typeface="Calibri"/>
                <a:cs typeface="Calibri"/>
                <a:sym typeface="Calibri"/>
              </a:defRPr>
            </a:lvl2pPr>
            <a:lvl3pPr marL="0" marR="0" lvl="2" indent="0" algn="r" rtl="0">
              <a:spcBef>
                <a:spcPts val="0"/>
              </a:spcBef>
              <a:buNone/>
              <a:defRPr sz="1600" b="0" i="0" u="none" strike="noStrike" cap="none">
                <a:solidFill>
                  <a:srgbClr val="888888"/>
                </a:solidFill>
                <a:latin typeface="Calibri"/>
                <a:ea typeface="Calibri"/>
                <a:cs typeface="Calibri"/>
                <a:sym typeface="Calibri"/>
              </a:defRPr>
            </a:lvl3pPr>
            <a:lvl4pPr marL="0" marR="0" lvl="3" indent="0" algn="r" rtl="0">
              <a:spcBef>
                <a:spcPts val="0"/>
              </a:spcBef>
              <a:buNone/>
              <a:defRPr sz="1600" b="0" i="0" u="none" strike="noStrike" cap="none">
                <a:solidFill>
                  <a:srgbClr val="888888"/>
                </a:solidFill>
                <a:latin typeface="Calibri"/>
                <a:ea typeface="Calibri"/>
                <a:cs typeface="Calibri"/>
                <a:sym typeface="Calibri"/>
              </a:defRPr>
            </a:lvl4pPr>
            <a:lvl5pPr marL="0" marR="0" lvl="4" indent="0" algn="r" rtl="0">
              <a:spcBef>
                <a:spcPts val="0"/>
              </a:spcBef>
              <a:buNone/>
              <a:defRPr sz="1600" b="0" i="0" u="none" strike="noStrike" cap="none">
                <a:solidFill>
                  <a:srgbClr val="888888"/>
                </a:solidFill>
                <a:latin typeface="Calibri"/>
                <a:ea typeface="Calibri"/>
                <a:cs typeface="Calibri"/>
                <a:sym typeface="Calibri"/>
              </a:defRPr>
            </a:lvl5pPr>
            <a:lvl6pPr marL="0" marR="0" lvl="5" indent="0" algn="r" rtl="0">
              <a:spcBef>
                <a:spcPts val="0"/>
              </a:spcBef>
              <a:buNone/>
              <a:defRPr sz="1600" b="0" i="0" u="none" strike="noStrike" cap="none">
                <a:solidFill>
                  <a:srgbClr val="888888"/>
                </a:solidFill>
                <a:latin typeface="Calibri"/>
                <a:ea typeface="Calibri"/>
                <a:cs typeface="Calibri"/>
                <a:sym typeface="Calibri"/>
              </a:defRPr>
            </a:lvl6pPr>
            <a:lvl7pPr marL="0" marR="0" lvl="6" indent="0" algn="r" rtl="0">
              <a:spcBef>
                <a:spcPts val="0"/>
              </a:spcBef>
              <a:buNone/>
              <a:defRPr sz="1600" b="0" i="0" u="none" strike="noStrike" cap="none">
                <a:solidFill>
                  <a:srgbClr val="888888"/>
                </a:solidFill>
                <a:latin typeface="Calibri"/>
                <a:ea typeface="Calibri"/>
                <a:cs typeface="Calibri"/>
                <a:sym typeface="Calibri"/>
              </a:defRPr>
            </a:lvl7pPr>
            <a:lvl8pPr marL="0" marR="0" lvl="7" indent="0" algn="r" rtl="0">
              <a:spcBef>
                <a:spcPts val="0"/>
              </a:spcBef>
              <a:buNone/>
              <a:defRPr sz="1600" b="0" i="0" u="none" strike="noStrike" cap="none">
                <a:solidFill>
                  <a:srgbClr val="888888"/>
                </a:solidFill>
                <a:latin typeface="Calibri"/>
                <a:ea typeface="Calibri"/>
                <a:cs typeface="Calibri"/>
                <a:sym typeface="Calibri"/>
              </a:defRPr>
            </a:lvl8pPr>
            <a:lvl9pPr marL="0" marR="0" lvl="8" indent="0" algn="r" rtl="0">
              <a:spcBef>
                <a:spcPts val="0"/>
              </a:spcBef>
              <a:buNone/>
              <a:defRPr sz="1600" b="0" i="0" u="none" strike="noStrike" cap="none">
                <a:solidFill>
                  <a:srgbClr val="888888"/>
                </a:solidFill>
                <a:latin typeface="Calibri"/>
                <a:ea typeface="Calibri"/>
                <a:cs typeface="Calibri"/>
                <a:sym typeface="Calibri"/>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690455819"/>
      </p:ext>
    </p:extLst>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41"/>
        </a:solidFill>
        <a:effectLst/>
      </p:bgPr>
    </p:bg>
    <p:spTree>
      <p:nvGrpSpPr>
        <p:cNvPr id="1" name="Shape 83"/>
        <p:cNvGrpSpPr/>
        <p:nvPr/>
      </p:nvGrpSpPr>
      <p:grpSpPr>
        <a:xfrm>
          <a:off x="0" y="0"/>
          <a:ext cx="0" cy="0"/>
          <a:chOff x="0" y="0"/>
          <a:chExt cx="0" cy="0"/>
        </a:xfrm>
      </p:grpSpPr>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4524" y="-8141"/>
            <a:ext cx="6339853" cy="6238253"/>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369" y="406257"/>
            <a:ext cx="2275844" cy="1113539"/>
          </a:xfrm>
          <a:prstGeom prst="rect">
            <a:avLst/>
          </a:prstGeom>
        </p:spPr>
      </p:pic>
      <p:sp>
        <p:nvSpPr>
          <p:cNvPr id="86" name="Google Shape;86;p1"/>
          <p:cNvSpPr/>
          <p:nvPr/>
        </p:nvSpPr>
        <p:spPr>
          <a:xfrm>
            <a:off x="0" y="6230112"/>
            <a:ext cx="12192000" cy="646176"/>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121900" tIns="60933" rIns="121900" bIns="609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87" name="Google Shape;87;p1" descr="asset_portada_6.png"/>
          <p:cNvPicPr preferRelativeResize="0"/>
          <p:nvPr/>
        </p:nvPicPr>
        <p:blipFill rotWithShape="1">
          <a:blip r:embed="rId5">
            <a:alphaModFix/>
          </a:blip>
          <a:srcRect/>
          <a:stretch/>
        </p:blipFill>
        <p:spPr>
          <a:xfrm>
            <a:off x="3974592" y="6266688"/>
            <a:ext cx="4255008" cy="560832"/>
          </a:xfrm>
          <a:prstGeom prst="rect">
            <a:avLst/>
          </a:prstGeom>
          <a:noFill/>
          <a:ln>
            <a:noFill/>
          </a:ln>
        </p:spPr>
      </p:pic>
      <p:sp>
        <p:nvSpPr>
          <p:cNvPr id="89" name="Google Shape;89;p1"/>
          <p:cNvSpPr txBox="1"/>
          <p:nvPr/>
        </p:nvSpPr>
        <p:spPr>
          <a:xfrm>
            <a:off x="515862" y="1800579"/>
            <a:ext cx="11141612" cy="400055"/>
          </a:xfrm>
          <a:prstGeom prst="rect">
            <a:avLst/>
          </a:prstGeom>
          <a:noFill/>
          <a:ln>
            <a:noFill/>
          </a:ln>
        </p:spPr>
        <p:txBody>
          <a:bodyPr spcFirstLastPara="1" wrap="square" lIns="121900" tIns="60933" rIns="121900" bIns="60933" anchor="t" anchorCtr="0">
            <a:spAutoFit/>
          </a:bodyPr>
          <a:lstStyle/>
          <a:p>
            <a:pPr lvl="0" defTabSz="1219170">
              <a:buClr>
                <a:srgbClr val="000000"/>
              </a:buClr>
            </a:pPr>
            <a:r>
              <a:rPr lang="es-ES" kern="0" dirty="0">
                <a:solidFill>
                  <a:srgbClr val="40BCFF"/>
                </a:solidFill>
                <a:latin typeface="Calibri"/>
                <a:ea typeface="Aptos"/>
                <a:cs typeface="Calibri"/>
                <a:sym typeface="Calibri"/>
              </a:rPr>
              <a:t>Programa </a:t>
            </a:r>
            <a:r>
              <a:rPr lang="es-ES" kern="0" dirty="0" err="1">
                <a:solidFill>
                  <a:srgbClr val="40BCFF"/>
                </a:solidFill>
                <a:latin typeface="Calibri"/>
                <a:ea typeface="Aptos"/>
                <a:cs typeface="Calibri"/>
                <a:sym typeface="Calibri"/>
              </a:rPr>
              <a:t>FdF</a:t>
            </a:r>
            <a:r>
              <a:rPr lang="es-ES" kern="0" dirty="0">
                <a:solidFill>
                  <a:srgbClr val="40BCFF"/>
                </a:solidFill>
                <a:latin typeface="Calibri"/>
                <a:ea typeface="Aptos"/>
                <a:cs typeface="Calibri"/>
                <a:sym typeface="Calibri"/>
              </a:rPr>
              <a:t>-NAE</a:t>
            </a:r>
          </a:p>
        </p:txBody>
      </p:sp>
      <p:sp>
        <p:nvSpPr>
          <p:cNvPr id="92" name="Google Shape;92;p1"/>
          <p:cNvSpPr txBox="1"/>
          <p:nvPr/>
        </p:nvSpPr>
        <p:spPr>
          <a:xfrm>
            <a:off x="9776851" y="827613"/>
            <a:ext cx="2224940" cy="328177"/>
          </a:xfrm>
          <a:prstGeom prst="rect">
            <a:avLst/>
          </a:prstGeom>
          <a:noFill/>
          <a:ln>
            <a:noFill/>
          </a:ln>
        </p:spPr>
        <p:txBody>
          <a:bodyPr spcFirstLastPara="1" wrap="square" lIns="121900" tIns="60933" rIns="121900" bIns="60933"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dirty="0">
                <a:ln>
                  <a:noFill/>
                </a:ln>
                <a:solidFill>
                  <a:srgbClr val="A3C5ED"/>
                </a:solidFill>
                <a:effectLst/>
                <a:uLnTx/>
                <a:uFillTx/>
                <a:latin typeface="Calibri"/>
                <a:ea typeface="Calibri"/>
                <a:cs typeface="Calibri"/>
                <a:sym typeface="Calibri"/>
              </a:rPr>
              <a:t>La Habana, Cuba · 2026</a:t>
            </a: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Text 1"/>
          <p:cNvSpPr/>
          <p:nvPr/>
        </p:nvSpPr>
        <p:spPr>
          <a:xfrm>
            <a:off x="658369" y="2327745"/>
            <a:ext cx="7086600" cy="105156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err="1">
                <a:ln>
                  <a:noFill/>
                </a:ln>
                <a:solidFill>
                  <a:srgbClr val="FFFFFF"/>
                </a:solidFill>
                <a:effectLst/>
                <a:uLnTx/>
                <a:uFillTx/>
                <a:latin typeface="Aptos Display" pitchFamily="34" charset="0"/>
                <a:ea typeface="Aptos Display" pitchFamily="34" charset="-122"/>
                <a:cs typeface="Aptos Display" pitchFamily="34" charset="-120"/>
              </a:rPr>
              <a:t>Módulo</a:t>
            </a:r>
            <a:r>
              <a:rPr kumimoji="0" lang="en-US" sz="38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 1</a:t>
            </a:r>
            <a:endParaRPr kumimoji="0" lang="en-US" sz="38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Shape 3"/>
          <p:cNvSpPr/>
          <p:nvPr/>
        </p:nvSpPr>
        <p:spPr>
          <a:xfrm>
            <a:off x="658369" y="4300235"/>
            <a:ext cx="3291840" cy="45720"/>
          </a:xfrm>
          <a:prstGeom prst="rect">
            <a:avLst/>
          </a:prstGeom>
          <a:solidFill>
            <a:srgbClr val="D89A2B"/>
          </a:solidFill>
          <a:ln w="12700">
            <a:solidFill>
              <a:srgbClr val="D89A2B"/>
            </a:solidFill>
            <a:prstDash val="solid"/>
          </a:ln>
        </p:spPr>
      </p:sp>
      <p:sp>
        <p:nvSpPr>
          <p:cNvPr id="12" name="Text 4"/>
          <p:cNvSpPr/>
          <p:nvPr/>
        </p:nvSpPr>
        <p:spPr>
          <a:xfrm>
            <a:off x="658369" y="4546176"/>
            <a:ext cx="62179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7D7E2"/>
                </a:solidFill>
                <a:effectLst/>
                <a:uLnTx/>
                <a:uFillTx/>
                <a:latin typeface="Aptos" pitchFamily="34" charset="0"/>
                <a:ea typeface="Aptos" pitchFamily="34" charset="-122"/>
                <a:cs typeface="Aptos" pitchFamily="34" charset="-120"/>
              </a:rPr>
              <a:t>Actividad 2.3.2 — Formación de Formadores</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Text 7"/>
          <p:cNvSpPr/>
          <p:nvPr/>
        </p:nvSpPr>
        <p:spPr>
          <a:xfrm>
            <a:off x="515862" y="6405372"/>
            <a:ext cx="26517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B9C7D2"/>
                </a:solidFill>
                <a:effectLst/>
                <a:uLnTx/>
                <a:uFillTx/>
                <a:latin typeface="Aptos" pitchFamily="34" charset="0"/>
                <a:ea typeface="Aptos" pitchFamily="34" charset="-122"/>
                <a:cs typeface="Aptos" pitchFamily="34" charset="-120"/>
              </a:rPr>
              <a:t>Actividad 2.3.2 — FdF</a:t>
            </a:r>
            <a:endParaRPr kumimoji="0" lang="en-US" sz="850" b="0" i="0" u="none" strike="noStrike" kern="1200" cap="none" spc="0" normalizeH="0" baseline="0" noProof="0" dirty="0">
              <a:ln>
                <a:noFill/>
              </a:ln>
              <a:solidFill>
                <a:srgbClr val="000000"/>
              </a:solidFill>
              <a:effectLst/>
              <a:uLnTx/>
              <a:uFillTx/>
              <a:latin typeface="Arial"/>
              <a:ea typeface="+mn-ea"/>
              <a:cs typeface="+mn-cs"/>
            </a:endParaRPr>
          </a:p>
        </p:txBody>
      </p:sp>
      <p:sp>
        <p:nvSpPr>
          <p:cNvPr id="15" name="Text 2"/>
          <p:cNvSpPr/>
          <p:nvPr/>
        </p:nvSpPr>
        <p:spPr>
          <a:xfrm>
            <a:off x="635509" y="3146853"/>
            <a:ext cx="7132320" cy="960120"/>
          </a:xfrm>
          <a:prstGeom prst="rect">
            <a:avLst/>
          </a:prstGeom>
          <a:noFill/>
          <a:ln/>
        </p:spPr>
        <p:txBody>
          <a:bodyPr wrap="square" lIns="0" tIns="0" rIns="0" bIns="0" rtlCol="0" anchor="ctr">
            <a:normAutofit/>
          </a:bodyPr>
          <a:lstStyle/>
          <a:p>
            <a:pPr marL="0" indent="0">
              <a:buNone/>
            </a:pPr>
            <a:r>
              <a:rPr lang="en-US" sz="2500" dirty="0">
                <a:solidFill>
                  <a:srgbClr val="E5EEF3"/>
                </a:solidFill>
                <a:latin typeface="Aptos Display" pitchFamily="34" charset="0"/>
                <a:ea typeface="Aptos Display" pitchFamily="34" charset="-122"/>
                <a:cs typeface="Aptos Display" pitchFamily="34" charset="-120"/>
              </a:rPr>
              <a:t>Ingeniería de la formación y facilitación de personas adultas</a:t>
            </a:r>
            <a:endParaRPr lang="en-US" sz="2500" dirty="0"/>
          </a:p>
        </p:txBody>
      </p:sp>
      <p:sp>
        <p:nvSpPr>
          <p:cNvPr id="3" name="Text 5">
            <a:extLst>
              <a:ext uri="{FF2B5EF4-FFF2-40B4-BE49-F238E27FC236}">
                <a16:creationId xmlns:a16="http://schemas.microsoft.com/office/drawing/2014/main" id="{EDD20562-5503-A6B6-CAC4-93AF10C706EF}"/>
              </a:ext>
            </a:extLst>
          </p:cNvPr>
          <p:cNvSpPr/>
          <p:nvPr/>
        </p:nvSpPr>
        <p:spPr>
          <a:xfrm>
            <a:off x="658368" y="5217022"/>
            <a:ext cx="7247035" cy="493776"/>
          </a:xfrm>
          <a:prstGeom prst="rect">
            <a:avLst/>
          </a:prstGeom>
          <a:noFill/>
          <a:ln/>
        </p:spPr>
        <p:txBody>
          <a:bodyPr wrap="square" lIns="0" tIns="0" rIns="0" bIns="0" rtlCol="0" anchor="ctr"/>
          <a:lstStyle/>
          <a:p>
            <a:r>
              <a:rPr lang="es-419" sz="1000" b="1" noProof="0" dirty="0">
                <a:solidFill>
                  <a:schemeClr val="bg1"/>
                </a:solidFill>
                <a:latin typeface="Aptos" panose="020B0004020202020204" pitchFamily="34" charset="0"/>
              </a:rPr>
              <a:t>Proyecto NAE · Financiado por la </a:t>
            </a:r>
            <a:r>
              <a:rPr lang="es-419" sz="1000" b="1" noProof="0" dirty="0" err="1">
                <a:solidFill>
                  <a:schemeClr val="bg1"/>
                </a:solidFill>
                <a:latin typeface="Aptos" panose="020B0004020202020204" pitchFamily="34" charset="0"/>
              </a:rPr>
              <a:t>Agence</a:t>
            </a:r>
            <a:r>
              <a:rPr lang="es-419" sz="1000" b="1" noProof="0" dirty="0">
                <a:solidFill>
                  <a:schemeClr val="bg1"/>
                </a:solidFill>
                <a:latin typeface="Aptos" panose="020B0004020202020204" pitchFamily="34" charset="0"/>
              </a:rPr>
              <a:t> </a:t>
            </a:r>
            <a:r>
              <a:rPr lang="es-419" sz="1000" b="1" noProof="0" dirty="0" err="1">
                <a:solidFill>
                  <a:schemeClr val="bg1"/>
                </a:solidFill>
                <a:latin typeface="Aptos" panose="020B0004020202020204" pitchFamily="34" charset="0"/>
              </a:rPr>
              <a:t>Française</a:t>
            </a:r>
            <a:r>
              <a:rPr lang="es-419" sz="1000" b="1" noProof="0" dirty="0">
                <a:solidFill>
                  <a:schemeClr val="bg1"/>
                </a:solidFill>
                <a:latin typeface="Aptos" panose="020B0004020202020204" pitchFamily="34" charset="0"/>
              </a:rPr>
              <a:t> de </a:t>
            </a:r>
            <a:r>
              <a:rPr lang="es-419" sz="1000" b="1" noProof="0" dirty="0" err="1">
                <a:solidFill>
                  <a:schemeClr val="bg1"/>
                </a:solidFill>
                <a:latin typeface="Aptos" panose="020B0004020202020204" pitchFamily="34" charset="0"/>
              </a:rPr>
              <a:t>Développement</a:t>
            </a:r>
            <a:r>
              <a:rPr lang="es-419" sz="1000" b="1" noProof="0" dirty="0">
                <a:solidFill>
                  <a:schemeClr val="bg1"/>
                </a:solidFill>
                <a:latin typeface="Aptos" panose="020B0004020202020204" pitchFamily="34" charset="0"/>
              </a:rPr>
              <a:t> (AFD), con cofinanciación de la Unión Europea</a:t>
            </a:r>
          </a:p>
          <a:p>
            <a:pPr marL="0" indent="0">
              <a:buNone/>
            </a:pPr>
            <a:endParaRPr lang="es-419" sz="1000" b="1" noProof="0" dirty="0">
              <a:solidFill>
                <a:schemeClr val="bg1"/>
              </a:solidFill>
              <a:latin typeface="Aptos" panose="020B0004020202020204" pitchFamily="34" charset="0"/>
              <a:ea typeface="Aptos" pitchFamily="34" charset="-122"/>
              <a:cs typeface="Aptos" pitchFamily="34" charset="-120"/>
            </a:endParaRPr>
          </a:p>
          <a:p>
            <a:pPr marL="0" indent="0">
              <a:buNone/>
            </a:pPr>
            <a:r>
              <a:rPr lang="es-419" sz="1000" noProof="0" dirty="0">
                <a:solidFill>
                  <a:schemeClr val="bg1"/>
                </a:solidFill>
                <a:latin typeface="Aptos" panose="020B0004020202020204" pitchFamily="34" charset="0"/>
                <a:ea typeface="Aptos" pitchFamily="34" charset="-122"/>
                <a:cs typeface="Aptos" pitchFamily="34" charset="-120"/>
              </a:rPr>
              <a:t>Implementación técnica</a:t>
            </a:r>
            <a:r>
              <a:rPr lang="es-419" sz="1000" b="1" noProof="0" dirty="0">
                <a:solidFill>
                  <a:schemeClr val="bg1"/>
                </a:solidFill>
                <a:latin typeface="Aptos" panose="020B0004020202020204" pitchFamily="34" charset="0"/>
                <a:ea typeface="Aptos" pitchFamily="34" charset="-122"/>
                <a:cs typeface="Aptos" pitchFamily="34" charset="-120"/>
              </a:rPr>
              <a:t>: </a:t>
            </a:r>
            <a:r>
              <a:rPr lang="es-419" sz="1000" noProof="0" dirty="0">
                <a:solidFill>
                  <a:schemeClr val="bg1"/>
                </a:solidFill>
                <a:latin typeface="Aptos" panose="020B0004020202020204" pitchFamily="34" charset="0"/>
                <a:ea typeface="Aptos" pitchFamily="34" charset="-122"/>
                <a:cs typeface="Aptos" pitchFamily="34" charset="-120"/>
              </a:rPr>
              <a:t>Universidad de Alicante (UA) · Parque Científico Tecnológico de La Habana (PCTH)</a:t>
            </a:r>
          </a:p>
          <a:p>
            <a:pPr marL="0" indent="0">
              <a:buNone/>
            </a:pPr>
            <a:endParaRPr lang="es-419" sz="1000" b="1" noProof="0" dirty="0">
              <a:solidFill>
                <a:schemeClr val="bg1"/>
              </a:solidFill>
              <a:latin typeface="Aptos" panose="020B0004020202020204" pitchFamily="34" charset="0"/>
              <a:ea typeface="Aptos" pitchFamily="34" charset="-122"/>
              <a:cs typeface="Aptos" pitchFamily="34" charset="-120"/>
            </a:endParaRPr>
          </a:p>
          <a:p>
            <a:pPr marL="0" indent="0">
              <a:buNone/>
            </a:pPr>
            <a:r>
              <a:rPr lang="es-419" sz="1000" noProof="0" dirty="0">
                <a:solidFill>
                  <a:srgbClr val="C7D7E2"/>
                </a:solidFill>
                <a:latin typeface="Aptos" panose="020B0004020202020204" pitchFamily="34" charset="0"/>
                <a:ea typeface="Aptos" pitchFamily="34" charset="-122"/>
                <a:cs typeface="Aptos" pitchFamily="34" charset="-120"/>
              </a:rPr>
              <a:t>La Habana, Cuba · 2026</a:t>
            </a:r>
            <a:endParaRPr lang="es-419" sz="1000" noProof="0" dirty="0">
              <a:latin typeface="Aptos" panose="020B0004020202020204" pitchFamily="34" charset="0"/>
            </a:endParaRPr>
          </a:p>
        </p:txBody>
      </p:sp>
    </p:spTree>
    <p:extLst>
      <p:ext uri="{BB962C8B-B14F-4D97-AF65-F5344CB8AC3E}">
        <p14:creationId xmlns:p14="http://schemas.microsoft.com/office/powerpoint/2010/main" val="3048871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1377696"/>
          </a:xfrm>
          <a:prstGeom prst="rect">
            <a:avLst/>
          </a:prstGeom>
        </p:spPr>
      </p:pic>
      <p:sp>
        <p:nvSpPr>
          <p:cNvPr id="9" name="Text 5"/>
          <p:cNvSpPr/>
          <p:nvPr/>
        </p:nvSpPr>
        <p:spPr>
          <a:xfrm>
            <a:off x="566928" y="6291072"/>
            <a:ext cx="26517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B7280"/>
                </a:solidFill>
                <a:effectLst/>
                <a:uLnTx/>
                <a:uFillTx/>
                <a:latin typeface="Aptos" pitchFamily="34" charset="0"/>
                <a:ea typeface="Aptos" pitchFamily="34" charset="-122"/>
                <a:cs typeface="Aptos" pitchFamily="34" charset="-120"/>
              </a:rPr>
              <a:t>Actividad 2.3.2 — FdF</a:t>
            </a:r>
            <a:endParaRPr kumimoji="0" lang="en-US" sz="850" b="0" i="0" u="none" strike="noStrike" kern="1200" cap="none" spc="0" normalizeH="0" baseline="0" noProof="0" dirty="0">
              <a:ln>
                <a:noFill/>
              </a:ln>
              <a:solidFill>
                <a:srgbClr val="000000"/>
              </a:solidFill>
              <a:effectLst/>
              <a:uLnTx/>
              <a:uFillTx/>
              <a:latin typeface="Arial"/>
              <a:ea typeface="+mn-ea"/>
              <a:cs typeface="+mn-cs"/>
            </a:endParaRPr>
          </a:p>
        </p:txBody>
      </p:sp>
      <p:pic>
        <p:nvPicPr>
          <p:cNvPr id="10" name="Google Shape;87;p1" descr="asset_portada_6.png"/>
          <p:cNvPicPr preferRelativeResize="0"/>
          <p:nvPr/>
        </p:nvPicPr>
        <p:blipFill rotWithShape="1">
          <a:blip r:embed="rId4">
            <a:alphaModFix/>
          </a:blip>
          <a:srcRect/>
          <a:stretch/>
        </p:blipFill>
        <p:spPr>
          <a:xfrm>
            <a:off x="3974592" y="6266688"/>
            <a:ext cx="4255008" cy="560832"/>
          </a:xfrm>
          <a:prstGeom prst="rect">
            <a:avLst/>
          </a:prstGeom>
          <a:noFill/>
          <a:ln>
            <a:noFill/>
          </a:ln>
        </p:spPr>
      </p:pic>
      <p:sp>
        <p:nvSpPr>
          <p:cNvPr id="12" name="Shape 3"/>
          <p:cNvSpPr/>
          <p:nvPr/>
        </p:nvSpPr>
        <p:spPr>
          <a:xfrm>
            <a:off x="682752" y="5072109"/>
            <a:ext cx="3964662" cy="45719"/>
          </a:xfrm>
          <a:prstGeom prst="rect">
            <a:avLst/>
          </a:prstGeom>
          <a:solidFill>
            <a:srgbClr val="D89A2B"/>
          </a:solidFill>
          <a:ln w="12700">
            <a:solidFill>
              <a:srgbClr val="D89A2B"/>
            </a:solidFill>
            <a:prstDash val="solid"/>
          </a:ln>
        </p:spPr>
      </p:sp>
      <p:sp>
        <p:nvSpPr>
          <p:cNvPr id="11" name="Text 1"/>
          <p:cNvSpPr/>
          <p:nvPr/>
        </p:nvSpPr>
        <p:spPr>
          <a:xfrm>
            <a:off x="676656" y="2176272"/>
            <a:ext cx="5669280" cy="1554480"/>
          </a:xfrm>
          <a:prstGeom prst="rect">
            <a:avLst/>
          </a:prstGeom>
          <a:noFill/>
          <a:ln/>
        </p:spPr>
        <p:txBody>
          <a:bodyPr wrap="square" lIns="0" tIns="0" rIns="0" bIns="0" rtlCol="0" anchor="ctr"/>
          <a:lstStyle/>
          <a:p>
            <a:pPr marL="0" indent="0">
              <a:buNone/>
            </a:pPr>
            <a:r>
              <a:rPr lang="en-US" sz="3100" b="1" dirty="0">
                <a:solidFill>
                  <a:srgbClr val="002E54"/>
                </a:solidFill>
                <a:latin typeface="Aptos Display" pitchFamily="34" charset="0"/>
                <a:ea typeface="Aptos Display" pitchFamily="34" charset="-122"/>
                <a:cs typeface="Aptos Display" pitchFamily="34" charset="-120"/>
              </a:rPr>
              <a:t>Ingeniería de la formación</a:t>
            </a:r>
            <a:endParaRPr lang="en-US" sz="3100" dirty="0"/>
          </a:p>
          <a:p>
            <a:pPr marL="0" indent="0">
              <a:buNone/>
            </a:pPr>
            <a:r>
              <a:rPr lang="en-US" sz="3100" b="1" dirty="0">
                <a:solidFill>
                  <a:srgbClr val="002E54"/>
                </a:solidFill>
                <a:latin typeface="Aptos Display" pitchFamily="34" charset="0"/>
                <a:ea typeface="Aptos Display" pitchFamily="34" charset="-122"/>
                <a:cs typeface="Aptos Display" pitchFamily="34" charset="-120"/>
              </a:rPr>
              <a:t>y facilitación de</a:t>
            </a:r>
            <a:endParaRPr lang="en-US" sz="3100" dirty="0"/>
          </a:p>
          <a:p>
            <a:pPr marL="0" indent="0">
              <a:buNone/>
            </a:pPr>
            <a:r>
              <a:rPr lang="en-US" sz="3100" b="1" dirty="0">
                <a:solidFill>
                  <a:srgbClr val="002E54"/>
                </a:solidFill>
                <a:latin typeface="Aptos Display" pitchFamily="34" charset="0"/>
                <a:ea typeface="Aptos Display" pitchFamily="34" charset="-122"/>
                <a:cs typeface="Aptos Display" pitchFamily="34" charset="-120"/>
              </a:rPr>
              <a:t>personas adultas</a:t>
            </a:r>
            <a:endParaRPr lang="en-US" sz="3100" dirty="0"/>
          </a:p>
        </p:txBody>
      </p:sp>
      <p:sp>
        <p:nvSpPr>
          <p:cNvPr id="13" name="Text 2"/>
          <p:cNvSpPr/>
          <p:nvPr/>
        </p:nvSpPr>
        <p:spPr>
          <a:xfrm>
            <a:off x="676656" y="4323944"/>
            <a:ext cx="5120640" cy="347472"/>
          </a:xfrm>
          <a:prstGeom prst="rect">
            <a:avLst/>
          </a:prstGeom>
          <a:noFill/>
          <a:ln/>
        </p:spPr>
        <p:txBody>
          <a:bodyPr wrap="square" lIns="0" tIns="0" rIns="0" bIns="0" rtlCol="0" anchor="ctr"/>
          <a:lstStyle/>
          <a:p>
            <a:pPr marL="0" indent="0">
              <a:buNone/>
            </a:pPr>
            <a:r>
              <a:rPr lang="en-US" sz="1900" dirty="0">
                <a:solidFill>
                  <a:srgbClr val="0A344F"/>
                </a:solidFill>
                <a:latin typeface="Aptos" pitchFamily="34" charset="0"/>
                <a:ea typeface="Aptos" pitchFamily="34" charset="-122"/>
                <a:cs typeface="Aptos" pitchFamily="34" charset="-120"/>
              </a:rPr>
              <a:t>Núcleo pedagógico del Programa FdF-NAE</a:t>
            </a:r>
            <a:endParaRPr lang="en-US" sz="1900" dirty="0"/>
          </a:p>
        </p:txBody>
      </p:sp>
    </p:spTree>
    <p:extLst>
      <p:ext uri="{BB962C8B-B14F-4D97-AF65-F5344CB8AC3E}">
        <p14:creationId xmlns:p14="http://schemas.microsoft.com/office/powerpoint/2010/main" val="2010524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E54"/>
        </a:solidFill>
        <a:effectLst/>
      </p:bgPr>
    </p:bg>
    <p:spTree>
      <p:nvGrpSpPr>
        <p:cNvPr id="1" name=""/>
        <p:cNvGrpSpPr/>
        <p:nvPr/>
      </p:nvGrpSpPr>
      <p:grpSpPr>
        <a:xfrm>
          <a:off x="0" y="0"/>
          <a:ext cx="0" cy="0"/>
          <a:chOff x="0" y="0"/>
          <a:chExt cx="0" cy="0"/>
        </a:xfrm>
      </p:grpSpPr>
      <p:sp>
        <p:nvSpPr>
          <p:cNvPr id="3" name="Text 0"/>
          <p:cNvSpPr/>
          <p:nvPr/>
        </p:nvSpPr>
        <p:spPr>
          <a:xfrm>
            <a:off x="777240" y="1417320"/>
            <a:ext cx="1828800" cy="777240"/>
          </a:xfrm>
          <a:prstGeom prst="rect">
            <a:avLst/>
          </a:prstGeom>
          <a:noFill/>
          <a:ln/>
        </p:spPr>
        <p:txBody>
          <a:bodyPr wrap="square" lIns="0" tIns="0" rIns="0" bIns="0" rtlCol="0" anchor="ctr"/>
          <a:lstStyle/>
          <a:p>
            <a:pPr marL="0" indent="0">
              <a:buNone/>
            </a:pPr>
            <a:r>
              <a:rPr lang="en-US" sz="4400" dirty="0">
                <a:solidFill>
                  <a:srgbClr val="D89A2B"/>
                </a:solidFill>
                <a:latin typeface="Aptos Display" pitchFamily="34" charset="0"/>
                <a:ea typeface="Aptos Display" pitchFamily="34" charset="-122"/>
                <a:cs typeface="Aptos Display" pitchFamily="34" charset="-120"/>
              </a:rPr>
              <a:t>01</a:t>
            </a:r>
            <a:endParaRPr lang="en-US" sz="4400" dirty="0"/>
          </a:p>
        </p:txBody>
      </p:sp>
      <p:sp>
        <p:nvSpPr>
          <p:cNvPr id="4" name="Shape 1"/>
          <p:cNvSpPr/>
          <p:nvPr/>
        </p:nvSpPr>
        <p:spPr>
          <a:xfrm>
            <a:off x="777240" y="2331720"/>
            <a:ext cx="658368" cy="45720"/>
          </a:xfrm>
          <a:prstGeom prst="rect">
            <a:avLst/>
          </a:prstGeom>
          <a:solidFill>
            <a:srgbClr val="D89A2B"/>
          </a:solidFill>
          <a:ln w="12700">
            <a:solidFill>
              <a:srgbClr val="D89A2B"/>
            </a:solidFill>
            <a:prstDash val="solid"/>
          </a:ln>
        </p:spPr>
      </p:sp>
      <p:sp>
        <p:nvSpPr>
          <p:cNvPr id="5" name="Text 2"/>
          <p:cNvSpPr/>
          <p:nvPr/>
        </p:nvSpPr>
        <p:spPr>
          <a:xfrm>
            <a:off x="777240" y="2770632"/>
            <a:ext cx="8869680" cy="548640"/>
          </a:xfrm>
          <a:prstGeom prst="rect">
            <a:avLst/>
          </a:prstGeom>
          <a:noFill/>
          <a:ln/>
        </p:spPr>
        <p:txBody>
          <a:bodyPr wrap="square" lIns="0" tIns="0" rIns="0" bIns="0" rtlCol="0" anchor="ctr"/>
          <a:lstStyle/>
          <a:p>
            <a:pPr marL="0" indent="0">
              <a:buNone/>
            </a:pPr>
            <a:r>
              <a:rPr lang="en-US" sz="2900" dirty="0">
                <a:solidFill>
                  <a:srgbClr val="FFFFFF"/>
                </a:solidFill>
                <a:latin typeface="Aptos Display" pitchFamily="34" charset="0"/>
                <a:ea typeface="Aptos Display" pitchFamily="34" charset="-122"/>
                <a:cs typeface="Aptos Display" pitchFamily="34" charset="-120"/>
              </a:rPr>
              <a:t>ENCUADRE DEL MÓDULO</a:t>
            </a:r>
            <a:endParaRPr lang="en-US" sz="2900" dirty="0"/>
          </a:p>
        </p:txBody>
      </p:sp>
      <p:sp>
        <p:nvSpPr>
          <p:cNvPr id="6" name="Text 3"/>
          <p:cNvSpPr/>
          <p:nvPr/>
        </p:nvSpPr>
        <p:spPr>
          <a:xfrm>
            <a:off x="777240" y="3474720"/>
            <a:ext cx="7223760" cy="640080"/>
          </a:xfrm>
          <a:prstGeom prst="rect">
            <a:avLst/>
          </a:prstGeom>
          <a:noFill/>
          <a:ln/>
        </p:spPr>
        <p:txBody>
          <a:bodyPr wrap="square" lIns="0" tIns="0" rIns="0" bIns="0" rtlCol="0" anchor="ctr"/>
          <a:lstStyle/>
          <a:p>
            <a:pPr marL="0" indent="0">
              <a:buNone/>
            </a:pPr>
            <a:r>
              <a:rPr lang="en-US" sz="1450" dirty="0">
                <a:solidFill>
                  <a:srgbClr val="E5EEF3"/>
                </a:solidFill>
                <a:latin typeface="Aptos" pitchFamily="34" charset="0"/>
                <a:ea typeface="Aptos" pitchFamily="34" charset="-122"/>
                <a:cs typeface="Aptos" pitchFamily="34" charset="-120"/>
              </a:rPr>
              <a:t>Propósito, duración, competencias y ruta de aprendizaje</a:t>
            </a:r>
            <a:endParaRPr lang="en-US" sz="1450" dirty="0"/>
          </a:p>
        </p:txBody>
      </p:sp>
      <p:sp>
        <p:nvSpPr>
          <p:cNvPr id="7" name="Text 4"/>
          <p:cNvSpPr/>
          <p:nvPr/>
        </p:nvSpPr>
        <p:spPr>
          <a:xfrm>
            <a:off x="777240" y="6254496"/>
            <a:ext cx="2743200" cy="201168"/>
          </a:xfrm>
          <a:prstGeom prst="rect">
            <a:avLst/>
          </a:prstGeom>
          <a:noFill/>
          <a:ln/>
        </p:spPr>
        <p:txBody>
          <a:bodyPr wrap="square" lIns="0" tIns="0" rIns="0" bIns="0" rtlCol="0" anchor="ctr"/>
          <a:lstStyle/>
          <a:p>
            <a:pPr marL="0" indent="0">
              <a:buNone/>
            </a:pPr>
            <a:r>
              <a:rPr lang="en-US" sz="850" dirty="0">
                <a:solidFill>
                  <a:srgbClr val="B9C7D2"/>
                </a:solidFill>
                <a:latin typeface="Aptos" pitchFamily="34" charset="0"/>
                <a:ea typeface="Aptos" pitchFamily="34" charset="-122"/>
                <a:cs typeface="Aptos" pitchFamily="34" charset="-120"/>
              </a:rPr>
              <a:t>Actividad 2.3.2 — FdF</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Propósito del Módulo 1</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658368" y="1554480"/>
            <a:ext cx="2194560" cy="274320"/>
          </a:xfrm>
          <a:prstGeom prst="rect">
            <a:avLst/>
          </a:prstGeom>
          <a:noFill/>
          <a:ln/>
        </p:spPr>
        <p:txBody>
          <a:bodyPr wrap="square" lIns="0" tIns="0" rIns="0" bIns="0" rtlCol="0" anchor="ctr"/>
          <a:lstStyle/>
          <a:p>
            <a:pPr marL="0" indent="0">
              <a:buNone/>
            </a:pPr>
            <a:r>
              <a:rPr lang="en-US" sz="1350" b="1" dirty="0">
                <a:solidFill>
                  <a:srgbClr val="00CBA8"/>
                </a:solidFill>
                <a:latin typeface="Aptos" pitchFamily="34" charset="0"/>
                <a:ea typeface="Aptos" pitchFamily="34" charset="-122"/>
                <a:cs typeface="Aptos" pitchFamily="34" charset="-120"/>
              </a:rPr>
              <a:t>Objetivo</a:t>
            </a:r>
            <a:endParaRPr lang="en-US" sz="1350" dirty="0"/>
          </a:p>
        </p:txBody>
      </p:sp>
      <p:sp>
        <p:nvSpPr>
          <p:cNvPr id="7" name="Text 5"/>
          <p:cNvSpPr/>
          <p:nvPr/>
        </p:nvSpPr>
        <p:spPr>
          <a:xfrm>
            <a:off x="658368" y="1965960"/>
            <a:ext cx="10881360" cy="1234440"/>
          </a:xfrm>
          <a:prstGeom prst="rect">
            <a:avLst/>
          </a:prstGeom>
          <a:noFill/>
          <a:ln/>
        </p:spPr>
        <p:txBody>
          <a:bodyPr wrap="square" lIns="635" tIns="635" rIns="635" bIns="635"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Desarrollar las competencias pedagógicas y metodológicas necesarias para diagnosticar necesidades de aprendizaje, diseñar, facilitar y evaluar procesos formativos dirigidos a personas adultas vinculadas al acompañamiento de los NAE, utilizando metodologías activas, participativas, inclusivas y adaptables a diferentes contextos territoriales.</a:t>
            </a:r>
            <a:endParaRPr lang="en-US" sz="1800" dirty="0"/>
          </a:p>
        </p:txBody>
      </p:sp>
      <p:sp>
        <p:nvSpPr>
          <p:cNvPr id="8" name="Shape 6"/>
          <p:cNvSpPr/>
          <p:nvPr/>
        </p:nvSpPr>
        <p:spPr>
          <a:xfrm>
            <a:off x="658368" y="3657600"/>
            <a:ext cx="2788920" cy="1097280"/>
          </a:xfrm>
          <a:prstGeom prst="rect">
            <a:avLst/>
          </a:prstGeom>
          <a:solidFill>
            <a:srgbClr val="002E54"/>
          </a:solidFill>
          <a:ln w="12700">
            <a:solidFill>
              <a:srgbClr val="002E54"/>
            </a:solidFill>
            <a:prstDash val="solid"/>
          </a:ln>
        </p:spPr>
      </p:sp>
      <p:sp>
        <p:nvSpPr>
          <p:cNvPr id="9" name="Text 7"/>
          <p:cNvSpPr/>
          <p:nvPr/>
        </p:nvSpPr>
        <p:spPr>
          <a:xfrm>
            <a:off x="868680" y="3858768"/>
            <a:ext cx="1097280" cy="329184"/>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10 h</a:t>
            </a:r>
            <a:endParaRPr lang="en-US" sz="2800" dirty="0"/>
          </a:p>
        </p:txBody>
      </p:sp>
      <p:sp>
        <p:nvSpPr>
          <p:cNvPr id="10" name="Text 8"/>
          <p:cNvSpPr/>
          <p:nvPr/>
        </p:nvSpPr>
        <p:spPr>
          <a:xfrm>
            <a:off x="868680" y="4325112"/>
            <a:ext cx="1920240" cy="210312"/>
          </a:xfrm>
          <a:prstGeom prst="rect">
            <a:avLst/>
          </a:prstGeom>
          <a:noFill/>
          <a:ln/>
        </p:spPr>
        <p:txBody>
          <a:bodyPr wrap="square" lIns="0" tIns="0" rIns="0" bIns="0" rtlCol="0" anchor="ctr"/>
          <a:lstStyle/>
          <a:p>
            <a:pPr marL="0" indent="0">
              <a:buNone/>
            </a:pPr>
            <a:r>
              <a:rPr lang="en-US" sz="1250" dirty="0">
                <a:solidFill>
                  <a:srgbClr val="D8E4EA"/>
                </a:solidFill>
                <a:latin typeface="Aptos" pitchFamily="34" charset="0"/>
                <a:ea typeface="Aptos" pitchFamily="34" charset="-122"/>
                <a:cs typeface="Aptos" pitchFamily="34" charset="-120"/>
              </a:rPr>
              <a:t>Duración total</a:t>
            </a:r>
            <a:endParaRPr lang="en-US" sz="1250" dirty="0"/>
          </a:p>
        </p:txBody>
      </p:sp>
      <p:sp>
        <p:nvSpPr>
          <p:cNvPr id="11" name="Shape 9"/>
          <p:cNvSpPr/>
          <p:nvPr/>
        </p:nvSpPr>
        <p:spPr>
          <a:xfrm>
            <a:off x="3730752" y="3657600"/>
            <a:ext cx="2788920" cy="1097280"/>
          </a:xfrm>
          <a:prstGeom prst="rect">
            <a:avLst/>
          </a:prstGeom>
          <a:solidFill>
            <a:srgbClr val="00CBA8"/>
          </a:solidFill>
          <a:ln w="12700">
            <a:solidFill>
              <a:srgbClr val="00CBA8"/>
            </a:solidFill>
            <a:prstDash val="solid"/>
          </a:ln>
        </p:spPr>
      </p:sp>
      <p:sp>
        <p:nvSpPr>
          <p:cNvPr id="12" name="Text 10"/>
          <p:cNvSpPr/>
          <p:nvPr/>
        </p:nvSpPr>
        <p:spPr>
          <a:xfrm>
            <a:off x="3941064" y="3858768"/>
            <a:ext cx="1097280" cy="329184"/>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2 h</a:t>
            </a:r>
            <a:endParaRPr lang="en-US" sz="2800" dirty="0"/>
          </a:p>
        </p:txBody>
      </p:sp>
      <p:sp>
        <p:nvSpPr>
          <p:cNvPr id="13" name="Text 11"/>
          <p:cNvSpPr/>
          <p:nvPr/>
        </p:nvSpPr>
        <p:spPr>
          <a:xfrm>
            <a:off x="3941064" y="4325112"/>
            <a:ext cx="1920240" cy="210312"/>
          </a:xfrm>
          <a:prstGeom prst="rect">
            <a:avLst/>
          </a:prstGeom>
          <a:noFill/>
          <a:ln/>
        </p:spPr>
        <p:txBody>
          <a:bodyPr wrap="square" lIns="0" tIns="0" rIns="0" bIns="0" rtlCol="0" anchor="ctr"/>
          <a:lstStyle/>
          <a:p>
            <a:pPr marL="0" indent="0">
              <a:buNone/>
            </a:pPr>
            <a:r>
              <a:rPr lang="en-US" sz="1250" dirty="0">
                <a:solidFill>
                  <a:srgbClr val="FFFFFF"/>
                </a:solidFill>
                <a:latin typeface="Aptos" pitchFamily="34" charset="0"/>
                <a:ea typeface="Aptos" pitchFamily="34" charset="-122"/>
                <a:cs typeface="Aptos" pitchFamily="34" charset="-120"/>
              </a:rPr>
              <a:t>Presencial</a:t>
            </a:r>
            <a:endParaRPr lang="en-US" sz="1250" dirty="0"/>
          </a:p>
        </p:txBody>
      </p:sp>
      <p:sp>
        <p:nvSpPr>
          <p:cNvPr id="14" name="Shape 12"/>
          <p:cNvSpPr/>
          <p:nvPr/>
        </p:nvSpPr>
        <p:spPr>
          <a:xfrm>
            <a:off x="6812280" y="3657600"/>
            <a:ext cx="3703320" cy="1097280"/>
          </a:xfrm>
          <a:prstGeom prst="rect">
            <a:avLst/>
          </a:prstGeom>
          <a:solidFill>
            <a:srgbClr val="0B95D0"/>
          </a:solidFill>
          <a:ln w="12700">
            <a:solidFill>
              <a:srgbClr val="0B95D0"/>
            </a:solidFill>
            <a:prstDash val="solid"/>
          </a:ln>
        </p:spPr>
      </p:sp>
      <p:sp>
        <p:nvSpPr>
          <p:cNvPr id="15" name="Text 13"/>
          <p:cNvSpPr/>
          <p:nvPr/>
        </p:nvSpPr>
        <p:spPr>
          <a:xfrm>
            <a:off x="7022592" y="3858768"/>
            <a:ext cx="1097280" cy="329184"/>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8 h</a:t>
            </a:r>
            <a:endParaRPr lang="en-US" sz="2800" dirty="0"/>
          </a:p>
        </p:txBody>
      </p:sp>
      <p:sp>
        <p:nvSpPr>
          <p:cNvPr id="16" name="Text 14"/>
          <p:cNvSpPr/>
          <p:nvPr/>
        </p:nvSpPr>
        <p:spPr>
          <a:xfrm>
            <a:off x="7022592" y="4325112"/>
            <a:ext cx="3108960" cy="210312"/>
          </a:xfrm>
          <a:prstGeom prst="rect">
            <a:avLst/>
          </a:prstGeom>
          <a:noFill/>
          <a:ln/>
        </p:spPr>
        <p:txBody>
          <a:bodyPr wrap="square" lIns="0" tIns="0" rIns="0" bIns="0" rtlCol="0" anchor="ctr"/>
          <a:lstStyle/>
          <a:p>
            <a:pPr marL="0" indent="0">
              <a:buNone/>
            </a:pPr>
            <a:r>
              <a:rPr lang="en-US" sz="1250" dirty="0">
                <a:solidFill>
                  <a:srgbClr val="FFFFFF"/>
                </a:solidFill>
                <a:latin typeface="Aptos" pitchFamily="34" charset="0"/>
                <a:ea typeface="Aptos" pitchFamily="34" charset="-122"/>
                <a:cs typeface="Aptos" pitchFamily="34" charset="-120"/>
              </a:rPr>
              <a:t>Virtuales: 2 sincrónicas + 6 asincrónicas</a:t>
            </a:r>
            <a:endParaRPr lang="en-US" sz="1250" dirty="0"/>
          </a:p>
        </p:txBody>
      </p:sp>
      <p:sp>
        <p:nvSpPr>
          <p:cNvPr id="19" name="Text 16"/>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20" name="Text 17"/>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Arquitectura pedagógica del módulo</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85800" y="1627632"/>
            <a:ext cx="2743200" cy="594360"/>
          </a:xfrm>
          <a:prstGeom prst="rect">
            <a:avLst/>
          </a:prstGeom>
          <a:solidFill>
            <a:srgbClr val="002E54"/>
          </a:solidFill>
          <a:ln w="6350">
            <a:solidFill>
              <a:srgbClr val="D7D7D7"/>
            </a:solidFill>
            <a:prstDash val="solid"/>
          </a:ln>
        </p:spPr>
      </p:sp>
      <p:sp>
        <p:nvSpPr>
          <p:cNvPr id="7" name="Text 5"/>
          <p:cNvSpPr/>
          <p:nvPr/>
        </p:nvSpPr>
        <p:spPr>
          <a:xfrm>
            <a:off x="740664" y="1691640"/>
            <a:ext cx="2633472" cy="484632"/>
          </a:xfrm>
          <a:prstGeom prst="rect">
            <a:avLst/>
          </a:prstGeom>
          <a:noFill/>
          <a:ln/>
        </p:spPr>
        <p:txBody>
          <a:bodyPr wrap="square" lIns="0" tIns="0" rIns="0" bIns="0" rtlCol="0" anchor="ctr">
            <a:normAutofit/>
          </a:bodyPr>
          <a:lstStyle/>
          <a:p>
            <a:pPr marL="0" indent="0" algn="ctr">
              <a:buNone/>
            </a:pPr>
            <a:r>
              <a:rPr lang="en-US" sz="1550" b="1" dirty="0">
                <a:solidFill>
                  <a:srgbClr val="FFFFFF"/>
                </a:solidFill>
                <a:latin typeface="Aptos" pitchFamily="34" charset="0"/>
                <a:ea typeface="Aptos" pitchFamily="34" charset="-122"/>
                <a:cs typeface="Aptos" pitchFamily="34" charset="-120"/>
              </a:rPr>
              <a:t>Duración total</a:t>
            </a:r>
            <a:endParaRPr lang="en-US" sz="1550" dirty="0"/>
          </a:p>
        </p:txBody>
      </p:sp>
      <p:sp>
        <p:nvSpPr>
          <p:cNvPr id="8" name="Shape 6"/>
          <p:cNvSpPr/>
          <p:nvPr/>
        </p:nvSpPr>
        <p:spPr>
          <a:xfrm>
            <a:off x="3429000" y="1627632"/>
            <a:ext cx="2103120" cy="594360"/>
          </a:xfrm>
          <a:prstGeom prst="rect">
            <a:avLst/>
          </a:prstGeom>
          <a:solidFill>
            <a:srgbClr val="002E54"/>
          </a:solidFill>
          <a:ln w="6350">
            <a:solidFill>
              <a:srgbClr val="D7D7D7"/>
            </a:solidFill>
            <a:prstDash val="solid"/>
          </a:ln>
        </p:spPr>
      </p:sp>
      <p:sp>
        <p:nvSpPr>
          <p:cNvPr id="9" name="Text 7"/>
          <p:cNvSpPr/>
          <p:nvPr/>
        </p:nvSpPr>
        <p:spPr>
          <a:xfrm>
            <a:off x="3483864" y="1691640"/>
            <a:ext cx="1993392" cy="484632"/>
          </a:xfrm>
          <a:prstGeom prst="rect">
            <a:avLst/>
          </a:prstGeom>
          <a:noFill/>
          <a:ln/>
        </p:spPr>
        <p:txBody>
          <a:bodyPr wrap="square" lIns="0" tIns="0" rIns="0" bIns="0" rtlCol="0" anchor="ctr">
            <a:normAutofit/>
          </a:bodyPr>
          <a:lstStyle/>
          <a:p>
            <a:pPr marL="0" indent="0" algn="ctr">
              <a:buNone/>
            </a:pPr>
            <a:r>
              <a:rPr lang="en-US" sz="1550" b="1" dirty="0">
                <a:solidFill>
                  <a:srgbClr val="FFFFFF"/>
                </a:solidFill>
                <a:latin typeface="Aptos" pitchFamily="34" charset="0"/>
                <a:ea typeface="Aptos" pitchFamily="34" charset="-122"/>
                <a:cs typeface="Aptos" pitchFamily="34" charset="-120"/>
              </a:rPr>
              <a:t>Presencial</a:t>
            </a:r>
            <a:endParaRPr lang="en-US" sz="1550" dirty="0"/>
          </a:p>
        </p:txBody>
      </p:sp>
      <p:sp>
        <p:nvSpPr>
          <p:cNvPr id="10" name="Shape 8"/>
          <p:cNvSpPr/>
          <p:nvPr/>
        </p:nvSpPr>
        <p:spPr>
          <a:xfrm>
            <a:off x="5532120" y="1627632"/>
            <a:ext cx="3474720" cy="594360"/>
          </a:xfrm>
          <a:prstGeom prst="rect">
            <a:avLst/>
          </a:prstGeom>
          <a:solidFill>
            <a:srgbClr val="002E54"/>
          </a:solidFill>
          <a:ln w="6350">
            <a:solidFill>
              <a:srgbClr val="D7D7D7"/>
            </a:solidFill>
            <a:prstDash val="solid"/>
          </a:ln>
        </p:spPr>
      </p:sp>
      <p:sp>
        <p:nvSpPr>
          <p:cNvPr id="11" name="Text 9"/>
          <p:cNvSpPr/>
          <p:nvPr/>
        </p:nvSpPr>
        <p:spPr>
          <a:xfrm>
            <a:off x="5586984" y="1691640"/>
            <a:ext cx="3364992" cy="484632"/>
          </a:xfrm>
          <a:prstGeom prst="rect">
            <a:avLst/>
          </a:prstGeom>
          <a:noFill/>
          <a:ln/>
        </p:spPr>
        <p:txBody>
          <a:bodyPr wrap="square" lIns="0" tIns="0" rIns="0" bIns="0" rtlCol="0" anchor="ctr">
            <a:normAutofit/>
          </a:bodyPr>
          <a:lstStyle/>
          <a:p>
            <a:pPr marL="0" indent="0" algn="ctr">
              <a:buNone/>
            </a:pPr>
            <a:r>
              <a:rPr lang="en-US" sz="1550" b="1" dirty="0">
                <a:solidFill>
                  <a:srgbClr val="FFFFFF"/>
                </a:solidFill>
                <a:latin typeface="Aptos" pitchFamily="34" charset="0"/>
                <a:ea typeface="Aptos" pitchFamily="34" charset="-122"/>
                <a:cs typeface="Aptos" pitchFamily="34" charset="-120"/>
              </a:rPr>
              <a:t>Virtual</a:t>
            </a:r>
            <a:endParaRPr lang="en-US" sz="1550" dirty="0"/>
          </a:p>
        </p:txBody>
      </p:sp>
      <p:sp>
        <p:nvSpPr>
          <p:cNvPr id="12" name="Shape 10"/>
          <p:cNvSpPr/>
          <p:nvPr/>
        </p:nvSpPr>
        <p:spPr>
          <a:xfrm>
            <a:off x="9006840" y="1627632"/>
            <a:ext cx="2560320" cy="594360"/>
          </a:xfrm>
          <a:prstGeom prst="rect">
            <a:avLst/>
          </a:prstGeom>
          <a:solidFill>
            <a:srgbClr val="002E54"/>
          </a:solidFill>
          <a:ln w="6350">
            <a:solidFill>
              <a:srgbClr val="D7D7D7"/>
            </a:solidFill>
            <a:prstDash val="solid"/>
          </a:ln>
        </p:spPr>
      </p:sp>
      <p:sp>
        <p:nvSpPr>
          <p:cNvPr id="13" name="Text 11"/>
          <p:cNvSpPr/>
          <p:nvPr/>
        </p:nvSpPr>
        <p:spPr>
          <a:xfrm>
            <a:off x="9061704" y="1691640"/>
            <a:ext cx="2450592" cy="484632"/>
          </a:xfrm>
          <a:prstGeom prst="rect">
            <a:avLst/>
          </a:prstGeom>
          <a:noFill/>
          <a:ln/>
        </p:spPr>
        <p:txBody>
          <a:bodyPr wrap="square" lIns="0" tIns="0" rIns="0" bIns="0" rtlCol="0" anchor="ctr">
            <a:normAutofit/>
          </a:bodyPr>
          <a:lstStyle/>
          <a:p>
            <a:pPr marL="0" indent="0" algn="ctr">
              <a:buNone/>
            </a:pPr>
            <a:r>
              <a:rPr lang="en-US" sz="1550" b="1" dirty="0">
                <a:solidFill>
                  <a:srgbClr val="FFFFFF"/>
                </a:solidFill>
                <a:latin typeface="Aptos" pitchFamily="34" charset="0"/>
                <a:ea typeface="Aptos" pitchFamily="34" charset="-122"/>
                <a:cs typeface="Aptos" pitchFamily="34" charset="-120"/>
              </a:rPr>
              <a:t>Competencias</a:t>
            </a:r>
            <a:endParaRPr lang="en-US" sz="1550" dirty="0"/>
          </a:p>
        </p:txBody>
      </p:sp>
      <p:sp>
        <p:nvSpPr>
          <p:cNvPr id="14" name="Shape 12"/>
          <p:cNvSpPr/>
          <p:nvPr/>
        </p:nvSpPr>
        <p:spPr>
          <a:xfrm>
            <a:off x="685800" y="2221992"/>
            <a:ext cx="2743200" cy="594360"/>
          </a:xfrm>
          <a:prstGeom prst="rect">
            <a:avLst/>
          </a:prstGeom>
          <a:solidFill>
            <a:srgbClr val="FFFFFF"/>
          </a:solidFill>
          <a:ln w="6350">
            <a:solidFill>
              <a:srgbClr val="D7D7D7"/>
            </a:solidFill>
            <a:prstDash val="solid"/>
          </a:ln>
        </p:spPr>
      </p:sp>
      <p:sp>
        <p:nvSpPr>
          <p:cNvPr id="15" name="Text 13"/>
          <p:cNvSpPr/>
          <p:nvPr/>
        </p:nvSpPr>
        <p:spPr>
          <a:xfrm>
            <a:off x="740664" y="2286000"/>
            <a:ext cx="2633472" cy="484632"/>
          </a:xfrm>
          <a:prstGeom prst="rect">
            <a:avLst/>
          </a:prstGeom>
          <a:noFill/>
          <a:ln/>
        </p:spPr>
        <p:txBody>
          <a:bodyPr wrap="square" lIns="0" tIns="0" rIns="0" bIns="0" rtlCol="0" anchor="ctr">
            <a:normAutofit/>
          </a:bodyPr>
          <a:lstStyle/>
          <a:p>
            <a:pPr marL="0" indent="0" algn="ctr">
              <a:buNone/>
            </a:pPr>
            <a:r>
              <a:rPr lang="en-US" sz="1550" dirty="0">
                <a:solidFill>
                  <a:srgbClr val="1F2937"/>
                </a:solidFill>
                <a:latin typeface="Aptos" pitchFamily="34" charset="0"/>
                <a:ea typeface="Aptos" pitchFamily="34" charset="-122"/>
                <a:cs typeface="Aptos" pitchFamily="34" charset="-120"/>
              </a:rPr>
              <a:t>10 horas</a:t>
            </a:r>
            <a:endParaRPr lang="en-US" sz="1550" dirty="0"/>
          </a:p>
        </p:txBody>
      </p:sp>
      <p:sp>
        <p:nvSpPr>
          <p:cNvPr id="16" name="Shape 14"/>
          <p:cNvSpPr/>
          <p:nvPr/>
        </p:nvSpPr>
        <p:spPr>
          <a:xfrm>
            <a:off x="3429000" y="2221992"/>
            <a:ext cx="2103120" cy="594360"/>
          </a:xfrm>
          <a:prstGeom prst="rect">
            <a:avLst/>
          </a:prstGeom>
          <a:solidFill>
            <a:srgbClr val="FFFFFF"/>
          </a:solidFill>
          <a:ln w="6350">
            <a:solidFill>
              <a:srgbClr val="D7D7D7"/>
            </a:solidFill>
            <a:prstDash val="solid"/>
          </a:ln>
        </p:spPr>
      </p:sp>
      <p:sp>
        <p:nvSpPr>
          <p:cNvPr id="17" name="Text 15"/>
          <p:cNvSpPr/>
          <p:nvPr/>
        </p:nvSpPr>
        <p:spPr>
          <a:xfrm>
            <a:off x="3483864" y="2286000"/>
            <a:ext cx="1993392" cy="484632"/>
          </a:xfrm>
          <a:prstGeom prst="rect">
            <a:avLst/>
          </a:prstGeom>
          <a:noFill/>
          <a:ln/>
        </p:spPr>
        <p:txBody>
          <a:bodyPr wrap="square" lIns="0" tIns="0" rIns="0" bIns="0" rtlCol="0" anchor="ctr">
            <a:normAutofit/>
          </a:bodyPr>
          <a:lstStyle/>
          <a:p>
            <a:pPr marL="0" indent="0" algn="ctr">
              <a:buNone/>
            </a:pPr>
            <a:r>
              <a:rPr lang="en-US" sz="1550" dirty="0">
                <a:solidFill>
                  <a:srgbClr val="1F2937"/>
                </a:solidFill>
                <a:latin typeface="Aptos" pitchFamily="34" charset="0"/>
                <a:ea typeface="Aptos" pitchFamily="34" charset="-122"/>
                <a:cs typeface="Aptos" pitchFamily="34" charset="-120"/>
              </a:rPr>
              <a:t>2 horas</a:t>
            </a:r>
            <a:endParaRPr lang="en-US" sz="1550" dirty="0"/>
          </a:p>
        </p:txBody>
      </p:sp>
      <p:sp>
        <p:nvSpPr>
          <p:cNvPr id="18" name="Shape 16"/>
          <p:cNvSpPr/>
          <p:nvPr/>
        </p:nvSpPr>
        <p:spPr>
          <a:xfrm>
            <a:off x="5532120" y="2221992"/>
            <a:ext cx="3474720" cy="594360"/>
          </a:xfrm>
          <a:prstGeom prst="rect">
            <a:avLst/>
          </a:prstGeom>
          <a:solidFill>
            <a:srgbClr val="FFFFFF"/>
          </a:solidFill>
          <a:ln w="6350">
            <a:solidFill>
              <a:srgbClr val="D7D7D7"/>
            </a:solidFill>
            <a:prstDash val="solid"/>
          </a:ln>
        </p:spPr>
      </p:sp>
      <p:sp>
        <p:nvSpPr>
          <p:cNvPr id="19" name="Text 17"/>
          <p:cNvSpPr/>
          <p:nvPr/>
        </p:nvSpPr>
        <p:spPr>
          <a:xfrm>
            <a:off x="5586984" y="2286000"/>
            <a:ext cx="3364992" cy="484632"/>
          </a:xfrm>
          <a:prstGeom prst="rect">
            <a:avLst/>
          </a:prstGeom>
          <a:noFill/>
          <a:ln/>
        </p:spPr>
        <p:txBody>
          <a:bodyPr wrap="square" lIns="0" tIns="0" rIns="0" bIns="0" rtlCol="0" anchor="ctr">
            <a:normAutofit/>
          </a:bodyPr>
          <a:lstStyle/>
          <a:p>
            <a:pPr marL="0" indent="0" algn="ctr">
              <a:buNone/>
            </a:pPr>
            <a:r>
              <a:rPr lang="en-US" sz="1550" dirty="0">
                <a:solidFill>
                  <a:srgbClr val="1F2937"/>
                </a:solidFill>
                <a:latin typeface="Aptos" pitchFamily="34" charset="0"/>
                <a:ea typeface="Aptos" pitchFamily="34" charset="-122"/>
                <a:cs typeface="Aptos" pitchFamily="34" charset="-120"/>
              </a:rPr>
              <a:t>8 horas</a:t>
            </a:r>
            <a:endParaRPr lang="en-US" sz="1550" dirty="0"/>
          </a:p>
          <a:p>
            <a:pPr marL="0" indent="0" algn="ctr">
              <a:buNone/>
            </a:pPr>
            <a:r>
              <a:rPr lang="en-US" sz="1550" dirty="0">
                <a:solidFill>
                  <a:srgbClr val="1F2937"/>
                </a:solidFill>
                <a:latin typeface="Aptos" pitchFamily="34" charset="0"/>
                <a:ea typeface="Aptos" pitchFamily="34" charset="-122"/>
                <a:cs typeface="Aptos" pitchFamily="34" charset="-120"/>
              </a:rPr>
              <a:t>(2 sincrónicas + 6 asincrónicas)</a:t>
            </a:r>
            <a:endParaRPr lang="en-US" sz="1550" dirty="0"/>
          </a:p>
        </p:txBody>
      </p:sp>
      <p:sp>
        <p:nvSpPr>
          <p:cNvPr id="20" name="Shape 18"/>
          <p:cNvSpPr/>
          <p:nvPr/>
        </p:nvSpPr>
        <p:spPr>
          <a:xfrm>
            <a:off x="9006840" y="2221992"/>
            <a:ext cx="2560320" cy="594360"/>
          </a:xfrm>
          <a:prstGeom prst="rect">
            <a:avLst/>
          </a:prstGeom>
          <a:solidFill>
            <a:srgbClr val="FFFFFF"/>
          </a:solidFill>
          <a:ln w="6350">
            <a:solidFill>
              <a:srgbClr val="D7D7D7"/>
            </a:solidFill>
            <a:prstDash val="solid"/>
          </a:ln>
        </p:spPr>
      </p:sp>
      <p:sp>
        <p:nvSpPr>
          <p:cNvPr id="21" name="Text 19"/>
          <p:cNvSpPr/>
          <p:nvPr/>
        </p:nvSpPr>
        <p:spPr>
          <a:xfrm>
            <a:off x="9061704" y="2286000"/>
            <a:ext cx="2450592" cy="484632"/>
          </a:xfrm>
          <a:prstGeom prst="rect">
            <a:avLst/>
          </a:prstGeom>
          <a:noFill/>
          <a:ln/>
        </p:spPr>
        <p:txBody>
          <a:bodyPr wrap="square" lIns="0" tIns="0" rIns="0" bIns="0" rtlCol="0" anchor="ctr">
            <a:normAutofit/>
          </a:bodyPr>
          <a:lstStyle/>
          <a:p>
            <a:pPr marL="0" indent="0" algn="ctr">
              <a:buNone/>
            </a:pPr>
            <a:r>
              <a:rPr lang="en-US" sz="1550" dirty="0">
                <a:solidFill>
                  <a:srgbClr val="1F2937"/>
                </a:solidFill>
                <a:latin typeface="Aptos" pitchFamily="34" charset="0"/>
                <a:ea typeface="Aptos" pitchFamily="34" charset="-122"/>
                <a:cs typeface="Aptos" pitchFamily="34" charset="-120"/>
              </a:rPr>
              <a:t>C1, C2, C3 y C4</a:t>
            </a:r>
            <a:endParaRPr lang="en-US" sz="1550" dirty="0"/>
          </a:p>
        </p:txBody>
      </p:sp>
      <p:sp>
        <p:nvSpPr>
          <p:cNvPr id="22" name="Text 20"/>
          <p:cNvSpPr/>
          <p:nvPr/>
        </p:nvSpPr>
        <p:spPr>
          <a:xfrm>
            <a:off x="713232" y="3493008"/>
            <a:ext cx="10698480" cy="320040"/>
          </a:xfrm>
          <a:prstGeom prst="rect">
            <a:avLst/>
          </a:prstGeom>
          <a:noFill/>
          <a:ln/>
        </p:spPr>
        <p:txBody>
          <a:bodyPr wrap="square" lIns="0" tIns="0" rIns="0" bIns="0" rtlCol="0" anchor="ctr"/>
          <a:lstStyle/>
          <a:p>
            <a:pPr marL="0" indent="0">
              <a:buNone/>
            </a:pPr>
            <a:r>
              <a:rPr lang="en-US" sz="2400" dirty="0">
                <a:solidFill>
                  <a:srgbClr val="002E54"/>
                </a:solidFill>
                <a:latin typeface="Aptos Display" pitchFamily="34" charset="0"/>
                <a:ea typeface="Aptos Display" pitchFamily="34" charset="-122"/>
                <a:cs typeface="Aptos Display" pitchFamily="34" charset="-120"/>
              </a:rPr>
              <a:t>El módulo constituye el núcleo pedagógico del programa.</a:t>
            </a:r>
            <a:endParaRPr lang="en-US" sz="2400" dirty="0"/>
          </a:p>
        </p:txBody>
      </p:sp>
      <p:sp>
        <p:nvSpPr>
          <p:cNvPr id="23" name="Text 21"/>
          <p:cNvSpPr/>
          <p:nvPr/>
        </p:nvSpPr>
        <p:spPr>
          <a:xfrm>
            <a:off x="713232" y="4114800"/>
            <a:ext cx="10241280" cy="594360"/>
          </a:xfrm>
          <a:prstGeom prst="rect">
            <a:avLst/>
          </a:prstGeom>
          <a:noFill/>
          <a:ln/>
        </p:spPr>
        <p:txBody>
          <a:bodyPr wrap="square" lIns="254" tIns="254" rIns="254" bIns="254" rtlCol="0" anchor="ctr"/>
          <a:lstStyle/>
          <a:p>
            <a:pPr marL="0" indent="0">
              <a:buNone/>
            </a:pPr>
            <a:r>
              <a:rPr lang="en-US" sz="1800" dirty="0">
                <a:solidFill>
                  <a:srgbClr val="1F2937"/>
                </a:solidFill>
                <a:latin typeface="Aptos" pitchFamily="34" charset="0"/>
                <a:ea typeface="Aptos" pitchFamily="34" charset="-122"/>
                <a:cs typeface="Aptos" pitchFamily="34" charset="-120"/>
              </a:rPr>
              <a:t>Integra diagnóstico de necesidades formativas, diseño curricular y de sesiones, facilitación activa y evaluación del aprendizaje.</a:t>
            </a:r>
            <a:endParaRPr lang="en-US" sz="1800" dirty="0"/>
          </a:p>
        </p:txBody>
      </p:sp>
      <p:sp>
        <p:nvSpPr>
          <p:cNvPr id="26" name="Text 23"/>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27" name="Text 24"/>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Competencias de salida vinculadas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658368" y="1572768"/>
            <a:ext cx="512064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C1 · Diagnóstico formativo</a:t>
            </a:r>
            <a:endParaRPr lang="en-US" sz="1420" dirty="0"/>
          </a:p>
        </p:txBody>
      </p:sp>
      <p:sp>
        <p:nvSpPr>
          <p:cNvPr id="7" name="Text 5"/>
          <p:cNvSpPr/>
          <p:nvPr/>
        </p:nvSpPr>
        <p:spPr>
          <a:xfrm>
            <a:off x="658368" y="1965960"/>
            <a:ext cx="516636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Diagnosticar necesidades de formación y desarrollo de capacidades.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Caracterizar personas destinatarias, brechas y prioridades.</a:t>
            </a:r>
            <a:endParaRPr lang="en-US" sz="1630" dirty="0"/>
          </a:p>
        </p:txBody>
      </p:sp>
      <p:sp>
        <p:nvSpPr>
          <p:cNvPr id="8" name="Text 6"/>
          <p:cNvSpPr/>
          <p:nvPr/>
        </p:nvSpPr>
        <p:spPr>
          <a:xfrm>
            <a:off x="6446520" y="1572768"/>
            <a:ext cx="502920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C2 · Diseño formativo</a:t>
            </a:r>
            <a:endParaRPr lang="en-US" sz="1420" dirty="0"/>
          </a:p>
        </p:txBody>
      </p:sp>
      <p:sp>
        <p:nvSpPr>
          <p:cNvPr id="9" name="Text 7"/>
          <p:cNvSpPr/>
          <p:nvPr/>
        </p:nvSpPr>
        <p:spPr>
          <a:xfrm>
            <a:off x="6446520" y="1965960"/>
            <a:ext cx="507492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Diseñar procesos formativos orientados a competencias.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Incorporar enfoque inclusivo y sostenible.</a:t>
            </a:r>
            <a:endParaRPr lang="en-US" sz="1630" dirty="0"/>
          </a:p>
        </p:txBody>
      </p:sp>
      <p:sp>
        <p:nvSpPr>
          <p:cNvPr id="10" name="Text 8"/>
          <p:cNvSpPr/>
          <p:nvPr/>
        </p:nvSpPr>
        <p:spPr>
          <a:xfrm>
            <a:off x="658368" y="4297680"/>
            <a:ext cx="5166360" cy="256032"/>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C3 · Facilitación activa</a:t>
            </a:r>
            <a:endParaRPr lang="en-US" sz="1420" dirty="0"/>
          </a:p>
        </p:txBody>
      </p:sp>
      <p:sp>
        <p:nvSpPr>
          <p:cNvPr id="11" name="Text 9"/>
          <p:cNvSpPr/>
          <p:nvPr/>
        </p:nvSpPr>
        <p:spPr>
          <a:xfrm>
            <a:off x="658368" y="4663440"/>
            <a:ext cx="5166360" cy="73152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Facilitar aprendizajes activos y gestionar dinámicas grupales en contextos diversos.</a:t>
            </a:r>
            <a:endParaRPr lang="en-US" sz="1630" dirty="0"/>
          </a:p>
        </p:txBody>
      </p:sp>
      <p:sp>
        <p:nvSpPr>
          <p:cNvPr id="12" name="Text 10"/>
          <p:cNvSpPr/>
          <p:nvPr/>
        </p:nvSpPr>
        <p:spPr>
          <a:xfrm>
            <a:off x="6446520" y="4297680"/>
            <a:ext cx="5074920" cy="256032"/>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C4 · Evaluación y mejora</a:t>
            </a:r>
            <a:endParaRPr lang="en-US" sz="1420" dirty="0"/>
          </a:p>
        </p:txBody>
      </p:sp>
      <p:sp>
        <p:nvSpPr>
          <p:cNvPr id="13" name="Text 11"/>
          <p:cNvSpPr/>
          <p:nvPr/>
        </p:nvSpPr>
        <p:spPr>
          <a:xfrm>
            <a:off x="6446520" y="4663440"/>
            <a:ext cx="5074920" cy="73152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Evaluar el aprendizaje y el proceso formativo para la mejora continua.</a:t>
            </a:r>
            <a:endParaRPr lang="en-US" sz="1630" dirty="0"/>
          </a:p>
        </p:txBody>
      </p:sp>
      <p:sp>
        <p:nvSpPr>
          <p:cNvPr id="16" name="Text 13"/>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7" name="Text 14"/>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Resultados esperados de aprendizaje I</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13232" y="1609344"/>
            <a:ext cx="10789920" cy="4389120"/>
          </a:xfrm>
          <a:prstGeom prst="rect">
            <a:avLst/>
          </a:prstGeom>
          <a:noFill/>
          <a:ln/>
        </p:spPr>
        <p:txBody>
          <a:bodyPr wrap="square" lIns="635" tIns="635" rIns="635" bIns="635" rtlCol="0" anchor="ctr">
            <a:normAutofit/>
          </a:bodyPr>
          <a:lstStyle/>
          <a:p>
            <a:pPr marL="0" indent="0">
              <a:buNone/>
            </a:pPr>
            <a:r>
              <a:rPr lang="en-US" sz="2000" dirty="0">
                <a:solidFill>
                  <a:srgbClr val="1F2937"/>
                </a:solidFill>
                <a:latin typeface="Aptos" pitchFamily="34" charset="0"/>
                <a:ea typeface="Aptos" pitchFamily="34" charset="-122"/>
                <a:cs typeface="Aptos" pitchFamily="34" charset="-120"/>
              </a:rPr>
              <a:t>• Identificar y priorizar necesidades formativas considerando las características de las personas destinatarias y su contexto.</a:t>
            </a:r>
            <a:endParaRPr lang="en-US" sz="2000" dirty="0"/>
          </a:p>
          <a:p>
            <a:pPr marL="0" indent="0">
              <a:buNone/>
            </a:pPr>
            <a:r>
              <a:rPr lang="en-US" sz="2000" dirty="0">
                <a:solidFill>
                  <a:srgbClr val="1F2937"/>
                </a:solidFill>
                <a:latin typeface="Aptos" pitchFamily="34" charset="0"/>
                <a:ea typeface="Aptos" pitchFamily="34" charset="-122"/>
                <a:cs typeface="Aptos" pitchFamily="34" charset="-120"/>
              </a:rPr>
              <a:t>• Diferenciar una necesidad de formación de una necesidad de asesoría, mentoría o asistencia técnica.</a:t>
            </a:r>
            <a:endParaRPr lang="en-US" sz="2000" dirty="0"/>
          </a:p>
          <a:p>
            <a:pPr marL="0" indent="0">
              <a:buNone/>
            </a:pPr>
            <a:r>
              <a:rPr lang="en-US" sz="2000" dirty="0">
                <a:solidFill>
                  <a:srgbClr val="1F2937"/>
                </a:solidFill>
                <a:latin typeface="Aptos" pitchFamily="34" charset="0"/>
                <a:ea typeface="Aptos" pitchFamily="34" charset="-122"/>
                <a:cs typeface="Aptos" pitchFamily="34" charset="-120"/>
              </a:rPr>
              <a:t>• Formular resultados de aprendizaje observables, alcanzables y coherentes con las competencias que se pretende desarrollar.</a:t>
            </a:r>
            <a:endParaRPr lang="en-US" sz="2000" dirty="0"/>
          </a:p>
          <a:p>
            <a:pPr marL="0" indent="0">
              <a:buNone/>
            </a:pPr>
            <a:r>
              <a:rPr lang="en-US" sz="2000" dirty="0">
                <a:solidFill>
                  <a:srgbClr val="1F2937"/>
                </a:solidFill>
                <a:latin typeface="Aptos" pitchFamily="34" charset="0"/>
                <a:ea typeface="Aptos" pitchFamily="34" charset="-122"/>
                <a:cs typeface="Aptos" pitchFamily="34" charset="-120"/>
              </a:rPr>
              <a:t>• Diseñar procesos y sesiones formativas articulando resultados, contenidos, actividades, metodologías, recursos y evaluación.</a:t>
            </a:r>
            <a:endParaRPr lang="en-US" sz="2000" dirty="0"/>
          </a:p>
          <a:p>
            <a:pPr marL="0" indent="0">
              <a:buNone/>
            </a:pPr>
            <a:r>
              <a:rPr lang="en-US" sz="2000" dirty="0">
                <a:solidFill>
                  <a:srgbClr val="1F2937"/>
                </a:solidFill>
                <a:latin typeface="Aptos" pitchFamily="34" charset="0"/>
                <a:ea typeface="Aptos" pitchFamily="34" charset="-122"/>
                <a:cs typeface="Aptos" pitchFamily="34" charset="-120"/>
              </a:rPr>
              <a:t>• Seleccionar y aplicar metodologías activas adecuadas para la formación de personas </a:t>
            </a:r>
            <a:r>
              <a:rPr lang="en-US" sz="2000" dirty="0" err="1">
                <a:solidFill>
                  <a:srgbClr val="1F2937"/>
                </a:solidFill>
                <a:latin typeface="Aptos" pitchFamily="34" charset="0"/>
                <a:ea typeface="Aptos" pitchFamily="34" charset="-122"/>
                <a:cs typeface="Aptos" pitchFamily="34" charset="-120"/>
              </a:rPr>
              <a:t>adultas</a:t>
            </a:r>
            <a:r>
              <a:rPr lang="en-US" sz="2000" dirty="0">
                <a:solidFill>
                  <a:srgbClr val="1F2937"/>
                </a:solidFill>
                <a:latin typeface="Aptos" pitchFamily="34" charset="0"/>
                <a:ea typeface="Aptos" pitchFamily="34" charset="-122"/>
                <a:cs typeface="Aptos" pitchFamily="34" charset="-120"/>
              </a:rPr>
              <a:t>.</a:t>
            </a:r>
            <a:endParaRPr lang="en-US" sz="2000" dirty="0"/>
          </a:p>
        </p:txBody>
      </p:sp>
      <p:sp>
        <p:nvSpPr>
          <p:cNvPr id="9" name="Text 6"/>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0" name="Text 7"/>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Resultados esperados de aprendizaje II</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13232" y="1609344"/>
            <a:ext cx="10789920" cy="4389120"/>
          </a:xfrm>
          <a:prstGeom prst="rect">
            <a:avLst/>
          </a:prstGeom>
          <a:noFill/>
          <a:ln/>
        </p:spPr>
        <p:txBody>
          <a:bodyPr wrap="square" lIns="635" tIns="635" rIns="635" bIns="635" rtlCol="0" anchor="ctr">
            <a:normAutofit/>
          </a:bodyPr>
          <a:lstStyle/>
          <a:p>
            <a:pPr marL="0" indent="0">
              <a:buNone/>
            </a:pP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Gestionar</a:t>
            </a:r>
            <a:r>
              <a:rPr lang="en-US" sz="2000" dirty="0">
                <a:solidFill>
                  <a:srgbClr val="1F2937"/>
                </a:solidFill>
                <a:latin typeface="Aptos" pitchFamily="34" charset="0"/>
                <a:ea typeface="Aptos" pitchFamily="34" charset="-122"/>
                <a:cs typeface="Aptos" pitchFamily="34" charset="-120"/>
              </a:rPr>
              <a:t> la </a:t>
            </a:r>
            <a:r>
              <a:rPr lang="en-US" sz="2000" dirty="0" err="1">
                <a:solidFill>
                  <a:srgbClr val="1F2937"/>
                </a:solidFill>
                <a:latin typeface="Aptos" pitchFamily="34" charset="0"/>
                <a:ea typeface="Aptos" pitchFamily="34" charset="-122"/>
                <a:cs typeface="Aptos" pitchFamily="34" charset="-120"/>
              </a:rPr>
              <a:t>comunicación</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participación</a:t>
            </a:r>
            <a:r>
              <a:rPr lang="en-US" sz="2000" dirty="0">
                <a:solidFill>
                  <a:srgbClr val="1F2937"/>
                </a:solidFill>
                <a:latin typeface="Aptos" pitchFamily="34" charset="0"/>
                <a:ea typeface="Aptos" pitchFamily="34" charset="-122"/>
                <a:cs typeface="Aptos" pitchFamily="34" charset="-120"/>
              </a:rPr>
              <a:t> y </a:t>
            </a:r>
            <a:r>
              <a:rPr lang="en-US" sz="2000" dirty="0" err="1">
                <a:solidFill>
                  <a:srgbClr val="1F2937"/>
                </a:solidFill>
                <a:latin typeface="Aptos" pitchFamily="34" charset="0"/>
                <a:ea typeface="Aptos" pitchFamily="34" charset="-122"/>
                <a:cs typeface="Aptos" pitchFamily="34" charset="-120"/>
              </a:rPr>
              <a:t>dinámica</a:t>
            </a:r>
            <a:r>
              <a:rPr lang="en-US" sz="2000" dirty="0">
                <a:solidFill>
                  <a:srgbClr val="1F2937"/>
                </a:solidFill>
                <a:latin typeface="Aptos" pitchFamily="34" charset="0"/>
                <a:ea typeface="Aptos" pitchFamily="34" charset="-122"/>
                <a:cs typeface="Aptos" pitchFamily="34" charset="-120"/>
              </a:rPr>
              <a:t> de </a:t>
            </a:r>
            <a:r>
              <a:rPr lang="en-US" sz="2000" dirty="0" err="1">
                <a:solidFill>
                  <a:srgbClr val="1F2937"/>
                </a:solidFill>
                <a:latin typeface="Aptos" pitchFamily="34" charset="0"/>
                <a:ea typeface="Aptos" pitchFamily="34" charset="-122"/>
                <a:cs typeface="Aptos" pitchFamily="34" charset="-120"/>
              </a:rPr>
              <a:t>grupos</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diversos</a:t>
            </a:r>
            <a:r>
              <a:rPr lang="en-US" sz="2000" dirty="0">
                <a:solidFill>
                  <a:srgbClr val="1F2937"/>
                </a:solidFill>
                <a:latin typeface="Aptos" pitchFamily="34" charset="0"/>
                <a:ea typeface="Aptos" pitchFamily="34" charset="-122"/>
                <a:cs typeface="Aptos" pitchFamily="34" charset="-120"/>
              </a:rPr>
              <a:t>.</a:t>
            </a:r>
            <a:endParaRPr lang="en-US" sz="2000" dirty="0"/>
          </a:p>
          <a:p>
            <a:pPr marL="0" indent="0">
              <a:buNone/>
            </a:pP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Aplicar</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instrumentos</a:t>
            </a:r>
            <a:r>
              <a:rPr lang="en-US" sz="2000" dirty="0">
                <a:solidFill>
                  <a:srgbClr val="1F2937"/>
                </a:solidFill>
                <a:latin typeface="Aptos" pitchFamily="34" charset="0"/>
                <a:ea typeface="Aptos" pitchFamily="34" charset="-122"/>
                <a:cs typeface="Aptos" pitchFamily="34" charset="-120"/>
              </a:rPr>
              <a:t> de </a:t>
            </a:r>
            <a:r>
              <a:rPr lang="en-US" sz="2000" dirty="0" err="1">
                <a:solidFill>
                  <a:srgbClr val="1F2937"/>
                </a:solidFill>
                <a:latin typeface="Aptos" pitchFamily="34" charset="0"/>
                <a:ea typeface="Aptos" pitchFamily="34" charset="-122"/>
                <a:cs typeface="Aptos" pitchFamily="34" charset="-120"/>
              </a:rPr>
              <a:t>evaluación</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diagnóstica</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formativa</a:t>
            </a:r>
            <a:r>
              <a:rPr lang="en-US" sz="2000" dirty="0">
                <a:solidFill>
                  <a:srgbClr val="1F2937"/>
                </a:solidFill>
                <a:latin typeface="Aptos" pitchFamily="34" charset="0"/>
                <a:ea typeface="Aptos" pitchFamily="34" charset="-122"/>
                <a:cs typeface="Aptos" pitchFamily="34" charset="-120"/>
              </a:rPr>
              <a:t> y final.</a:t>
            </a:r>
            <a:endParaRPr lang="en-US" sz="2000" dirty="0"/>
          </a:p>
          <a:p>
            <a:pPr marL="0" indent="0">
              <a:buNone/>
            </a:pP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Proporcionar</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retroalimentación</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orientada</a:t>
            </a:r>
            <a:r>
              <a:rPr lang="en-US" sz="2000" dirty="0">
                <a:solidFill>
                  <a:srgbClr val="1F2937"/>
                </a:solidFill>
                <a:latin typeface="Aptos" pitchFamily="34" charset="0"/>
                <a:ea typeface="Aptos" pitchFamily="34" charset="-122"/>
                <a:cs typeface="Aptos" pitchFamily="34" charset="-120"/>
              </a:rPr>
              <a:t> al </a:t>
            </a:r>
            <a:r>
              <a:rPr lang="en-US" sz="2000" dirty="0" err="1">
                <a:solidFill>
                  <a:srgbClr val="1F2937"/>
                </a:solidFill>
                <a:latin typeface="Aptos" pitchFamily="34" charset="0"/>
                <a:ea typeface="Aptos" pitchFamily="34" charset="-122"/>
                <a:cs typeface="Aptos" pitchFamily="34" charset="-120"/>
              </a:rPr>
              <a:t>aprendizaje</a:t>
            </a:r>
            <a:r>
              <a:rPr lang="en-US" sz="2000" dirty="0">
                <a:solidFill>
                  <a:srgbClr val="1F2937"/>
                </a:solidFill>
                <a:latin typeface="Aptos" pitchFamily="34" charset="0"/>
                <a:ea typeface="Aptos" pitchFamily="34" charset="-122"/>
                <a:cs typeface="Aptos" pitchFamily="34" charset="-120"/>
              </a:rPr>
              <a:t> y la </a:t>
            </a:r>
            <a:r>
              <a:rPr lang="en-US" sz="2000" dirty="0" err="1">
                <a:solidFill>
                  <a:srgbClr val="1F2937"/>
                </a:solidFill>
                <a:latin typeface="Aptos" pitchFamily="34" charset="0"/>
                <a:ea typeface="Aptos" pitchFamily="34" charset="-122"/>
                <a:cs typeface="Aptos" pitchFamily="34" charset="-120"/>
              </a:rPr>
              <a:t>mejora</a:t>
            </a:r>
            <a:r>
              <a:rPr lang="en-US" sz="2000" dirty="0">
                <a:solidFill>
                  <a:srgbClr val="1F2937"/>
                </a:solidFill>
                <a:latin typeface="Aptos" pitchFamily="34" charset="0"/>
                <a:ea typeface="Aptos" pitchFamily="34" charset="-122"/>
                <a:cs typeface="Aptos" pitchFamily="34" charset="-120"/>
              </a:rPr>
              <a:t>.</a:t>
            </a:r>
            <a:endParaRPr lang="en-US" sz="2000" dirty="0"/>
          </a:p>
          <a:p>
            <a:pPr marL="0" indent="0">
              <a:buNone/>
            </a:pP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Adaptar</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sesiones</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recursos</a:t>
            </a:r>
            <a:r>
              <a:rPr lang="en-US" sz="2000" dirty="0">
                <a:solidFill>
                  <a:srgbClr val="1F2937"/>
                </a:solidFill>
                <a:latin typeface="Aptos" pitchFamily="34" charset="0"/>
                <a:ea typeface="Aptos" pitchFamily="34" charset="-122"/>
                <a:cs typeface="Aptos" pitchFamily="34" charset="-120"/>
              </a:rPr>
              <a:t> y </a:t>
            </a:r>
            <a:r>
              <a:rPr lang="en-US" sz="2000" dirty="0" err="1">
                <a:solidFill>
                  <a:srgbClr val="1F2937"/>
                </a:solidFill>
                <a:latin typeface="Aptos" pitchFamily="34" charset="0"/>
                <a:ea typeface="Aptos" pitchFamily="34" charset="-122"/>
                <a:cs typeface="Aptos" pitchFamily="34" charset="-120"/>
              </a:rPr>
              <a:t>metodologías</a:t>
            </a:r>
            <a:r>
              <a:rPr lang="en-US" sz="2000" dirty="0">
                <a:solidFill>
                  <a:srgbClr val="1F2937"/>
                </a:solidFill>
                <a:latin typeface="Aptos" pitchFamily="34" charset="0"/>
                <a:ea typeface="Aptos" pitchFamily="34" charset="-122"/>
                <a:cs typeface="Aptos" pitchFamily="34" charset="-120"/>
              </a:rPr>
              <a:t> a </a:t>
            </a:r>
            <a:r>
              <a:rPr lang="en-US" sz="2000" dirty="0" err="1">
                <a:solidFill>
                  <a:srgbClr val="1F2937"/>
                </a:solidFill>
                <a:latin typeface="Aptos" pitchFamily="34" charset="0"/>
                <a:ea typeface="Aptos" pitchFamily="34" charset="-122"/>
                <a:cs typeface="Aptos" pitchFamily="34" charset="-120"/>
              </a:rPr>
              <a:t>condiciones</a:t>
            </a:r>
            <a:r>
              <a:rPr lang="en-US" sz="2000" dirty="0">
                <a:solidFill>
                  <a:srgbClr val="1F2937"/>
                </a:solidFill>
                <a:latin typeface="Aptos" pitchFamily="34" charset="0"/>
                <a:ea typeface="Aptos" pitchFamily="34" charset="-122"/>
                <a:cs typeface="Aptos" pitchFamily="34" charset="-120"/>
              </a:rPr>
              <a:t> de baja </a:t>
            </a:r>
            <a:r>
              <a:rPr lang="en-US" sz="2000" dirty="0" err="1">
                <a:solidFill>
                  <a:srgbClr val="1F2937"/>
                </a:solidFill>
                <a:latin typeface="Aptos" pitchFamily="34" charset="0"/>
                <a:ea typeface="Aptos" pitchFamily="34" charset="-122"/>
                <a:cs typeface="Aptos" pitchFamily="34" charset="-120"/>
              </a:rPr>
              <a:t>conectividad</a:t>
            </a:r>
            <a:r>
              <a:rPr lang="en-US" sz="2000" dirty="0">
                <a:solidFill>
                  <a:srgbClr val="1F2937"/>
                </a:solidFill>
                <a:latin typeface="Aptos" pitchFamily="34" charset="0"/>
                <a:ea typeface="Aptos" pitchFamily="34" charset="-122"/>
                <a:cs typeface="Aptos" pitchFamily="34" charset="-120"/>
              </a:rPr>
              <a:t> y </a:t>
            </a:r>
            <a:r>
              <a:rPr lang="en-US" sz="2000" dirty="0" err="1">
                <a:solidFill>
                  <a:srgbClr val="1F2937"/>
                </a:solidFill>
                <a:latin typeface="Aptos" pitchFamily="34" charset="0"/>
                <a:ea typeface="Aptos" pitchFamily="34" charset="-122"/>
                <a:cs typeface="Aptos" pitchFamily="34" charset="-120"/>
              </a:rPr>
              <a:t>disponibilidad</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limitada</a:t>
            </a:r>
            <a:r>
              <a:rPr lang="en-US" sz="2000" dirty="0">
                <a:solidFill>
                  <a:srgbClr val="1F2937"/>
                </a:solidFill>
                <a:latin typeface="Aptos" pitchFamily="34" charset="0"/>
                <a:ea typeface="Aptos" pitchFamily="34" charset="-122"/>
                <a:cs typeface="Aptos" pitchFamily="34" charset="-120"/>
              </a:rPr>
              <a:t> de </a:t>
            </a:r>
            <a:r>
              <a:rPr lang="en-US" sz="2000" dirty="0" err="1">
                <a:solidFill>
                  <a:srgbClr val="1F2937"/>
                </a:solidFill>
                <a:latin typeface="Aptos" pitchFamily="34" charset="0"/>
                <a:ea typeface="Aptos" pitchFamily="34" charset="-122"/>
                <a:cs typeface="Aptos" pitchFamily="34" charset="-120"/>
              </a:rPr>
              <a:t>recursos</a:t>
            </a:r>
            <a:r>
              <a:rPr lang="en-US" sz="2000" dirty="0">
                <a:solidFill>
                  <a:srgbClr val="1F2937"/>
                </a:solidFill>
                <a:latin typeface="Aptos" pitchFamily="34" charset="0"/>
                <a:ea typeface="Aptos" pitchFamily="34" charset="-122"/>
                <a:cs typeface="Aptos" pitchFamily="34" charset="-120"/>
              </a:rPr>
              <a:t>.</a:t>
            </a:r>
            <a:endParaRPr lang="en-US" sz="2000" dirty="0"/>
          </a:p>
          <a:p>
            <a:pPr marL="0" indent="0">
              <a:buNone/>
            </a:pP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Analizar</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reflexivamente</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su</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desempeño</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como</a:t>
            </a:r>
            <a:r>
              <a:rPr lang="en-US" sz="2000" dirty="0">
                <a:solidFill>
                  <a:srgbClr val="1F2937"/>
                </a:solidFill>
                <a:latin typeface="Aptos" pitchFamily="34" charset="0"/>
                <a:ea typeface="Aptos" pitchFamily="34" charset="-122"/>
                <a:cs typeface="Aptos" pitchFamily="34" charset="-120"/>
              </a:rPr>
              <a:t> persona </a:t>
            </a:r>
            <a:r>
              <a:rPr lang="en-US" sz="2000" dirty="0" err="1">
                <a:solidFill>
                  <a:srgbClr val="1F2937"/>
                </a:solidFill>
                <a:latin typeface="Aptos" pitchFamily="34" charset="0"/>
                <a:ea typeface="Aptos" pitchFamily="34" charset="-122"/>
                <a:cs typeface="Aptos" pitchFamily="34" charset="-120"/>
              </a:rPr>
              <a:t>formadora</a:t>
            </a:r>
            <a:r>
              <a:rPr lang="en-US" sz="2000" dirty="0">
                <a:solidFill>
                  <a:srgbClr val="1F2937"/>
                </a:solidFill>
                <a:latin typeface="Aptos" pitchFamily="34" charset="0"/>
                <a:ea typeface="Aptos" pitchFamily="34" charset="-122"/>
                <a:cs typeface="Aptos" pitchFamily="34" charset="-120"/>
              </a:rPr>
              <a:t> e </a:t>
            </a:r>
            <a:r>
              <a:rPr lang="en-US" sz="2000" dirty="0" err="1">
                <a:solidFill>
                  <a:srgbClr val="1F2937"/>
                </a:solidFill>
                <a:latin typeface="Aptos" pitchFamily="34" charset="0"/>
                <a:ea typeface="Aptos" pitchFamily="34" charset="-122"/>
                <a:cs typeface="Aptos" pitchFamily="34" charset="-120"/>
              </a:rPr>
              <a:t>identificar</a:t>
            </a:r>
            <a:r>
              <a:rPr lang="en-US" sz="2000" dirty="0">
                <a:solidFill>
                  <a:srgbClr val="1F2937"/>
                </a:solidFill>
                <a:latin typeface="Aptos" pitchFamily="34" charset="0"/>
                <a:ea typeface="Aptos" pitchFamily="34" charset="-122"/>
                <a:cs typeface="Aptos" pitchFamily="34" charset="-120"/>
              </a:rPr>
              <a:t> </a:t>
            </a:r>
            <a:r>
              <a:rPr lang="en-US" sz="2000" dirty="0" err="1">
                <a:solidFill>
                  <a:srgbClr val="1F2937"/>
                </a:solidFill>
                <a:latin typeface="Aptos" pitchFamily="34" charset="0"/>
                <a:ea typeface="Aptos" pitchFamily="34" charset="-122"/>
                <a:cs typeface="Aptos" pitchFamily="34" charset="-120"/>
              </a:rPr>
              <a:t>oportunidades</a:t>
            </a:r>
            <a:r>
              <a:rPr lang="en-US" sz="2000" dirty="0">
                <a:solidFill>
                  <a:srgbClr val="1F2937"/>
                </a:solidFill>
                <a:latin typeface="Aptos" pitchFamily="34" charset="0"/>
                <a:ea typeface="Aptos" pitchFamily="34" charset="-122"/>
                <a:cs typeface="Aptos" pitchFamily="34" charset="-120"/>
              </a:rPr>
              <a:t> de </a:t>
            </a:r>
            <a:r>
              <a:rPr lang="en-US" sz="2000" dirty="0" err="1">
                <a:solidFill>
                  <a:srgbClr val="1F2937"/>
                </a:solidFill>
                <a:latin typeface="Aptos" pitchFamily="34" charset="0"/>
                <a:ea typeface="Aptos" pitchFamily="34" charset="-122"/>
                <a:cs typeface="Aptos" pitchFamily="34" charset="-120"/>
              </a:rPr>
              <a:t>mejora</a:t>
            </a:r>
            <a:r>
              <a:rPr lang="en-US" sz="2000" dirty="0">
                <a:solidFill>
                  <a:srgbClr val="1F2937"/>
                </a:solidFill>
                <a:latin typeface="Aptos" pitchFamily="34" charset="0"/>
                <a:ea typeface="Aptos" pitchFamily="34" charset="-122"/>
                <a:cs typeface="Aptos" pitchFamily="34" charset="-120"/>
              </a:rPr>
              <a:t>.</a:t>
            </a:r>
            <a:endParaRPr lang="en-US" sz="2000" dirty="0"/>
          </a:p>
        </p:txBody>
      </p:sp>
      <p:sp>
        <p:nvSpPr>
          <p:cNvPr id="9" name="Text 6"/>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0" name="Text 7"/>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Ruta del aprendizaje: de la necesidad a la mejora</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731520" y="2148840"/>
            <a:ext cx="2011680" cy="1143000"/>
          </a:xfrm>
          <a:prstGeom prst="chevron">
            <a:avLst/>
          </a:prstGeom>
          <a:solidFill>
            <a:srgbClr val="00CBA8"/>
          </a:solidFill>
          <a:ln w="12700">
            <a:solidFill>
              <a:srgbClr val="00CBA8"/>
            </a:solidFill>
            <a:prstDash val="solid"/>
          </a:ln>
        </p:spPr>
      </p:sp>
      <p:sp>
        <p:nvSpPr>
          <p:cNvPr id="7" name="Text 5"/>
          <p:cNvSpPr/>
          <p:nvPr/>
        </p:nvSpPr>
        <p:spPr>
          <a:xfrm>
            <a:off x="896112" y="2359152"/>
            <a:ext cx="1627632"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Diagnosticar</a:t>
            </a:r>
            <a:endParaRPr lang="en-US" sz="1500" dirty="0"/>
          </a:p>
        </p:txBody>
      </p:sp>
      <p:sp>
        <p:nvSpPr>
          <p:cNvPr id="8" name="Text 6"/>
          <p:cNvSpPr/>
          <p:nvPr/>
        </p:nvSpPr>
        <p:spPr>
          <a:xfrm>
            <a:off x="896112" y="2697480"/>
            <a:ext cx="1627632" cy="274320"/>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Aptos" pitchFamily="34" charset="0"/>
                <a:ea typeface="Aptos" pitchFamily="34" charset="-122"/>
                <a:cs typeface="Aptos" pitchFamily="34" charset="-120"/>
              </a:rPr>
              <a:t>necesidades formativas</a:t>
            </a:r>
            <a:endParaRPr lang="en-US" sz="1050" dirty="0"/>
          </a:p>
        </p:txBody>
      </p:sp>
      <p:sp>
        <p:nvSpPr>
          <p:cNvPr id="9" name="Shape 7"/>
          <p:cNvSpPr/>
          <p:nvPr/>
        </p:nvSpPr>
        <p:spPr>
          <a:xfrm>
            <a:off x="3063240" y="2148840"/>
            <a:ext cx="2011680" cy="1143000"/>
          </a:xfrm>
          <a:prstGeom prst="chevron">
            <a:avLst/>
          </a:prstGeom>
          <a:solidFill>
            <a:srgbClr val="0B95D0"/>
          </a:solidFill>
          <a:ln w="12700">
            <a:solidFill>
              <a:srgbClr val="0B95D0"/>
            </a:solidFill>
            <a:prstDash val="solid"/>
          </a:ln>
        </p:spPr>
      </p:sp>
      <p:sp>
        <p:nvSpPr>
          <p:cNvPr id="10" name="Text 8"/>
          <p:cNvSpPr/>
          <p:nvPr/>
        </p:nvSpPr>
        <p:spPr>
          <a:xfrm>
            <a:off x="3227832" y="2359152"/>
            <a:ext cx="1627632"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Diseñar</a:t>
            </a:r>
            <a:endParaRPr lang="en-US" sz="1500" dirty="0"/>
          </a:p>
        </p:txBody>
      </p:sp>
      <p:sp>
        <p:nvSpPr>
          <p:cNvPr id="11" name="Text 9"/>
          <p:cNvSpPr/>
          <p:nvPr/>
        </p:nvSpPr>
        <p:spPr>
          <a:xfrm>
            <a:off x="3227832" y="2697480"/>
            <a:ext cx="1627632" cy="274320"/>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Aptos" pitchFamily="34" charset="0"/>
                <a:ea typeface="Aptos" pitchFamily="34" charset="-122"/>
                <a:cs typeface="Aptos" pitchFamily="34" charset="-120"/>
              </a:rPr>
              <a:t>sesiones y procesos</a:t>
            </a:r>
            <a:endParaRPr lang="en-US" sz="1050" dirty="0"/>
          </a:p>
        </p:txBody>
      </p:sp>
      <p:sp>
        <p:nvSpPr>
          <p:cNvPr id="12" name="Shape 10"/>
          <p:cNvSpPr/>
          <p:nvPr/>
        </p:nvSpPr>
        <p:spPr>
          <a:xfrm>
            <a:off x="5394960" y="2148840"/>
            <a:ext cx="2011680" cy="1143000"/>
          </a:xfrm>
          <a:prstGeom prst="chevron">
            <a:avLst/>
          </a:prstGeom>
          <a:solidFill>
            <a:srgbClr val="00CBA8"/>
          </a:solidFill>
          <a:ln w="12700">
            <a:solidFill>
              <a:srgbClr val="00CBA8"/>
            </a:solidFill>
            <a:prstDash val="solid"/>
          </a:ln>
        </p:spPr>
      </p:sp>
      <p:sp>
        <p:nvSpPr>
          <p:cNvPr id="13" name="Text 11"/>
          <p:cNvSpPr/>
          <p:nvPr/>
        </p:nvSpPr>
        <p:spPr>
          <a:xfrm>
            <a:off x="5559552" y="2359152"/>
            <a:ext cx="1627632"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Facilitar</a:t>
            </a:r>
            <a:endParaRPr lang="en-US" sz="1500" dirty="0"/>
          </a:p>
        </p:txBody>
      </p:sp>
      <p:sp>
        <p:nvSpPr>
          <p:cNvPr id="14" name="Text 12"/>
          <p:cNvSpPr/>
          <p:nvPr/>
        </p:nvSpPr>
        <p:spPr>
          <a:xfrm>
            <a:off x="5559552" y="2697480"/>
            <a:ext cx="1627632" cy="274320"/>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Aptos" pitchFamily="34" charset="0"/>
                <a:ea typeface="Aptos" pitchFamily="34" charset="-122"/>
                <a:cs typeface="Aptos" pitchFamily="34" charset="-120"/>
              </a:rPr>
              <a:t>aprendizajes activos</a:t>
            </a:r>
            <a:endParaRPr lang="en-US" sz="1050" dirty="0"/>
          </a:p>
        </p:txBody>
      </p:sp>
      <p:sp>
        <p:nvSpPr>
          <p:cNvPr id="15" name="Shape 13"/>
          <p:cNvSpPr/>
          <p:nvPr/>
        </p:nvSpPr>
        <p:spPr>
          <a:xfrm>
            <a:off x="7726680" y="2148840"/>
            <a:ext cx="2011680" cy="1143000"/>
          </a:xfrm>
          <a:prstGeom prst="chevron">
            <a:avLst/>
          </a:prstGeom>
          <a:solidFill>
            <a:srgbClr val="0B95D0"/>
          </a:solidFill>
          <a:ln w="12700">
            <a:solidFill>
              <a:srgbClr val="0B95D0"/>
            </a:solidFill>
            <a:prstDash val="solid"/>
          </a:ln>
        </p:spPr>
      </p:sp>
      <p:sp>
        <p:nvSpPr>
          <p:cNvPr id="16" name="Text 14"/>
          <p:cNvSpPr/>
          <p:nvPr/>
        </p:nvSpPr>
        <p:spPr>
          <a:xfrm>
            <a:off x="7891272" y="2359152"/>
            <a:ext cx="1627632"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Evaluar</a:t>
            </a:r>
            <a:endParaRPr lang="en-US" sz="1500" dirty="0"/>
          </a:p>
        </p:txBody>
      </p:sp>
      <p:sp>
        <p:nvSpPr>
          <p:cNvPr id="17" name="Text 15"/>
          <p:cNvSpPr/>
          <p:nvPr/>
        </p:nvSpPr>
        <p:spPr>
          <a:xfrm>
            <a:off x="7891272" y="2697480"/>
            <a:ext cx="1627632" cy="274320"/>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Aptos" pitchFamily="34" charset="0"/>
                <a:ea typeface="Aptos" pitchFamily="34" charset="-122"/>
                <a:cs typeface="Aptos" pitchFamily="34" charset="-120"/>
              </a:rPr>
              <a:t>aprendizaje y proceso</a:t>
            </a:r>
            <a:endParaRPr lang="en-US" sz="1050" dirty="0"/>
          </a:p>
        </p:txBody>
      </p:sp>
      <p:sp>
        <p:nvSpPr>
          <p:cNvPr id="18" name="Shape 16"/>
          <p:cNvSpPr/>
          <p:nvPr/>
        </p:nvSpPr>
        <p:spPr>
          <a:xfrm>
            <a:off x="10058400" y="2148840"/>
            <a:ext cx="2011680" cy="1143000"/>
          </a:xfrm>
          <a:prstGeom prst="chevron">
            <a:avLst/>
          </a:prstGeom>
          <a:solidFill>
            <a:srgbClr val="00CBA8"/>
          </a:solidFill>
          <a:ln w="12700">
            <a:solidFill>
              <a:srgbClr val="00CBA8"/>
            </a:solidFill>
            <a:prstDash val="solid"/>
          </a:ln>
        </p:spPr>
      </p:sp>
      <p:sp>
        <p:nvSpPr>
          <p:cNvPr id="19" name="Text 17"/>
          <p:cNvSpPr/>
          <p:nvPr/>
        </p:nvSpPr>
        <p:spPr>
          <a:xfrm>
            <a:off x="10222992" y="2359152"/>
            <a:ext cx="1627632"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Mejorar y multiplicar</a:t>
            </a:r>
            <a:endParaRPr lang="en-US" sz="1500" dirty="0"/>
          </a:p>
        </p:txBody>
      </p:sp>
      <p:sp>
        <p:nvSpPr>
          <p:cNvPr id="20" name="Text 18"/>
          <p:cNvSpPr/>
          <p:nvPr/>
        </p:nvSpPr>
        <p:spPr>
          <a:xfrm>
            <a:off x="10222992" y="2697480"/>
            <a:ext cx="1627632" cy="274320"/>
          </a:xfrm>
          <a:prstGeom prst="rect">
            <a:avLst/>
          </a:prstGeom>
          <a:noFill/>
          <a:ln/>
        </p:spPr>
        <p:txBody>
          <a:bodyPr wrap="square" lIns="0" tIns="0" rIns="0" bIns="0" rtlCol="0" anchor="ctr">
            <a:normAutofit/>
          </a:bodyPr>
          <a:lstStyle/>
          <a:p>
            <a:pPr marL="0" indent="0" algn="ctr">
              <a:buNone/>
            </a:pPr>
            <a:r>
              <a:rPr lang="en-US" sz="1050" dirty="0">
                <a:solidFill>
                  <a:srgbClr val="FFFFFF"/>
                </a:solidFill>
                <a:latin typeface="Aptos" pitchFamily="34" charset="0"/>
                <a:ea typeface="Aptos" pitchFamily="34" charset="-122"/>
                <a:cs typeface="Aptos" pitchFamily="34" charset="-120"/>
              </a:rPr>
              <a:t>ajustes y réplica</a:t>
            </a:r>
            <a:endParaRPr lang="en-US" sz="1050" dirty="0"/>
          </a:p>
        </p:txBody>
      </p:sp>
      <p:sp>
        <p:nvSpPr>
          <p:cNvPr id="21" name="Text 19"/>
          <p:cNvSpPr/>
          <p:nvPr/>
        </p:nvSpPr>
        <p:spPr>
          <a:xfrm>
            <a:off x="1143000" y="4160520"/>
            <a:ext cx="9921240" cy="640080"/>
          </a:xfrm>
          <a:prstGeom prst="rect">
            <a:avLst/>
          </a:prstGeom>
          <a:noFill/>
          <a:ln/>
        </p:spPr>
        <p:txBody>
          <a:bodyPr wrap="square" lIns="0" tIns="0" rIns="0" bIns="0" rtlCol="0" anchor="ctr"/>
          <a:lstStyle/>
          <a:p>
            <a:pPr marL="0" indent="0" algn="ctr">
              <a:buNone/>
            </a:pPr>
            <a:r>
              <a:rPr lang="en-US" sz="1800" dirty="0">
                <a:solidFill>
                  <a:srgbClr val="1F2937"/>
                </a:solidFill>
                <a:latin typeface="Aptos" pitchFamily="34" charset="0"/>
                <a:ea typeface="Aptos" pitchFamily="34" charset="-122"/>
                <a:cs typeface="Aptos" pitchFamily="34" charset="-120"/>
              </a:rPr>
              <a:t>Pedagógico: Diagnosticar necesidades de aprendizaje → Diseñar → Facilitar → Evaluar → Mejorar → Multiplicar.
Empresarial: Diagnosticar el NAE → Diseñar el Plan de Mejora → Acompañar su implementación → Evaluar resultados → Ajustar → Fortalecer capacidades.</a:t>
            </a:r>
            <a:endParaRPr lang="en-US" sz="1800" dirty="0"/>
          </a:p>
        </p:txBody>
      </p:sp>
      <p:sp>
        <p:nvSpPr>
          <p:cNvPr id="24" name="Text 21"/>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25" name="Text 22"/>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E54"/>
        </a:solidFill>
        <a:effectLst/>
      </p:bgPr>
    </p:bg>
    <p:spTree>
      <p:nvGrpSpPr>
        <p:cNvPr id="1" name=""/>
        <p:cNvGrpSpPr/>
        <p:nvPr/>
      </p:nvGrpSpPr>
      <p:grpSpPr>
        <a:xfrm>
          <a:off x="0" y="0"/>
          <a:ext cx="0" cy="0"/>
          <a:chOff x="0" y="0"/>
          <a:chExt cx="0" cy="0"/>
        </a:xfrm>
      </p:grpSpPr>
      <p:sp>
        <p:nvSpPr>
          <p:cNvPr id="3" name="Text 0"/>
          <p:cNvSpPr/>
          <p:nvPr/>
        </p:nvSpPr>
        <p:spPr>
          <a:xfrm>
            <a:off x="777240" y="1417320"/>
            <a:ext cx="1828800" cy="777240"/>
          </a:xfrm>
          <a:prstGeom prst="rect">
            <a:avLst/>
          </a:prstGeom>
          <a:noFill/>
          <a:ln/>
        </p:spPr>
        <p:txBody>
          <a:bodyPr wrap="square" lIns="0" tIns="0" rIns="0" bIns="0" rtlCol="0" anchor="ctr"/>
          <a:lstStyle/>
          <a:p>
            <a:pPr marL="0" indent="0">
              <a:buNone/>
            </a:pPr>
            <a:r>
              <a:rPr lang="en-US" sz="4400" dirty="0">
                <a:solidFill>
                  <a:srgbClr val="D89A2B"/>
                </a:solidFill>
                <a:latin typeface="Aptos Display" pitchFamily="34" charset="0"/>
                <a:ea typeface="Aptos Display" pitchFamily="34" charset="-122"/>
                <a:cs typeface="Aptos Display" pitchFamily="34" charset="-120"/>
              </a:rPr>
              <a:t>02</a:t>
            </a:r>
            <a:endParaRPr lang="en-US" sz="4400" dirty="0"/>
          </a:p>
        </p:txBody>
      </p:sp>
      <p:sp>
        <p:nvSpPr>
          <p:cNvPr id="4" name="Shape 1"/>
          <p:cNvSpPr/>
          <p:nvPr/>
        </p:nvSpPr>
        <p:spPr>
          <a:xfrm>
            <a:off x="777240" y="2331720"/>
            <a:ext cx="658368" cy="45720"/>
          </a:xfrm>
          <a:prstGeom prst="rect">
            <a:avLst/>
          </a:prstGeom>
          <a:solidFill>
            <a:srgbClr val="D89A2B"/>
          </a:solidFill>
          <a:ln w="12700">
            <a:solidFill>
              <a:srgbClr val="D89A2B"/>
            </a:solidFill>
            <a:prstDash val="solid"/>
          </a:ln>
        </p:spPr>
      </p:sp>
      <p:sp>
        <p:nvSpPr>
          <p:cNvPr id="5" name="Text 2"/>
          <p:cNvSpPr/>
          <p:nvPr/>
        </p:nvSpPr>
        <p:spPr>
          <a:xfrm>
            <a:off x="777240" y="2770632"/>
            <a:ext cx="8869680" cy="548640"/>
          </a:xfrm>
          <a:prstGeom prst="rect">
            <a:avLst/>
          </a:prstGeom>
          <a:noFill/>
          <a:ln/>
        </p:spPr>
        <p:txBody>
          <a:bodyPr wrap="square" lIns="0" tIns="0" rIns="0" bIns="0" rtlCol="0" anchor="ctr"/>
          <a:lstStyle/>
          <a:p>
            <a:pPr marL="0" indent="0">
              <a:buNone/>
            </a:pPr>
            <a:r>
              <a:rPr lang="en-US" sz="2900" dirty="0">
                <a:solidFill>
                  <a:srgbClr val="FFFFFF"/>
                </a:solidFill>
                <a:latin typeface="Aptos Display" pitchFamily="34" charset="0"/>
                <a:ea typeface="Aptos Display" pitchFamily="34" charset="-122"/>
                <a:cs typeface="Aptos Display" pitchFamily="34" charset="-120"/>
              </a:rPr>
              <a:t>TEMA 1 · DIAGNÓSTICO</a:t>
            </a:r>
            <a:endParaRPr lang="en-US" sz="2900" dirty="0"/>
          </a:p>
        </p:txBody>
      </p:sp>
      <p:sp>
        <p:nvSpPr>
          <p:cNvPr id="6" name="Text 3"/>
          <p:cNvSpPr/>
          <p:nvPr/>
        </p:nvSpPr>
        <p:spPr>
          <a:xfrm>
            <a:off x="777240" y="3474720"/>
            <a:ext cx="7223760" cy="640080"/>
          </a:xfrm>
          <a:prstGeom prst="rect">
            <a:avLst/>
          </a:prstGeom>
          <a:noFill/>
          <a:ln/>
        </p:spPr>
        <p:txBody>
          <a:bodyPr wrap="square" lIns="0" tIns="0" rIns="0" bIns="0" rtlCol="0" anchor="ctr"/>
          <a:lstStyle/>
          <a:p>
            <a:pPr marL="0" indent="0">
              <a:buNone/>
            </a:pPr>
            <a:r>
              <a:rPr lang="en-US" sz="1450" dirty="0">
                <a:solidFill>
                  <a:srgbClr val="E5EEF3"/>
                </a:solidFill>
                <a:latin typeface="Aptos" pitchFamily="34" charset="0"/>
                <a:ea typeface="Aptos" pitchFamily="34" charset="-122"/>
                <a:cs typeface="Aptos" pitchFamily="34" charset="-120"/>
              </a:rPr>
              <a:t>Diagnóstico de necesidades formativas · 2 h virtuales asincrónicas</a:t>
            </a:r>
            <a:endParaRPr lang="en-US" sz="1450" dirty="0"/>
          </a:p>
        </p:txBody>
      </p:sp>
      <p:sp>
        <p:nvSpPr>
          <p:cNvPr id="7" name="Text 4"/>
          <p:cNvSpPr/>
          <p:nvPr/>
        </p:nvSpPr>
        <p:spPr>
          <a:xfrm>
            <a:off x="777240" y="6254496"/>
            <a:ext cx="2743200" cy="201168"/>
          </a:xfrm>
          <a:prstGeom prst="rect">
            <a:avLst/>
          </a:prstGeom>
          <a:noFill/>
          <a:ln/>
        </p:spPr>
        <p:txBody>
          <a:bodyPr wrap="square" lIns="0" tIns="0" rIns="0" bIns="0" rtlCol="0" anchor="ctr"/>
          <a:lstStyle/>
          <a:p>
            <a:pPr marL="0" indent="0">
              <a:buNone/>
            </a:pPr>
            <a:r>
              <a:rPr lang="en-US" sz="850" dirty="0">
                <a:solidFill>
                  <a:srgbClr val="B9C7D2"/>
                </a:solidFill>
                <a:latin typeface="Aptos" pitchFamily="34" charset="0"/>
                <a:ea typeface="Aptos" pitchFamily="34" charset="-122"/>
                <a:cs typeface="Aptos" pitchFamily="34" charset="-120"/>
              </a:rPr>
              <a:t>Actividad 2.3.2 — FdF</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Tema 1 · Conceptos clave</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658368" y="1572768"/>
            <a:ext cx="512064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Necesidad formativa</a:t>
            </a:r>
            <a:endParaRPr lang="en-US" sz="1420" dirty="0"/>
          </a:p>
        </p:txBody>
      </p:sp>
      <p:sp>
        <p:nvSpPr>
          <p:cNvPr id="7" name="Text 5"/>
          <p:cNvSpPr/>
          <p:nvPr/>
        </p:nvSpPr>
        <p:spPr>
          <a:xfrm>
            <a:off x="658368" y="1965960"/>
            <a:ext cx="516636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Brecha de competencias que puede ser atendida con formación o acompañamiento metodológico.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Unidad de análisis: personas y estructuras de apoyo.</a:t>
            </a:r>
            <a:endParaRPr lang="en-US" sz="1630" dirty="0"/>
          </a:p>
        </p:txBody>
      </p:sp>
      <p:sp>
        <p:nvSpPr>
          <p:cNvPr id="8" name="Text 6"/>
          <p:cNvSpPr/>
          <p:nvPr/>
        </p:nvSpPr>
        <p:spPr>
          <a:xfrm>
            <a:off x="6446520" y="1572768"/>
            <a:ext cx="502920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Necesidad empresarial</a:t>
            </a:r>
            <a:endParaRPr lang="en-US" sz="1420" dirty="0"/>
          </a:p>
        </p:txBody>
      </p:sp>
      <p:sp>
        <p:nvSpPr>
          <p:cNvPr id="9" name="Text 7"/>
          <p:cNvSpPr/>
          <p:nvPr/>
        </p:nvSpPr>
        <p:spPr>
          <a:xfrm>
            <a:off x="6446520" y="1965960"/>
            <a:ext cx="507492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Brecha de desempeño del NAE como organización económica.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Puede requerir asesoría, mentoría, asistencia técnica o derivación.</a:t>
            </a:r>
            <a:endParaRPr lang="en-US" sz="1630" dirty="0"/>
          </a:p>
        </p:txBody>
      </p:sp>
      <p:sp>
        <p:nvSpPr>
          <p:cNvPr id="10" name="Text 8"/>
          <p:cNvSpPr/>
          <p:nvPr/>
        </p:nvSpPr>
        <p:spPr>
          <a:xfrm>
            <a:off x="914400" y="5559552"/>
            <a:ext cx="10424160" cy="347472"/>
          </a:xfrm>
          <a:prstGeom prst="rect">
            <a:avLst/>
          </a:prstGeom>
          <a:noFill/>
          <a:ln/>
        </p:spPr>
        <p:txBody>
          <a:bodyPr wrap="square" lIns="0" tIns="0" rIns="0" bIns="0" rtlCol="0" anchor="ctr"/>
          <a:lstStyle/>
          <a:p>
            <a:pPr marL="0" indent="0" algn="ctr">
              <a:buNone/>
            </a:pPr>
            <a:r>
              <a:rPr lang="en-US" sz="1900" b="1" dirty="0">
                <a:solidFill>
                  <a:srgbClr val="002E54"/>
                </a:solidFill>
                <a:latin typeface="Aptos Display" pitchFamily="34" charset="0"/>
                <a:ea typeface="Aptos Display" pitchFamily="34" charset="-122"/>
                <a:cs typeface="Aptos Display" pitchFamily="34" charset="-120"/>
              </a:rPr>
              <a:t>Clave metodológica: no confundir una brecha de aprendizaje con una brecha de desempeño empresarial.</a:t>
            </a:r>
            <a:endParaRPr lang="en-US" sz="1900" dirty="0"/>
          </a:p>
        </p:txBody>
      </p:sp>
      <p:sp>
        <p:nvSpPr>
          <p:cNvPr id="13" name="Text 10"/>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4" name="Text 11"/>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Caracterización del grupo destinatario</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13232" y="1618488"/>
            <a:ext cx="5486400" cy="4389120"/>
          </a:xfrm>
          <a:prstGeom prst="rect">
            <a:avLst/>
          </a:prstGeom>
          <a:noFill/>
          <a:ln/>
        </p:spPr>
        <p:txBody>
          <a:bodyPr wrap="square" lIns="635" tIns="635" rIns="635" bIns="635" rtlCol="0" anchor="ctr">
            <a:normAutofit/>
          </a:bodyPr>
          <a:lstStyle/>
          <a:p>
            <a:pPr marL="0" indent="0">
              <a:buNone/>
            </a:pPr>
            <a:r>
              <a:rPr lang="en-US" sz="1720" dirty="0">
                <a:solidFill>
                  <a:srgbClr val="1F2937"/>
                </a:solidFill>
                <a:latin typeface="Aptos" pitchFamily="34" charset="0"/>
                <a:ea typeface="Aptos" pitchFamily="34" charset="-122"/>
                <a:cs typeface="Aptos" pitchFamily="34" charset="-120"/>
              </a:rPr>
              <a:t>▸ Perfiles y experiencias previas.</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Motivaciones y expectativas de aprendizaje.</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Barreras de acceso: género, edad, discapacidad y conectividad.</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Diferencias territoriales, institucionales y operativas.</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Condiciones para participar y aplicar lo aprendido.</a:t>
            </a:r>
            <a:endParaRPr lang="en-US" sz="1720" dirty="0"/>
          </a:p>
        </p:txBody>
      </p:sp>
      <p:sp>
        <p:nvSpPr>
          <p:cNvPr id="7" name="Shape 5"/>
          <p:cNvSpPr/>
          <p:nvPr/>
        </p:nvSpPr>
        <p:spPr>
          <a:xfrm>
            <a:off x="6675120" y="1691640"/>
            <a:ext cx="4526280" cy="3291840"/>
          </a:xfrm>
          <a:prstGeom prst="rect">
            <a:avLst/>
          </a:prstGeom>
          <a:solidFill>
            <a:srgbClr val="E8F5F2"/>
          </a:solidFill>
          <a:ln w="12700">
            <a:solidFill>
              <a:srgbClr val="CFE7DF"/>
            </a:solidFill>
            <a:prstDash val="solid"/>
          </a:ln>
        </p:spPr>
      </p:sp>
      <p:sp>
        <p:nvSpPr>
          <p:cNvPr id="8" name="Text 6"/>
          <p:cNvSpPr/>
          <p:nvPr/>
        </p:nvSpPr>
        <p:spPr>
          <a:xfrm>
            <a:off x="6967728" y="2029968"/>
            <a:ext cx="3931920" cy="292608"/>
          </a:xfrm>
          <a:prstGeom prst="rect">
            <a:avLst/>
          </a:prstGeom>
          <a:noFill/>
          <a:ln/>
        </p:spPr>
        <p:txBody>
          <a:bodyPr wrap="square" lIns="0" tIns="0" rIns="0" bIns="0" rtlCol="0" anchor="ctr"/>
          <a:lstStyle/>
          <a:p>
            <a:pPr marL="0" indent="0">
              <a:buNone/>
            </a:pPr>
            <a:r>
              <a:rPr lang="en-US" sz="1350" b="1" dirty="0">
                <a:solidFill>
                  <a:srgbClr val="00CBA8"/>
                </a:solidFill>
                <a:latin typeface="Aptos" pitchFamily="34" charset="0"/>
                <a:ea typeface="Aptos" pitchFamily="34" charset="-122"/>
                <a:cs typeface="Aptos" pitchFamily="34" charset="-120"/>
              </a:rPr>
              <a:t>Pregunta guía</a:t>
            </a:r>
            <a:endParaRPr lang="en-US" sz="1350" dirty="0"/>
          </a:p>
        </p:txBody>
      </p:sp>
      <p:sp>
        <p:nvSpPr>
          <p:cNvPr id="9" name="Text 7"/>
          <p:cNvSpPr/>
          <p:nvPr/>
        </p:nvSpPr>
        <p:spPr>
          <a:xfrm>
            <a:off x="6967728" y="2606040"/>
            <a:ext cx="3840480" cy="1371600"/>
          </a:xfrm>
          <a:prstGeom prst="rect">
            <a:avLst/>
          </a:prstGeom>
          <a:noFill/>
          <a:ln/>
        </p:spPr>
        <p:txBody>
          <a:bodyPr wrap="square" lIns="254" tIns="254" rIns="254" bIns="254" rtlCol="0" anchor="ctr">
            <a:normAutofit fontScale="92500" lnSpcReduction="20000"/>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¿Qué necesitan aprender las personas para poder diseñar, facilitar y transferir procesos de acompañamiento a NAE en su territorio?</a:t>
            </a:r>
            <a:endParaRPr lang="en-US" sz="2300" dirty="0"/>
          </a:p>
        </p:txBody>
      </p:sp>
      <p:sp>
        <p:nvSpPr>
          <p:cNvPr id="12" name="Text 9"/>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3" name="Text 10"/>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Técnicas para diagnosticar necesidades formativas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713232" y="1572768"/>
            <a:ext cx="3108960" cy="566928"/>
          </a:xfrm>
          <a:prstGeom prst="rect">
            <a:avLst/>
          </a:prstGeom>
          <a:solidFill>
            <a:srgbClr val="002E54"/>
          </a:solidFill>
          <a:ln w="6350">
            <a:solidFill>
              <a:srgbClr val="D6D6D6"/>
            </a:solidFill>
            <a:prstDash val="solid"/>
          </a:ln>
        </p:spPr>
      </p:sp>
      <p:sp>
        <p:nvSpPr>
          <p:cNvPr id="7" name="Text 5"/>
          <p:cNvSpPr/>
          <p:nvPr/>
        </p:nvSpPr>
        <p:spPr>
          <a:xfrm>
            <a:off x="768096" y="1636776"/>
            <a:ext cx="2999232" cy="457200"/>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Aptos" pitchFamily="34" charset="0"/>
                <a:ea typeface="Aptos" pitchFamily="34" charset="-122"/>
                <a:cs typeface="Aptos" pitchFamily="34" charset="-120"/>
              </a:rPr>
              <a:t>Técnica</a:t>
            </a:r>
            <a:endParaRPr lang="en-US" sz="1320" dirty="0"/>
          </a:p>
        </p:txBody>
      </p:sp>
      <p:sp>
        <p:nvSpPr>
          <p:cNvPr id="8" name="Shape 6"/>
          <p:cNvSpPr/>
          <p:nvPr/>
        </p:nvSpPr>
        <p:spPr>
          <a:xfrm>
            <a:off x="3822192" y="1572768"/>
            <a:ext cx="7680960" cy="566928"/>
          </a:xfrm>
          <a:prstGeom prst="rect">
            <a:avLst/>
          </a:prstGeom>
          <a:solidFill>
            <a:srgbClr val="002E54"/>
          </a:solidFill>
          <a:ln w="6350">
            <a:solidFill>
              <a:srgbClr val="D6D6D6"/>
            </a:solidFill>
            <a:prstDash val="solid"/>
          </a:ln>
        </p:spPr>
      </p:sp>
      <p:sp>
        <p:nvSpPr>
          <p:cNvPr id="9" name="Text 7"/>
          <p:cNvSpPr/>
          <p:nvPr/>
        </p:nvSpPr>
        <p:spPr>
          <a:xfrm>
            <a:off x="3877056" y="1636776"/>
            <a:ext cx="7571232" cy="457200"/>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Aptos" pitchFamily="34" charset="0"/>
                <a:ea typeface="Aptos" pitchFamily="34" charset="-122"/>
                <a:cs typeface="Aptos" pitchFamily="34" charset="-120"/>
              </a:rPr>
              <a:t>Uso principal</a:t>
            </a:r>
            <a:endParaRPr lang="en-US" sz="1320" dirty="0"/>
          </a:p>
        </p:txBody>
      </p:sp>
      <p:sp>
        <p:nvSpPr>
          <p:cNvPr id="10" name="Shape 8"/>
          <p:cNvSpPr/>
          <p:nvPr/>
        </p:nvSpPr>
        <p:spPr>
          <a:xfrm>
            <a:off x="713232" y="2139696"/>
            <a:ext cx="3108960" cy="566928"/>
          </a:xfrm>
          <a:prstGeom prst="rect">
            <a:avLst/>
          </a:prstGeom>
          <a:solidFill>
            <a:srgbClr val="FFFFFF"/>
          </a:solidFill>
          <a:ln w="6350">
            <a:solidFill>
              <a:srgbClr val="D6D6D6"/>
            </a:solidFill>
            <a:prstDash val="solid"/>
          </a:ln>
        </p:spPr>
      </p:sp>
      <p:sp>
        <p:nvSpPr>
          <p:cNvPr id="11" name="Text 9"/>
          <p:cNvSpPr/>
          <p:nvPr/>
        </p:nvSpPr>
        <p:spPr>
          <a:xfrm>
            <a:off x="768096" y="2203704"/>
            <a:ext cx="2999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Entrevistas</a:t>
            </a:r>
            <a:endParaRPr lang="en-US" sz="1320" dirty="0"/>
          </a:p>
        </p:txBody>
      </p:sp>
      <p:sp>
        <p:nvSpPr>
          <p:cNvPr id="12" name="Shape 10"/>
          <p:cNvSpPr/>
          <p:nvPr/>
        </p:nvSpPr>
        <p:spPr>
          <a:xfrm>
            <a:off x="3822192" y="2139696"/>
            <a:ext cx="7680960" cy="566928"/>
          </a:xfrm>
          <a:prstGeom prst="rect">
            <a:avLst/>
          </a:prstGeom>
          <a:solidFill>
            <a:srgbClr val="FFFFFF"/>
          </a:solidFill>
          <a:ln w="6350">
            <a:solidFill>
              <a:srgbClr val="D6D6D6"/>
            </a:solidFill>
            <a:prstDash val="solid"/>
          </a:ln>
        </p:spPr>
      </p:sp>
      <p:sp>
        <p:nvSpPr>
          <p:cNvPr id="13" name="Text 11"/>
          <p:cNvSpPr/>
          <p:nvPr/>
        </p:nvSpPr>
        <p:spPr>
          <a:xfrm>
            <a:off x="3877056" y="2203704"/>
            <a:ext cx="7571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Profundizar experiencias, roles y expectativas</a:t>
            </a:r>
            <a:endParaRPr lang="en-US" sz="1320" dirty="0"/>
          </a:p>
        </p:txBody>
      </p:sp>
      <p:sp>
        <p:nvSpPr>
          <p:cNvPr id="14" name="Shape 12"/>
          <p:cNvSpPr/>
          <p:nvPr/>
        </p:nvSpPr>
        <p:spPr>
          <a:xfrm>
            <a:off x="713232" y="2706624"/>
            <a:ext cx="3108960" cy="566928"/>
          </a:xfrm>
          <a:prstGeom prst="rect">
            <a:avLst/>
          </a:prstGeom>
          <a:solidFill>
            <a:srgbClr val="FFFFFF"/>
          </a:solidFill>
          <a:ln w="6350">
            <a:solidFill>
              <a:srgbClr val="D6D6D6"/>
            </a:solidFill>
            <a:prstDash val="solid"/>
          </a:ln>
        </p:spPr>
      </p:sp>
      <p:sp>
        <p:nvSpPr>
          <p:cNvPr id="15" name="Text 13"/>
          <p:cNvSpPr/>
          <p:nvPr/>
        </p:nvSpPr>
        <p:spPr>
          <a:xfrm>
            <a:off x="768096" y="2770632"/>
            <a:ext cx="2999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Grupos focales</a:t>
            </a:r>
            <a:endParaRPr lang="en-US" sz="1320" dirty="0"/>
          </a:p>
        </p:txBody>
      </p:sp>
      <p:sp>
        <p:nvSpPr>
          <p:cNvPr id="16" name="Shape 14"/>
          <p:cNvSpPr/>
          <p:nvPr/>
        </p:nvSpPr>
        <p:spPr>
          <a:xfrm>
            <a:off x="3822192" y="2706624"/>
            <a:ext cx="7680960" cy="566928"/>
          </a:xfrm>
          <a:prstGeom prst="rect">
            <a:avLst/>
          </a:prstGeom>
          <a:solidFill>
            <a:srgbClr val="FFFFFF"/>
          </a:solidFill>
          <a:ln w="6350">
            <a:solidFill>
              <a:srgbClr val="D6D6D6"/>
            </a:solidFill>
            <a:prstDash val="solid"/>
          </a:ln>
        </p:spPr>
      </p:sp>
      <p:sp>
        <p:nvSpPr>
          <p:cNvPr id="17" name="Text 15"/>
          <p:cNvSpPr/>
          <p:nvPr/>
        </p:nvSpPr>
        <p:spPr>
          <a:xfrm>
            <a:off x="3877056" y="2770632"/>
            <a:ext cx="7571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Contrastar percepciones y prioridades colectivas</a:t>
            </a:r>
            <a:endParaRPr lang="en-US" sz="1320" dirty="0"/>
          </a:p>
        </p:txBody>
      </p:sp>
      <p:sp>
        <p:nvSpPr>
          <p:cNvPr id="18" name="Shape 16"/>
          <p:cNvSpPr/>
          <p:nvPr/>
        </p:nvSpPr>
        <p:spPr>
          <a:xfrm>
            <a:off x="713232" y="3273552"/>
            <a:ext cx="3108960" cy="566928"/>
          </a:xfrm>
          <a:prstGeom prst="rect">
            <a:avLst/>
          </a:prstGeom>
          <a:solidFill>
            <a:srgbClr val="FFFFFF"/>
          </a:solidFill>
          <a:ln w="6350">
            <a:solidFill>
              <a:srgbClr val="D6D6D6"/>
            </a:solidFill>
            <a:prstDash val="solid"/>
          </a:ln>
        </p:spPr>
      </p:sp>
      <p:sp>
        <p:nvSpPr>
          <p:cNvPr id="19" name="Text 17"/>
          <p:cNvSpPr/>
          <p:nvPr/>
        </p:nvSpPr>
        <p:spPr>
          <a:xfrm>
            <a:off x="768096" y="3337560"/>
            <a:ext cx="2999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Cuestionarios</a:t>
            </a:r>
            <a:endParaRPr lang="en-US" sz="1320" dirty="0"/>
          </a:p>
        </p:txBody>
      </p:sp>
      <p:sp>
        <p:nvSpPr>
          <p:cNvPr id="20" name="Shape 18"/>
          <p:cNvSpPr/>
          <p:nvPr/>
        </p:nvSpPr>
        <p:spPr>
          <a:xfrm>
            <a:off x="3822192" y="3273552"/>
            <a:ext cx="7680960" cy="566928"/>
          </a:xfrm>
          <a:prstGeom prst="rect">
            <a:avLst/>
          </a:prstGeom>
          <a:solidFill>
            <a:srgbClr val="FFFFFF"/>
          </a:solidFill>
          <a:ln w="6350">
            <a:solidFill>
              <a:srgbClr val="D6D6D6"/>
            </a:solidFill>
            <a:prstDash val="solid"/>
          </a:ln>
        </p:spPr>
      </p:sp>
      <p:sp>
        <p:nvSpPr>
          <p:cNvPr id="21" name="Text 19"/>
          <p:cNvSpPr/>
          <p:nvPr/>
        </p:nvSpPr>
        <p:spPr>
          <a:xfrm>
            <a:off x="3877056" y="3337560"/>
            <a:ext cx="7571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Levantar información básica de forma rápida</a:t>
            </a:r>
            <a:endParaRPr lang="en-US" sz="1320" dirty="0"/>
          </a:p>
        </p:txBody>
      </p:sp>
      <p:sp>
        <p:nvSpPr>
          <p:cNvPr id="22" name="Shape 20"/>
          <p:cNvSpPr/>
          <p:nvPr/>
        </p:nvSpPr>
        <p:spPr>
          <a:xfrm>
            <a:off x="713232" y="3840480"/>
            <a:ext cx="3108960" cy="566928"/>
          </a:xfrm>
          <a:prstGeom prst="rect">
            <a:avLst/>
          </a:prstGeom>
          <a:solidFill>
            <a:srgbClr val="FFFFFF"/>
          </a:solidFill>
          <a:ln w="6350">
            <a:solidFill>
              <a:srgbClr val="D6D6D6"/>
            </a:solidFill>
            <a:prstDash val="solid"/>
          </a:ln>
        </p:spPr>
      </p:sp>
      <p:sp>
        <p:nvSpPr>
          <p:cNvPr id="23" name="Text 21"/>
          <p:cNvSpPr/>
          <p:nvPr/>
        </p:nvSpPr>
        <p:spPr>
          <a:xfrm>
            <a:off x="768096" y="3904488"/>
            <a:ext cx="2999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Observación</a:t>
            </a:r>
            <a:endParaRPr lang="en-US" sz="1320" dirty="0"/>
          </a:p>
        </p:txBody>
      </p:sp>
      <p:sp>
        <p:nvSpPr>
          <p:cNvPr id="24" name="Shape 22"/>
          <p:cNvSpPr/>
          <p:nvPr/>
        </p:nvSpPr>
        <p:spPr>
          <a:xfrm>
            <a:off x="3822192" y="3840480"/>
            <a:ext cx="7680960" cy="566928"/>
          </a:xfrm>
          <a:prstGeom prst="rect">
            <a:avLst/>
          </a:prstGeom>
          <a:solidFill>
            <a:srgbClr val="FFFFFF"/>
          </a:solidFill>
          <a:ln w="6350">
            <a:solidFill>
              <a:srgbClr val="D6D6D6"/>
            </a:solidFill>
            <a:prstDash val="solid"/>
          </a:ln>
        </p:spPr>
      </p:sp>
      <p:sp>
        <p:nvSpPr>
          <p:cNvPr id="25" name="Text 23"/>
          <p:cNvSpPr/>
          <p:nvPr/>
        </p:nvSpPr>
        <p:spPr>
          <a:xfrm>
            <a:off x="3877056" y="3904488"/>
            <a:ext cx="7571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Identificar prácticas reales de facilitación o acompañamiento</a:t>
            </a:r>
            <a:endParaRPr lang="en-US" sz="1320" dirty="0"/>
          </a:p>
        </p:txBody>
      </p:sp>
      <p:sp>
        <p:nvSpPr>
          <p:cNvPr id="26" name="Shape 24"/>
          <p:cNvSpPr/>
          <p:nvPr/>
        </p:nvSpPr>
        <p:spPr>
          <a:xfrm>
            <a:off x="713232" y="4407408"/>
            <a:ext cx="3108960" cy="566928"/>
          </a:xfrm>
          <a:prstGeom prst="rect">
            <a:avLst/>
          </a:prstGeom>
          <a:solidFill>
            <a:srgbClr val="FFFFFF"/>
          </a:solidFill>
          <a:ln w="6350">
            <a:solidFill>
              <a:srgbClr val="D6D6D6"/>
            </a:solidFill>
            <a:prstDash val="solid"/>
          </a:ln>
        </p:spPr>
      </p:sp>
      <p:sp>
        <p:nvSpPr>
          <p:cNvPr id="27" name="Text 25"/>
          <p:cNvSpPr/>
          <p:nvPr/>
        </p:nvSpPr>
        <p:spPr>
          <a:xfrm>
            <a:off x="768096" y="4471416"/>
            <a:ext cx="2999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Análisis documental</a:t>
            </a:r>
            <a:endParaRPr lang="en-US" sz="1320" dirty="0"/>
          </a:p>
        </p:txBody>
      </p:sp>
      <p:sp>
        <p:nvSpPr>
          <p:cNvPr id="28" name="Shape 26"/>
          <p:cNvSpPr/>
          <p:nvPr/>
        </p:nvSpPr>
        <p:spPr>
          <a:xfrm>
            <a:off x="3822192" y="4407408"/>
            <a:ext cx="7680960" cy="566928"/>
          </a:xfrm>
          <a:prstGeom prst="rect">
            <a:avLst/>
          </a:prstGeom>
          <a:solidFill>
            <a:srgbClr val="FFFFFF"/>
          </a:solidFill>
          <a:ln w="6350">
            <a:solidFill>
              <a:srgbClr val="D6D6D6"/>
            </a:solidFill>
            <a:prstDash val="solid"/>
          </a:ln>
        </p:spPr>
      </p:sp>
      <p:sp>
        <p:nvSpPr>
          <p:cNvPr id="29" name="Text 27"/>
          <p:cNvSpPr/>
          <p:nvPr/>
        </p:nvSpPr>
        <p:spPr>
          <a:xfrm>
            <a:off x="3877056" y="4471416"/>
            <a:ext cx="7571232" cy="45720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Revisar planes, informes, materiales y evidencias</a:t>
            </a:r>
            <a:endParaRPr lang="en-US" sz="1320" dirty="0"/>
          </a:p>
        </p:txBody>
      </p:sp>
      <p:sp>
        <p:nvSpPr>
          <p:cNvPr id="32" name="Text 29"/>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33" name="Text 30"/>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Matriz de priorización simplificada</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13232" y="1600200"/>
            <a:ext cx="4114800" cy="256032"/>
          </a:xfrm>
          <a:prstGeom prst="rect">
            <a:avLst/>
          </a:prstGeom>
          <a:noFill/>
          <a:ln/>
        </p:spPr>
        <p:txBody>
          <a:bodyPr wrap="square" lIns="0" tIns="0" rIns="0" bIns="0" rtlCol="0" anchor="ctr"/>
          <a:lstStyle/>
          <a:p>
            <a:pPr marL="0" indent="0">
              <a:buNone/>
            </a:pPr>
            <a:r>
              <a:rPr lang="en-US" sz="1400" b="1" dirty="0">
                <a:solidFill>
                  <a:srgbClr val="00CBA8"/>
                </a:solidFill>
                <a:latin typeface="Aptos" pitchFamily="34" charset="0"/>
                <a:ea typeface="Aptos" pitchFamily="34" charset="-122"/>
                <a:cs typeface="Aptos" pitchFamily="34" charset="-120"/>
              </a:rPr>
              <a:t>Criterios mínimos</a:t>
            </a:r>
            <a:endParaRPr lang="en-US" sz="1400" dirty="0"/>
          </a:p>
        </p:txBody>
      </p:sp>
      <p:sp>
        <p:nvSpPr>
          <p:cNvPr id="7" name="Text 5"/>
          <p:cNvSpPr/>
          <p:nvPr/>
        </p:nvSpPr>
        <p:spPr>
          <a:xfrm>
            <a:off x="713232" y="1993392"/>
            <a:ext cx="4754880" cy="182880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Impacto: cuánto afecta la capacidad de formar o acompañar.</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Urgencia: qué tan pronto debe atenderse.</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Viabilidad: qué brecha de capacidad puede atenderse mediante formación.</a:t>
            </a:r>
            <a:endParaRPr lang="en-US" sz="1630" dirty="0"/>
          </a:p>
        </p:txBody>
      </p:sp>
      <p:sp>
        <p:nvSpPr>
          <p:cNvPr id="8" name="Shape 6"/>
          <p:cNvSpPr/>
          <p:nvPr/>
        </p:nvSpPr>
        <p:spPr>
          <a:xfrm>
            <a:off x="5989320" y="1691640"/>
            <a:ext cx="1508760" cy="640080"/>
          </a:xfrm>
          <a:prstGeom prst="rect">
            <a:avLst/>
          </a:prstGeom>
          <a:solidFill>
            <a:srgbClr val="002E54"/>
          </a:solidFill>
          <a:ln w="6350">
            <a:solidFill>
              <a:srgbClr val="D6D6D6"/>
            </a:solidFill>
            <a:prstDash val="solid"/>
          </a:ln>
        </p:spPr>
      </p:sp>
      <p:sp>
        <p:nvSpPr>
          <p:cNvPr id="9" name="Text 7"/>
          <p:cNvSpPr/>
          <p:nvPr/>
        </p:nvSpPr>
        <p:spPr>
          <a:xfrm>
            <a:off x="6044184" y="1755648"/>
            <a:ext cx="1399032" cy="530352"/>
          </a:xfrm>
          <a:prstGeom prst="rect">
            <a:avLst/>
          </a:prstGeom>
          <a:noFill/>
          <a:ln/>
        </p:spPr>
        <p:txBody>
          <a:bodyPr wrap="square" lIns="0" tIns="0" rIns="0" bIns="0" rtlCol="0" anchor="ctr">
            <a:normAutofit/>
          </a:bodyPr>
          <a:lstStyle/>
          <a:p>
            <a:pPr marL="0" indent="0" algn="ctr">
              <a:buNone/>
            </a:pPr>
            <a:endParaRPr lang="en-US" sz="1450" dirty="0"/>
          </a:p>
        </p:txBody>
      </p:sp>
      <p:sp>
        <p:nvSpPr>
          <p:cNvPr id="10" name="Shape 8"/>
          <p:cNvSpPr/>
          <p:nvPr/>
        </p:nvSpPr>
        <p:spPr>
          <a:xfrm>
            <a:off x="7498080" y="1691640"/>
            <a:ext cx="1783080" cy="640080"/>
          </a:xfrm>
          <a:prstGeom prst="rect">
            <a:avLst/>
          </a:prstGeom>
          <a:solidFill>
            <a:srgbClr val="002E54"/>
          </a:solidFill>
          <a:ln w="6350">
            <a:solidFill>
              <a:srgbClr val="D6D6D6"/>
            </a:solidFill>
            <a:prstDash val="solid"/>
          </a:ln>
        </p:spPr>
      </p:sp>
      <p:sp>
        <p:nvSpPr>
          <p:cNvPr id="11" name="Text 9"/>
          <p:cNvSpPr/>
          <p:nvPr/>
        </p:nvSpPr>
        <p:spPr>
          <a:xfrm>
            <a:off x="7552944" y="1755648"/>
            <a:ext cx="1673352" cy="530352"/>
          </a:xfrm>
          <a:prstGeom prst="rect">
            <a:avLst/>
          </a:prstGeom>
          <a:noFill/>
          <a:ln/>
        </p:spPr>
        <p:txBody>
          <a:bodyPr wrap="square" lIns="0" tIns="0" rIns="0" bIns="0" rtlCol="0" anchor="ctr">
            <a:normAutofit/>
          </a:bodyPr>
          <a:lstStyle/>
          <a:p>
            <a:pPr marL="0" indent="0" algn="ctr">
              <a:buNone/>
            </a:pPr>
            <a:r>
              <a:rPr lang="en-US" sz="1450" b="1" dirty="0">
                <a:solidFill>
                  <a:srgbClr val="FFFFFF"/>
                </a:solidFill>
                <a:latin typeface="Aptos" pitchFamily="34" charset="0"/>
                <a:ea typeface="Aptos" pitchFamily="34" charset="-122"/>
                <a:cs typeface="Aptos" pitchFamily="34" charset="-120"/>
              </a:rPr>
              <a:t>Baja urgencia</a:t>
            </a:r>
            <a:endParaRPr lang="en-US" sz="1450" dirty="0"/>
          </a:p>
        </p:txBody>
      </p:sp>
      <p:sp>
        <p:nvSpPr>
          <p:cNvPr id="12" name="Shape 10"/>
          <p:cNvSpPr/>
          <p:nvPr/>
        </p:nvSpPr>
        <p:spPr>
          <a:xfrm>
            <a:off x="9281160" y="1691640"/>
            <a:ext cx="1783080" cy="640080"/>
          </a:xfrm>
          <a:prstGeom prst="rect">
            <a:avLst/>
          </a:prstGeom>
          <a:solidFill>
            <a:srgbClr val="002E54"/>
          </a:solidFill>
          <a:ln w="6350">
            <a:solidFill>
              <a:srgbClr val="D6D6D6"/>
            </a:solidFill>
            <a:prstDash val="solid"/>
          </a:ln>
        </p:spPr>
      </p:sp>
      <p:sp>
        <p:nvSpPr>
          <p:cNvPr id="13" name="Text 11"/>
          <p:cNvSpPr/>
          <p:nvPr/>
        </p:nvSpPr>
        <p:spPr>
          <a:xfrm>
            <a:off x="9336024" y="1755648"/>
            <a:ext cx="1673352" cy="530352"/>
          </a:xfrm>
          <a:prstGeom prst="rect">
            <a:avLst/>
          </a:prstGeom>
          <a:noFill/>
          <a:ln/>
        </p:spPr>
        <p:txBody>
          <a:bodyPr wrap="square" lIns="0" tIns="0" rIns="0" bIns="0" rtlCol="0" anchor="ctr">
            <a:normAutofit/>
          </a:bodyPr>
          <a:lstStyle/>
          <a:p>
            <a:pPr marL="0" indent="0" algn="ctr">
              <a:buNone/>
            </a:pPr>
            <a:r>
              <a:rPr lang="en-US" sz="1450" b="1" dirty="0">
                <a:solidFill>
                  <a:srgbClr val="FFFFFF"/>
                </a:solidFill>
                <a:latin typeface="Aptos" pitchFamily="34" charset="0"/>
                <a:ea typeface="Aptos" pitchFamily="34" charset="-122"/>
                <a:cs typeface="Aptos" pitchFamily="34" charset="-120"/>
              </a:rPr>
              <a:t>Alta urgencia</a:t>
            </a:r>
            <a:endParaRPr lang="en-US" sz="1450" dirty="0"/>
          </a:p>
        </p:txBody>
      </p:sp>
      <p:sp>
        <p:nvSpPr>
          <p:cNvPr id="14" name="Shape 12"/>
          <p:cNvSpPr/>
          <p:nvPr/>
        </p:nvSpPr>
        <p:spPr>
          <a:xfrm>
            <a:off x="5989320" y="2331720"/>
            <a:ext cx="1508760" cy="640080"/>
          </a:xfrm>
          <a:prstGeom prst="rect">
            <a:avLst/>
          </a:prstGeom>
          <a:solidFill>
            <a:srgbClr val="FFFFFF"/>
          </a:solidFill>
          <a:ln w="6350">
            <a:solidFill>
              <a:srgbClr val="D6D6D6"/>
            </a:solidFill>
            <a:prstDash val="solid"/>
          </a:ln>
        </p:spPr>
      </p:sp>
      <p:sp>
        <p:nvSpPr>
          <p:cNvPr id="15" name="Text 13"/>
          <p:cNvSpPr/>
          <p:nvPr/>
        </p:nvSpPr>
        <p:spPr>
          <a:xfrm>
            <a:off x="6044184" y="2395728"/>
            <a:ext cx="1399032" cy="530352"/>
          </a:xfrm>
          <a:prstGeom prst="rect">
            <a:avLst/>
          </a:prstGeom>
          <a:noFill/>
          <a:ln/>
        </p:spPr>
        <p:txBody>
          <a:bodyPr wrap="square" lIns="0" tIns="0" rIns="0" bIns="0" rtlCol="0" anchor="ctr">
            <a:normAutofit/>
          </a:bodyPr>
          <a:lstStyle/>
          <a:p>
            <a:pPr marL="0" indent="0" algn="ctr">
              <a:buNone/>
            </a:pPr>
            <a:r>
              <a:rPr lang="en-US" sz="1450" dirty="0">
                <a:solidFill>
                  <a:srgbClr val="1F2937"/>
                </a:solidFill>
                <a:latin typeface="Aptos" pitchFamily="34" charset="0"/>
                <a:ea typeface="Aptos" pitchFamily="34" charset="-122"/>
                <a:cs typeface="Aptos" pitchFamily="34" charset="-120"/>
              </a:rPr>
              <a:t>Alto impacto</a:t>
            </a:r>
            <a:endParaRPr lang="en-US" sz="1450" dirty="0"/>
          </a:p>
        </p:txBody>
      </p:sp>
      <p:sp>
        <p:nvSpPr>
          <p:cNvPr id="16" name="Shape 14"/>
          <p:cNvSpPr/>
          <p:nvPr/>
        </p:nvSpPr>
        <p:spPr>
          <a:xfrm>
            <a:off x="7498080" y="2331720"/>
            <a:ext cx="1783080" cy="640080"/>
          </a:xfrm>
          <a:prstGeom prst="rect">
            <a:avLst/>
          </a:prstGeom>
          <a:solidFill>
            <a:srgbClr val="FFFFFF"/>
          </a:solidFill>
          <a:ln w="6350">
            <a:solidFill>
              <a:srgbClr val="D6D6D6"/>
            </a:solidFill>
            <a:prstDash val="solid"/>
          </a:ln>
        </p:spPr>
      </p:sp>
      <p:sp>
        <p:nvSpPr>
          <p:cNvPr id="17" name="Text 15"/>
          <p:cNvSpPr/>
          <p:nvPr/>
        </p:nvSpPr>
        <p:spPr>
          <a:xfrm>
            <a:off x="7552944" y="2395728"/>
            <a:ext cx="1673352" cy="530352"/>
          </a:xfrm>
          <a:prstGeom prst="rect">
            <a:avLst/>
          </a:prstGeom>
          <a:noFill/>
          <a:ln/>
        </p:spPr>
        <p:txBody>
          <a:bodyPr wrap="square" lIns="0" tIns="0" rIns="0" bIns="0" rtlCol="0" anchor="ctr">
            <a:normAutofit/>
          </a:bodyPr>
          <a:lstStyle/>
          <a:p>
            <a:pPr marL="0" indent="0" algn="ctr">
              <a:buNone/>
            </a:pPr>
            <a:r>
              <a:rPr lang="en-US" sz="1450" dirty="0">
                <a:solidFill>
                  <a:srgbClr val="1F2937"/>
                </a:solidFill>
                <a:latin typeface="Aptos" pitchFamily="34" charset="0"/>
                <a:ea typeface="Aptos" pitchFamily="34" charset="-122"/>
                <a:cs typeface="Aptos" pitchFamily="34" charset="-120"/>
              </a:rPr>
              <a:t>Planificar</a:t>
            </a:r>
            <a:endParaRPr lang="en-US" sz="1450" dirty="0"/>
          </a:p>
        </p:txBody>
      </p:sp>
      <p:sp>
        <p:nvSpPr>
          <p:cNvPr id="18" name="Shape 16"/>
          <p:cNvSpPr/>
          <p:nvPr/>
        </p:nvSpPr>
        <p:spPr>
          <a:xfrm>
            <a:off x="9281160" y="2331720"/>
            <a:ext cx="1783080" cy="640080"/>
          </a:xfrm>
          <a:prstGeom prst="rect">
            <a:avLst/>
          </a:prstGeom>
          <a:solidFill>
            <a:srgbClr val="FFFFFF"/>
          </a:solidFill>
          <a:ln w="6350">
            <a:solidFill>
              <a:srgbClr val="D6D6D6"/>
            </a:solidFill>
            <a:prstDash val="solid"/>
          </a:ln>
        </p:spPr>
      </p:sp>
      <p:sp>
        <p:nvSpPr>
          <p:cNvPr id="19" name="Text 17"/>
          <p:cNvSpPr/>
          <p:nvPr/>
        </p:nvSpPr>
        <p:spPr>
          <a:xfrm>
            <a:off x="9336024" y="2395728"/>
            <a:ext cx="1673352" cy="530352"/>
          </a:xfrm>
          <a:prstGeom prst="rect">
            <a:avLst/>
          </a:prstGeom>
          <a:noFill/>
          <a:ln/>
        </p:spPr>
        <p:txBody>
          <a:bodyPr wrap="square" lIns="0" tIns="0" rIns="0" bIns="0" rtlCol="0" anchor="ctr">
            <a:normAutofit/>
          </a:bodyPr>
          <a:lstStyle/>
          <a:p>
            <a:pPr marL="0" indent="0" algn="ctr">
              <a:buNone/>
            </a:pPr>
            <a:r>
              <a:rPr lang="en-US" sz="1450" dirty="0">
                <a:solidFill>
                  <a:srgbClr val="1F2937"/>
                </a:solidFill>
                <a:latin typeface="Aptos" pitchFamily="34" charset="0"/>
                <a:ea typeface="Aptos" pitchFamily="34" charset="-122"/>
                <a:cs typeface="Aptos" pitchFamily="34" charset="-120"/>
              </a:rPr>
              <a:t>Priorizar primero</a:t>
            </a:r>
            <a:endParaRPr lang="en-US" sz="1450" dirty="0"/>
          </a:p>
        </p:txBody>
      </p:sp>
      <p:sp>
        <p:nvSpPr>
          <p:cNvPr id="20" name="Shape 18"/>
          <p:cNvSpPr/>
          <p:nvPr/>
        </p:nvSpPr>
        <p:spPr>
          <a:xfrm>
            <a:off x="5989320" y="2971800"/>
            <a:ext cx="1508760" cy="640080"/>
          </a:xfrm>
          <a:prstGeom prst="rect">
            <a:avLst/>
          </a:prstGeom>
          <a:solidFill>
            <a:srgbClr val="FFFFFF"/>
          </a:solidFill>
          <a:ln w="6350">
            <a:solidFill>
              <a:srgbClr val="D6D6D6"/>
            </a:solidFill>
            <a:prstDash val="solid"/>
          </a:ln>
        </p:spPr>
      </p:sp>
      <p:sp>
        <p:nvSpPr>
          <p:cNvPr id="21" name="Text 19"/>
          <p:cNvSpPr/>
          <p:nvPr/>
        </p:nvSpPr>
        <p:spPr>
          <a:xfrm>
            <a:off x="6044184" y="3035808"/>
            <a:ext cx="1399032" cy="530352"/>
          </a:xfrm>
          <a:prstGeom prst="rect">
            <a:avLst/>
          </a:prstGeom>
          <a:noFill/>
          <a:ln/>
        </p:spPr>
        <p:txBody>
          <a:bodyPr wrap="square" lIns="0" tIns="0" rIns="0" bIns="0" rtlCol="0" anchor="ctr">
            <a:normAutofit/>
          </a:bodyPr>
          <a:lstStyle/>
          <a:p>
            <a:pPr marL="0" indent="0" algn="ctr">
              <a:buNone/>
            </a:pPr>
            <a:r>
              <a:rPr lang="en-US" sz="1450" dirty="0">
                <a:solidFill>
                  <a:srgbClr val="1F2937"/>
                </a:solidFill>
                <a:latin typeface="Aptos" pitchFamily="34" charset="0"/>
                <a:ea typeface="Aptos" pitchFamily="34" charset="-122"/>
                <a:cs typeface="Aptos" pitchFamily="34" charset="-120"/>
              </a:rPr>
              <a:t>Bajo impacto</a:t>
            </a:r>
            <a:endParaRPr lang="en-US" sz="1450" dirty="0"/>
          </a:p>
        </p:txBody>
      </p:sp>
      <p:sp>
        <p:nvSpPr>
          <p:cNvPr id="22" name="Shape 20"/>
          <p:cNvSpPr/>
          <p:nvPr/>
        </p:nvSpPr>
        <p:spPr>
          <a:xfrm>
            <a:off x="7498080" y="2971800"/>
            <a:ext cx="1783080" cy="640080"/>
          </a:xfrm>
          <a:prstGeom prst="rect">
            <a:avLst/>
          </a:prstGeom>
          <a:solidFill>
            <a:srgbClr val="FFFFFF"/>
          </a:solidFill>
          <a:ln w="6350">
            <a:solidFill>
              <a:srgbClr val="D6D6D6"/>
            </a:solidFill>
            <a:prstDash val="solid"/>
          </a:ln>
        </p:spPr>
      </p:sp>
      <p:sp>
        <p:nvSpPr>
          <p:cNvPr id="23" name="Text 21"/>
          <p:cNvSpPr/>
          <p:nvPr/>
        </p:nvSpPr>
        <p:spPr>
          <a:xfrm>
            <a:off x="7552944" y="3035808"/>
            <a:ext cx="1673352" cy="530352"/>
          </a:xfrm>
          <a:prstGeom prst="rect">
            <a:avLst/>
          </a:prstGeom>
          <a:noFill/>
          <a:ln/>
        </p:spPr>
        <p:txBody>
          <a:bodyPr wrap="square" lIns="0" tIns="0" rIns="0" bIns="0" rtlCol="0" anchor="ctr">
            <a:normAutofit/>
          </a:bodyPr>
          <a:lstStyle/>
          <a:p>
            <a:pPr marL="0" indent="0" algn="ctr">
              <a:buNone/>
            </a:pPr>
            <a:r>
              <a:rPr lang="en-US" sz="1450" dirty="0">
                <a:solidFill>
                  <a:srgbClr val="1F2937"/>
                </a:solidFill>
                <a:latin typeface="Aptos" pitchFamily="34" charset="0"/>
                <a:ea typeface="Aptos" pitchFamily="34" charset="-122"/>
                <a:cs typeface="Aptos" pitchFamily="34" charset="-120"/>
              </a:rPr>
              <a:t>Monitorear</a:t>
            </a:r>
            <a:endParaRPr lang="en-US" sz="1450" dirty="0"/>
          </a:p>
        </p:txBody>
      </p:sp>
      <p:sp>
        <p:nvSpPr>
          <p:cNvPr id="24" name="Shape 22"/>
          <p:cNvSpPr/>
          <p:nvPr/>
        </p:nvSpPr>
        <p:spPr>
          <a:xfrm>
            <a:off x="9281160" y="2971800"/>
            <a:ext cx="1783080" cy="640080"/>
          </a:xfrm>
          <a:prstGeom prst="rect">
            <a:avLst/>
          </a:prstGeom>
          <a:solidFill>
            <a:srgbClr val="FFFFFF"/>
          </a:solidFill>
          <a:ln w="6350">
            <a:solidFill>
              <a:srgbClr val="D6D6D6"/>
            </a:solidFill>
            <a:prstDash val="solid"/>
          </a:ln>
        </p:spPr>
      </p:sp>
      <p:sp>
        <p:nvSpPr>
          <p:cNvPr id="25" name="Text 23"/>
          <p:cNvSpPr/>
          <p:nvPr/>
        </p:nvSpPr>
        <p:spPr>
          <a:xfrm>
            <a:off x="9336024" y="3035808"/>
            <a:ext cx="1673352" cy="530352"/>
          </a:xfrm>
          <a:prstGeom prst="rect">
            <a:avLst/>
          </a:prstGeom>
          <a:noFill/>
          <a:ln/>
        </p:spPr>
        <p:txBody>
          <a:bodyPr wrap="square" lIns="0" tIns="0" rIns="0" bIns="0" rtlCol="0" anchor="ctr">
            <a:normAutofit/>
          </a:bodyPr>
          <a:lstStyle/>
          <a:p>
            <a:pPr marL="0" indent="0" algn="ctr">
              <a:buNone/>
            </a:pPr>
            <a:r>
              <a:rPr lang="en-US" sz="1450" dirty="0">
                <a:solidFill>
                  <a:srgbClr val="1F2937"/>
                </a:solidFill>
                <a:latin typeface="Aptos" pitchFamily="34" charset="0"/>
                <a:ea typeface="Aptos" pitchFamily="34" charset="-122"/>
                <a:cs typeface="Aptos" pitchFamily="34" charset="-120"/>
              </a:rPr>
              <a:t>Atender si hay recursos</a:t>
            </a:r>
            <a:endParaRPr lang="en-US" sz="1450" dirty="0"/>
          </a:p>
        </p:txBody>
      </p:sp>
      <p:sp>
        <p:nvSpPr>
          <p:cNvPr id="26" name="Text 24"/>
          <p:cNvSpPr/>
          <p:nvPr/>
        </p:nvSpPr>
        <p:spPr>
          <a:xfrm>
            <a:off x="914400" y="4983480"/>
            <a:ext cx="9875520" cy="384048"/>
          </a:xfrm>
          <a:prstGeom prst="rect">
            <a:avLst/>
          </a:prstGeom>
          <a:noFill/>
          <a:ln/>
        </p:spPr>
        <p:txBody>
          <a:bodyPr wrap="square" lIns="0" tIns="0" rIns="0" bIns="0" rtlCol="0" anchor="ctr"/>
          <a:lstStyle/>
          <a:p>
            <a:pPr marL="0" indent="0" algn="ctr">
              <a:buNone/>
            </a:pPr>
            <a:r>
              <a:rPr lang="en-US" sz="2000" dirty="0">
                <a:solidFill>
                  <a:srgbClr val="002E54"/>
                </a:solidFill>
                <a:latin typeface="Aptos Display" pitchFamily="34" charset="0"/>
                <a:ea typeface="Aptos Display" pitchFamily="34" charset="-122"/>
                <a:cs typeface="Aptos Display" pitchFamily="34" charset="-120"/>
              </a:rPr>
              <a:t>Priorizar necesidades de aprendizaje; esta matriz es un recurso de práctica, no K03 ni un producto evaluativo adicional.</a:t>
            </a:r>
            <a:endParaRPr lang="en-US" sz="2000" dirty="0"/>
          </a:p>
        </p:txBody>
      </p:sp>
      <p:sp>
        <p:nvSpPr>
          <p:cNvPr id="29" name="Text 26"/>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30" name="Text 27"/>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Ejercicio guiado · Diagnóstico en caso NAE</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58368" y="1508760"/>
            <a:ext cx="10972800" cy="4480560"/>
          </a:xfrm>
          <a:prstGeom prst="rect">
            <a:avLst/>
          </a:prstGeom>
          <a:solidFill>
            <a:srgbClr val="F8FAF9"/>
          </a:solidFill>
          <a:ln w="6350">
            <a:solidFill>
              <a:srgbClr val="D9D4C9"/>
            </a:solidFill>
            <a:prstDash val="solid"/>
          </a:ln>
        </p:spPr>
      </p:sp>
      <p:sp>
        <p:nvSpPr>
          <p:cNvPr id="7" name="Text 5"/>
          <p:cNvSpPr/>
          <p:nvPr/>
        </p:nvSpPr>
        <p:spPr>
          <a:xfrm>
            <a:off x="868680" y="1783080"/>
            <a:ext cx="3474720" cy="201168"/>
          </a:xfrm>
          <a:prstGeom prst="rect">
            <a:avLst/>
          </a:prstGeom>
          <a:noFill/>
          <a:ln/>
        </p:spPr>
        <p:txBody>
          <a:bodyPr wrap="square" lIns="0" tIns="0" rIns="0" bIns="0" rtlCol="0" anchor="ctr"/>
          <a:lstStyle/>
          <a:p>
            <a:pPr marL="0" indent="0">
              <a:buNone/>
            </a:pPr>
            <a:r>
              <a:rPr lang="en-US" sz="1100" b="1" dirty="0">
                <a:solidFill>
                  <a:srgbClr val="00CBA8"/>
                </a:solidFill>
                <a:latin typeface="Aptos" pitchFamily="34" charset="0"/>
                <a:ea typeface="Aptos" pitchFamily="34" charset="-122"/>
                <a:cs typeface="Aptos" pitchFamily="34" charset="-120"/>
              </a:rPr>
              <a:t>ACTIVIDAD PRÁCTICA</a:t>
            </a:r>
            <a:endParaRPr lang="en-US" sz="1100" dirty="0"/>
          </a:p>
        </p:txBody>
      </p:sp>
      <p:sp>
        <p:nvSpPr>
          <p:cNvPr id="8" name="Text 6"/>
          <p:cNvSpPr/>
          <p:nvPr/>
        </p:nvSpPr>
        <p:spPr>
          <a:xfrm>
            <a:off x="868680" y="2103120"/>
            <a:ext cx="9875520" cy="457200"/>
          </a:xfrm>
          <a:prstGeom prst="rect">
            <a:avLst/>
          </a:prstGeom>
          <a:noFill/>
          <a:ln/>
        </p:spPr>
        <p:txBody>
          <a:bodyPr wrap="square" lIns="0" tIns="0" rIns="0" bIns="0" rtlCol="0" anchor="ctr"/>
          <a:lstStyle/>
          <a:p>
            <a:pPr marL="0" indent="0">
              <a:buNone/>
            </a:pPr>
            <a:r>
              <a:rPr lang="en-US" sz="2400" b="1" dirty="0">
                <a:solidFill>
                  <a:srgbClr val="002E54"/>
                </a:solidFill>
                <a:latin typeface="Aptos Display" pitchFamily="34" charset="0"/>
                <a:ea typeface="Aptos Display" pitchFamily="34" charset="-122"/>
                <a:cs typeface="Aptos Display" pitchFamily="34" charset="-120"/>
              </a:rPr>
              <a:t>K01 · Caso La Colmena</a:t>
            </a:r>
            <a:endParaRPr lang="en-US" sz="2400" dirty="0"/>
          </a:p>
        </p:txBody>
      </p:sp>
      <p:sp>
        <p:nvSpPr>
          <p:cNvPr id="9" name="Text 7"/>
          <p:cNvSpPr/>
          <p:nvPr/>
        </p:nvSpPr>
        <p:spPr>
          <a:xfrm>
            <a:off x="868680" y="2788920"/>
            <a:ext cx="7132320" cy="2194560"/>
          </a:xfrm>
          <a:prstGeom prst="rect">
            <a:avLst/>
          </a:prstGeom>
          <a:noFill/>
          <a:ln/>
        </p:spPr>
        <p:txBody>
          <a:bodyPr wrap="square" lIns="635" tIns="635" rIns="635" bIns="635" rtlCol="0" anchor="ctr">
            <a:normAutofit/>
          </a:bodyPr>
          <a:lstStyle/>
          <a:p>
            <a:pPr marL="0" indent="0">
              <a:buNone/>
            </a:pPr>
            <a:r>
              <a:rPr lang="en-US" sz="1550" dirty="0">
                <a:solidFill>
                  <a:srgbClr val="1F2937"/>
                </a:solidFill>
                <a:latin typeface="Aptos" pitchFamily="34" charset="0"/>
                <a:ea typeface="Aptos" pitchFamily="34" charset="-122"/>
                <a:cs typeface="Aptos" pitchFamily="34" charset="-120"/>
              </a:rPr>
              <a:t>1. Caracterizar al grupo y las barreras descritas en K01.</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2. Identificar brechas de capacidades y datos faltantes.</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3. Diferenciar necesidades formativas de necesidades de asesoría o asistencia técnica.</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4. Priorizar por impacto y urgencia y justificar.</a:t>
            </a:r>
            <a:endParaRPr lang="en-US" sz="1550" dirty="0"/>
          </a:p>
        </p:txBody>
      </p:sp>
      <p:sp>
        <p:nvSpPr>
          <p:cNvPr id="10" name="Shape 8"/>
          <p:cNvSpPr/>
          <p:nvPr/>
        </p:nvSpPr>
        <p:spPr>
          <a:xfrm>
            <a:off x="8366760" y="2788920"/>
            <a:ext cx="2697480" cy="1417320"/>
          </a:xfrm>
          <a:prstGeom prst="rect">
            <a:avLst/>
          </a:prstGeom>
          <a:solidFill>
            <a:srgbClr val="E8F5F2"/>
          </a:solidFill>
          <a:ln w="12700">
            <a:solidFill>
              <a:srgbClr val="CFE7DF"/>
            </a:solidFill>
            <a:prstDash val="solid"/>
          </a:ln>
        </p:spPr>
      </p:sp>
      <p:sp>
        <p:nvSpPr>
          <p:cNvPr id="11" name="Text 9"/>
          <p:cNvSpPr/>
          <p:nvPr/>
        </p:nvSpPr>
        <p:spPr>
          <a:xfrm>
            <a:off x="8577072" y="2999232"/>
            <a:ext cx="2240280" cy="228600"/>
          </a:xfrm>
          <a:prstGeom prst="rect">
            <a:avLst/>
          </a:prstGeom>
          <a:noFill/>
          <a:ln/>
        </p:spPr>
        <p:txBody>
          <a:bodyPr wrap="square" lIns="0" tIns="0" rIns="0" bIns="0" rtlCol="0" anchor="ctr"/>
          <a:lstStyle/>
          <a:p>
            <a:pPr marL="0" indent="0">
              <a:buNone/>
            </a:pPr>
            <a:r>
              <a:rPr lang="en-US" sz="1200" b="1" dirty="0">
                <a:solidFill>
                  <a:srgbClr val="002E54"/>
                </a:solidFill>
                <a:latin typeface="Aptos" pitchFamily="34" charset="0"/>
                <a:ea typeface="Aptos" pitchFamily="34" charset="-122"/>
                <a:cs typeface="Aptos" pitchFamily="34" charset="-120"/>
              </a:rPr>
              <a:t>Evidencia de práctica</a:t>
            </a:r>
            <a:endParaRPr lang="en-US" sz="1200" dirty="0"/>
          </a:p>
        </p:txBody>
      </p:sp>
      <p:sp>
        <p:nvSpPr>
          <p:cNvPr id="12" name="Text 10"/>
          <p:cNvSpPr/>
          <p:nvPr/>
        </p:nvSpPr>
        <p:spPr>
          <a:xfrm>
            <a:off x="8577072" y="3364992"/>
            <a:ext cx="2148840" cy="438912"/>
          </a:xfrm>
          <a:prstGeom prst="rect">
            <a:avLst/>
          </a:prstGeom>
          <a:noFill/>
          <a:ln/>
        </p:spPr>
        <p:txBody>
          <a:bodyPr wrap="square" lIns="254" tIns="254" rIns="254" bIns="254" rtlCol="0" anchor="ctr">
            <a:normAutofit fontScale="92500"/>
          </a:bodyPr>
          <a:lstStyle/>
          <a:p>
            <a:pPr marL="0" indent="0">
              <a:buNone/>
            </a:pPr>
            <a:r>
              <a:rPr lang="en-US" sz="1340" dirty="0">
                <a:solidFill>
                  <a:srgbClr val="1F2937"/>
                </a:solidFill>
                <a:latin typeface="Aptos" pitchFamily="34" charset="0"/>
                <a:ea typeface="Aptos" pitchFamily="34" charset="-122"/>
                <a:cs typeface="Aptos" pitchFamily="34" charset="-120"/>
              </a:rPr>
              <a:t>Necesidades formativas priorizadas; sin entrega calificable adicional.</a:t>
            </a:r>
            <a:endParaRPr lang="en-US" sz="1340" dirty="0"/>
          </a:p>
        </p:txBody>
      </p:sp>
      <p:sp>
        <p:nvSpPr>
          <p:cNvPr id="13" name="Shape 11"/>
          <p:cNvSpPr/>
          <p:nvPr/>
        </p:nvSpPr>
        <p:spPr>
          <a:xfrm>
            <a:off x="8549640" y="4526280"/>
            <a:ext cx="2057400" cy="310896"/>
          </a:xfrm>
          <a:prstGeom prst="roundRect">
            <a:avLst>
              <a:gd name="adj" fmla="val 17647"/>
            </a:avLst>
          </a:prstGeom>
          <a:solidFill>
            <a:srgbClr val="D89A2B"/>
          </a:solidFill>
          <a:ln w="12700">
            <a:solidFill>
              <a:srgbClr val="D89A2B">
                <a:alpha val="0"/>
              </a:srgbClr>
            </a:solidFill>
            <a:prstDash val="solid"/>
          </a:ln>
        </p:spPr>
      </p:sp>
      <p:sp>
        <p:nvSpPr>
          <p:cNvPr id="14" name="Text 12"/>
          <p:cNvSpPr/>
          <p:nvPr/>
        </p:nvSpPr>
        <p:spPr>
          <a:xfrm>
            <a:off x="8622792" y="4585716"/>
            <a:ext cx="1911096" cy="1645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30 + 25 min</a:t>
            </a:r>
            <a:endParaRPr lang="en-US" sz="950" dirty="0"/>
          </a:p>
        </p:txBody>
      </p:sp>
      <p:sp>
        <p:nvSpPr>
          <p:cNvPr id="17" name="Text 14"/>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8" name="Text 15"/>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E54"/>
        </a:solidFill>
        <a:effectLst/>
      </p:bgPr>
    </p:bg>
    <p:spTree>
      <p:nvGrpSpPr>
        <p:cNvPr id="1" name=""/>
        <p:cNvGrpSpPr/>
        <p:nvPr/>
      </p:nvGrpSpPr>
      <p:grpSpPr>
        <a:xfrm>
          <a:off x="0" y="0"/>
          <a:ext cx="0" cy="0"/>
          <a:chOff x="0" y="0"/>
          <a:chExt cx="0" cy="0"/>
        </a:xfrm>
      </p:grpSpPr>
      <p:sp>
        <p:nvSpPr>
          <p:cNvPr id="3" name="Text 0"/>
          <p:cNvSpPr/>
          <p:nvPr/>
        </p:nvSpPr>
        <p:spPr>
          <a:xfrm>
            <a:off x="777240" y="1417320"/>
            <a:ext cx="1828800" cy="777240"/>
          </a:xfrm>
          <a:prstGeom prst="rect">
            <a:avLst/>
          </a:prstGeom>
          <a:noFill/>
          <a:ln/>
        </p:spPr>
        <p:txBody>
          <a:bodyPr wrap="square" lIns="0" tIns="0" rIns="0" bIns="0" rtlCol="0" anchor="ctr"/>
          <a:lstStyle/>
          <a:p>
            <a:pPr marL="0" indent="0">
              <a:buNone/>
            </a:pPr>
            <a:r>
              <a:rPr lang="en-US" sz="4400" dirty="0">
                <a:solidFill>
                  <a:srgbClr val="D89A2B"/>
                </a:solidFill>
                <a:latin typeface="Aptos Display" pitchFamily="34" charset="0"/>
                <a:ea typeface="Aptos Display" pitchFamily="34" charset="-122"/>
                <a:cs typeface="Aptos Display" pitchFamily="34" charset="-120"/>
              </a:rPr>
              <a:t>03</a:t>
            </a:r>
            <a:endParaRPr lang="en-US" sz="4400" dirty="0"/>
          </a:p>
        </p:txBody>
      </p:sp>
      <p:sp>
        <p:nvSpPr>
          <p:cNvPr id="4" name="Shape 1"/>
          <p:cNvSpPr/>
          <p:nvPr/>
        </p:nvSpPr>
        <p:spPr>
          <a:xfrm>
            <a:off x="777240" y="2331720"/>
            <a:ext cx="658368" cy="45720"/>
          </a:xfrm>
          <a:prstGeom prst="rect">
            <a:avLst/>
          </a:prstGeom>
          <a:solidFill>
            <a:srgbClr val="D89A2B"/>
          </a:solidFill>
          <a:ln w="12700">
            <a:solidFill>
              <a:srgbClr val="D89A2B"/>
            </a:solidFill>
            <a:prstDash val="solid"/>
          </a:ln>
        </p:spPr>
      </p:sp>
      <p:sp>
        <p:nvSpPr>
          <p:cNvPr id="5" name="Text 2"/>
          <p:cNvSpPr/>
          <p:nvPr/>
        </p:nvSpPr>
        <p:spPr>
          <a:xfrm>
            <a:off x="777240" y="2770632"/>
            <a:ext cx="8869680" cy="548640"/>
          </a:xfrm>
          <a:prstGeom prst="rect">
            <a:avLst/>
          </a:prstGeom>
          <a:noFill/>
          <a:ln/>
        </p:spPr>
        <p:txBody>
          <a:bodyPr wrap="square" lIns="0" tIns="0" rIns="0" bIns="0" rtlCol="0" anchor="ctr"/>
          <a:lstStyle/>
          <a:p>
            <a:pPr marL="0" indent="0">
              <a:buNone/>
            </a:pPr>
            <a:r>
              <a:rPr lang="en-US" sz="2900" dirty="0">
                <a:solidFill>
                  <a:srgbClr val="FFFFFF"/>
                </a:solidFill>
                <a:latin typeface="Aptos Display" pitchFamily="34" charset="0"/>
                <a:ea typeface="Aptos Display" pitchFamily="34" charset="-122"/>
                <a:cs typeface="Aptos Display" pitchFamily="34" charset="-120"/>
              </a:rPr>
              <a:t>TEMA 2 · DISEÑO</a:t>
            </a:r>
            <a:endParaRPr lang="en-US" sz="2900" dirty="0"/>
          </a:p>
        </p:txBody>
      </p:sp>
      <p:sp>
        <p:nvSpPr>
          <p:cNvPr id="6" name="Text 3"/>
          <p:cNvSpPr/>
          <p:nvPr/>
        </p:nvSpPr>
        <p:spPr>
          <a:xfrm>
            <a:off x="777240" y="3474720"/>
            <a:ext cx="7223760" cy="640080"/>
          </a:xfrm>
          <a:prstGeom prst="rect">
            <a:avLst/>
          </a:prstGeom>
          <a:noFill/>
          <a:ln/>
        </p:spPr>
        <p:txBody>
          <a:bodyPr wrap="square" lIns="0" tIns="0" rIns="0" bIns="0" rtlCol="0" anchor="ctr"/>
          <a:lstStyle/>
          <a:p>
            <a:pPr marL="0" indent="0">
              <a:buNone/>
            </a:pPr>
            <a:r>
              <a:rPr lang="en-US" sz="1450" dirty="0">
                <a:solidFill>
                  <a:srgbClr val="E5EEF3"/>
                </a:solidFill>
                <a:latin typeface="Aptos" pitchFamily="34" charset="0"/>
                <a:ea typeface="Aptos" pitchFamily="34" charset="-122"/>
                <a:cs typeface="Aptos" pitchFamily="34" charset="-120"/>
              </a:rPr>
              <a:t>Diseño curricular y de sesiones formativas · 3 h virtuales asincrónicas</a:t>
            </a:r>
            <a:endParaRPr lang="en-US" sz="1450" dirty="0"/>
          </a:p>
        </p:txBody>
      </p:sp>
      <p:sp>
        <p:nvSpPr>
          <p:cNvPr id="7" name="Text 4"/>
          <p:cNvSpPr/>
          <p:nvPr/>
        </p:nvSpPr>
        <p:spPr>
          <a:xfrm>
            <a:off x="777240" y="6254496"/>
            <a:ext cx="2743200" cy="201168"/>
          </a:xfrm>
          <a:prstGeom prst="rect">
            <a:avLst/>
          </a:prstGeom>
          <a:noFill/>
          <a:ln/>
        </p:spPr>
        <p:txBody>
          <a:bodyPr wrap="square" lIns="0" tIns="0" rIns="0" bIns="0" rtlCol="0" anchor="ctr"/>
          <a:lstStyle/>
          <a:p>
            <a:pPr marL="0" indent="0">
              <a:buNone/>
            </a:pPr>
            <a:r>
              <a:rPr lang="en-US" sz="850" dirty="0">
                <a:solidFill>
                  <a:srgbClr val="B9C7D2"/>
                </a:solidFill>
                <a:latin typeface="Aptos" pitchFamily="34" charset="0"/>
                <a:ea typeface="Aptos" pitchFamily="34" charset="-122"/>
                <a:cs typeface="Aptos" pitchFamily="34" charset="-120"/>
              </a:rPr>
              <a:t>Actividad 2.3.2 — FdF</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Resultados de aprendizaje observables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13232" y="1627632"/>
            <a:ext cx="10332720" cy="585216"/>
          </a:xfrm>
          <a:prstGeom prst="rect">
            <a:avLst/>
          </a:prstGeom>
          <a:noFill/>
          <a:ln/>
        </p:spPr>
        <p:txBody>
          <a:bodyPr wrap="square" lIns="381" tIns="381" rIns="381" bIns="381" rtlCol="0" anchor="ctr">
            <a:normAutofit fontScale="92500" lnSpcReduction="20000"/>
          </a:bodyPr>
          <a:lstStyle/>
          <a:p>
            <a:pPr marL="0" indent="0">
              <a:buNone/>
            </a:pPr>
            <a:r>
              <a:rPr lang="en-US" sz="2400" dirty="0">
                <a:solidFill>
                  <a:srgbClr val="002E54"/>
                </a:solidFill>
                <a:latin typeface="Aptos Display" pitchFamily="34" charset="0"/>
                <a:ea typeface="Aptos Display" pitchFamily="34" charset="-122"/>
                <a:cs typeface="Aptos Display" pitchFamily="34" charset="-120"/>
              </a:rPr>
              <a:t>Un resultado bien formulado define qué podrá hacer la persona participante al finalizar la experiencia formativa.</a:t>
            </a:r>
            <a:endParaRPr lang="en-US" sz="2400" dirty="0"/>
          </a:p>
        </p:txBody>
      </p:sp>
      <p:sp>
        <p:nvSpPr>
          <p:cNvPr id="7" name="Text 5"/>
          <p:cNvSpPr/>
          <p:nvPr/>
        </p:nvSpPr>
        <p:spPr>
          <a:xfrm>
            <a:off x="960120" y="2788920"/>
            <a:ext cx="9966960" cy="2194560"/>
          </a:xfrm>
          <a:prstGeom prst="rect">
            <a:avLst/>
          </a:prstGeom>
          <a:noFill/>
          <a:ln/>
        </p:spPr>
        <p:txBody>
          <a:bodyPr wrap="square" lIns="635" tIns="635" rIns="635" bIns="635" rtlCol="0" anchor="ctr">
            <a:normAutofit/>
          </a:bodyPr>
          <a:lstStyle/>
          <a:p>
            <a:pPr marL="0" indent="0">
              <a:buNone/>
            </a:pPr>
            <a:r>
              <a:rPr lang="en-US" sz="1720" dirty="0">
                <a:solidFill>
                  <a:srgbClr val="1F2937"/>
                </a:solidFill>
                <a:latin typeface="Aptos" pitchFamily="34" charset="0"/>
                <a:ea typeface="Aptos" pitchFamily="34" charset="-122"/>
                <a:cs typeface="Aptos" pitchFamily="34" charset="-120"/>
              </a:rPr>
              <a:t>▸ Observable: describe una actuación verificable.</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Medible: permite establecer criterios de evaluación.</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Alcanzable: corresponde al tiempo, recursos y nivel del grupo.</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Coherente: se relaciona con la competencia que se pretende desarrollar.</a:t>
            </a:r>
            <a:endParaRPr lang="en-US" sz="1720" dirty="0"/>
          </a:p>
        </p:txBody>
      </p:sp>
      <p:sp>
        <p:nvSpPr>
          <p:cNvPr id="10" name="Text 7"/>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1" name="Text 8"/>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Diseño de secuencias didácticas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822960" y="1645920"/>
            <a:ext cx="2011680" cy="320040"/>
          </a:xfrm>
          <a:prstGeom prst="rect">
            <a:avLst/>
          </a:prstGeom>
          <a:noFill/>
          <a:ln/>
        </p:spPr>
        <p:txBody>
          <a:bodyPr wrap="square" lIns="0" tIns="0" rIns="0" bIns="0" rtlCol="0" anchor="ctr"/>
          <a:lstStyle/>
          <a:p>
            <a:pPr marL="0" indent="0">
              <a:buNone/>
            </a:pPr>
            <a:r>
              <a:rPr lang="en-US" sz="2200" b="1" dirty="0">
                <a:solidFill>
                  <a:srgbClr val="00CBA8"/>
                </a:solidFill>
                <a:latin typeface="Aptos Display" pitchFamily="34" charset="0"/>
                <a:ea typeface="Aptos Display" pitchFamily="34" charset="-122"/>
                <a:cs typeface="Aptos Display" pitchFamily="34" charset="-120"/>
              </a:rPr>
              <a:t>Apertura</a:t>
            </a:r>
            <a:endParaRPr lang="en-US" sz="2200" dirty="0"/>
          </a:p>
        </p:txBody>
      </p:sp>
      <p:sp>
        <p:nvSpPr>
          <p:cNvPr id="7" name="Text 5"/>
          <p:cNvSpPr/>
          <p:nvPr/>
        </p:nvSpPr>
        <p:spPr>
          <a:xfrm>
            <a:off x="3108960" y="1682496"/>
            <a:ext cx="7863840" cy="502920"/>
          </a:xfrm>
          <a:prstGeom prst="rect">
            <a:avLst/>
          </a:prstGeom>
          <a:noFill/>
          <a:ln/>
        </p:spPr>
        <p:txBody>
          <a:bodyPr wrap="square" lIns="0" tIns="0" rIns="0" bIns="0" rtlCol="0" anchor="ctr">
            <a:normAutofit lnSpcReduction="10000"/>
          </a:bodyPr>
          <a:lstStyle/>
          <a:p>
            <a:pPr marL="0" indent="0">
              <a:buNone/>
            </a:pPr>
            <a:r>
              <a:rPr lang="en-US" sz="1740" dirty="0">
                <a:solidFill>
                  <a:srgbClr val="1F2937"/>
                </a:solidFill>
                <a:latin typeface="Aptos" pitchFamily="34" charset="0"/>
                <a:ea typeface="Aptos" pitchFamily="34" charset="-122"/>
                <a:cs typeface="Aptos" pitchFamily="34" charset="-120"/>
              </a:rPr>
              <a:t>propósito, activación de saberes previos, acuerdos y conexión con la experiencia</a:t>
            </a:r>
            <a:endParaRPr lang="en-US" sz="1740" dirty="0"/>
          </a:p>
        </p:txBody>
      </p:sp>
      <p:sp>
        <p:nvSpPr>
          <p:cNvPr id="8" name="Shape 6"/>
          <p:cNvSpPr/>
          <p:nvPr/>
        </p:nvSpPr>
        <p:spPr>
          <a:xfrm>
            <a:off x="1572768" y="2404872"/>
            <a:ext cx="0" cy="512064"/>
          </a:xfrm>
          <a:prstGeom prst="line">
            <a:avLst/>
          </a:prstGeom>
          <a:noFill/>
          <a:ln w="15875">
            <a:solidFill>
              <a:srgbClr val="D9D4C9"/>
            </a:solidFill>
            <a:prstDash val="solid"/>
            <a:headEnd type="none"/>
            <a:tailEnd type="triangle"/>
          </a:ln>
        </p:spPr>
      </p:sp>
      <p:sp>
        <p:nvSpPr>
          <p:cNvPr id="9" name="Text 7"/>
          <p:cNvSpPr/>
          <p:nvPr/>
        </p:nvSpPr>
        <p:spPr>
          <a:xfrm>
            <a:off x="822960" y="2971800"/>
            <a:ext cx="2011680" cy="320040"/>
          </a:xfrm>
          <a:prstGeom prst="rect">
            <a:avLst/>
          </a:prstGeom>
          <a:noFill/>
          <a:ln/>
        </p:spPr>
        <p:txBody>
          <a:bodyPr wrap="square" lIns="0" tIns="0" rIns="0" bIns="0" rtlCol="0" anchor="ctr"/>
          <a:lstStyle/>
          <a:p>
            <a:pPr marL="0" indent="0">
              <a:buNone/>
            </a:pPr>
            <a:r>
              <a:rPr lang="en-US" sz="2200" b="1" dirty="0">
                <a:solidFill>
                  <a:srgbClr val="0B95D0"/>
                </a:solidFill>
                <a:latin typeface="Aptos Display" pitchFamily="34" charset="0"/>
                <a:ea typeface="Aptos Display" pitchFamily="34" charset="-122"/>
                <a:cs typeface="Aptos Display" pitchFamily="34" charset="-120"/>
              </a:rPr>
              <a:t>Desarrollo</a:t>
            </a:r>
            <a:endParaRPr lang="en-US" sz="2200" dirty="0"/>
          </a:p>
        </p:txBody>
      </p:sp>
      <p:sp>
        <p:nvSpPr>
          <p:cNvPr id="10" name="Text 8"/>
          <p:cNvSpPr/>
          <p:nvPr/>
        </p:nvSpPr>
        <p:spPr>
          <a:xfrm>
            <a:off x="3108960" y="3008376"/>
            <a:ext cx="7863840" cy="502920"/>
          </a:xfrm>
          <a:prstGeom prst="rect">
            <a:avLst/>
          </a:prstGeom>
          <a:noFill/>
          <a:ln/>
        </p:spPr>
        <p:txBody>
          <a:bodyPr wrap="square" lIns="0" tIns="0" rIns="0" bIns="0" rtlCol="0" anchor="ctr">
            <a:normAutofit/>
          </a:bodyPr>
          <a:lstStyle/>
          <a:p>
            <a:pPr marL="0" indent="0">
              <a:buNone/>
            </a:pPr>
            <a:r>
              <a:rPr lang="en-US" sz="1740" dirty="0">
                <a:solidFill>
                  <a:srgbClr val="1F2937"/>
                </a:solidFill>
                <a:latin typeface="Aptos" pitchFamily="34" charset="0"/>
                <a:ea typeface="Aptos" pitchFamily="34" charset="-122"/>
                <a:cs typeface="Aptos" pitchFamily="34" charset="-120"/>
              </a:rPr>
              <a:t>contenidos esenciales, práctica guiada, análisis de casos y aplicación</a:t>
            </a:r>
            <a:endParaRPr lang="en-US" sz="1740" dirty="0"/>
          </a:p>
        </p:txBody>
      </p:sp>
      <p:sp>
        <p:nvSpPr>
          <p:cNvPr id="11" name="Shape 9"/>
          <p:cNvSpPr/>
          <p:nvPr/>
        </p:nvSpPr>
        <p:spPr>
          <a:xfrm>
            <a:off x="1572768" y="3730752"/>
            <a:ext cx="0" cy="512064"/>
          </a:xfrm>
          <a:prstGeom prst="line">
            <a:avLst/>
          </a:prstGeom>
          <a:noFill/>
          <a:ln w="15875">
            <a:solidFill>
              <a:srgbClr val="D9D4C9"/>
            </a:solidFill>
            <a:prstDash val="solid"/>
            <a:headEnd type="none"/>
            <a:tailEnd type="triangle"/>
          </a:ln>
        </p:spPr>
      </p:sp>
      <p:sp>
        <p:nvSpPr>
          <p:cNvPr id="12" name="Text 10"/>
          <p:cNvSpPr/>
          <p:nvPr/>
        </p:nvSpPr>
        <p:spPr>
          <a:xfrm>
            <a:off x="822960" y="4297680"/>
            <a:ext cx="2011680" cy="320040"/>
          </a:xfrm>
          <a:prstGeom prst="rect">
            <a:avLst/>
          </a:prstGeom>
          <a:noFill/>
          <a:ln/>
        </p:spPr>
        <p:txBody>
          <a:bodyPr wrap="square" lIns="0" tIns="0" rIns="0" bIns="0" rtlCol="0" anchor="ctr"/>
          <a:lstStyle/>
          <a:p>
            <a:pPr marL="0" indent="0">
              <a:buNone/>
            </a:pPr>
            <a:r>
              <a:rPr lang="en-US" sz="2200" b="1" dirty="0">
                <a:solidFill>
                  <a:srgbClr val="D89A2B"/>
                </a:solidFill>
                <a:latin typeface="Aptos Display" pitchFamily="34" charset="0"/>
                <a:ea typeface="Aptos Display" pitchFamily="34" charset="-122"/>
                <a:cs typeface="Aptos Display" pitchFamily="34" charset="-120"/>
              </a:rPr>
              <a:t>Cierre</a:t>
            </a:r>
            <a:endParaRPr lang="en-US" sz="2200" dirty="0"/>
          </a:p>
        </p:txBody>
      </p:sp>
      <p:sp>
        <p:nvSpPr>
          <p:cNvPr id="13" name="Text 11"/>
          <p:cNvSpPr/>
          <p:nvPr/>
        </p:nvSpPr>
        <p:spPr>
          <a:xfrm>
            <a:off x="3108960" y="4334256"/>
            <a:ext cx="7863840" cy="502920"/>
          </a:xfrm>
          <a:prstGeom prst="rect">
            <a:avLst/>
          </a:prstGeom>
          <a:noFill/>
          <a:ln/>
        </p:spPr>
        <p:txBody>
          <a:bodyPr wrap="square" lIns="0" tIns="0" rIns="0" bIns="0" rtlCol="0" anchor="ctr">
            <a:normAutofit/>
          </a:bodyPr>
          <a:lstStyle/>
          <a:p>
            <a:pPr marL="0" indent="0">
              <a:buNone/>
            </a:pPr>
            <a:r>
              <a:rPr lang="en-US" sz="1740" dirty="0">
                <a:solidFill>
                  <a:srgbClr val="1F2937"/>
                </a:solidFill>
                <a:latin typeface="Aptos" pitchFamily="34" charset="0"/>
                <a:ea typeface="Aptos" pitchFamily="34" charset="-122"/>
                <a:cs typeface="Aptos" pitchFamily="34" charset="-120"/>
              </a:rPr>
              <a:t>síntesis, evaluación, retroalimentación y transferencia al territorio</a:t>
            </a:r>
            <a:endParaRPr lang="en-US" sz="1740" dirty="0"/>
          </a:p>
        </p:txBody>
      </p:sp>
      <p:sp>
        <p:nvSpPr>
          <p:cNvPr id="16" name="Text 13"/>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7" name="Text 14"/>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Selección de metodologías y recursos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658368" y="1572768"/>
            <a:ext cx="512064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Criterios de elección</a:t>
            </a:r>
            <a:endParaRPr lang="en-US" sz="1420" dirty="0"/>
          </a:p>
        </p:txBody>
      </p:sp>
      <p:sp>
        <p:nvSpPr>
          <p:cNvPr id="7" name="Text 5"/>
          <p:cNvSpPr/>
          <p:nvPr/>
        </p:nvSpPr>
        <p:spPr>
          <a:xfrm>
            <a:off x="658368" y="1965960"/>
            <a:ext cx="516636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Resultado esperado.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Características del grupo.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Tiempo disponible.</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Recursos disponibles.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Condiciones de conectividad y energía.</a:t>
            </a:r>
            <a:endParaRPr lang="en-US" sz="1630" dirty="0"/>
          </a:p>
        </p:txBody>
      </p:sp>
      <p:sp>
        <p:nvSpPr>
          <p:cNvPr id="8" name="Text 6"/>
          <p:cNvSpPr/>
          <p:nvPr/>
        </p:nvSpPr>
        <p:spPr>
          <a:xfrm>
            <a:off x="6446520" y="1572768"/>
            <a:ext cx="502920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Recursos preferentes</a:t>
            </a:r>
            <a:endParaRPr lang="en-US" sz="1420" dirty="0"/>
          </a:p>
        </p:txBody>
      </p:sp>
      <p:sp>
        <p:nvSpPr>
          <p:cNvPr id="9" name="Text 7"/>
          <p:cNvSpPr/>
          <p:nvPr/>
        </p:nvSpPr>
        <p:spPr>
          <a:xfrm>
            <a:off x="6446520" y="1965960"/>
            <a:ext cx="507492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Guías y fichas ligeras.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Herramientas imprimibles.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K01 La Colmena como hilo conductor.</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Dinámicas de bajo costo.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Alternativas offline.</a:t>
            </a:r>
            <a:endParaRPr lang="en-US" sz="1630" dirty="0"/>
          </a:p>
        </p:txBody>
      </p:sp>
      <p:sp>
        <p:nvSpPr>
          <p:cNvPr id="12" name="Text 9"/>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3" name="Text 10"/>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Enfoques transversales en el diseño</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77240" y="1664208"/>
            <a:ext cx="10424160" cy="3200400"/>
          </a:xfrm>
          <a:prstGeom prst="rect">
            <a:avLst/>
          </a:prstGeom>
          <a:noFill/>
          <a:ln/>
        </p:spPr>
        <p:txBody>
          <a:bodyPr wrap="square" lIns="635" tIns="635" rIns="635" bIns="635" rtlCol="0" anchor="ctr">
            <a:normAutofit/>
          </a:bodyPr>
          <a:lstStyle/>
          <a:p>
            <a:pPr marL="0" indent="0">
              <a:buNone/>
            </a:pPr>
            <a:r>
              <a:rPr lang="en-US" sz="1700" dirty="0">
                <a:solidFill>
                  <a:srgbClr val="1F2937"/>
                </a:solidFill>
                <a:latin typeface="Aptos" pitchFamily="34" charset="0"/>
                <a:ea typeface="Aptos" pitchFamily="34" charset="-122"/>
                <a:cs typeface="Aptos" pitchFamily="34" charset="-120"/>
              </a:rPr>
              <a:t>▸ Género: participación equilibrada, liderazgo femenino y reducción de barreras.</a:t>
            </a:r>
            <a:endParaRPr lang="en-US" sz="1700" dirty="0"/>
          </a:p>
          <a:p>
            <a:pPr marL="0" indent="0">
              <a:buNone/>
            </a:pPr>
            <a:r>
              <a:rPr lang="en-US" sz="1700" dirty="0">
                <a:solidFill>
                  <a:srgbClr val="1F2937"/>
                </a:solidFill>
                <a:latin typeface="Aptos" pitchFamily="34" charset="0"/>
                <a:ea typeface="Aptos" pitchFamily="34" charset="-122"/>
                <a:cs typeface="Aptos" pitchFamily="34" charset="-120"/>
              </a:rPr>
              <a:t>▸ Inclusión: accesibilidad, diversidad de experiencias y lenguaje inclusivo.</a:t>
            </a:r>
            <a:endParaRPr lang="en-US" sz="1700" dirty="0"/>
          </a:p>
          <a:p>
            <a:pPr marL="0" indent="0">
              <a:buNone/>
            </a:pPr>
            <a:r>
              <a:rPr lang="en-US" sz="1700" dirty="0">
                <a:solidFill>
                  <a:srgbClr val="1F2937"/>
                </a:solidFill>
                <a:latin typeface="Aptos" pitchFamily="34" charset="0"/>
                <a:ea typeface="Aptos" pitchFamily="34" charset="-122"/>
                <a:cs typeface="Aptos" pitchFamily="34" charset="-120"/>
              </a:rPr>
              <a:t>▸ Sostenibilidad: criterios económicos, sociales y ambientales en ejemplos y decisiones.</a:t>
            </a:r>
            <a:endParaRPr lang="en-US" sz="1700" dirty="0"/>
          </a:p>
          <a:p>
            <a:pPr marL="0" indent="0">
              <a:buNone/>
            </a:pPr>
            <a:r>
              <a:rPr lang="en-US" sz="1700" dirty="0">
                <a:solidFill>
                  <a:srgbClr val="1F2937"/>
                </a:solidFill>
                <a:latin typeface="Aptos" pitchFamily="34" charset="0"/>
                <a:ea typeface="Aptos" pitchFamily="34" charset="-122"/>
                <a:cs typeface="Aptos" pitchFamily="34" charset="-120"/>
              </a:rPr>
              <a:t>▸ Territorio: casos y recursos ajustados a condiciones reales de las provincias.</a:t>
            </a:r>
            <a:endParaRPr lang="en-US" sz="1700" dirty="0"/>
          </a:p>
        </p:txBody>
      </p:sp>
      <p:sp>
        <p:nvSpPr>
          <p:cNvPr id="7" name="Text 5"/>
          <p:cNvSpPr/>
          <p:nvPr/>
        </p:nvSpPr>
        <p:spPr>
          <a:xfrm>
            <a:off x="868680" y="4983480"/>
            <a:ext cx="10241280" cy="502920"/>
          </a:xfrm>
          <a:prstGeom prst="rect">
            <a:avLst/>
          </a:prstGeom>
          <a:noFill/>
          <a:ln/>
        </p:spPr>
        <p:txBody>
          <a:bodyPr wrap="square" lIns="0" tIns="0" rIns="0" bIns="0" rtlCol="0" anchor="ctr"/>
          <a:lstStyle/>
          <a:p>
            <a:pPr marL="0" indent="0" algn="ctr">
              <a:buNone/>
            </a:pPr>
            <a:r>
              <a:rPr lang="en-US" sz="2050" dirty="0">
                <a:solidFill>
                  <a:srgbClr val="002E54"/>
                </a:solidFill>
                <a:latin typeface="Aptos Display" pitchFamily="34" charset="0"/>
                <a:ea typeface="Aptos Display" pitchFamily="34" charset="-122"/>
                <a:cs typeface="Aptos Display" pitchFamily="34" charset="-120"/>
              </a:rPr>
              <a:t>Integrar también innovación viable y ética: consentimiento, confidencialidad y uso responsable de información en actividades y materiales.</a:t>
            </a:r>
            <a:endParaRPr lang="en-US" sz="2050" dirty="0"/>
          </a:p>
        </p:txBody>
      </p:sp>
      <p:sp>
        <p:nvSpPr>
          <p:cNvPr id="10" name="Text 7"/>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1" name="Text 8"/>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Matriz de alineación formativa</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85800" y="1600200"/>
            <a:ext cx="1554480" cy="658368"/>
          </a:xfrm>
          <a:prstGeom prst="rect">
            <a:avLst/>
          </a:prstGeom>
          <a:solidFill>
            <a:srgbClr val="002E54"/>
          </a:solidFill>
          <a:ln w="6350">
            <a:solidFill>
              <a:srgbClr val="D6D6D6"/>
            </a:solidFill>
            <a:prstDash val="solid"/>
          </a:ln>
        </p:spPr>
      </p:sp>
      <p:sp>
        <p:nvSpPr>
          <p:cNvPr id="7" name="Text 5"/>
          <p:cNvSpPr/>
          <p:nvPr/>
        </p:nvSpPr>
        <p:spPr>
          <a:xfrm>
            <a:off x="740664" y="1664208"/>
            <a:ext cx="1444752" cy="548640"/>
          </a:xfrm>
          <a:prstGeom prst="rect">
            <a:avLst/>
          </a:prstGeom>
          <a:noFill/>
          <a:ln/>
        </p:spPr>
        <p:txBody>
          <a:bodyPr wrap="square" lIns="0" tIns="0" rIns="0" bIns="0" rtlCol="0" anchor="ctr">
            <a:normAutofit/>
          </a:bodyPr>
          <a:lstStyle/>
          <a:p>
            <a:pPr marL="0" indent="0" algn="ctr">
              <a:buNone/>
            </a:pPr>
            <a:r>
              <a:rPr lang="en-US" sz="1270" b="1" dirty="0">
                <a:solidFill>
                  <a:srgbClr val="FFFFFF"/>
                </a:solidFill>
                <a:latin typeface="Aptos" pitchFamily="34" charset="0"/>
                <a:ea typeface="Aptos" pitchFamily="34" charset="-122"/>
                <a:cs typeface="Aptos" pitchFamily="34" charset="-120"/>
              </a:rPr>
              <a:t>Competencia</a:t>
            </a:r>
            <a:endParaRPr lang="en-US" sz="1270" dirty="0"/>
          </a:p>
        </p:txBody>
      </p:sp>
      <p:sp>
        <p:nvSpPr>
          <p:cNvPr id="8" name="Shape 6"/>
          <p:cNvSpPr/>
          <p:nvPr/>
        </p:nvSpPr>
        <p:spPr>
          <a:xfrm>
            <a:off x="2240280" y="1600200"/>
            <a:ext cx="2423160" cy="658368"/>
          </a:xfrm>
          <a:prstGeom prst="rect">
            <a:avLst/>
          </a:prstGeom>
          <a:solidFill>
            <a:srgbClr val="002E54"/>
          </a:solidFill>
          <a:ln w="6350">
            <a:solidFill>
              <a:srgbClr val="D6D6D6"/>
            </a:solidFill>
            <a:prstDash val="solid"/>
          </a:ln>
        </p:spPr>
      </p:sp>
      <p:sp>
        <p:nvSpPr>
          <p:cNvPr id="9" name="Text 7"/>
          <p:cNvSpPr/>
          <p:nvPr/>
        </p:nvSpPr>
        <p:spPr>
          <a:xfrm>
            <a:off x="2295144" y="1664208"/>
            <a:ext cx="2313432" cy="548640"/>
          </a:xfrm>
          <a:prstGeom prst="rect">
            <a:avLst/>
          </a:prstGeom>
          <a:noFill/>
          <a:ln/>
        </p:spPr>
        <p:txBody>
          <a:bodyPr wrap="square" lIns="0" tIns="0" rIns="0" bIns="0" rtlCol="0" anchor="ctr">
            <a:normAutofit/>
          </a:bodyPr>
          <a:lstStyle/>
          <a:p>
            <a:pPr marL="0" indent="0" algn="ctr">
              <a:buNone/>
            </a:pPr>
            <a:r>
              <a:rPr lang="en-US" sz="1270" b="1" dirty="0">
                <a:solidFill>
                  <a:srgbClr val="FFFFFF"/>
                </a:solidFill>
                <a:latin typeface="Aptos" pitchFamily="34" charset="0"/>
                <a:ea typeface="Aptos" pitchFamily="34" charset="-122"/>
                <a:cs typeface="Aptos" pitchFamily="34" charset="-120"/>
              </a:rPr>
              <a:t>Resultado</a:t>
            </a:r>
            <a:endParaRPr lang="en-US" sz="1270" dirty="0"/>
          </a:p>
        </p:txBody>
      </p:sp>
      <p:sp>
        <p:nvSpPr>
          <p:cNvPr id="10" name="Shape 8"/>
          <p:cNvSpPr/>
          <p:nvPr/>
        </p:nvSpPr>
        <p:spPr>
          <a:xfrm>
            <a:off x="4663440" y="1600200"/>
            <a:ext cx="2331720" cy="658368"/>
          </a:xfrm>
          <a:prstGeom prst="rect">
            <a:avLst/>
          </a:prstGeom>
          <a:solidFill>
            <a:srgbClr val="002E54"/>
          </a:solidFill>
          <a:ln w="6350">
            <a:solidFill>
              <a:srgbClr val="D6D6D6"/>
            </a:solidFill>
            <a:prstDash val="solid"/>
          </a:ln>
        </p:spPr>
      </p:sp>
      <p:sp>
        <p:nvSpPr>
          <p:cNvPr id="11" name="Text 9"/>
          <p:cNvSpPr/>
          <p:nvPr/>
        </p:nvSpPr>
        <p:spPr>
          <a:xfrm>
            <a:off x="4718304" y="1664208"/>
            <a:ext cx="2221992" cy="548640"/>
          </a:xfrm>
          <a:prstGeom prst="rect">
            <a:avLst/>
          </a:prstGeom>
          <a:noFill/>
          <a:ln/>
        </p:spPr>
        <p:txBody>
          <a:bodyPr wrap="square" lIns="0" tIns="0" rIns="0" bIns="0" rtlCol="0" anchor="ctr">
            <a:normAutofit/>
          </a:bodyPr>
          <a:lstStyle/>
          <a:p>
            <a:pPr marL="0" indent="0" algn="ctr">
              <a:buNone/>
            </a:pPr>
            <a:r>
              <a:rPr lang="en-US" sz="1270" b="1" dirty="0">
                <a:solidFill>
                  <a:srgbClr val="FFFFFF"/>
                </a:solidFill>
                <a:latin typeface="Aptos" pitchFamily="34" charset="0"/>
                <a:ea typeface="Aptos" pitchFamily="34" charset="-122"/>
                <a:cs typeface="Aptos" pitchFamily="34" charset="-120"/>
              </a:rPr>
              <a:t>Actividad / recurso</a:t>
            </a:r>
            <a:endParaRPr lang="en-US" sz="1270" dirty="0"/>
          </a:p>
        </p:txBody>
      </p:sp>
      <p:sp>
        <p:nvSpPr>
          <p:cNvPr id="12" name="Shape 10"/>
          <p:cNvSpPr/>
          <p:nvPr/>
        </p:nvSpPr>
        <p:spPr>
          <a:xfrm>
            <a:off x="6995160" y="1600200"/>
            <a:ext cx="2148840" cy="658368"/>
          </a:xfrm>
          <a:prstGeom prst="rect">
            <a:avLst/>
          </a:prstGeom>
          <a:solidFill>
            <a:srgbClr val="002E54"/>
          </a:solidFill>
          <a:ln w="6350">
            <a:solidFill>
              <a:srgbClr val="D6D6D6"/>
            </a:solidFill>
            <a:prstDash val="solid"/>
          </a:ln>
        </p:spPr>
      </p:sp>
      <p:sp>
        <p:nvSpPr>
          <p:cNvPr id="13" name="Text 11"/>
          <p:cNvSpPr/>
          <p:nvPr/>
        </p:nvSpPr>
        <p:spPr>
          <a:xfrm>
            <a:off x="7050024" y="1664208"/>
            <a:ext cx="2039112" cy="548640"/>
          </a:xfrm>
          <a:prstGeom prst="rect">
            <a:avLst/>
          </a:prstGeom>
          <a:noFill/>
          <a:ln/>
        </p:spPr>
        <p:txBody>
          <a:bodyPr wrap="square" lIns="0" tIns="0" rIns="0" bIns="0" rtlCol="0" anchor="ctr">
            <a:normAutofit/>
          </a:bodyPr>
          <a:lstStyle/>
          <a:p>
            <a:pPr marL="0" indent="0" algn="ctr">
              <a:buNone/>
            </a:pPr>
            <a:r>
              <a:rPr lang="en-US" sz="1270" b="1" dirty="0">
                <a:solidFill>
                  <a:srgbClr val="FFFFFF"/>
                </a:solidFill>
                <a:latin typeface="Aptos" pitchFamily="34" charset="0"/>
                <a:ea typeface="Aptos" pitchFamily="34" charset="-122"/>
                <a:cs typeface="Aptos" pitchFamily="34" charset="-120"/>
              </a:rPr>
              <a:t>Evidencia</a:t>
            </a:r>
            <a:endParaRPr lang="en-US" sz="1270" dirty="0"/>
          </a:p>
        </p:txBody>
      </p:sp>
      <p:sp>
        <p:nvSpPr>
          <p:cNvPr id="14" name="Shape 12"/>
          <p:cNvSpPr/>
          <p:nvPr/>
        </p:nvSpPr>
        <p:spPr>
          <a:xfrm>
            <a:off x="9144000" y="1600200"/>
            <a:ext cx="2331720" cy="658368"/>
          </a:xfrm>
          <a:prstGeom prst="rect">
            <a:avLst/>
          </a:prstGeom>
          <a:solidFill>
            <a:srgbClr val="002E54"/>
          </a:solidFill>
          <a:ln w="6350">
            <a:solidFill>
              <a:srgbClr val="D6D6D6"/>
            </a:solidFill>
            <a:prstDash val="solid"/>
          </a:ln>
        </p:spPr>
      </p:sp>
      <p:sp>
        <p:nvSpPr>
          <p:cNvPr id="15" name="Text 13"/>
          <p:cNvSpPr/>
          <p:nvPr/>
        </p:nvSpPr>
        <p:spPr>
          <a:xfrm>
            <a:off x="9198864" y="1664208"/>
            <a:ext cx="2221992" cy="548640"/>
          </a:xfrm>
          <a:prstGeom prst="rect">
            <a:avLst/>
          </a:prstGeom>
          <a:noFill/>
          <a:ln/>
        </p:spPr>
        <p:txBody>
          <a:bodyPr wrap="square" lIns="0" tIns="0" rIns="0" bIns="0" rtlCol="0" anchor="ctr">
            <a:normAutofit/>
          </a:bodyPr>
          <a:lstStyle/>
          <a:p>
            <a:pPr marL="0" indent="0" algn="ctr">
              <a:buNone/>
            </a:pPr>
            <a:r>
              <a:rPr lang="en-US" sz="1270" b="1" dirty="0">
                <a:solidFill>
                  <a:srgbClr val="FFFFFF"/>
                </a:solidFill>
                <a:latin typeface="Aptos" pitchFamily="34" charset="0"/>
                <a:ea typeface="Aptos" pitchFamily="34" charset="-122"/>
                <a:cs typeface="Aptos" pitchFamily="34" charset="-120"/>
              </a:rPr>
              <a:t>Criterio</a:t>
            </a:r>
            <a:endParaRPr lang="en-US" sz="1270" dirty="0"/>
          </a:p>
        </p:txBody>
      </p:sp>
      <p:sp>
        <p:nvSpPr>
          <p:cNvPr id="16" name="Shape 14"/>
          <p:cNvSpPr/>
          <p:nvPr/>
        </p:nvSpPr>
        <p:spPr>
          <a:xfrm>
            <a:off x="685800" y="2258568"/>
            <a:ext cx="1554480" cy="658368"/>
          </a:xfrm>
          <a:prstGeom prst="rect">
            <a:avLst/>
          </a:prstGeom>
          <a:solidFill>
            <a:srgbClr val="FFFFFF"/>
          </a:solidFill>
          <a:ln w="6350">
            <a:solidFill>
              <a:srgbClr val="D6D6D6"/>
            </a:solidFill>
            <a:prstDash val="solid"/>
          </a:ln>
        </p:spPr>
      </p:sp>
      <p:sp>
        <p:nvSpPr>
          <p:cNvPr id="17" name="Text 15"/>
          <p:cNvSpPr/>
          <p:nvPr/>
        </p:nvSpPr>
        <p:spPr>
          <a:xfrm>
            <a:off x="740664" y="2322576"/>
            <a:ext cx="144475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C2</a:t>
            </a:r>
            <a:endParaRPr lang="en-US" sz="1270" dirty="0"/>
          </a:p>
        </p:txBody>
      </p:sp>
      <p:sp>
        <p:nvSpPr>
          <p:cNvPr id="18" name="Shape 16"/>
          <p:cNvSpPr/>
          <p:nvPr/>
        </p:nvSpPr>
        <p:spPr>
          <a:xfrm>
            <a:off x="2240280" y="2258568"/>
            <a:ext cx="2423160" cy="658368"/>
          </a:xfrm>
          <a:prstGeom prst="rect">
            <a:avLst/>
          </a:prstGeom>
          <a:solidFill>
            <a:srgbClr val="FFFFFF"/>
          </a:solidFill>
          <a:ln w="6350">
            <a:solidFill>
              <a:srgbClr val="D6D6D6"/>
            </a:solidFill>
            <a:prstDash val="solid"/>
          </a:ln>
        </p:spPr>
      </p:sp>
      <p:sp>
        <p:nvSpPr>
          <p:cNvPr id="19" name="Text 17"/>
          <p:cNvSpPr/>
          <p:nvPr/>
        </p:nvSpPr>
        <p:spPr>
          <a:xfrm>
            <a:off x="2295144" y="2322576"/>
            <a:ext cx="231343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Diseña una sesión</a:t>
            </a:r>
            <a:endParaRPr lang="en-US" sz="1270" dirty="0"/>
          </a:p>
        </p:txBody>
      </p:sp>
      <p:sp>
        <p:nvSpPr>
          <p:cNvPr id="20" name="Shape 18"/>
          <p:cNvSpPr/>
          <p:nvPr/>
        </p:nvSpPr>
        <p:spPr>
          <a:xfrm>
            <a:off x="4663440" y="2258568"/>
            <a:ext cx="2331720" cy="658368"/>
          </a:xfrm>
          <a:prstGeom prst="rect">
            <a:avLst/>
          </a:prstGeom>
          <a:solidFill>
            <a:srgbClr val="FFFFFF"/>
          </a:solidFill>
          <a:ln w="6350">
            <a:solidFill>
              <a:srgbClr val="D6D6D6"/>
            </a:solidFill>
            <a:prstDash val="solid"/>
          </a:ln>
        </p:spPr>
      </p:sp>
      <p:sp>
        <p:nvSpPr>
          <p:cNvPr id="21" name="Text 19"/>
          <p:cNvSpPr/>
          <p:nvPr/>
        </p:nvSpPr>
        <p:spPr>
          <a:xfrm>
            <a:off x="4718304" y="2322576"/>
            <a:ext cx="222199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Diseño con K01</a:t>
            </a:r>
            <a:endParaRPr lang="en-US" sz="1270" dirty="0"/>
          </a:p>
        </p:txBody>
      </p:sp>
      <p:sp>
        <p:nvSpPr>
          <p:cNvPr id="22" name="Shape 20"/>
          <p:cNvSpPr/>
          <p:nvPr/>
        </p:nvSpPr>
        <p:spPr>
          <a:xfrm>
            <a:off x="6995160" y="2258568"/>
            <a:ext cx="2148840" cy="658368"/>
          </a:xfrm>
          <a:prstGeom prst="rect">
            <a:avLst/>
          </a:prstGeom>
          <a:solidFill>
            <a:srgbClr val="FFFFFF"/>
          </a:solidFill>
          <a:ln w="6350">
            <a:solidFill>
              <a:srgbClr val="D6D6D6"/>
            </a:solidFill>
            <a:prstDash val="solid"/>
          </a:ln>
        </p:spPr>
      </p:sp>
      <p:sp>
        <p:nvSpPr>
          <p:cNvPr id="23" name="Text 21"/>
          <p:cNvSpPr/>
          <p:nvPr/>
        </p:nvSpPr>
        <p:spPr>
          <a:xfrm>
            <a:off x="7050024" y="2322576"/>
            <a:ext cx="203911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Guía de sesión</a:t>
            </a:r>
            <a:endParaRPr lang="en-US" sz="1270" dirty="0"/>
          </a:p>
        </p:txBody>
      </p:sp>
      <p:sp>
        <p:nvSpPr>
          <p:cNvPr id="24" name="Shape 22"/>
          <p:cNvSpPr/>
          <p:nvPr/>
        </p:nvSpPr>
        <p:spPr>
          <a:xfrm>
            <a:off x="9144000" y="2258568"/>
            <a:ext cx="2331720" cy="658368"/>
          </a:xfrm>
          <a:prstGeom prst="rect">
            <a:avLst/>
          </a:prstGeom>
          <a:solidFill>
            <a:srgbClr val="FFFFFF"/>
          </a:solidFill>
          <a:ln w="6350">
            <a:solidFill>
              <a:srgbClr val="D6D6D6"/>
            </a:solidFill>
            <a:prstDash val="solid"/>
          </a:ln>
        </p:spPr>
      </p:sp>
      <p:sp>
        <p:nvSpPr>
          <p:cNvPr id="25" name="Text 23"/>
          <p:cNvSpPr/>
          <p:nvPr/>
        </p:nvSpPr>
        <p:spPr>
          <a:xfrm>
            <a:off x="9198864" y="2322576"/>
            <a:ext cx="222199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Coherencia</a:t>
            </a:r>
            <a:endParaRPr lang="en-US" sz="1270" dirty="0"/>
          </a:p>
        </p:txBody>
      </p:sp>
      <p:sp>
        <p:nvSpPr>
          <p:cNvPr id="26" name="Shape 24"/>
          <p:cNvSpPr/>
          <p:nvPr/>
        </p:nvSpPr>
        <p:spPr>
          <a:xfrm>
            <a:off x="685800" y="2916936"/>
            <a:ext cx="1554480" cy="658368"/>
          </a:xfrm>
          <a:prstGeom prst="rect">
            <a:avLst/>
          </a:prstGeom>
          <a:solidFill>
            <a:srgbClr val="FFFFFF"/>
          </a:solidFill>
          <a:ln w="6350">
            <a:solidFill>
              <a:srgbClr val="D6D6D6"/>
            </a:solidFill>
            <a:prstDash val="solid"/>
          </a:ln>
        </p:spPr>
      </p:sp>
      <p:sp>
        <p:nvSpPr>
          <p:cNvPr id="27" name="Text 25"/>
          <p:cNvSpPr/>
          <p:nvPr/>
        </p:nvSpPr>
        <p:spPr>
          <a:xfrm>
            <a:off x="740664" y="2980944"/>
            <a:ext cx="144475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C3</a:t>
            </a:r>
            <a:endParaRPr lang="en-US" sz="1270" dirty="0"/>
          </a:p>
        </p:txBody>
      </p:sp>
      <p:sp>
        <p:nvSpPr>
          <p:cNvPr id="28" name="Shape 26"/>
          <p:cNvSpPr/>
          <p:nvPr/>
        </p:nvSpPr>
        <p:spPr>
          <a:xfrm>
            <a:off x="2240280" y="2916936"/>
            <a:ext cx="2423160" cy="658368"/>
          </a:xfrm>
          <a:prstGeom prst="rect">
            <a:avLst/>
          </a:prstGeom>
          <a:solidFill>
            <a:srgbClr val="FFFFFF"/>
          </a:solidFill>
          <a:ln w="6350">
            <a:solidFill>
              <a:srgbClr val="D6D6D6"/>
            </a:solidFill>
            <a:prstDash val="solid"/>
          </a:ln>
        </p:spPr>
      </p:sp>
      <p:sp>
        <p:nvSpPr>
          <p:cNvPr id="29" name="Text 27"/>
          <p:cNvSpPr/>
          <p:nvPr/>
        </p:nvSpPr>
        <p:spPr>
          <a:xfrm>
            <a:off x="2295144" y="2980944"/>
            <a:ext cx="231343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Facilita aprendizaje activo</a:t>
            </a:r>
            <a:endParaRPr lang="en-US" sz="1270" dirty="0"/>
          </a:p>
        </p:txBody>
      </p:sp>
      <p:sp>
        <p:nvSpPr>
          <p:cNvPr id="30" name="Shape 28"/>
          <p:cNvSpPr/>
          <p:nvPr/>
        </p:nvSpPr>
        <p:spPr>
          <a:xfrm>
            <a:off x="4663440" y="2916936"/>
            <a:ext cx="2331720" cy="658368"/>
          </a:xfrm>
          <a:prstGeom prst="rect">
            <a:avLst/>
          </a:prstGeom>
          <a:solidFill>
            <a:srgbClr val="FFFFFF"/>
          </a:solidFill>
          <a:ln w="6350">
            <a:solidFill>
              <a:srgbClr val="D6D6D6"/>
            </a:solidFill>
            <a:prstDash val="solid"/>
          </a:ln>
        </p:spPr>
      </p:sp>
      <p:sp>
        <p:nvSpPr>
          <p:cNvPr id="31" name="Text 29"/>
          <p:cNvSpPr/>
          <p:nvPr/>
        </p:nvSpPr>
        <p:spPr>
          <a:xfrm>
            <a:off x="4718304" y="2980944"/>
            <a:ext cx="222199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Microfacilitación con K01</a:t>
            </a:r>
            <a:endParaRPr lang="en-US" sz="1270" dirty="0"/>
          </a:p>
        </p:txBody>
      </p:sp>
      <p:sp>
        <p:nvSpPr>
          <p:cNvPr id="32" name="Shape 30"/>
          <p:cNvSpPr/>
          <p:nvPr/>
        </p:nvSpPr>
        <p:spPr>
          <a:xfrm>
            <a:off x="6995160" y="2916936"/>
            <a:ext cx="2148840" cy="658368"/>
          </a:xfrm>
          <a:prstGeom prst="rect">
            <a:avLst/>
          </a:prstGeom>
          <a:solidFill>
            <a:srgbClr val="FFFFFF"/>
          </a:solidFill>
          <a:ln w="6350">
            <a:solidFill>
              <a:srgbClr val="D6D6D6"/>
            </a:solidFill>
            <a:prstDash val="solid"/>
          </a:ln>
        </p:spPr>
      </p:sp>
      <p:sp>
        <p:nvSpPr>
          <p:cNvPr id="33" name="Text 31"/>
          <p:cNvSpPr/>
          <p:nvPr/>
        </p:nvSpPr>
        <p:spPr>
          <a:xfrm>
            <a:off x="7050024" y="2980944"/>
            <a:ext cx="203911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Observación</a:t>
            </a:r>
            <a:endParaRPr lang="en-US" sz="1270" dirty="0"/>
          </a:p>
        </p:txBody>
      </p:sp>
      <p:sp>
        <p:nvSpPr>
          <p:cNvPr id="34" name="Shape 32"/>
          <p:cNvSpPr/>
          <p:nvPr/>
        </p:nvSpPr>
        <p:spPr>
          <a:xfrm>
            <a:off x="9144000" y="2916936"/>
            <a:ext cx="2331720" cy="658368"/>
          </a:xfrm>
          <a:prstGeom prst="rect">
            <a:avLst/>
          </a:prstGeom>
          <a:solidFill>
            <a:srgbClr val="FFFFFF"/>
          </a:solidFill>
          <a:ln w="6350">
            <a:solidFill>
              <a:srgbClr val="D6D6D6"/>
            </a:solidFill>
            <a:prstDash val="solid"/>
          </a:ln>
        </p:spPr>
      </p:sp>
      <p:sp>
        <p:nvSpPr>
          <p:cNvPr id="35" name="Text 33"/>
          <p:cNvSpPr/>
          <p:nvPr/>
        </p:nvSpPr>
        <p:spPr>
          <a:xfrm>
            <a:off x="9198864" y="2980944"/>
            <a:ext cx="222199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Aprendizaje y participación</a:t>
            </a:r>
            <a:endParaRPr lang="en-US" sz="1270" dirty="0"/>
          </a:p>
        </p:txBody>
      </p:sp>
      <p:sp>
        <p:nvSpPr>
          <p:cNvPr id="36" name="Shape 34"/>
          <p:cNvSpPr/>
          <p:nvPr/>
        </p:nvSpPr>
        <p:spPr>
          <a:xfrm>
            <a:off x="685800" y="3575304"/>
            <a:ext cx="1554480" cy="658368"/>
          </a:xfrm>
          <a:prstGeom prst="rect">
            <a:avLst/>
          </a:prstGeom>
          <a:solidFill>
            <a:srgbClr val="FFFFFF"/>
          </a:solidFill>
          <a:ln w="6350">
            <a:solidFill>
              <a:srgbClr val="D6D6D6"/>
            </a:solidFill>
            <a:prstDash val="solid"/>
          </a:ln>
        </p:spPr>
      </p:sp>
      <p:sp>
        <p:nvSpPr>
          <p:cNvPr id="37" name="Text 35"/>
          <p:cNvSpPr/>
          <p:nvPr/>
        </p:nvSpPr>
        <p:spPr>
          <a:xfrm>
            <a:off x="740664" y="3639312"/>
            <a:ext cx="144475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C4</a:t>
            </a:r>
            <a:endParaRPr lang="en-US" sz="1270" dirty="0"/>
          </a:p>
        </p:txBody>
      </p:sp>
      <p:sp>
        <p:nvSpPr>
          <p:cNvPr id="38" name="Shape 36"/>
          <p:cNvSpPr/>
          <p:nvPr/>
        </p:nvSpPr>
        <p:spPr>
          <a:xfrm>
            <a:off x="2240280" y="3575304"/>
            <a:ext cx="2423160" cy="658368"/>
          </a:xfrm>
          <a:prstGeom prst="rect">
            <a:avLst/>
          </a:prstGeom>
          <a:solidFill>
            <a:srgbClr val="FFFFFF"/>
          </a:solidFill>
          <a:ln w="6350">
            <a:solidFill>
              <a:srgbClr val="D6D6D6"/>
            </a:solidFill>
            <a:prstDash val="solid"/>
          </a:ln>
        </p:spPr>
      </p:sp>
      <p:sp>
        <p:nvSpPr>
          <p:cNvPr id="39" name="Text 37"/>
          <p:cNvSpPr/>
          <p:nvPr/>
        </p:nvSpPr>
        <p:spPr>
          <a:xfrm>
            <a:off x="2295144" y="3639312"/>
            <a:ext cx="231343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Evalúa y retroalimenta</a:t>
            </a:r>
            <a:endParaRPr lang="en-US" sz="1270" dirty="0"/>
          </a:p>
        </p:txBody>
      </p:sp>
      <p:sp>
        <p:nvSpPr>
          <p:cNvPr id="40" name="Shape 38"/>
          <p:cNvSpPr/>
          <p:nvPr/>
        </p:nvSpPr>
        <p:spPr>
          <a:xfrm>
            <a:off x="4663440" y="3575304"/>
            <a:ext cx="2331720" cy="658368"/>
          </a:xfrm>
          <a:prstGeom prst="rect">
            <a:avLst/>
          </a:prstGeom>
          <a:solidFill>
            <a:srgbClr val="FFFFFF"/>
          </a:solidFill>
          <a:ln w="6350">
            <a:solidFill>
              <a:srgbClr val="D6D6D6"/>
            </a:solidFill>
            <a:prstDash val="solid"/>
          </a:ln>
        </p:spPr>
      </p:sp>
      <p:sp>
        <p:nvSpPr>
          <p:cNvPr id="41" name="Text 39"/>
          <p:cNvSpPr/>
          <p:nvPr/>
        </p:nvSpPr>
        <p:spPr>
          <a:xfrm>
            <a:off x="4718304" y="3639312"/>
            <a:ext cx="222199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Valorar la práctica</a:t>
            </a:r>
            <a:endParaRPr lang="en-US" sz="1270" dirty="0"/>
          </a:p>
        </p:txBody>
      </p:sp>
      <p:sp>
        <p:nvSpPr>
          <p:cNvPr id="42" name="Shape 40"/>
          <p:cNvSpPr/>
          <p:nvPr/>
        </p:nvSpPr>
        <p:spPr>
          <a:xfrm>
            <a:off x="6995160" y="3575304"/>
            <a:ext cx="2148840" cy="658368"/>
          </a:xfrm>
          <a:prstGeom prst="rect">
            <a:avLst/>
          </a:prstGeom>
          <a:solidFill>
            <a:srgbClr val="FFFFFF"/>
          </a:solidFill>
          <a:ln w="6350">
            <a:solidFill>
              <a:srgbClr val="D6D6D6"/>
            </a:solidFill>
            <a:prstDash val="solid"/>
          </a:ln>
        </p:spPr>
      </p:sp>
      <p:sp>
        <p:nvSpPr>
          <p:cNvPr id="43" name="Text 41"/>
          <p:cNvSpPr/>
          <p:nvPr/>
        </p:nvSpPr>
        <p:spPr>
          <a:xfrm>
            <a:off x="7050024" y="3639312"/>
            <a:ext cx="203911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Registro</a:t>
            </a:r>
            <a:endParaRPr lang="en-US" sz="1270" dirty="0"/>
          </a:p>
        </p:txBody>
      </p:sp>
      <p:sp>
        <p:nvSpPr>
          <p:cNvPr id="44" name="Shape 42"/>
          <p:cNvSpPr/>
          <p:nvPr/>
        </p:nvSpPr>
        <p:spPr>
          <a:xfrm>
            <a:off x="9144000" y="3575304"/>
            <a:ext cx="2331720" cy="658368"/>
          </a:xfrm>
          <a:prstGeom prst="rect">
            <a:avLst/>
          </a:prstGeom>
          <a:solidFill>
            <a:srgbClr val="FFFFFF"/>
          </a:solidFill>
          <a:ln w="6350">
            <a:solidFill>
              <a:srgbClr val="D6D6D6"/>
            </a:solidFill>
            <a:prstDash val="solid"/>
          </a:ln>
        </p:spPr>
      </p:sp>
      <p:sp>
        <p:nvSpPr>
          <p:cNvPr id="45" name="Text 43"/>
          <p:cNvSpPr/>
          <p:nvPr/>
        </p:nvSpPr>
        <p:spPr>
          <a:xfrm>
            <a:off x="9198864" y="3639312"/>
            <a:ext cx="2221992" cy="548640"/>
          </a:xfrm>
          <a:prstGeom prst="rect">
            <a:avLst/>
          </a:prstGeom>
          <a:noFill/>
          <a:ln/>
        </p:spPr>
        <p:txBody>
          <a:bodyPr wrap="square" lIns="0" tIns="0" rIns="0" bIns="0" rtlCol="0" anchor="ctr">
            <a:normAutofit/>
          </a:bodyPr>
          <a:lstStyle/>
          <a:p>
            <a:pPr marL="0" indent="0" algn="ctr">
              <a:buNone/>
            </a:pPr>
            <a:r>
              <a:rPr lang="en-US" sz="1270" dirty="0">
                <a:solidFill>
                  <a:srgbClr val="1F2937"/>
                </a:solidFill>
                <a:latin typeface="Aptos" pitchFamily="34" charset="0"/>
                <a:ea typeface="Aptos" pitchFamily="34" charset="-122"/>
                <a:cs typeface="Aptos" pitchFamily="34" charset="-120"/>
              </a:rPr>
              <a:t>Mejora</a:t>
            </a:r>
            <a:endParaRPr lang="en-US" sz="1270" dirty="0"/>
          </a:p>
        </p:txBody>
      </p:sp>
      <p:sp>
        <p:nvSpPr>
          <p:cNvPr id="46" name="Text 44"/>
          <p:cNvSpPr/>
          <p:nvPr/>
        </p:nvSpPr>
        <p:spPr>
          <a:xfrm>
            <a:off x="914400" y="5074920"/>
            <a:ext cx="10058400" cy="329184"/>
          </a:xfrm>
          <a:prstGeom prst="rect">
            <a:avLst/>
          </a:prstGeom>
          <a:noFill/>
          <a:ln/>
        </p:spPr>
        <p:txBody>
          <a:bodyPr wrap="square" lIns="0" tIns="0" rIns="0" bIns="0" rtlCol="0" anchor="ctr"/>
          <a:lstStyle/>
          <a:p>
            <a:pPr marL="0" indent="0" algn="ctr">
              <a:buNone/>
            </a:pPr>
            <a:r>
              <a:rPr lang="en-US" sz="2000" dirty="0">
                <a:solidFill>
                  <a:srgbClr val="002E54"/>
                </a:solidFill>
                <a:latin typeface="Aptos Display" pitchFamily="34" charset="0"/>
                <a:ea typeface="Aptos Display" pitchFamily="34" charset="-122"/>
                <a:cs typeface="Aptos Display" pitchFamily="34" charset="-120"/>
              </a:rPr>
              <a:t>Alinear competencia → resultado → actividad → herramienta/recurso → evidencia → criterio. En M1, K01 apoya la práctica.</a:t>
            </a:r>
            <a:endParaRPr lang="en-US" sz="2000" dirty="0"/>
          </a:p>
        </p:txBody>
      </p:sp>
      <p:sp>
        <p:nvSpPr>
          <p:cNvPr id="49" name="Text 46"/>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50" name="Text 47"/>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Ejercicio guiado · Diseño de una sesión</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58368" y="1508760"/>
            <a:ext cx="10972800" cy="4480560"/>
          </a:xfrm>
          <a:prstGeom prst="rect">
            <a:avLst/>
          </a:prstGeom>
          <a:solidFill>
            <a:srgbClr val="F8FAF9"/>
          </a:solidFill>
          <a:ln w="6350">
            <a:solidFill>
              <a:srgbClr val="D9D4C9"/>
            </a:solidFill>
            <a:prstDash val="solid"/>
          </a:ln>
        </p:spPr>
      </p:sp>
      <p:sp>
        <p:nvSpPr>
          <p:cNvPr id="7" name="Text 5"/>
          <p:cNvSpPr/>
          <p:nvPr/>
        </p:nvSpPr>
        <p:spPr>
          <a:xfrm>
            <a:off x="868680" y="1783080"/>
            <a:ext cx="3474720" cy="201168"/>
          </a:xfrm>
          <a:prstGeom prst="rect">
            <a:avLst/>
          </a:prstGeom>
          <a:noFill/>
          <a:ln/>
        </p:spPr>
        <p:txBody>
          <a:bodyPr wrap="square" lIns="0" tIns="0" rIns="0" bIns="0" rtlCol="0" anchor="ctr"/>
          <a:lstStyle/>
          <a:p>
            <a:pPr marL="0" indent="0">
              <a:buNone/>
            </a:pPr>
            <a:r>
              <a:rPr lang="en-US" sz="1100" b="1" dirty="0">
                <a:solidFill>
                  <a:srgbClr val="00CBA8"/>
                </a:solidFill>
                <a:latin typeface="Aptos" pitchFamily="34" charset="0"/>
                <a:ea typeface="Aptos" pitchFamily="34" charset="-122"/>
                <a:cs typeface="Aptos" pitchFamily="34" charset="-120"/>
              </a:rPr>
              <a:t>ACTIVIDAD PRÁCTICA</a:t>
            </a:r>
            <a:endParaRPr lang="en-US" sz="1100" dirty="0"/>
          </a:p>
        </p:txBody>
      </p:sp>
      <p:sp>
        <p:nvSpPr>
          <p:cNvPr id="8" name="Text 6"/>
          <p:cNvSpPr/>
          <p:nvPr/>
        </p:nvSpPr>
        <p:spPr>
          <a:xfrm>
            <a:off x="868680" y="2103120"/>
            <a:ext cx="9875520" cy="457200"/>
          </a:xfrm>
          <a:prstGeom prst="rect">
            <a:avLst/>
          </a:prstGeom>
          <a:noFill/>
          <a:ln/>
        </p:spPr>
        <p:txBody>
          <a:bodyPr wrap="square" lIns="0" tIns="0" rIns="0" bIns="0" rtlCol="0" anchor="ctr"/>
          <a:lstStyle/>
          <a:p>
            <a:pPr marL="0" indent="0">
              <a:buNone/>
            </a:pPr>
            <a:r>
              <a:rPr lang="en-US" sz="2400" b="1" dirty="0">
                <a:solidFill>
                  <a:srgbClr val="002E54"/>
                </a:solidFill>
                <a:latin typeface="Aptos Display" pitchFamily="34" charset="0"/>
                <a:ea typeface="Aptos Display" pitchFamily="34" charset="-122"/>
                <a:cs typeface="Aptos Display" pitchFamily="34" charset="-120"/>
              </a:rPr>
              <a:t>Diseño desde una necesidad de K01</a:t>
            </a:r>
            <a:endParaRPr lang="en-US" sz="2400" dirty="0"/>
          </a:p>
        </p:txBody>
      </p:sp>
      <p:sp>
        <p:nvSpPr>
          <p:cNvPr id="9" name="Text 7"/>
          <p:cNvSpPr/>
          <p:nvPr/>
        </p:nvSpPr>
        <p:spPr>
          <a:xfrm>
            <a:off x="868680" y="2788920"/>
            <a:ext cx="7132320" cy="2194560"/>
          </a:xfrm>
          <a:prstGeom prst="rect">
            <a:avLst/>
          </a:prstGeom>
          <a:noFill/>
          <a:ln/>
        </p:spPr>
        <p:txBody>
          <a:bodyPr wrap="square" lIns="635" tIns="635" rIns="635" bIns="635" rtlCol="0" anchor="ctr">
            <a:normAutofit/>
          </a:bodyPr>
          <a:lstStyle/>
          <a:p>
            <a:pPr marL="0" indent="0">
              <a:buNone/>
            </a:pPr>
            <a:r>
              <a:rPr lang="en-US" sz="1550" dirty="0">
                <a:solidFill>
                  <a:srgbClr val="1F2937"/>
                </a:solidFill>
                <a:latin typeface="Aptos" pitchFamily="34" charset="0"/>
                <a:ea typeface="Aptos" pitchFamily="34" charset="-122"/>
                <a:cs typeface="Aptos" pitchFamily="34" charset="-120"/>
              </a:rPr>
              <a:t>1. Seleccionar una necesidad formativa priorizada en K01.</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2. Formular un resultado de aprendizaje observable.</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3. Definir apertura, desarrollo, cierre y tiempos.</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4. Elegir metodología activa, evaluación y alternativa offline.</a:t>
            </a:r>
            <a:endParaRPr lang="en-US" sz="1550" dirty="0"/>
          </a:p>
        </p:txBody>
      </p:sp>
      <p:sp>
        <p:nvSpPr>
          <p:cNvPr id="10" name="Shape 8"/>
          <p:cNvSpPr/>
          <p:nvPr/>
        </p:nvSpPr>
        <p:spPr>
          <a:xfrm>
            <a:off x="8366760" y="2788920"/>
            <a:ext cx="2697480" cy="1417320"/>
          </a:xfrm>
          <a:prstGeom prst="rect">
            <a:avLst/>
          </a:prstGeom>
          <a:solidFill>
            <a:srgbClr val="E8F5F2"/>
          </a:solidFill>
          <a:ln w="12700">
            <a:solidFill>
              <a:srgbClr val="CFE7DF"/>
            </a:solidFill>
            <a:prstDash val="solid"/>
          </a:ln>
        </p:spPr>
      </p:sp>
      <p:sp>
        <p:nvSpPr>
          <p:cNvPr id="11" name="Text 9"/>
          <p:cNvSpPr/>
          <p:nvPr/>
        </p:nvSpPr>
        <p:spPr>
          <a:xfrm>
            <a:off x="8577072" y="2999232"/>
            <a:ext cx="2240280" cy="228600"/>
          </a:xfrm>
          <a:prstGeom prst="rect">
            <a:avLst/>
          </a:prstGeom>
          <a:noFill/>
          <a:ln/>
        </p:spPr>
        <p:txBody>
          <a:bodyPr wrap="square" lIns="0" tIns="0" rIns="0" bIns="0" rtlCol="0" anchor="ctr"/>
          <a:lstStyle/>
          <a:p>
            <a:pPr marL="0" indent="0">
              <a:buNone/>
            </a:pPr>
            <a:r>
              <a:rPr lang="en-US" sz="1200" b="1" dirty="0">
                <a:solidFill>
                  <a:srgbClr val="002E54"/>
                </a:solidFill>
                <a:latin typeface="Aptos" pitchFamily="34" charset="0"/>
                <a:ea typeface="Aptos" pitchFamily="34" charset="-122"/>
                <a:cs typeface="Aptos" pitchFamily="34" charset="-120"/>
              </a:rPr>
              <a:t>Evidencia de práctica</a:t>
            </a:r>
            <a:endParaRPr lang="en-US" sz="1200" dirty="0"/>
          </a:p>
        </p:txBody>
      </p:sp>
      <p:sp>
        <p:nvSpPr>
          <p:cNvPr id="12" name="Text 10"/>
          <p:cNvSpPr/>
          <p:nvPr/>
        </p:nvSpPr>
        <p:spPr>
          <a:xfrm>
            <a:off x="8577072" y="3364992"/>
            <a:ext cx="2148840" cy="438912"/>
          </a:xfrm>
          <a:prstGeom prst="rect">
            <a:avLst/>
          </a:prstGeom>
          <a:noFill/>
          <a:ln/>
        </p:spPr>
        <p:txBody>
          <a:bodyPr wrap="square" lIns="254" tIns="254" rIns="254" bIns="254" rtlCol="0" anchor="ctr">
            <a:normAutofit/>
          </a:bodyPr>
          <a:lstStyle/>
          <a:p>
            <a:pPr marL="0" indent="0">
              <a:buNone/>
            </a:pPr>
            <a:r>
              <a:rPr lang="en-US" sz="1340" dirty="0">
                <a:solidFill>
                  <a:srgbClr val="1F2937"/>
                </a:solidFill>
                <a:latin typeface="Aptos" pitchFamily="34" charset="0"/>
                <a:ea typeface="Aptos" pitchFamily="34" charset="-122"/>
                <a:cs typeface="Aptos" pitchFamily="34" charset="-120"/>
              </a:rPr>
              <a:t>Ficha de sesión y matriz de alineación; aportan al diseño de réplica.</a:t>
            </a:r>
            <a:endParaRPr lang="en-US" sz="1340" dirty="0"/>
          </a:p>
        </p:txBody>
      </p:sp>
      <p:sp>
        <p:nvSpPr>
          <p:cNvPr id="13" name="Shape 11"/>
          <p:cNvSpPr/>
          <p:nvPr/>
        </p:nvSpPr>
        <p:spPr>
          <a:xfrm>
            <a:off x="8549640" y="4526280"/>
            <a:ext cx="2057400" cy="310896"/>
          </a:xfrm>
          <a:prstGeom prst="roundRect">
            <a:avLst>
              <a:gd name="adj" fmla="val 17647"/>
            </a:avLst>
          </a:prstGeom>
          <a:solidFill>
            <a:srgbClr val="D89A2B"/>
          </a:solidFill>
          <a:ln w="12700">
            <a:solidFill>
              <a:srgbClr val="D89A2B">
                <a:alpha val="0"/>
              </a:srgbClr>
            </a:solidFill>
            <a:prstDash val="solid"/>
          </a:ln>
        </p:spPr>
      </p:sp>
      <p:sp>
        <p:nvSpPr>
          <p:cNvPr id="14" name="Text 12"/>
          <p:cNvSpPr/>
          <p:nvPr/>
        </p:nvSpPr>
        <p:spPr>
          <a:xfrm>
            <a:off x="8622792" y="4585716"/>
            <a:ext cx="1911096" cy="1645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60 min de diseño</a:t>
            </a:r>
            <a:endParaRPr lang="en-US" sz="950" dirty="0"/>
          </a:p>
        </p:txBody>
      </p:sp>
      <p:sp>
        <p:nvSpPr>
          <p:cNvPr id="17" name="Text 14"/>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8" name="Text 15"/>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2E54"/>
        </a:solidFill>
        <a:effectLst/>
      </p:bgPr>
    </p:bg>
    <p:spTree>
      <p:nvGrpSpPr>
        <p:cNvPr id="1" name=""/>
        <p:cNvGrpSpPr/>
        <p:nvPr/>
      </p:nvGrpSpPr>
      <p:grpSpPr>
        <a:xfrm>
          <a:off x="0" y="0"/>
          <a:ext cx="0" cy="0"/>
          <a:chOff x="0" y="0"/>
          <a:chExt cx="0" cy="0"/>
        </a:xfrm>
      </p:grpSpPr>
      <p:sp>
        <p:nvSpPr>
          <p:cNvPr id="3" name="Text 0"/>
          <p:cNvSpPr/>
          <p:nvPr/>
        </p:nvSpPr>
        <p:spPr>
          <a:xfrm>
            <a:off x="777240" y="1417320"/>
            <a:ext cx="1828800" cy="777240"/>
          </a:xfrm>
          <a:prstGeom prst="rect">
            <a:avLst/>
          </a:prstGeom>
          <a:noFill/>
          <a:ln/>
        </p:spPr>
        <p:txBody>
          <a:bodyPr wrap="square" lIns="0" tIns="0" rIns="0" bIns="0" rtlCol="0" anchor="ctr"/>
          <a:lstStyle/>
          <a:p>
            <a:pPr marL="0" indent="0">
              <a:buNone/>
            </a:pPr>
            <a:r>
              <a:rPr lang="en-US" sz="4400" dirty="0">
                <a:solidFill>
                  <a:srgbClr val="D89A2B"/>
                </a:solidFill>
                <a:latin typeface="Aptos Display" pitchFamily="34" charset="0"/>
                <a:ea typeface="Aptos Display" pitchFamily="34" charset="-122"/>
                <a:cs typeface="Aptos Display" pitchFamily="34" charset="-120"/>
              </a:rPr>
              <a:t>04</a:t>
            </a:r>
            <a:endParaRPr lang="en-US" sz="4400" dirty="0"/>
          </a:p>
        </p:txBody>
      </p:sp>
      <p:sp>
        <p:nvSpPr>
          <p:cNvPr id="4" name="Shape 1"/>
          <p:cNvSpPr/>
          <p:nvPr/>
        </p:nvSpPr>
        <p:spPr>
          <a:xfrm>
            <a:off x="777240" y="2331720"/>
            <a:ext cx="658368" cy="45720"/>
          </a:xfrm>
          <a:prstGeom prst="rect">
            <a:avLst/>
          </a:prstGeom>
          <a:solidFill>
            <a:srgbClr val="D89A2B"/>
          </a:solidFill>
          <a:ln w="12700">
            <a:solidFill>
              <a:srgbClr val="D89A2B"/>
            </a:solidFill>
            <a:prstDash val="solid"/>
          </a:ln>
        </p:spPr>
      </p:sp>
      <p:sp>
        <p:nvSpPr>
          <p:cNvPr id="5" name="Text 2"/>
          <p:cNvSpPr/>
          <p:nvPr/>
        </p:nvSpPr>
        <p:spPr>
          <a:xfrm>
            <a:off x="777240" y="2770632"/>
            <a:ext cx="8869680" cy="548640"/>
          </a:xfrm>
          <a:prstGeom prst="rect">
            <a:avLst/>
          </a:prstGeom>
          <a:noFill/>
          <a:ln/>
        </p:spPr>
        <p:txBody>
          <a:bodyPr wrap="square" lIns="0" tIns="0" rIns="0" bIns="0" rtlCol="0" anchor="ctr"/>
          <a:lstStyle/>
          <a:p>
            <a:pPr marL="0" indent="0">
              <a:buNone/>
            </a:pPr>
            <a:r>
              <a:rPr lang="en-US" sz="2900" dirty="0">
                <a:solidFill>
                  <a:srgbClr val="FFFFFF"/>
                </a:solidFill>
                <a:latin typeface="Aptos Display" pitchFamily="34" charset="0"/>
                <a:ea typeface="Aptos Display" pitchFamily="34" charset="-122"/>
                <a:cs typeface="Aptos Display" pitchFamily="34" charset="-120"/>
              </a:rPr>
              <a:t>TEMA 3 · FACILITACIÓN</a:t>
            </a:r>
            <a:endParaRPr lang="en-US" sz="2900" dirty="0"/>
          </a:p>
        </p:txBody>
      </p:sp>
      <p:sp>
        <p:nvSpPr>
          <p:cNvPr id="6" name="Text 3"/>
          <p:cNvSpPr/>
          <p:nvPr/>
        </p:nvSpPr>
        <p:spPr>
          <a:xfrm>
            <a:off x="777240" y="3474720"/>
            <a:ext cx="7223760" cy="640080"/>
          </a:xfrm>
          <a:prstGeom prst="rect">
            <a:avLst/>
          </a:prstGeom>
          <a:noFill/>
          <a:ln/>
        </p:spPr>
        <p:txBody>
          <a:bodyPr wrap="square" lIns="0" tIns="0" rIns="0" bIns="0" rtlCol="0" anchor="ctr"/>
          <a:lstStyle/>
          <a:p>
            <a:pPr marL="0" indent="0">
              <a:buNone/>
            </a:pPr>
            <a:r>
              <a:rPr lang="en-US" sz="1450" dirty="0">
                <a:solidFill>
                  <a:srgbClr val="E5EEF3"/>
                </a:solidFill>
                <a:latin typeface="Aptos" pitchFamily="34" charset="0"/>
                <a:ea typeface="Aptos" pitchFamily="34" charset="-122"/>
                <a:cs typeface="Aptos" pitchFamily="34" charset="-120"/>
              </a:rPr>
              <a:t>Facilitación activa y gestión de dinámicas grupales · 2 h presenciales</a:t>
            </a:r>
            <a:endParaRPr lang="en-US" sz="1450" dirty="0"/>
          </a:p>
        </p:txBody>
      </p:sp>
      <p:sp>
        <p:nvSpPr>
          <p:cNvPr id="7" name="Text 4"/>
          <p:cNvSpPr/>
          <p:nvPr/>
        </p:nvSpPr>
        <p:spPr>
          <a:xfrm>
            <a:off x="777240" y="6254496"/>
            <a:ext cx="2743200" cy="201168"/>
          </a:xfrm>
          <a:prstGeom prst="rect">
            <a:avLst/>
          </a:prstGeom>
          <a:noFill/>
          <a:ln/>
        </p:spPr>
        <p:txBody>
          <a:bodyPr wrap="square" lIns="0" tIns="0" rIns="0" bIns="0" rtlCol="0" anchor="ctr"/>
          <a:lstStyle/>
          <a:p>
            <a:pPr marL="0" indent="0">
              <a:buNone/>
            </a:pPr>
            <a:r>
              <a:rPr lang="en-US" sz="850" dirty="0">
                <a:solidFill>
                  <a:srgbClr val="B9C7D2"/>
                </a:solidFill>
                <a:latin typeface="Aptos" pitchFamily="34" charset="0"/>
                <a:ea typeface="Aptos" pitchFamily="34" charset="-122"/>
                <a:cs typeface="Aptos" pitchFamily="34" charset="-120"/>
              </a:rPr>
              <a:t>Actividad 2.3.2 — FdF</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Principios de educación de personas adultas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77240" y="1664208"/>
            <a:ext cx="10332720" cy="3383280"/>
          </a:xfrm>
          <a:prstGeom prst="rect">
            <a:avLst/>
          </a:prstGeom>
          <a:noFill/>
          <a:ln/>
        </p:spPr>
        <p:txBody>
          <a:bodyPr wrap="square" lIns="635" tIns="635" rIns="635" bIns="635" rtlCol="0" anchor="ctr">
            <a:normAutofit/>
          </a:bodyPr>
          <a:lstStyle/>
          <a:p>
            <a:pPr marL="0" indent="0">
              <a:buNone/>
            </a:pPr>
            <a:r>
              <a:rPr lang="en-US" sz="1710" dirty="0">
                <a:solidFill>
                  <a:srgbClr val="1F2937"/>
                </a:solidFill>
                <a:latin typeface="Aptos" pitchFamily="34" charset="0"/>
                <a:ea typeface="Aptos" pitchFamily="34" charset="-122"/>
                <a:cs typeface="Aptos" pitchFamily="34" charset="-120"/>
              </a:rPr>
              <a:t>▸ Andragogía: las personas adultas aprenden mejor cuando reconocen utilidad inmediata.</a:t>
            </a:r>
            <a:endParaRPr lang="en-US" sz="1710" dirty="0"/>
          </a:p>
          <a:p>
            <a:pPr marL="0" indent="0">
              <a:buNone/>
            </a:pPr>
            <a:r>
              <a:rPr lang="en-US" sz="1710" dirty="0">
                <a:solidFill>
                  <a:srgbClr val="1F2937"/>
                </a:solidFill>
                <a:latin typeface="Aptos" pitchFamily="34" charset="0"/>
                <a:ea typeface="Aptos" pitchFamily="34" charset="-122"/>
                <a:cs typeface="Aptos" pitchFamily="34" charset="-120"/>
              </a:rPr>
              <a:t>▸ Aprendizaje experiencial: la experiencia previa es insumo central del aprendizaje.</a:t>
            </a:r>
            <a:endParaRPr lang="en-US" sz="1710" dirty="0"/>
          </a:p>
          <a:p>
            <a:pPr marL="0" indent="0">
              <a:buNone/>
            </a:pPr>
            <a:r>
              <a:rPr lang="en-US" sz="1710" dirty="0">
                <a:solidFill>
                  <a:srgbClr val="1F2937"/>
                </a:solidFill>
                <a:latin typeface="Aptos" pitchFamily="34" charset="0"/>
                <a:ea typeface="Aptos" pitchFamily="34" charset="-122"/>
                <a:cs typeface="Aptos" pitchFamily="34" charset="-120"/>
              </a:rPr>
              <a:t>▸ Aprendizaje autodirigido: se promueve autonomía, criterio y aplicación.</a:t>
            </a:r>
            <a:endParaRPr lang="en-US" sz="1710" dirty="0"/>
          </a:p>
          <a:p>
            <a:pPr marL="0" indent="0">
              <a:buNone/>
            </a:pPr>
            <a:r>
              <a:rPr lang="en-US" sz="1710" dirty="0">
                <a:solidFill>
                  <a:srgbClr val="1F2937"/>
                </a:solidFill>
                <a:latin typeface="Aptos" pitchFamily="34" charset="0"/>
                <a:ea typeface="Aptos" pitchFamily="34" charset="-122"/>
                <a:cs typeface="Aptos" pitchFamily="34" charset="-120"/>
              </a:rPr>
              <a:t>▸ Aplicabilidad: cada contenido debe conectar con problemas reales de acompañamiento a NAE.</a:t>
            </a:r>
            <a:endParaRPr lang="en-US" sz="1710" dirty="0"/>
          </a:p>
        </p:txBody>
      </p:sp>
      <p:sp>
        <p:nvSpPr>
          <p:cNvPr id="9" name="Text 6"/>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0" name="Text 7"/>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Metodologías activas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77240" y="1600200"/>
            <a:ext cx="5074920" cy="384048"/>
          </a:xfrm>
          <a:prstGeom prst="rect">
            <a:avLst/>
          </a:prstGeom>
          <a:noFill/>
          <a:ln/>
        </p:spPr>
        <p:txBody>
          <a:bodyPr wrap="square" lIns="0" tIns="0" rIns="0" bIns="0"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 Estudio de casos</a:t>
            </a:r>
            <a:endParaRPr lang="en-US" sz="1800" dirty="0"/>
          </a:p>
        </p:txBody>
      </p:sp>
      <p:sp>
        <p:nvSpPr>
          <p:cNvPr id="7" name="Text 5"/>
          <p:cNvSpPr/>
          <p:nvPr/>
        </p:nvSpPr>
        <p:spPr>
          <a:xfrm>
            <a:off x="6355080" y="1600200"/>
            <a:ext cx="5074920" cy="384048"/>
          </a:xfrm>
          <a:prstGeom prst="rect">
            <a:avLst/>
          </a:prstGeom>
          <a:noFill/>
          <a:ln/>
        </p:spPr>
        <p:txBody>
          <a:bodyPr wrap="square" lIns="0" tIns="0" rIns="0" bIns="0"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 Aprendizaje basado en problemas</a:t>
            </a:r>
            <a:endParaRPr lang="en-US" sz="1800" dirty="0"/>
          </a:p>
        </p:txBody>
      </p:sp>
      <p:sp>
        <p:nvSpPr>
          <p:cNvPr id="8" name="Text 6"/>
          <p:cNvSpPr/>
          <p:nvPr/>
        </p:nvSpPr>
        <p:spPr>
          <a:xfrm>
            <a:off x="777240" y="2450592"/>
            <a:ext cx="5074920" cy="384048"/>
          </a:xfrm>
          <a:prstGeom prst="rect">
            <a:avLst/>
          </a:prstGeom>
          <a:noFill/>
          <a:ln/>
        </p:spPr>
        <p:txBody>
          <a:bodyPr wrap="square" lIns="0" tIns="0" rIns="0" bIns="0"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 Simulaciones</a:t>
            </a:r>
            <a:endParaRPr lang="en-US" sz="1800" dirty="0"/>
          </a:p>
        </p:txBody>
      </p:sp>
      <p:sp>
        <p:nvSpPr>
          <p:cNvPr id="9" name="Text 7"/>
          <p:cNvSpPr/>
          <p:nvPr/>
        </p:nvSpPr>
        <p:spPr>
          <a:xfrm>
            <a:off x="6355080" y="2450592"/>
            <a:ext cx="5074920" cy="384048"/>
          </a:xfrm>
          <a:prstGeom prst="rect">
            <a:avLst/>
          </a:prstGeom>
          <a:noFill/>
          <a:ln/>
        </p:spPr>
        <p:txBody>
          <a:bodyPr wrap="square" lIns="0" tIns="0" rIns="0" bIns="0"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 Demostraciones</a:t>
            </a:r>
            <a:endParaRPr lang="en-US" sz="1800" dirty="0"/>
          </a:p>
        </p:txBody>
      </p:sp>
      <p:sp>
        <p:nvSpPr>
          <p:cNvPr id="10" name="Text 8"/>
          <p:cNvSpPr/>
          <p:nvPr/>
        </p:nvSpPr>
        <p:spPr>
          <a:xfrm>
            <a:off x="777240" y="3300984"/>
            <a:ext cx="5074920" cy="384048"/>
          </a:xfrm>
          <a:prstGeom prst="rect">
            <a:avLst/>
          </a:prstGeom>
          <a:noFill/>
          <a:ln/>
        </p:spPr>
        <p:txBody>
          <a:bodyPr wrap="square" lIns="0" tIns="0" rIns="0" bIns="0"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 Trabajo colaborativo</a:t>
            </a:r>
            <a:endParaRPr lang="en-US" sz="1800" dirty="0"/>
          </a:p>
        </p:txBody>
      </p:sp>
      <p:sp>
        <p:nvSpPr>
          <p:cNvPr id="11" name="Text 9"/>
          <p:cNvSpPr/>
          <p:nvPr/>
        </p:nvSpPr>
        <p:spPr>
          <a:xfrm>
            <a:off x="6355080" y="3300984"/>
            <a:ext cx="5074920" cy="384048"/>
          </a:xfrm>
          <a:prstGeom prst="rect">
            <a:avLst/>
          </a:prstGeom>
          <a:noFill/>
          <a:ln/>
        </p:spPr>
        <p:txBody>
          <a:bodyPr wrap="square" lIns="0" tIns="0" rIns="0" bIns="0"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 Análisis de experiencias</a:t>
            </a:r>
            <a:endParaRPr lang="en-US" sz="1800" dirty="0"/>
          </a:p>
        </p:txBody>
      </p:sp>
      <p:sp>
        <p:nvSpPr>
          <p:cNvPr id="12" name="Text 10"/>
          <p:cNvSpPr/>
          <p:nvPr/>
        </p:nvSpPr>
        <p:spPr>
          <a:xfrm>
            <a:off x="777240" y="4151376"/>
            <a:ext cx="5074920" cy="384048"/>
          </a:xfrm>
          <a:prstGeom prst="rect">
            <a:avLst/>
          </a:prstGeom>
          <a:noFill/>
          <a:ln/>
        </p:spPr>
        <p:txBody>
          <a:bodyPr wrap="square" lIns="0" tIns="0" rIns="0" bIns="0"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 Ejercicios de aplicación</a:t>
            </a:r>
            <a:endParaRPr lang="en-US" sz="1800" dirty="0"/>
          </a:p>
        </p:txBody>
      </p:sp>
      <p:sp>
        <p:nvSpPr>
          <p:cNvPr id="13" name="Text 11"/>
          <p:cNvSpPr/>
          <p:nvPr/>
        </p:nvSpPr>
        <p:spPr>
          <a:xfrm>
            <a:off x="868680" y="4892040"/>
            <a:ext cx="10241280" cy="548640"/>
          </a:xfrm>
          <a:prstGeom prst="rect">
            <a:avLst/>
          </a:prstGeom>
          <a:noFill/>
          <a:ln/>
        </p:spPr>
        <p:txBody>
          <a:bodyPr wrap="square" lIns="0" tIns="0" rIns="0" bIns="0" rtlCol="0" anchor="ctr"/>
          <a:lstStyle/>
          <a:p>
            <a:pPr marL="0" indent="0" algn="ctr">
              <a:buNone/>
            </a:pPr>
            <a:r>
              <a:rPr lang="en-US" sz="2100" dirty="0">
                <a:solidFill>
                  <a:srgbClr val="002E54"/>
                </a:solidFill>
                <a:latin typeface="Aptos Display" pitchFamily="34" charset="0"/>
                <a:ea typeface="Aptos Display" pitchFamily="34" charset="-122"/>
                <a:cs typeface="Aptos Display" pitchFamily="34" charset="-120"/>
              </a:rPr>
              <a:t>Criterio de selección: elegir y combinar metodologías según resultado esperado, grupo, tiempo y recursos disponibles.</a:t>
            </a:r>
            <a:endParaRPr lang="en-US" sz="2100" dirty="0"/>
          </a:p>
        </p:txBody>
      </p:sp>
      <p:sp>
        <p:nvSpPr>
          <p:cNvPr id="16" name="Text 13"/>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7" name="Text 14"/>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Técnicas de facilitación</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658368" y="1572768"/>
            <a:ext cx="512064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Para promover reflexión</a:t>
            </a:r>
            <a:endParaRPr lang="en-US" sz="1420" dirty="0"/>
          </a:p>
        </p:txBody>
      </p:sp>
      <p:sp>
        <p:nvSpPr>
          <p:cNvPr id="7" name="Text 5"/>
          <p:cNvSpPr/>
          <p:nvPr/>
        </p:nvSpPr>
        <p:spPr>
          <a:xfrm>
            <a:off x="658368" y="1965960"/>
            <a:ext cx="516636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Preguntas reflexivas.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Parafraseo.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Síntesis.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Andamiaje.</a:t>
            </a:r>
            <a:endParaRPr lang="en-US" sz="1630" dirty="0"/>
          </a:p>
        </p:txBody>
      </p:sp>
      <p:sp>
        <p:nvSpPr>
          <p:cNvPr id="8" name="Text 6"/>
          <p:cNvSpPr/>
          <p:nvPr/>
        </p:nvSpPr>
        <p:spPr>
          <a:xfrm>
            <a:off x="6446520" y="1572768"/>
            <a:ext cx="502920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Para cerrar y consolidar</a:t>
            </a:r>
            <a:endParaRPr lang="en-US" sz="1420" dirty="0"/>
          </a:p>
        </p:txBody>
      </p:sp>
      <p:sp>
        <p:nvSpPr>
          <p:cNvPr id="9" name="Text 7"/>
          <p:cNvSpPr/>
          <p:nvPr/>
        </p:nvSpPr>
        <p:spPr>
          <a:xfrm>
            <a:off x="6446520" y="1965960"/>
            <a:ext cx="507492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Devolución respetuosa.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Cierre conceptual.</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Conexión con la práctica.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Acuerdos de aplicación.</a:t>
            </a:r>
            <a:endParaRPr lang="en-US" sz="1630" dirty="0"/>
          </a:p>
        </p:txBody>
      </p:sp>
      <p:sp>
        <p:nvSpPr>
          <p:cNvPr id="12" name="Text 9"/>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3" name="Text 10"/>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Gestión de la comunicación y del grupo</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804672" y="1664208"/>
            <a:ext cx="10058400" cy="3108960"/>
          </a:xfrm>
          <a:prstGeom prst="rect">
            <a:avLst/>
          </a:prstGeom>
          <a:noFill/>
          <a:ln/>
        </p:spPr>
        <p:txBody>
          <a:bodyPr wrap="square" lIns="635" tIns="635" rIns="635" bIns="635" rtlCol="0" anchor="ctr">
            <a:normAutofit/>
          </a:bodyPr>
          <a:lstStyle/>
          <a:p>
            <a:pPr marL="0" indent="0">
              <a:buNone/>
            </a:pPr>
            <a:r>
              <a:rPr lang="en-US" sz="1720" dirty="0">
                <a:solidFill>
                  <a:srgbClr val="1F2937"/>
                </a:solidFill>
                <a:latin typeface="Aptos" pitchFamily="34" charset="0"/>
                <a:ea typeface="Aptos" pitchFamily="34" charset="-122"/>
                <a:cs typeface="Aptos" pitchFamily="34" charset="-120"/>
              </a:rPr>
              <a:t>▸ Escucha activa y reconocimiento de experiencias diversas.</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Clima seguro y respetuoso para participar, discrepar y aprender.</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Distribución equitativa de la participación.</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Gestión de expectativas y diversidad de trayectorias.</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Adaptación de la intervención a la evolución del grupo.</a:t>
            </a:r>
            <a:endParaRPr lang="en-US" sz="1720" dirty="0"/>
          </a:p>
        </p:txBody>
      </p:sp>
      <p:sp>
        <p:nvSpPr>
          <p:cNvPr id="7" name="Text 5"/>
          <p:cNvSpPr/>
          <p:nvPr/>
        </p:nvSpPr>
        <p:spPr>
          <a:xfrm>
            <a:off x="841248" y="4864608"/>
            <a:ext cx="10241280" cy="512064"/>
          </a:xfrm>
          <a:prstGeom prst="rect">
            <a:avLst/>
          </a:prstGeom>
          <a:noFill/>
          <a:ln/>
        </p:spPr>
        <p:txBody>
          <a:bodyPr wrap="square" lIns="0" tIns="0" rIns="0" bIns="0" rtlCol="0" anchor="ctr"/>
          <a:lstStyle/>
          <a:p>
            <a:pPr marL="0" indent="0" algn="ctr">
              <a:buNone/>
            </a:pPr>
            <a:r>
              <a:rPr lang="en-US" sz="2100" dirty="0">
                <a:solidFill>
                  <a:srgbClr val="002E54"/>
                </a:solidFill>
                <a:latin typeface="Aptos Display" pitchFamily="34" charset="0"/>
                <a:ea typeface="Aptos Display" pitchFamily="34" charset="-122"/>
                <a:cs typeface="Aptos Display" pitchFamily="34" charset="-120"/>
              </a:rPr>
              <a:t>La facilitación no es solo “exponer”: es crear condiciones para que todas y todos aprendan y apliquen.</a:t>
            </a:r>
            <a:endParaRPr lang="en-US" sz="2100" dirty="0"/>
          </a:p>
        </p:txBody>
      </p:sp>
      <p:sp>
        <p:nvSpPr>
          <p:cNvPr id="10" name="Text 7"/>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1" name="Text 8"/>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Manejo de situaciones críticas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658368" y="1572768"/>
            <a:ext cx="512064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Situaciones frecuentes</a:t>
            </a:r>
            <a:endParaRPr lang="en-US" sz="1420" dirty="0"/>
          </a:p>
        </p:txBody>
      </p:sp>
      <p:sp>
        <p:nvSpPr>
          <p:cNvPr id="7" name="Text 5"/>
          <p:cNvSpPr/>
          <p:nvPr/>
        </p:nvSpPr>
        <p:spPr>
          <a:xfrm>
            <a:off x="658368" y="1965960"/>
            <a:ext cx="516636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Conflictos o desacuerdos.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Participantes dominantes o pasivos.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Resistencia al cambio.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Interrupciones externas.</a:t>
            </a:r>
            <a:endParaRPr lang="en-US" sz="1630" dirty="0"/>
          </a:p>
        </p:txBody>
      </p:sp>
      <p:sp>
        <p:nvSpPr>
          <p:cNvPr id="8" name="Text 6"/>
          <p:cNvSpPr/>
          <p:nvPr/>
        </p:nvSpPr>
        <p:spPr>
          <a:xfrm>
            <a:off x="6446520" y="1572768"/>
            <a:ext cx="502920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Respuesta de facilitación</a:t>
            </a:r>
            <a:endParaRPr lang="en-US" sz="1420" dirty="0"/>
          </a:p>
        </p:txBody>
      </p:sp>
      <p:sp>
        <p:nvSpPr>
          <p:cNvPr id="9" name="Text 7"/>
          <p:cNvSpPr/>
          <p:nvPr/>
        </p:nvSpPr>
        <p:spPr>
          <a:xfrm>
            <a:off x="6446520" y="1965960"/>
            <a:ext cx="507492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Recuperar acuerdos de convivencia.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Reencuadrar la discusión hacia el objetivo.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Usar preguntas y síntesis para ordenar aportes.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Ajustar tiempos, recursos o dinámica.</a:t>
            </a:r>
            <a:endParaRPr lang="en-US" sz="1630" dirty="0"/>
          </a:p>
        </p:txBody>
      </p:sp>
      <p:sp>
        <p:nvSpPr>
          <p:cNvPr id="12" name="Text 9"/>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3" name="Text 10"/>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Microfacilitación observada</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58368" y="1508760"/>
            <a:ext cx="10972800" cy="4480560"/>
          </a:xfrm>
          <a:prstGeom prst="rect">
            <a:avLst/>
          </a:prstGeom>
          <a:solidFill>
            <a:srgbClr val="F8FAF9"/>
          </a:solidFill>
          <a:ln w="6350">
            <a:solidFill>
              <a:srgbClr val="D9D4C9"/>
            </a:solidFill>
            <a:prstDash val="solid"/>
          </a:ln>
        </p:spPr>
      </p:sp>
      <p:sp>
        <p:nvSpPr>
          <p:cNvPr id="7" name="Text 5"/>
          <p:cNvSpPr/>
          <p:nvPr/>
        </p:nvSpPr>
        <p:spPr>
          <a:xfrm>
            <a:off x="868680" y="1783080"/>
            <a:ext cx="3474720" cy="201168"/>
          </a:xfrm>
          <a:prstGeom prst="rect">
            <a:avLst/>
          </a:prstGeom>
          <a:noFill/>
          <a:ln/>
        </p:spPr>
        <p:txBody>
          <a:bodyPr wrap="square" lIns="0" tIns="0" rIns="0" bIns="0" rtlCol="0" anchor="ctr"/>
          <a:lstStyle/>
          <a:p>
            <a:pPr marL="0" indent="0">
              <a:buNone/>
            </a:pPr>
            <a:r>
              <a:rPr lang="en-US" sz="1100" b="1" dirty="0">
                <a:solidFill>
                  <a:srgbClr val="00CBA8"/>
                </a:solidFill>
                <a:latin typeface="Aptos" pitchFamily="34" charset="0"/>
                <a:ea typeface="Aptos" pitchFamily="34" charset="-122"/>
                <a:cs typeface="Aptos" pitchFamily="34" charset="-120"/>
              </a:rPr>
              <a:t>ACTIVIDAD PRÁCTICA</a:t>
            </a:r>
            <a:endParaRPr lang="en-US" sz="1100" dirty="0"/>
          </a:p>
        </p:txBody>
      </p:sp>
      <p:sp>
        <p:nvSpPr>
          <p:cNvPr id="8" name="Text 6"/>
          <p:cNvSpPr/>
          <p:nvPr/>
        </p:nvSpPr>
        <p:spPr>
          <a:xfrm>
            <a:off x="868680" y="2103120"/>
            <a:ext cx="9875520" cy="457200"/>
          </a:xfrm>
          <a:prstGeom prst="rect">
            <a:avLst/>
          </a:prstGeom>
          <a:noFill/>
          <a:ln/>
        </p:spPr>
        <p:txBody>
          <a:bodyPr wrap="square" lIns="0" tIns="0" rIns="0" bIns="0" rtlCol="0" anchor="ctr"/>
          <a:lstStyle/>
          <a:p>
            <a:pPr marL="0" indent="0">
              <a:buNone/>
            </a:pPr>
            <a:r>
              <a:rPr lang="en-US" sz="2400" b="1" dirty="0">
                <a:solidFill>
                  <a:srgbClr val="002E54"/>
                </a:solidFill>
                <a:latin typeface="Aptos Display" pitchFamily="34" charset="0"/>
                <a:ea typeface="Aptos Display" pitchFamily="34" charset="-122"/>
                <a:cs typeface="Aptos Display" pitchFamily="34" charset="-120"/>
              </a:rPr>
              <a:t>Microfacilitación a partir de K01</a:t>
            </a:r>
            <a:endParaRPr lang="en-US" sz="2400" dirty="0"/>
          </a:p>
        </p:txBody>
      </p:sp>
      <p:sp>
        <p:nvSpPr>
          <p:cNvPr id="9" name="Text 7"/>
          <p:cNvSpPr/>
          <p:nvPr/>
        </p:nvSpPr>
        <p:spPr>
          <a:xfrm>
            <a:off x="868680" y="2788920"/>
            <a:ext cx="7132320" cy="2194560"/>
          </a:xfrm>
          <a:prstGeom prst="rect">
            <a:avLst/>
          </a:prstGeom>
          <a:noFill/>
          <a:ln/>
        </p:spPr>
        <p:txBody>
          <a:bodyPr wrap="square" lIns="635" tIns="635" rIns="635" bIns="635" rtlCol="0" anchor="ctr">
            <a:normAutofit/>
          </a:bodyPr>
          <a:lstStyle/>
          <a:p>
            <a:pPr marL="0" indent="0">
              <a:buNone/>
            </a:pPr>
            <a:r>
              <a:rPr lang="en-US" sz="1550" dirty="0">
                <a:solidFill>
                  <a:srgbClr val="1F2937"/>
                </a:solidFill>
                <a:latin typeface="Aptos" pitchFamily="34" charset="0"/>
                <a:ea typeface="Aptos" pitchFamily="34" charset="-122"/>
                <a:cs typeface="Aptos" pitchFamily="34" charset="-120"/>
              </a:rPr>
              <a:t>1. Facilitar un segmento de 8–10 minutos en grupo pequeño.</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2. Aplicar una metodología activa y una técnica de facilitación.</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3. Observar aprendizaje, participación, claridad, tiempo y cierre.</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4. Recibir retroalimentación y definir una mejora concreta.</a:t>
            </a:r>
            <a:endParaRPr lang="en-US" sz="1550" dirty="0"/>
          </a:p>
        </p:txBody>
      </p:sp>
      <p:sp>
        <p:nvSpPr>
          <p:cNvPr id="10" name="Shape 8"/>
          <p:cNvSpPr/>
          <p:nvPr/>
        </p:nvSpPr>
        <p:spPr>
          <a:xfrm>
            <a:off x="8366760" y="2788920"/>
            <a:ext cx="2697480" cy="1417320"/>
          </a:xfrm>
          <a:prstGeom prst="rect">
            <a:avLst/>
          </a:prstGeom>
          <a:solidFill>
            <a:srgbClr val="E8F5F2"/>
          </a:solidFill>
          <a:ln w="12700">
            <a:solidFill>
              <a:srgbClr val="CFE7DF"/>
            </a:solidFill>
            <a:prstDash val="solid"/>
          </a:ln>
        </p:spPr>
      </p:sp>
      <p:sp>
        <p:nvSpPr>
          <p:cNvPr id="11" name="Text 9"/>
          <p:cNvSpPr/>
          <p:nvPr/>
        </p:nvSpPr>
        <p:spPr>
          <a:xfrm>
            <a:off x="8577072" y="2999232"/>
            <a:ext cx="2240280" cy="228600"/>
          </a:xfrm>
          <a:prstGeom prst="rect">
            <a:avLst/>
          </a:prstGeom>
          <a:noFill/>
          <a:ln/>
        </p:spPr>
        <p:txBody>
          <a:bodyPr wrap="square" lIns="0" tIns="0" rIns="0" bIns="0" rtlCol="0" anchor="ctr"/>
          <a:lstStyle/>
          <a:p>
            <a:pPr marL="0" indent="0">
              <a:buNone/>
            </a:pPr>
            <a:r>
              <a:rPr lang="en-US" sz="1200" b="1" dirty="0">
                <a:solidFill>
                  <a:srgbClr val="002E54"/>
                </a:solidFill>
                <a:latin typeface="Aptos" pitchFamily="34" charset="0"/>
                <a:ea typeface="Aptos" pitchFamily="34" charset="-122"/>
                <a:cs typeface="Aptos" pitchFamily="34" charset="-120"/>
              </a:rPr>
              <a:t>Evidencia de práctica</a:t>
            </a:r>
            <a:endParaRPr lang="en-US" sz="1200" dirty="0"/>
          </a:p>
        </p:txBody>
      </p:sp>
      <p:sp>
        <p:nvSpPr>
          <p:cNvPr id="12" name="Text 10"/>
          <p:cNvSpPr/>
          <p:nvPr/>
        </p:nvSpPr>
        <p:spPr>
          <a:xfrm>
            <a:off x="8577072" y="3364992"/>
            <a:ext cx="2148840" cy="438912"/>
          </a:xfrm>
          <a:prstGeom prst="rect">
            <a:avLst/>
          </a:prstGeom>
          <a:noFill/>
          <a:ln/>
        </p:spPr>
        <p:txBody>
          <a:bodyPr wrap="square" lIns="254" tIns="254" rIns="254" bIns="254" rtlCol="0" anchor="ctr">
            <a:normAutofit/>
          </a:bodyPr>
          <a:lstStyle/>
          <a:p>
            <a:pPr marL="0" indent="0">
              <a:buNone/>
            </a:pPr>
            <a:r>
              <a:rPr lang="en-US" sz="1340" dirty="0">
                <a:solidFill>
                  <a:srgbClr val="1F2937"/>
                </a:solidFill>
                <a:latin typeface="Aptos" pitchFamily="34" charset="0"/>
                <a:ea typeface="Aptos" pitchFamily="34" charset="-122"/>
                <a:cs typeface="Aptos" pitchFamily="34" charset="-120"/>
              </a:rPr>
              <a:t>Observación y retroalimentación; sin calificación independiente.</a:t>
            </a:r>
            <a:endParaRPr lang="en-US" sz="1340" dirty="0"/>
          </a:p>
        </p:txBody>
      </p:sp>
      <p:sp>
        <p:nvSpPr>
          <p:cNvPr id="13" name="Shape 11"/>
          <p:cNvSpPr/>
          <p:nvPr/>
        </p:nvSpPr>
        <p:spPr>
          <a:xfrm>
            <a:off x="8549640" y="4526280"/>
            <a:ext cx="2057400" cy="310896"/>
          </a:xfrm>
          <a:prstGeom prst="roundRect">
            <a:avLst>
              <a:gd name="adj" fmla="val 17647"/>
            </a:avLst>
          </a:prstGeom>
          <a:solidFill>
            <a:srgbClr val="D89A2B"/>
          </a:solidFill>
          <a:ln w="12700">
            <a:solidFill>
              <a:srgbClr val="D89A2B">
                <a:alpha val="0"/>
              </a:srgbClr>
            </a:solidFill>
            <a:prstDash val="solid"/>
          </a:ln>
        </p:spPr>
      </p:sp>
      <p:sp>
        <p:nvSpPr>
          <p:cNvPr id="14" name="Text 12"/>
          <p:cNvSpPr/>
          <p:nvPr/>
        </p:nvSpPr>
        <p:spPr>
          <a:xfrm>
            <a:off x="8622792" y="4585716"/>
            <a:ext cx="1911096" cy="1645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60 min</a:t>
            </a:r>
            <a:endParaRPr lang="en-US" sz="950" dirty="0"/>
          </a:p>
        </p:txBody>
      </p:sp>
      <p:sp>
        <p:nvSpPr>
          <p:cNvPr id="17" name="Text 14"/>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8" name="Text 15"/>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2E54"/>
        </a:solidFill>
        <a:effectLst/>
      </p:bgPr>
    </p:bg>
    <p:spTree>
      <p:nvGrpSpPr>
        <p:cNvPr id="1" name=""/>
        <p:cNvGrpSpPr/>
        <p:nvPr/>
      </p:nvGrpSpPr>
      <p:grpSpPr>
        <a:xfrm>
          <a:off x="0" y="0"/>
          <a:ext cx="0" cy="0"/>
          <a:chOff x="0" y="0"/>
          <a:chExt cx="0" cy="0"/>
        </a:xfrm>
      </p:grpSpPr>
      <p:sp>
        <p:nvSpPr>
          <p:cNvPr id="3" name="Text 0"/>
          <p:cNvSpPr/>
          <p:nvPr/>
        </p:nvSpPr>
        <p:spPr>
          <a:xfrm>
            <a:off x="777240" y="1417320"/>
            <a:ext cx="1828800" cy="777240"/>
          </a:xfrm>
          <a:prstGeom prst="rect">
            <a:avLst/>
          </a:prstGeom>
          <a:noFill/>
          <a:ln/>
        </p:spPr>
        <p:txBody>
          <a:bodyPr wrap="square" lIns="0" tIns="0" rIns="0" bIns="0" rtlCol="0" anchor="ctr"/>
          <a:lstStyle/>
          <a:p>
            <a:pPr marL="0" indent="0">
              <a:buNone/>
            </a:pPr>
            <a:r>
              <a:rPr lang="en-US" sz="4400" dirty="0">
                <a:solidFill>
                  <a:srgbClr val="D89A2B"/>
                </a:solidFill>
                <a:latin typeface="Aptos Display" pitchFamily="34" charset="0"/>
                <a:ea typeface="Aptos Display" pitchFamily="34" charset="-122"/>
                <a:cs typeface="Aptos Display" pitchFamily="34" charset="-120"/>
              </a:rPr>
              <a:t>05</a:t>
            </a:r>
            <a:endParaRPr lang="en-US" sz="4400" dirty="0"/>
          </a:p>
        </p:txBody>
      </p:sp>
      <p:sp>
        <p:nvSpPr>
          <p:cNvPr id="4" name="Shape 1"/>
          <p:cNvSpPr/>
          <p:nvPr/>
        </p:nvSpPr>
        <p:spPr>
          <a:xfrm>
            <a:off x="777240" y="2331720"/>
            <a:ext cx="658368" cy="45720"/>
          </a:xfrm>
          <a:prstGeom prst="rect">
            <a:avLst/>
          </a:prstGeom>
          <a:solidFill>
            <a:srgbClr val="D89A2B"/>
          </a:solidFill>
          <a:ln w="12700">
            <a:solidFill>
              <a:srgbClr val="D89A2B"/>
            </a:solidFill>
            <a:prstDash val="solid"/>
          </a:ln>
        </p:spPr>
      </p:sp>
      <p:sp>
        <p:nvSpPr>
          <p:cNvPr id="5" name="Text 2"/>
          <p:cNvSpPr/>
          <p:nvPr/>
        </p:nvSpPr>
        <p:spPr>
          <a:xfrm>
            <a:off x="777240" y="2770632"/>
            <a:ext cx="8869680" cy="548640"/>
          </a:xfrm>
          <a:prstGeom prst="rect">
            <a:avLst/>
          </a:prstGeom>
          <a:noFill/>
          <a:ln/>
        </p:spPr>
        <p:txBody>
          <a:bodyPr wrap="square" lIns="0" tIns="0" rIns="0" bIns="0" rtlCol="0" anchor="ctr"/>
          <a:lstStyle/>
          <a:p>
            <a:pPr marL="0" indent="0">
              <a:buNone/>
            </a:pPr>
            <a:r>
              <a:rPr lang="en-US" sz="2900" dirty="0">
                <a:solidFill>
                  <a:srgbClr val="FFFFFF"/>
                </a:solidFill>
                <a:latin typeface="Aptos Display" pitchFamily="34" charset="0"/>
                <a:ea typeface="Aptos Display" pitchFamily="34" charset="-122"/>
                <a:cs typeface="Aptos Display" pitchFamily="34" charset="-120"/>
              </a:rPr>
              <a:t>TEMA 4 · EVALUACIÓN</a:t>
            </a:r>
            <a:endParaRPr lang="en-US" sz="2900" dirty="0"/>
          </a:p>
        </p:txBody>
      </p:sp>
      <p:sp>
        <p:nvSpPr>
          <p:cNvPr id="6" name="Text 3"/>
          <p:cNvSpPr/>
          <p:nvPr/>
        </p:nvSpPr>
        <p:spPr>
          <a:xfrm>
            <a:off x="777240" y="3474720"/>
            <a:ext cx="7223760" cy="640080"/>
          </a:xfrm>
          <a:prstGeom prst="rect">
            <a:avLst/>
          </a:prstGeom>
          <a:noFill/>
          <a:ln/>
        </p:spPr>
        <p:txBody>
          <a:bodyPr wrap="square" lIns="0" tIns="0" rIns="0" bIns="0" rtlCol="0" anchor="ctr"/>
          <a:lstStyle/>
          <a:p>
            <a:pPr marL="0" indent="0">
              <a:buNone/>
            </a:pPr>
            <a:r>
              <a:rPr lang="en-US" sz="1450" dirty="0">
                <a:solidFill>
                  <a:srgbClr val="E5EEF3"/>
                </a:solidFill>
                <a:latin typeface="Aptos" pitchFamily="34" charset="0"/>
                <a:ea typeface="Aptos" pitchFamily="34" charset="-122"/>
                <a:cs typeface="Aptos" pitchFamily="34" charset="-120"/>
              </a:rPr>
              <a:t>Evaluación del aprendizaje y mejora del proceso · 1 h asincrónica + 2 h sincrónicas</a:t>
            </a:r>
            <a:endParaRPr lang="en-US" sz="1450" dirty="0"/>
          </a:p>
        </p:txBody>
      </p:sp>
      <p:sp>
        <p:nvSpPr>
          <p:cNvPr id="7" name="Text 4"/>
          <p:cNvSpPr/>
          <p:nvPr/>
        </p:nvSpPr>
        <p:spPr>
          <a:xfrm>
            <a:off x="777240" y="6254496"/>
            <a:ext cx="2743200" cy="201168"/>
          </a:xfrm>
          <a:prstGeom prst="rect">
            <a:avLst/>
          </a:prstGeom>
          <a:noFill/>
          <a:ln/>
        </p:spPr>
        <p:txBody>
          <a:bodyPr wrap="square" lIns="0" tIns="0" rIns="0" bIns="0" rtlCol="0" anchor="ctr"/>
          <a:lstStyle/>
          <a:p>
            <a:pPr marL="0" indent="0">
              <a:buNone/>
            </a:pPr>
            <a:r>
              <a:rPr lang="en-US" sz="850" dirty="0">
                <a:solidFill>
                  <a:srgbClr val="B9C7D2"/>
                </a:solidFill>
                <a:latin typeface="Aptos" pitchFamily="34" charset="0"/>
                <a:ea typeface="Aptos" pitchFamily="34" charset="-122"/>
                <a:cs typeface="Aptos" pitchFamily="34" charset="-120"/>
              </a:rPr>
              <a:t>Actividad 2.3.2 — FdF</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Tipos de evaluación y momentos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85800" y="1600200"/>
            <a:ext cx="2057400" cy="658368"/>
          </a:xfrm>
          <a:prstGeom prst="rect">
            <a:avLst/>
          </a:prstGeom>
          <a:solidFill>
            <a:srgbClr val="002E54"/>
          </a:solidFill>
          <a:ln w="6350">
            <a:solidFill>
              <a:srgbClr val="D6D6D6"/>
            </a:solidFill>
            <a:prstDash val="solid"/>
          </a:ln>
        </p:spPr>
      </p:sp>
      <p:sp>
        <p:nvSpPr>
          <p:cNvPr id="7" name="Text 5"/>
          <p:cNvSpPr/>
          <p:nvPr/>
        </p:nvSpPr>
        <p:spPr>
          <a:xfrm>
            <a:off x="740664" y="1664208"/>
            <a:ext cx="1947672" cy="548640"/>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Aptos" pitchFamily="34" charset="0"/>
                <a:ea typeface="Aptos" pitchFamily="34" charset="-122"/>
                <a:cs typeface="Aptos" pitchFamily="34" charset="-120"/>
              </a:rPr>
              <a:t>Tipo</a:t>
            </a:r>
            <a:endParaRPr lang="en-US" sz="1320" dirty="0"/>
          </a:p>
        </p:txBody>
      </p:sp>
      <p:sp>
        <p:nvSpPr>
          <p:cNvPr id="8" name="Shape 6"/>
          <p:cNvSpPr/>
          <p:nvPr/>
        </p:nvSpPr>
        <p:spPr>
          <a:xfrm>
            <a:off x="2743200" y="1600200"/>
            <a:ext cx="1645920" cy="658368"/>
          </a:xfrm>
          <a:prstGeom prst="rect">
            <a:avLst/>
          </a:prstGeom>
          <a:solidFill>
            <a:srgbClr val="002E54"/>
          </a:solidFill>
          <a:ln w="6350">
            <a:solidFill>
              <a:srgbClr val="D6D6D6"/>
            </a:solidFill>
            <a:prstDash val="solid"/>
          </a:ln>
        </p:spPr>
      </p:sp>
      <p:sp>
        <p:nvSpPr>
          <p:cNvPr id="9" name="Text 7"/>
          <p:cNvSpPr/>
          <p:nvPr/>
        </p:nvSpPr>
        <p:spPr>
          <a:xfrm>
            <a:off x="2798064" y="1664208"/>
            <a:ext cx="1536192" cy="548640"/>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Aptos" pitchFamily="34" charset="0"/>
                <a:ea typeface="Aptos" pitchFamily="34" charset="-122"/>
                <a:cs typeface="Aptos" pitchFamily="34" charset="-120"/>
              </a:rPr>
              <a:t>Momento</a:t>
            </a:r>
            <a:endParaRPr lang="en-US" sz="1320" dirty="0"/>
          </a:p>
        </p:txBody>
      </p:sp>
      <p:sp>
        <p:nvSpPr>
          <p:cNvPr id="10" name="Shape 8"/>
          <p:cNvSpPr/>
          <p:nvPr/>
        </p:nvSpPr>
        <p:spPr>
          <a:xfrm>
            <a:off x="4389120" y="1600200"/>
            <a:ext cx="7086600" cy="658368"/>
          </a:xfrm>
          <a:prstGeom prst="rect">
            <a:avLst/>
          </a:prstGeom>
          <a:solidFill>
            <a:srgbClr val="002E54"/>
          </a:solidFill>
          <a:ln w="6350">
            <a:solidFill>
              <a:srgbClr val="D6D6D6"/>
            </a:solidFill>
            <a:prstDash val="solid"/>
          </a:ln>
        </p:spPr>
      </p:sp>
      <p:sp>
        <p:nvSpPr>
          <p:cNvPr id="11" name="Text 9"/>
          <p:cNvSpPr/>
          <p:nvPr/>
        </p:nvSpPr>
        <p:spPr>
          <a:xfrm>
            <a:off x="4443984" y="1664208"/>
            <a:ext cx="6976872" cy="548640"/>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Aptos" pitchFamily="34" charset="0"/>
                <a:ea typeface="Aptos" pitchFamily="34" charset="-122"/>
                <a:cs typeface="Aptos" pitchFamily="34" charset="-120"/>
              </a:rPr>
              <a:t>Función</a:t>
            </a:r>
            <a:endParaRPr lang="en-US" sz="1320" dirty="0"/>
          </a:p>
        </p:txBody>
      </p:sp>
      <p:sp>
        <p:nvSpPr>
          <p:cNvPr id="12" name="Shape 10"/>
          <p:cNvSpPr/>
          <p:nvPr/>
        </p:nvSpPr>
        <p:spPr>
          <a:xfrm>
            <a:off x="685800" y="2258568"/>
            <a:ext cx="2057400" cy="658368"/>
          </a:xfrm>
          <a:prstGeom prst="rect">
            <a:avLst/>
          </a:prstGeom>
          <a:solidFill>
            <a:srgbClr val="FFFFFF"/>
          </a:solidFill>
          <a:ln w="6350">
            <a:solidFill>
              <a:srgbClr val="D6D6D6"/>
            </a:solidFill>
            <a:prstDash val="solid"/>
          </a:ln>
        </p:spPr>
      </p:sp>
      <p:sp>
        <p:nvSpPr>
          <p:cNvPr id="13" name="Text 11"/>
          <p:cNvSpPr/>
          <p:nvPr/>
        </p:nvSpPr>
        <p:spPr>
          <a:xfrm>
            <a:off x="740664" y="2322576"/>
            <a:ext cx="194767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Diagnóstica</a:t>
            </a:r>
            <a:endParaRPr lang="en-US" sz="1320" dirty="0"/>
          </a:p>
        </p:txBody>
      </p:sp>
      <p:sp>
        <p:nvSpPr>
          <p:cNvPr id="14" name="Shape 12"/>
          <p:cNvSpPr/>
          <p:nvPr/>
        </p:nvSpPr>
        <p:spPr>
          <a:xfrm>
            <a:off x="2743200" y="2258568"/>
            <a:ext cx="1645920" cy="658368"/>
          </a:xfrm>
          <a:prstGeom prst="rect">
            <a:avLst/>
          </a:prstGeom>
          <a:solidFill>
            <a:srgbClr val="FFFFFF"/>
          </a:solidFill>
          <a:ln w="6350">
            <a:solidFill>
              <a:srgbClr val="D6D6D6"/>
            </a:solidFill>
            <a:prstDash val="solid"/>
          </a:ln>
        </p:spPr>
      </p:sp>
      <p:sp>
        <p:nvSpPr>
          <p:cNvPr id="15" name="Text 13"/>
          <p:cNvSpPr/>
          <p:nvPr/>
        </p:nvSpPr>
        <p:spPr>
          <a:xfrm>
            <a:off x="2798064" y="2322576"/>
            <a:ext cx="153619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Antes</a:t>
            </a:r>
            <a:endParaRPr lang="en-US" sz="1320" dirty="0"/>
          </a:p>
        </p:txBody>
      </p:sp>
      <p:sp>
        <p:nvSpPr>
          <p:cNvPr id="16" name="Shape 14"/>
          <p:cNvSpPr/>
          <p:nvPr/>
        </p:nvSpPr>
        <p:spPr>
          <a:xfrm>
            <a:off x="4389120" y="2258568"/>
            <a:ext cx="7086600" cy="658368"/>
          </a:xfrm>
          <a:prstGeom prst="rect">
            <a:avLst/>
          </a:prstGeom>
          <a:solidFill>
            <a:srgbClr val="FFFFFF"/>
          </a:solidFill>
          <a:ln w="6350">
            <a:solidFill>
              <a:srgbClr val="D6D6D6"/>
            </a:solidFill>
            <a:prstDash val="solid"/>
          </a:ln>
        </p:spPr>
      </p:sp>
      <p:sp>
        <p:nvSpPr>
          <p:cNvPr id="17" name="Text 15"/>
          <p:cNvSpPr/>
          <p:nvPr/>
        </p:nvSpPr>
        <p:spPr>
          <a:xfrm>
            <a:off x="4443984" y="2322576"/>
            <a:ext cx="697687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Identificar conocimientos y brechas; en el Programa, sin nota (0 %).</a:t>
            </a:r>
            <a:endParaRPr lang="en-US" sz="1320" dirty="0"/>
          </a:p>
        </p:txBody>
      </p:sp>
      <p:sp>
        <p:nvSpPr>
          <p:cNvPr id="18" name="Shape 16"/>
          <p:cNvSpPr/>
          <p:nvPr/>
        </p:nvSpPr>
        <p:spPr>
          <a:xfrm>
            <a:off x="685800" y="2916936"/>
            <a:ext cx="2057400" cy="658368"/>
          </a:xfrm>
          <a:prstGeom prst="rect">
            <a:avLst/>
          </a:prstGeom>
          <a:solidFill>
            <a:srgbClr val="FFFFFF"/>
          </a:solidFill>
          <a:ln w="6350">
            <a:solidFill>
              <a:srgbClr val="D6D6D6"/>
            </a:solidFill>
            <a:prstDash val="solid"/>
          </a:ln>
        </p:spPr>
      </p:sp>
      <p:sp>
        <p:nvSpPr>
          <p:cNvPr id="19" name="Text 17"/>
          <p:cNvSpPr/>
          <p:nvPr/>
        </p:nvSpPr>
        <p:spPr>
          <a:xfrm>
            <a:off x="740664" y="2980944"/>
            <a:ext cx="194767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Formativa</a:t>
            </a:r>
            <a:endParaRPr lang="en-US" sz="1320" dirty="0"/>
          </a:p>
        </p:txBody>
      </p:sp>
      <p:sp>
        <p:nvSpPr>
          <p:cNvPr id="20" name="Shape 18"/>
          <p:cNvSpPr/>
          <p:nvPr/>
        </p:nvSpPr>
        <p:spPr>
          <a:xfrm>
            <a:off x="2743200" y="2916936"/>
            <a:ext cx="1645920" cy="658368"/>
          </a:xfrm>
          <a:prstGeom prst="rect">
            <a:avLst/>
          </a:prstGeom>
          <a:solidFill>
            <a:srgbClr val="FFFFFF"/>
          </a:solidFill>
          <a:ln w="6350">
            <a:solidFill>
              <a:srgbClr val="D6D6D6"/>
            </a:solidFill>
            <a:prstDash val="solid"/>
          </a:ln>
        </p:spPr>
      </p:sp>
      <p:sp>
        <p:nvSpPr>
          <p:cNvPr id="21" name="Text 19"/>
          <p:cNvSpPr/>
          <p:nvPr/>
        </p:nvSpPr>
        <p:spPr>
          <a:xfrm>
            <a:off x="2798064" y="2980944"/>
            <a:ext cx="153619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Durante</a:t>
            </a:r>
            <a:endParaRPr lang="en-US" sz="1320" dirty="0"/>
          </a:p>
        </p:txBody>
      </p:sp>
      <p:sp>
        <p:nvSpPr>
          <p:cNvPr id="22" name="Shape 20"/>
          <p:cNvSpPr/>
          <p:nvPr/>
        </p:nvSpPr>
        <p:spPr>
          <a:xfrm>
            <a:off x="4389120" y="2916936"/>
            <a:ext cx="7086600" cy="658368"/>
          </a:xfrm>
          <a:prstGeom prst="rect">
            <a:avLst/>
          </a:prstGeom>
          <a:solidFill>
            <a:srgbClr val="FFFFFF"/>
          </a:solidFill>
          <a:ln w="6350">
            <a:solidFill>
              <a:srgbClr val="D6D6D6"/>
            </a:solidFill>
            <a:prstDash val="solid"/>
          </a:ln>
        </p:spPr>
      </p:sp>
      <p:sp>
        <p:nvSpPr>
          <p:cNvPr id="23" name="Text 21"/>
          <p:cNvSpPr/>
          <p:nvPr/>
        </p:nvSpPr>
        <p:spPr>
          <a:xfrm>
            <a:off x="4443984" y="2980944"/>
            <a:ext cx="697687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Cuatro productos del Portafolio con retroalimentación (70 %).</a:t>
            </a:r>
            <a:endParaRPr lang="en-US" sz="1320" dirty="0"/>
          </a:p>
        </p:txBody>
      </p:sp>
      <p:sp>
        <p:nvSpPr>
          <p:cNvPr id="24" name="Shape 22"/>
          <p:cNvSpPr/>
          <p:nvPr/>
        </p:nvSpPr>
        <p:spPr>
          <a:xfrm>
            <a:off x="685800" y="3575304"/>
            <a:ext cx="2057400" cy="658368"/>
          </a:xfrm>
          <a:prstGeom prst="rect">
            <a:avLst/>
          </a:prstGeom>
          <a:solidFill>
            <a:srgbClr val="FFFFFF"/>
          </a:solidFill>
          <a:ln w="6350">
            <a:solidFill>
              <a:srgbClr val="D6D6D6"/>
            </a:solidFill>
            <a:prstDash val="solid"/>
          </a:ln>
        </p:spPr>
      </p:sp>
      <p:sp>
        <p:nvSpPr>
          <p:cNvPr id="25" name="Text 23"/>
          <p:cNvSpPr/>
          <p:nvPr/>
        </p:nvSpPr>
        <p:spPr>
          <a:xfrm>
            <a:off x="740664" y="3639312"/>
            <a:ext cx="194767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Final / sumativa</a:t>
            </a:r>
            <a:endParaRPr lang="en-US" sz="1320" dirty="0"/>
          </a:p>
        </p:txBody>
      </p:sp>
      <p:sp>
        <p:nvSpPr>
          <p:cNvPr id="26" name="Shape 24"/>
          <p:cNvSpPr/>
          <p:nvPr/>
        </p:nvSpPr>
        <p:spPr>
          <a:xfrm>
            <a:off x="2743200" y="3575304"/>
            <a:ext cx="1645920" cy="658368"/>
          </a:xfrm>
          <a:prstGeom prst="rect">
            <a:avLst/>
          </a:prstGeom>
          <a:solidFill>
            <a:srgbClr val="FFFFFF"/>
          </a:solidFill>
          <a:ln w="6350">
            <a:solidFill>
              <a:srgbClr val="D6D6D6"/>
            </a:solidFill>
            <a:prstDash val="solid"/>
          </a:ln>
        </p:spPr>
      </p:sp>
      <p:sp>
        <p:nvSpPr>
          <p:cNvPr id="27" name="Text 25"/>
          <p:cNvSpPr/>
          <p:nvPr/>
        </p:nvSpPr>
        <p:spPr>
          <a:xfrm>
            <a:off x="2798064" y="3639312"/>
            <a:ext cx="153619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Al cierre</a:t>
            </a:r>
            <a:endParaRPr lang="en-US" sz="1320" dirty="0"/>
          </a:p>
        </p:txBody>
      </p:sp>
      <p:sp>
        <p:nvSpPr>
          <p:cNvPr id="28" name="Shape 26"/>
          <p:cNvSpPr/>
          <p:nvPr/>
        </p:nvSpPr>
        <p:spPr>
          <a:xfrm>
            <a:off x="4389120" y="3575304"/>
            <a:ext cx="7086600" cy="658368"/>
          </a:xfrm>
          <a:prstGeom prst="rect">
            <a:avLst/>
          </a:prstGeom>
          <a:solidFill>
            <a:srgbClr val="FFFFFF"/>
          </a:solidFill>
          <a:ln w="6350">
            <a:solidFill>
              <a:srgbClr val="D6D6D6"/>
            </a:solidFill>
            <a:prstDash val="solid"/>
          </a:ln>
        </p:spPr>
      </p:sp>
      <p:sp>
        <p:nvSpPr>
          <p:cNvPr id="29" name="Text 27"/>
          <p:cNvSpPr/>
          <p:nvPr/>
        </p:nvSpPr>
        <p:spPr>
          <a:xfrm>
            <a:off x="4443984" y="3639312"/>
            <a:ext cx="6976872" cy="548640"/>
          </a:xfrm>
          <a:prstGeom prst="rect">
            <a:avLst/>
          </a:prstGeom>
          <a:noFill/>
          <a:ln/>
        </p:spPr>
        <p:txBody>
          <a:bodyPr wrap="square" lIns="0" tIns="0" rIns="0" bIns="0" rtlCol="0" anchor="ctr">
            <a:normAutofit/>
          </a:bodyPr>
          <a:lstStyle/>
          <a:p>
            <a:pPr marL="0" indent="0" algn="l">
              <a:buNone/>
            </a:pPr>
            <a:r>
              <a:rPr lang="en-US" sz="1320" dirty="0">
                <a:solidFill>
                  <a:srgbClr val="1F2937"/>
                </a:solidFill>
                <a:latin typeface="Aptos" pitchFamily="34" charset="0"/>
                <a:ea typeface="Aptos" pitchFamily="34" charset="-122"/>
                <a:cs typeface="Aptos" pitchFamily="34" charset="-120"/>
              </a:rPr>
              <a:t>Prueba teórica al terminar los seis módulos (30 %).</a:t>
            </a:r>
            <a:endParaRPr lang="en-US" sz="1320" dirty="0"/>
          </a:p>
        </p:txBody>
      </p:sp>
      <p:sp>
        <p:nvSpPr>
          <p:cNvPr id="30" name="Text 28"/>
          <p:cNvSpPr/>
          <p:nvPr/>
        </p:nvSpPr>
        <p:spPr>
          <a:xfrm>
            <a:off x="914400" y="4983480"/>
            <a:ext cx="10058400" cy="384048"/>
          </a:xfrm>
          <a:prstGeom prst="rect">
            <a:avLst/>
          </a:prstGeom>
          <a:noFill/>
          <a:ln/>
        </p:spPr>
        <p:txBody>
          <a:bodyPr wrap="square" lIns="0" tIns="0" rIns="0" bIns="0" rtlCol="0" anchor="ctr"/>
          <a:lstStyle/>
          <a:p>
            <a:pPr marL="0" indent="0" algn="ctr">
              <a:buNone/>
            </a:pPr>
            <a:r>
              <a:rPr lang="en-US" sz="2050" dirty="0">
                <a:solidFill>
                  <a:srgbClr val="002E54"/>
                </a:solidFill>
                <a:latin typeface="Aptos Display" pitchFamily="34" charset="0"/>
                <a:ea typeface="Aptos Display" pitchFamily="34" charset="-122"/>
                <a:cs typeface="Aptos Display" pitchFamily="34" charset="-120"/>
              </a:rPr>
              <a:t>Calificación final = 70 % Portafolio + 30 % prueba teórica. Aprobación académica: ≥70/100. La asistencia no suma puntos; certificación según el Programa.</a:t>
            </a:r>
            <a:endParaRPr lang="en-US" sz="2050" dirty="0"/>
          </a:p>
        </p:txBody>
      </p:sp>
      <p:sp>
        <p:nvSpPr>
          <p:cNvPr id="33" name="Text 30"/>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34" name="Text 31"/>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Instrumentos coherentes con competencias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804672" y="1664208"/>
            <a:ext cx="4754880" cy="2743200"/>
          </a:xfrm>
          <a:prstGeom prst="rect">
            <a:avLst/>
          </a:prstGeom>
          <a:noFill/>
          <a:ln/>
        </p:spPr>
        <p:txBody>
          <a:bodyPr wrap="square" lIns="635" tIns="635" rIns="635" bIns="635" rtlCol="0" anchor="ctr">
            <a:normAutofit/>
          </a:bodyPr>
          <a:lstStyle/>
          <a:p>
            <a:pPr marL="0" indent="0">
              <a:buNone/>
            </a:pPr>
            <a:r>
              <a:rPr lang="en-US" sz="1800" dirty="0">
                <a:solidFill>
                  <a:srgbClr val="1F2937"/>
                </a:solidFill>
                <a:latin typeface="Aptos" pitchFamily="34" charset="0"/>
                <a:ea typeface="Aptos" pitchFamily="34" charset="-122"/>
                <a:cs typeface="Aptos" pitchFamily="34" charset="-120"/>
              </a:rPr>
              <a:t>▸ Rúbricas.</a:t>
            </a:r>
            <a:endParaRPr lang="en-US" sz="1800" dirty="0"/>
          </a:p>
          <a:p>
            <a:pPr marL="0" indent="0">
              <a:buNone/>
            </a:pPr>
            <a:r>
              <a:rPr lang="en-US" sz="1800" dirty="0">
                <a:solidFill>
                  <a:srgbClr val="1F2937"/>
                </a:solidFill>
                <a:latin typeface="Aptos" pitchFamily="34" charset="0"/>
                <a:ea typeface="Aptos" pitchFamily="34" charset="-122"/>
                <a:cs typeface="Aptos" pitchFamily="34" charset="-120"/>
              </a:rPr>
              <a:t>▸ Listas de cotejo.</a:t>
            </a:r>
            <a:endParaRPr lang="en-US" sz="1800" dirty="0"/>
          </a:p>
          <a:p>
            <a:pPr marL="0" indent="0">
              <a:buNone/>
            </a:pPr>
            <a:r>
              <a:rPr lang="en-US" sz="1800" dirty="0">
                <a:solidFill>
                  <a:srgbClr val="1F2937"/>
                </a:solidFill>
                <a:latin typeface="Aptos" pitchFamily="34" charset="0"/>
                <a:ea typeface="Aptos" pitchFamily="34" charset="-122"/>
                <a:cs typeface="Aptos" pitchFamily="34" charset="-120"/>
              </a:rPr>
              <a:t>▸ Escalas de valoración.</a:t>
            </a:r>
            <a:endParaRPr lang="en-US" sz="1800" dirty="0"/>
          </a:p>
          <a:p>
            <a:pPr marL="0" indent="0">
              <a:buNone/>
            </a:pPr>
            <a:r>
              <a:rPr lang="en-US" sz="1800" dirty="0">
                <a:solidFill>
                  <a:srgbClr val="1F2937"/>
                </a:solidFill>
                <a:latin typeface="Aptos" pitchFamily="34" charset="0"/>
                <a:ea typeface="Aptos" pitchFamily="34" charset="-122"/>
                <a:cs typeface="Aptos" pitchFamily="34" charset="-120"/>
              </a:rPr>
              <a:t>▸ Portafolios.</a:t>
            </a:r>
            <a:endParaRPr lang="en-US" sz="1800" dirty="0"/>
          </a:p>
          <a:p>
            <a:pPr marL="0" indent="0">
              <a:buNone/>
            </a:pPr>
            <a:r>
              <a:rPr lang="en-US" sz="1800" dirty="0">
                <a:solidFill>
                  <a:srgbClr val="1F2937"/>
                </a:solidFill>
                <a:latin typeface="Aptos" pitchFamily="34" charset="0"/>
                <a:ea typeface="Aptos" pitchFamily="34" charset="-122"/>
                <a:cs typeface="Aptos" pitchFamily="34" charset="-120"/>
              </a:rPr>
              <a:t>▸ Pruebas situacionales.</a:t>
            </a:r>
            <a:endParaRPr lang="en-US" sz="1800" dirty="0"/>
          </a:p>
        </p:txBody>
      </p:sp>
      <p:sp>
        <p:nvSpPr>
          <p:cNvPr id="7" name="Text 5"/>
          <p:cNvSpPr/>
          <p:nvPr/>
        </p:nvSpPr>
        <p:spPr>
          <a:xfrm>
            <a:off x="6080760" y="1691640"/>
            <a:ext cx="4663440" cy="320040"/>
          </a:xfrm>
          <a:prstGeom prst="rect">
            <a:avLst/>
          </a:prstGeom>
          <a:noFill/>
          <a:ln/>
        </p:spPr>
        <p:txBody>
          <a:bodyPr wrap="square" lIns="0" tIns="0" rIns="0" bIns="0" rtlCol="0" anchor="ctr"/>
          <a:lstStyle/>
          <a:p>
            <a:pPr marL="0" indent="0">
              <a:buNone/>
            </a:pPr>
            <a:r>
              <a:rPr lang="en-US" sz="1400" b="1" dirty="0">
                <a:solidFill>
                  <a:srgbClr val="00CBA8"/>
                </a:solidFill>
                <a:latin typeface="Aptos" pitchFamily="34" charset="0"/>
                <a:ea typeface="Aptos" pitchFamily="34" charset="-122"/>
                <a:cs typeface="Aptos" pitchFamily="34" charset="-120"/>
              </a:rPr>
              <a:t>Cuatro productos del Portafolio</a:t>
            </a:r>
            <a:endParaRPr lang="en-US" sz="1400" dirty="0"/>
          </a:p>
        </p:txBody>
      </p:sp>
      <p:sp>
        <p:nvSpPr>
          <p:cNvPr id="8" name="Text 6"/>
          <p:cNvSpPr/>
          <p:nvPr/>
        </p:nvSpPr>
        <p:spPr>
          <a:xfrm>
            <a:off x="6080760" y="2212848"/>
            <a:ext cx="4663440" cy="1234440"/>
          </a:xfrm>
          <a:prstGeom prst="rect">
            <a:avLst/>
          </a:prstGeom>
          <a:noFill/>
          <a:ln/>
        </p:spPr>
        <p:txBody>
          <a:bodyPr wrap="square" lIns="254" tIns="254" rIns="254" bIns="254" rtlCol="0" anchor="ctr">
            <a:normAutofit fontScale="92500" lnSpcReduction="10000"/>
          </a:bodyPr>
          <a:lstStyle/>
          <a:p>
            <a:pPr marL="0" indent="0">
              <a:buNone/>
            </a:pPr>
            <a:r>
              <a:rPr lang="en-US" sz="2400" dirty="0">
                <a:solidFill>
                  <a:srgbClr val="002E54"/>
                </a:solidFill>
                <a:latin typeface="Aptos Display" pitchFamily="34" charset="0"/>
                <a:ea typeface="Aptos Display" pitchFamily="34" charset="-122"/>
                <a:cs typeface="Aptos Display" pitchFamily="34" charset="-120"/>
              </a:rPr>
              <a:t>Diagnóstico empresarial integral.
Plan de Mejora.
Evaluación del Plan de Mejora.
Diseño de réplica territorial (K10 Plan de Multiplicación Territorial).</a:t>
            </a:r>
            <a:endParaRPr lang="en-US" sz="2400" dirty="0"/>
          </a:p>
        </p:txBody>
      </p:sp>
      <p:sp>
        <p:nvSpPr>
          <p:cNvPr id="11" name="Text 8"/>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2" name="Text 9"/>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Retroalimentación útil y respetuosa</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658368" y="1572768"/>
            <a:ext cx="512064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Debe ser</a:t>
            </a:r>
            <a:endParaRPr lang="en-US" sz="1420" dirty="0"/>
          </a:p>
        </p:txBody>
      </p:sp>
      <p:sp>
        <p:nvSpPr>
          <p:cNvPr id="7" name="Text 5"/>
          <p:cNvSpPr/>
          <p:nvPr/>
        </p:nvSpPr>
        <p:spPr>
          <a:xfrm>
            <a:off x="658368" y="1965960"/>
            <a:ext cx="516636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Específica.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Oportuna.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Orientada al desarrollo.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Basada en evidencia.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Respetuosa.</a:t>
            </a:r>
            <a:endParaRPr lang="en-US" sz="1630" dirty="0"/>
          </a:p>
        </p:txBody>
      </p:sp>
      <p:sp>
        <p:nvSpPr>
          <p:cNvPr id="8" name="Text 6"/>
          <p:cNvSpPr/>
          <p:nvPr/>
        </p:nvSpPr>
        <p:spPr>
          <a:xfrm>
            <a:off x="6446520" y="1572768"/>
            <a:ext cx="502920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Debe evitar</a:t>
            </a:r>
            <a:endParaRPr lang="en-US" sz="1420" dirty="0"/>
          </a:p>
        </p:txBody>
      </p:sp>
      <p:sp>
        <p:nvSpPr>
          <p:cNvPr id="9" name="Text 7"/>
          <p:cNvSpPr/>
          <p:nvPr/>
        </p:nvSpPr>
        <p:spPr>
          <a:xfrm>
            <a:off x="6446520" y="1965960"/>
            <a:ext cx="507492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Juicios personales.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Generalidades sin ejemplo.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Correcciones sin alternativa.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Sobrecargar con demasiados cambios.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Desconocer el contexto.</a:t>
            </a:r>
            <a:endParaRPr lang="en-US" sz="1630" dirty="0"/>
          </a:p>
        </p:txBody>
      </p:sp>
      <p:sp>
        <p:nvSpPr>
          <p:cNvPr id="12" name="Text 9"/>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3" name="Text 10"/>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Análisis de evidencias de aprendizaje</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77240" y="1664208"/>
            <a:ext cx="10241280" cy="3200400"/>
          </a:xfrm>
          <a:prstGeom prst="rect">
            <a:avLst/>
          </a:prstGeom>
          <a:noFill/>
          <a:ln/>
        </p:spPr>
        <p:txBody>
          <a:bodyPr wrap="square" lIns="635" tIns="635" rIns="635" bIns="635" rtlCol="0" anchor="ctr">
            <a:normAutofit/>
          </a:bodyPr>
          <a:lstStyle/>
          <a:p>
            <a:pPr marL="0" indent="0">
              <a:buNone/>
            </a:pPr>
            <a:r>
              <a:rPr lang="en-US" sz="1720" dirty="0">
                <a:solidFill>
                  <a:srgbClr val="1F2937"/>
                </a:solidFill>
                <a:latin typeface="Aptos" pitchFamily="34" charset="0"/>
                <a:ea typeface="Aptos" pitchFamily="34" charset="-122"/>
                <a:cs typeface="Aptos" pitchFamily="34" charset="-120"/>
              </a:rPr>
              <a:t>▸ Identificar logros y dificultades.</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Interpretar pedagógicamente la evidencia.</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Diferenciar desempeño observado de opinión general.</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Registrar decisiones de mejora.</a:t>
            </a:r>
            <a:endParaRPr lang="en-US" sz="1720" dirty="0"/>
          </a:p>
          <a:p>
            <a:pPr marL="0" indent="0">
              <a:buNone/>
            </a:pPr>
            <a:r>
              <a:rPr lang="en-US" sz="1720" dirty="0">
                <a:solidFill>
                  <a:srgbClr val="1F2937"/>
                </a:solidFill>
                <a:latin typeface="Aptos" pitchFamily="34" charset="0"/>
                <a:ea typeface="Aptos" pitchFamily="34" charset="-122"/>
                <a:cs typeface="Aptos" pitchFamily="34" charset="-120"/>
              </a:rPr>
              <a:t>▸ Ajustar contenidos, métodos, tiempos o recursos.</a:t>
            </a:r>
            <a:endParaRPr lang="en-US" sz="1720" dirty="0"/>
          </a:p>
        </p:txBody>
      </p:sp>
      <p:sp>
        <p:nvSpPr>
          <p:cNvPr id="9" name="Text 6"/>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0" name="Text 7"/>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Ejercicio sincrónico · Evaluar para mejorar</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58368" y="1508760"/>
            <a:ext cx="10972800" cy="4480560"/>
          </a:xfrm>
          <a:prstGeom prst="rect">
            <a:avLst/>
          </a:prstGeom>
          <a:solidFill>
            <a:srgbClr val="F8FAF9"/>
          </a:solidFill>
          <a:ln w="6350">
            <a:solidFill>
              <a:srgbClr val="D9D4C9"/>
            </a:solidFill>
            <a:prstDash val="solid"/>
          </a:ln>
        </p:spPr>
      </p:sp>
      <p:sp>
        <p:nvSpPr>
          <p:cNvPr id="7" name="Text 5"/>
          <p:cNvSpPr/>
          <p:nvPr/>
        </p:nvSpPr>
        <p:spPr>
          <a:xfrm>
            <a:off x="868680" y="1783080"/>
            <a:ext cx="3474720" cy="201168"/>
          </a:xfrm>
          <a:prstGeom prst="rect">
            <a:avLst/>
          </a:prstGeom>
          <a:noFill/>
          <a:ln/>
        </p:spPr>
        <p:txBody>
          <a:bodyPr wrap="square" lIns="0" tIns="0" rIns="0" bIns="0" rtlCol="0" anchor="ctr"/>
          <a:lstStyle/>
          <a:p>
            <a:pPr marL="0" indent="0">
              <a:buNone/>
            </a:pPr>
            <a:r>
              <a:rPr lang="en-US" sz="1100" b="1" dirty="0">
                <a:solidFill>
                  <a:srgbClr val="00CBA8"/>
                </a:solidFill>
                <a:latin typeface="Aptos" pitchFamily="34" charset="0"/>
                <a:ea typeface="Aptos" pitchFamily="34" charset="-122"/>
                <a:cs typeface="Aptos" pitchFamily="34" charset="-120"/>
              </a:rPr>
              <a:t>ACTIVIDAD PRÁCTICA</a:t>
            </a:r>
            <a:endParaRPr lang="en-US" sz="1100" dirty="0"/>
          </a:p>
        </p:txBody>
      </p:sp>
      <p:sp>
        <p:nvSpPr>
          <p:cNvPr id="8" name="Text 6"/>
          <p:cNvSpPr/>
          <p:nvPr/>
        </p:nvSpPr>
        <p:spPr>
          <a:xfrm>
            <a:off x="868680" y="2103120"/>
            <a:ext cx="9875520" cy="457200"/>
          </a:xfrm>
          <a:prstGeom prst="rect">
            <a:avLst/>
          </a:prstGeom>
          <a:noFill/>
          <a:ln/>
        </p:spPr>
        <p:txBody>
          <a:bodyPr wrap="square" lIns="0" tIns="0" rIns="0" bIns="0" rtlCol="0" anchor="ctr"/>
          <a:lstStyle/>
          <a:p>
            <a:pPr marL="0" indent="0">
              <a:buNone/>
            </a:pPr>
            <a:r>
              <a:rPr lang="en-US" sz="2400" b="1" dirty="0">
                <a:solidFill>
                  <a:srgbClr val="002E54"/>
                </a:solidFill>
                <a:latin typeface="Aptos Display" pitchFamily="34" charset="0"/>
                <a:ea typeface="Aptos Display" pitchFamily="34" charset="-122"/>
                <a:cs typeface="Aptos Display" pitchFamily="34" charset="-120"/>
              </a:rPr>
              <a:t>Aplicación y retroalimentación de la práctica</a:t>
            </a:r>
            <a:endParaRPr lang="en-US" sz="2400" dirty="0"/>
          </a:p>
        </p:txBody>
      </p:sp>
      <p:sp>
        <p:nvSpPr>
          <p:cNvPr id="9" name="Text 7"/>
          <p:cNvSpPr/>
          <p:nvPr/>
        </p:nvSpPr>
        <p:spPr>
          <a:xfrm>
            <a:off x="868680" y="2788920"/>
            <a:ext cx="7132320" cy="2194560"/>
          </a:xfrm>
          <a:prstGeom prst="rect">
            <a:avLst/>
          </a:prstGeom>
          <a:noFill/>
          <a:ln/>
        </p:spPr>
        <p:txBody>
          <a:bodyPr wrap="square" lIns="635" tIns="635" rIns="635" bIns="635" rtlCol="0" anchor="ctr">
            <a:normAutofit/>
          </a:bodyPr>
          <a:lstStyle/>
          <a:p>
            <a:pPr marL="0" indent="0">
              <a:buNone/>
            </a:pPr>
            <a:r>
              <a:rPr lang="en-US" sz="1550" dirty="0">
                <a:solidFill>
                  <a:srgbClr val="1F2937"/>
                </a:solidFill>
                <a:latin typeface="Aptos" pitchFamily="34" charset="0"/>
                <a:ea typeface="Aptos" pitchFamily="34" charset="-122"/>
                <a:cs typeface="Aptos" pitchFamily="34" charset="-120"/>
              </a:rPr>
              <a:t>1. Revisar una microfacilitación o diseño de sesión.</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2. Valorar el desempeño con un instrumento breve coherente.</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3. Identificar evidencias de logro y brechas.</a:t>
            </a:r>
            <a:endParaRPr lang="en-US" sz="1550" dirty="0"/>
          </a:p>
          <a:p>
            <a:pPr marL="0" indent="0">
              <a:buNone/>
            </a:pPr>
            <a:r>
              <a:rPr lang="en-US" sz="1550" dirty="0">
                <a:solidFill>
                  <a:srgbClr val="1F2937"/>
                </a:solidFill>
                <a:latin typeface="Aptos" pitchFamily="34" charset="0"/>
                <a:ea typeface="Aptos" pitchFamily="34" charset="-122"/>
                <a:cs typeface="Aptos" pitchFamily="34" charset="-120"/>
              </a:rPr>
              <a:t>4. Practicar evidencia → criterio → logro → mejora → acción.</a:t>
            </a:r>
            <a:endParaRPr lang="en-US" sz="1550" dirty="0"/>
          </a:p>
        </p:txBody>
      </p:sp>
      <p:sp>
        <p:nvSpPr>
          <p:cNvPr id="10" name="Shape 8"/>
          <p:cNvSpPr/>
          <p:nvPr/>
        </p:nvSpPr>
        <p:spPr>
          <a:xfrm>
            <a:off x="8366760" y="2788920"/>
            <a:ext cx="2697480" cy="1417320"/>
          </a:xfrm>
          <a:prstGeom prst="rect">
            <a:avLst/>
          </a:prstGeom>
          <a:solidFill>
            <a:srgbClr val="E8F5F2"/>
          </a:solidFill>
          <a:ln w="12700">
            <a:solidFill>
              <a:srgbClr val="CFE7DF"/>
            </a:solidFill>
            <a:prstDash val="solid"/>
          </a:ln>
        </p:spPr>
      </p:sp>
      <p:sp>
        <p:nvSpPr>
          <p:cNvPr id="11" name="Text 9"/>
          <p:cNvSpPr/>
          <p:nvPr/>
        </p:nvSpPr>
        <p:spPr>
          <a:xfrm>
            <a:off x="8577072" y="2999232"/>
            <a:ext cx="2240280" cy="228600"/>
          </a:xfrm>
          <a:prstGeom prst="rect">
            <a:avLst/>
          </a:prstGeom>
          <a:noFill/>
          <a:ln/>
        </p:spPr>
        <p:txBody>
          <a:bodyPr wrap="square" lIns="0" tIns="0" rIns="0" bIns="0" rtlCol="0" anchor="ctr"/>
          <a:lstStyle/>
          <a:p>
            <a:pPr marL="0" indent="0">
              <a:buNone/>
            </a:pPr>
            <a:r>
              <a:rPr lang="en-US" sz="1200" b="1" dirty="0">
                <a:solidFill>
                  <a:srgbClr val="002E54"/>
                </a:solidFill>
                <a:latin typeface="Aptos" pitchFamily="34" charset="0"/>
                <a:ea typeface="Aptos" pitchFamily="34" charset="-122"/>
                <a:cs typeface="Aptos" pitchFamily="34" charset="-120"/>
              </a:rPr>
              <a:t>Evidencia de práctica</a:t>
            </a:r>
            <a:endParaRPr lang="en-US" sz="1200" dirty="0"/>
          </a:p>
        </p:txBody>
      </p:sp>
      <p:sp>
        <p:nvSpPr>
          <p:cNvPr id="12" name="Text 10"/>
          <p:cNvSpPr/>
          <p:nvPr/>
        </p:nvSpPr>
        <p:spPr>
          <a:xfrm>
            <a:off x="8577072" y="3364992"/>
            <a:ext cx="2148840" cy="438912"/>
          </a:xfrm>
          <a:prstGeom prst="rect">
            <a:avLst/>
          </a:prstGeom>
          <a:noFill/>
          <a:ln/>
        </p:spPr>
        <p:txBody>
          <a:bodyPr wrap="square" lIns="254" tIns="254" rIns="254" bIns="254" rtlCol="0" anchor="ctr">
            <a:normAutofit/>
          </a:bodyPr>
          <a:lstStyle/>
          <a:p>
            <a:pPr marL="0" indent="0">
              <a:buNone/>
            </a:pPr>
            <a:r>
              <a:rPr lang="en-US" sz="1340" dirty="0">
                <a:solidFill>
                  <a:srgbClr val="1F2937"/>
                </a:solidFill>
                <a:latin typeface="Aptos" pitchFamily="34" charset="0"/>
                <a:ea typeface="Aptos" pitchFamily="34" charset="-122"/>
                <a:cs typeface="Aptos" pitchFamily="34" charset="-120"/>
              </a:rPr>
              <a:t>Instrumento aplicado y ajuste pedagógico; sin producto adicional.</a:t>
            </a:r>
            <a:endParaRPr lang="en-US" sz="1340" dirty="0"/>
          </a:p>
        </p:txBody>
      </p:sp>
      <p:sp>
        <p:nvSpPr>
          <p:cNvPr id="13" name="Shape 11"/>
          <p:cNvSpPr/>
          <p:nvPr/>
        </p:nvSpPr>
        <p:spPr>
          <a:xfrm>
            <a:off x="8549640" y="4526280"/>
            <a:ext cx="2057400" cy="310896"/>
          </a:xfrm>
          <a:prstGeom prst="roundRect">
            <a:avLst>
              <a:gd name="adj" fmla="val 17647"/>
            </a:avLst>
          </a:prstGeom>
          <a:solidFill>
            <a:srgbClr val="D89A2B"/>
          </a:solidFill>
          <a:ln w="12700">
            <a:solidFill>
              <a:srgbClr val="D89A2B">
                <a:alpha val="0"/>
              </a:srgbClr>
            </a:solidFill>
            <a:prstDash val="solid"/>
          </a:ln>
        </p:spPr>
      </p:sp>
      <p:sp>
        <p:nvSpPr>
          <p:cNvPr id="14" name="Text 12"/>
          <p:cNvSpPr/>
          <p:nvPr/>
        </p:nvSpPr>
        <p:spPr>
          <a:xfrm>
            <a:off x="8622792" y="4585716"/>
            <a:ext cx="1911096" cy="1645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50 + 35 min</a:t>
            </a:r>
            <a:endParaRPr lang="en-US" sz="950" dirty="0"/>
          </a:p>
        </p:txBody>
      </p:sp>
      <p:sp>
        <p:nvSpPr>
          <p:cNvPr id="17" name="Text 14"/>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8" name="Text 15"/>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2E54"/>
        </a:solidFill>
        <a:effectLst/>
      </p:bgPr>
    </p:bg>
    <p:spTree>
      <p:nvGrpSpPr>
        <p:cNvPr id="1" name=""/>
        <p:cNvGrpSpPr/>
        <p:nvPr/>
      </p:nvGrpSpPr>
      <p:grpSpPr>
        <a:xfrm>
          <a:off x="0" y="0"/>
          <a:ext cx="0" cy="0"/>
          <a:chOff x="0" y="0"/>
          <a:chExt cx="0" cy="0"/>
        </a:xfrm>
      </p:grpSpPr>
      <p:sp>
        <p:nvSpPr>
          <p:cNvPr id="3" name="Text 0"/>
          <p:cNvSpPr/>
          <p:nvPr/>
        </p:nvSpPr>
        <p:spPr>
          <a:xfrm>
            <a:off x="777240" y="1417320"/>
            <a:ext cx="1828800" cy="777240"/>
          </a:xfrm>
          <a:prstGeom prst="rect">
            <a:avLst/>
          </a:prstGeom>
          <a:noFill/>
          <a:ln/>
        </p:spPr>
        <p:txBody>
          <a:bodyPr wrap="square" lIns="0" tIns="0" rIns="0" bIns="0" rtlCol="0" anchor="ctr"/>
          <a:lstStyle/>
          <a:p>
            <a:pPr marL="0" indent="0">
              <a:buNone/>
            </a:pPr>
            <a:r>
              <a:rPr lang="en-US" sz="4400" dirty="0">
                <a:solidFill>
                  <a:srgbClr val="D89A2B"/>
                </a:solidFill>
                <a:latin typeface="Aptos Display" pitchFamily="34" charset="0"/>
                <a:ea typeface="Aptos Display" pitchFamily="34" charset="-122"/>
                <a:cs typeface="Aptos Display" pitchFamily="34" charset="-120"/>
              </a:rPr>
              <a:t>06</a:t>
            </a:r>
            <a:endParaRPr lang="en-US" sz="4400" dirty="0"/>
          </a:p>
        </p:txBody>
      </p:sp>
      <p:sp>
        <p:nvSpPr>
          <p:cNvPr id="4" name="Shape 1"/>
          <p:cNvSpPr/>
          <p:nvPr/>
        </p:nvSpPr>
        <p:spPr>
          <a:xfrm>
            <a:off x="777240" y="2331720"/>
            <a:ext cx="658368" cy="45720"/>
          </a:xfrm>
          <a:prstGeom prst="rect">
            <a:avLst/>
          </a:prstGeom>
          <a:solidFill>
            <a:srgbClr val="D89A2B"/>
          </a:solidFill>
          <a:ln w="12700">
            <a:solidFill>
              <a:srgbClr val="D89A2B"/>
            </a:solidFill>
            <a:prstDash val="solid"/>
          </a:ln>
        </p:spPr>
      </p:sp>
      <p:sp>
        <p:nvSpPr>
          <p:cNvPr id="5" name="Text 2"/>
          <p:cNvSpPr/>
          <p:nvPr/>
        </p:nvSpPr>
        <p:spPr>
          <a:xfrm>
            <a:off x="777240" y="2770632"/>
            <a:ext cx="8869680" cy="548640"/>
          </a:xfrm>
          <a:prstGeom prst="rect">
            <a:avLst/>
          </a:prstGeom>
          <a:noFill/>
          <a:ln/>
        </p:spPr>
        <p:txBody>
          <a:bodyPr wrap="square" lIns="0" tIns="0" rIns="0" bIns="0" rtlCol="0" anchor="ctr"/>
          <a:lstStyle/>
          <a:p>
            <a:pPr marL="0" indent="0">
              <a:buNone/>
            </a:pPr>
            <a:r>
              <a:rPr lang="en-US" sz="2900" dirty="0">
                <a:solidFill>
                  <a:srgbClr val="FFFFFF"/>
                </a:solidFill>
                <a:latin typeface="Aptos Display" pitchFamily="34" charset="0"/>
                <a:ea typeface="Aptos Display" pitchFamily="34" charset="-122"/>
                <a:cs typeface="Aptos Display" pitchFamily="34" charset="-120"/>
              </a:rPr>
              <a:t>APLICACIÓN TERRITORIAL</a:t>
            </a:r>
            <a:endParaRPr lang="en-US" sz="2900" dirty="0"/>
          </a:p>
        </p:txBody>
      </p:sp>
      <p:sp>
        <p:nvSpPr>
          <p:cNvPr id="6" name="Text 3"/>
          <p:cNvSpPr/>
          <p:nvPr/>
        </p:nvSpPr>
        <p:spPr>
          <a:xfrm>
            <a:off x="777240" y="3474720"/>
            <a:ext cx="7223760" cy="640080"/>
          </a:xfrm>
          <a:prstGeom prst="rect">
            <a:avLst/>
          </a:prstGeom>
          <a:noFill/>
          <a:ln/>
        </p:spPr>
        <p:txBody>
          <a:bodyPr wrap="square" lIns="0" tIns="0" rIns="0" bIns="0" rtlCol="0" anchor="ctr"/>
          <a:lstStyle/>
          <a:p>
            <a:pPr marL="0" indent="0">
              <a:buNone/>
            </a:pPr>
            <a:r>
              <a:rPr lang="en-US" sz="1450" dirty="0">
                <a:solidFill>
                  <a:srgbClr val="E5EEF3"/>
                </a:solidFill>
                <a:latin typeface="Aptos" pitchFamily="34" charset="0"/>
                <a:ea typeface="Aptos" pitchFamily="34" charset="-122"/>
                <a:cs typeface="Aptos" pitchFamily="34" charset="-120"/>
              </a:rPr>
              <a:t>Adaptación, baja conectividad, transferencia y evaluación del módulo</a:t>
            </a:r>
            <a:endParaRPr lang="en-US" sz="1450" dirty="0"/>
          </a:p>
        </p:txBody>
      </p:sp>
      <p:sp>
        <p:nvSpPr>
          <p:cNvPr id="7" name="Text 4"/>
          <p:cNvSpPr/>
          <p:nvPr/>
        </p:nvSpPr>
        <p:spPr>
          <a:xfrm>
            <a:off x="777240" y="6254496"/>
            <a:ext cx="2743200" cy="201168"/>
          </a:xfrm>
          <a:prstGeom prst="rect">
            <a:avLst/>
          </a:prstGeom>
          <a:noFill/>
          <a:ln/>
        </p:spPr>
        <p:txBody>
          <a:bodyPr wrap="square" lIns="0" tIns="0" rIns="0" bIns="0" rtlCol="0" anchor="ctr"/>
          <a:lstStyle/>
          <a:p>
            <a:pPr marL="0" indent="0">
              <a:buNone/>
            </a:pPr>
            <a:r>
              <a:rPr lang="en-US" sz="850" dirty="0">
                <a:solidFill>
                  <a:srgbClr val="B9C7D2"/>
                </a:solidFill>
                <a:latin typeface="Aptos" pitchFamily="34" charset="0"/>
                <a:ea typeface="Aptos" pitchFamily="34" charset="-122"/>
                <a:cs typeface="Aptos" pitchFamily="34" charset="-120"/>
              </a:rPr>
              <a:t>Actividad 2.3.2 — FdF</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Adaptación a baja conectividad y recursos limitados</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658368" y="1572768"/>
            <a:ext cx="512064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Condiciones a prever</a:t>
            </a:r>
            <a:endParaRPr lang="en-US" sz="1420" dirty="0"/>
          </a:p>
        </p:txBody>
      </p:sp>
      <p:sp>
        <p:nvSpPr>
          <p:cNvPr id="7" name="Text 5"/>
          <p:cNvSpPr/>
          <p:nvPr/>
        </p:nvSpPr>
        <p:spPr>
          <a:xfrm>
            <a:off x="658368" y="1965960"/>
            <a:ext cx="516636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Baja conectividad o conexión intermitente.</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Interrupciones energéticas.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Restricciones de movilidad.</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Disponibilidad limitada de equipamiento.</a:t>
            </a:r>
            <a:endParaRPr lang="en-US" sz="1630" dirty="0"/>
          </a:p>
        </p:txBody>
      </p:sp>
      <p:sp>
        <p:nvSpPr>
          <p:cNvPr id="8" name="Text 6"/>
          <p:cNvSpPr/>
          <p:nvPr/>
        </p:nvSpPr>
        <p:spPr>
          <a:xfrm>
            <a:off x="6446520" y="1572768"/>
            <a:ext cx="5029200" cy="292608"/>
          </a:xfrm>
          <a:prstGeom prst="rect">
            <a:avLst/>
          </a:prstGeom>
          <a:noFill/>
          <a:ln/>
        </p:spPr>
        <p:txBody>
          <a:bodyPr wrap="square" lIns="0" tIns="0" rIns="0" bIns="0" rtlCol="0" anchor="ctr"/>
          <a:lstStyle/>
          <a:p>
            <a:pPr marL="0" indent="0">
              <a:buNone/>
            </a:pPr>
            <a:r>
              <a:rPr lang="en-US" sz="1420" b="1" dirty="0">
                <a:solidFill>
                  <a:srgbClr val="00CBA8"/>
                </a:solidFill>
                <a:latin typeface="Aptos" pitchFamily="34" charset="0"/>
                <a:ea typeface="Aptos" pitchFamily="34" charset="-122"/>
                <a:cs typeface="Aptos" pitchFamily="34" charset="-120"/>
              </a:rPr>
              <a:t>Respuesta metodológica</a:t>
            </a:r>
            <a:endParaRPr lang="en-US" sz="1420" dirty="0"/>
          </a:p>
        </p:txBody>
      </p:sp>
      <p:sp>
        <p:nvSpPr>
          <p:cNvPr id="9" name="Text 7"/>
          <p:cNvSpPr/>
          <p:nvPr/>
        </p:nvSpPr>
        <p:spPr>
          <a:xfrm>
            <a:off x="6446520" y="1965960"/>
            <a:ext cx="5074920" cy="356616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K01 y fichas de diseño impresas o en PDF ligero.</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Microfacilitaciones sin proyector.</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Materiales reutilizables y editables.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Listas de cotejo en papel y alternativas offline.</a:t>
            </a:r>
            <a:endParaRPr lang="en-US" sz="1630" dirty="0"/>
          </a:p>
        </p:txBody>
      </p:sp>
      <p:sp>
        <p:nvSpPr>
          <p:cNvPr id="12" name="Text 9"/>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3" name="Text 10"/>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K01 · Caso NAE transversal: La Colmena</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49808" y="1664208"/>
            <a:ext cx="10424160" cy="1051560"/>
          </a:xfrm>
          <a:prstGeom prst="rect">
            <a:avLst/>
          </a:prstGeom>
          <a:noFill/>
          <a:ln/>
        </p:spPr>
        <p:txBody>
          <a:bodyPr wrap="square" lIns="254" tIns="254" rIns="254" bIns="254" rtlCol="0" anchor="ctr">
            <a:normAutofit lnSpcReduction="10000"/>
          </a:bodyPr>
          <a:lstStyle/>
          <a:p>
            <a:pPr marL="0" indent="0">
              <a:buNone/>
            </a:pPr>
            <a:r>
              <a:rPr lang="en-US" sz="2400" dirty="0">
                <a:solidFill>
                  <a:srgbClr val="002E54"/>
                </a:solidFill>
                <a:latin typeface="Aptos Display" pitchFamily="34" charset="0"/>
                <a:ea typeface="Aptos Display" pitchFamily="34" charset="-122"/>
                <a:cs typeface="Aptos Display" pitchFamily="34" charset="-120"/>
              </a:rPr>
              <a:t>Mipyme ficticia de alimentos procesados: crece, pero enfrenta dificultades de organización, registros y costos. K01 permite distinguir necesidades empresariales y formativas, diseñar sesiones y practicar facilitación.</a:t>
            </a:r>
            <a:endParaRPr lang="en-US" sz="2400" dirty="0"/>
          </a:p>
        </p:txBody>
      </p:sp>
      <p:sp>
        <p:nvSpPr>
          <p:cNvPr id="7" name="Text 5"/>
          <p:cNvSpPr/>
          <p:nvPr/>
        </p:nvSpPr>
        <p:spPr>
          <a:xfrm>
            <a:off x="914400" y="3154680"/>
            <a:ext cx="10058400" cy="1828800"/>
          </a:xfrm>
          <a:prstGeom prst="rect">
            <a:avLst/>
          </a:prstGeom>
          <a:noFill/>
          <a:ln/>
        </p:spPr>
        <p:txBody>
          <a:bodyPr wrap="square" lIns="635" tIns="635" rIns="635" bIns="635" rtlCol="0" anchor="ctr">
            <a:normAutofit/>
          </a:bodyPr>
          <a:lstStyle/>
          <a:p>
            <a:pPr marL="0" indent="0">
              <a:buNone/>
            </a:pPr>
            <a:r>
              <a:rPr lang="en-US" sz="1650" dirty="0">
                <a:solidFill>
                  <a:srgbClr val="1F2937"/>
                </a:solidFill>
                <a:latin typeface="Aptos" pitchFamily="34" charset="0"/>
                <a:ea typeface="Aptos" pitchFamily="34" charset="-122"/>
                <a:cs typeface="Aptos" pitchFamily="34" charset="-120"/>
              </a:rPr>
              <a:t>▸ Usar los datos del caso; registrar vacíos y diferenciar hechos, opiniones y supuestos.</a:t>
            </a:r>
            <a:endParaRPr lang="en-US" sz="1650" dirty="0"/>
          </a:p>
          <a:p>
            <a:pPr marL="0" indent="0">
              <a:buNone/>
            </a:pPr>
            <a:r>
              <a:rPr lang="en-US" sz="1650" dirty="0">
                <a:solidFill>
                  <a:srgbClr val="1F2937"/>
                </a:solidFill>
                <a:latin typeface="Aptos" pitchFamily="34" charset="0"/>
                <a:ea typeface="Aptos" pitchFamily="34" charset="-122"/>
                <a:cs typeface="Aptos" pitchFamily="34" charset="-120"/>
              </a:rPr>
              <a:t>▸ Elegir actividades según necesidad, grupo, territorio y recursos; no aplicar la caja como secuencia obligatoria.</a:t>
            </a:r>
            <a:endParaRPr lang="en-US" sz="1650" dirty="0"/>
          </a:p>
          <a:p>
            <a:pPr marL="0" indent="0">
              <a:buNone/>
            </a:pPr>
            <a:r>
              <a:rPr lang="en-US" sz="1650" dirty="0">
                <a:solidFill>
                  <a:srgbClr val="1F2937"/>
                </a:solidFill>
                <a:latin typeface="Aptos" pitchFamily="34" charset="0"/>
                <a:ea typeface="Aptos" pitchFamily="34" charset="-122"/>
                <a:cs typeface="Aptos" pitchFamily="34" charset="-120"/>
              </a:rPr>
              <a:t>▸ CVI/PNUD aporta referentes complementarios; no sustituye arquitectura, competencias, productos ni evaluación del FdF-NAE.</a:t>
            </a:r>
            <a:endParaRPr lang="en-US" sz="1650" dirty="0"/>
          </a:p>
        </p:txBody>
      </p:sp>
      <p:sp>
        <p:nvSpPr>
          <p:cNvPr id="10" name="Text 7"/>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1" name="Text 8"/>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Aportes de M1 al diseño de réplica territorial</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77240" y="1691640"/>
            <a:ext cx="8503920" cy="457200"/>
          </a:xfrm>
          <a:prstGeom prst="rect">
            <a:avLst/>
          </a:prstGeom>
          <a:noFill/>
          <a:ln/>
        </p:spPr>
        <p:txBody>
          <a:bodyPr wrap="square" lIns="0" tIns="0" rIns="0" bIns="0" rtlCol="0" anchor="ctr"/>
          <a:lstStyle/>
          <a:p>
            <a:pPr marL="0" indent="0">
              <a:buNone/>
            </a:pPr>
            <a:r>
              <a:rPr lang="en-US" sz="2800" b="1" dirty="0">
                <a:solidFill>
                  <a:srgbClr val="002E54"/>
                </a:solidFill>
                <a:latin typeface="Aptos Display" pitchFamily="34" charset="0"/>
                <a:ea typeface="Aptos Display" pitchFamily="34" charset="-122"/>
                <a:cs typeface="Aptos Display" pitchFamily="34" charset="-120"/>
              </a:rPr>
              <a:t>Prácticas que se integran en el Producto 4 · M6 / K10</a:t>
            </a:r>
            <a:endParaRPr lang="en-US" sz="2800" dirty="0"/>
          </a:p>
        </p:txBody>
      </p:sp>
      <p:sp>
        <p:nvSpPr>
          <p:cNvPr id="7" name="Text 5"/>
          <p:cNvSpPr/>
          <p:nvPr/>
        </p:nvSpPr>
        <p:spPr>
          <a:xfrm>
            <a:off x="868680" y="2450592"/>
            <a:ext cx="10241280" cy="2926080"/>
          </a:xfrm>
          <a:prstGeom prst="rect">
            <a:avLst/>
          </a:prstGeom>
          <a:noFill/>
          <a:ln/>
        </p:spPr>
        <p:txBody>
          <a:bodyPr wrap="square" lIns="635" tIns="635" rIns="635" bIns="635" rtlCol="0" anchor="ctr">
            <a:normAutofit/>
          </a:bodyPr>
          <a:lstStyle/>
          <a:p>
            <a:pPr marL="0" indent="0">
              <a:buNone/>
            </a:pPr>
            <a:r>
              <a:rPr lang="en-US" sz="1630" dirty="0">
                <a:solidFill>
                  <a:srgbClr val="1F2937"/>
                </a:solidFill>
                <a:latin typeface="Aptos" pitchFamily="34" charset="0"/>
                <a:ea typeface="Aptos" pitchFamily="34" charset="-122"/>
                <a:cs typeface="Aptos" pitchFamily="34" charset="-120"/>
              </a:rPr>
              <a:t>▸ Caracterización de las personas destinatarias.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Necesidades formativas priorizadas.</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Resultados de aprendizaje.</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Diseño de sesión y metodología activa.</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Actividades, evaluación, género e inclusión.</a:t>
            </a:r>
            <a:endParaRPr lang="en-US" sz="1630" dirty="0"/>
          </a:p>
          <a:p>
            <a:pPr marL="0" indent="0">
              <a:buNone/>
            </a:pPr>
            <a:r>
              <a:rPr lang="en-US" sz="1630" dirty="0">
                <a:solidFill>
                  <a:srgbClr val="1F2937"/>
                </a:solidFill>
                <a:latin typeface="Aptos" pitchFamily="34" charset="0"/>
                <a:ea typeface="Aptos" pitchFamily="34" charset="-122"/>
                <a:cs typeface="Aptos" pitchFamily="34" charset="-120"/>
              </a:rPr>
              <a:t>▸ Adaptación territorial, alternativas ante baja conectividad y recursos necesarios.</a:t>
            </a:r>
            <a:endParaRPr lang="en-US" sz="1630" dirty="0"/>
          </a:p>
        </p:txBody>
      </p:sp>
      <p:sp>
        <p:nvSpPr>
          <p:cNvPr id="10" name="Text 7"/>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1" name="Text 8"/>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39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Evidencias de práctica de C1–C4</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21792" y="1490472"/>
            <a:ext cx="1417320" cy="685800"/>
          </a:xfrm>
          <a:prstGeom prst="rect">
            <a:avLst/>
          </a:prstGeom>
          <a:solidFill>
            <a:srgbClr val="002E54"/>
          </a:solidFill>
          <a:ln w="6350">
            <a:solidFill>
              <a:srgbClr val="D6D6D6"/>
            </a:solidFill>
            <a:prstDash val="solid"/>
          </a:ln>
        </p:spPr>
      </p:sp>
      <p:sp>
        <p:nvSpPr>
          <p:cNvPr id="7" name="Text 5"/>
          <p:cNvSpPr/>
          <p:nvPr/>
        </p:nvSpPr>
        <p:spPr>
          <a:xfrm>
            <a:off x="676656" y="1554480"/>
            <a:ext cx="1307592" cy="576072"/>
          </a:xfrm>
          <a:prstGeom prst="rect">
            <a:avLst/>
          </a:prstGeom>
          <a:noFill/>
          <a:ln/>
        </p:spPr>
        <p:txBody>
          <a:bodyPr wrap="square" lIns="0" tIns="0" rIns="0" bIns="0" rtlCol="0" anchor="ctr">
            <a:normAutofit/>
          </a:bodyPr>
          <a:lstStyle/>
          <a:p>
            <a:pPr marL="0" indent="0" algn="l">
              <a:buNone/>
            </a:pPr>
            <a:r>
              <a:rPr lang="en-US" sz="1130" b="1" dirty="0">
                <a:solidFill>
                  <a:srgbClr val="FFFFFF"/>
                </a:solidFill>
                <a:latin typeface="Aptos" pitchFamily="34" charset="0"/>
                <a:ea typeface="Aptos" pitchFamily="34" charset="-122"/>
                <a:cs typeface="Aptos" pitchFamily="34" charset="-120"/>
              </a:rPr>
              <a:t>Competencia</a:t>
            </a:r>
            <a:endParaRPr lang="en-US" sz="1130" dirty="0"/>
          </a:p>
        </p:txBody>
      </p:sp>
      <p:sp>
        <p:nvSpPr>
          <p:cNvPr id="8" name="Shape 6"/>
          <p:cNvSpPr/>
          <p:nvPr/>
        </p:nvSpPr>
        <p:spPr>
          <a:xfrm>
            <a:off x="2039112" y="1490472"/>
            <a:ext cx="9555480" cy="685800"/>
          </a:xfrm>
          <a:prstGeom prst="rect">
            <a:avLst/>
          </a:prstGeom>
          <a:solidFill>
            <a:srgbClr val="002E54"/>
          </a:solidFill>
          <a:ln w="6350">
            <a:solidFill>
              <a:srgbClr val="D6D6D6"/>
            </a:solidFill>
            <a:prstDash val="solid"/>
          </a:ln>
        </p:spPr>
      </p:sp>
      <p:sp>
        <p:nvSpPr>
          <p:cNvPr id="9" name="Text 7"/>
          <p:cNvSpPr/>
          <p:nvPr/>
        </p:nvSpPr>
        <p:spPr>
          <a:xfrm>
            <a:off x="2093976" y="1554480"/>
            <a:ext cx="9445752" cy="576072"/>
          </a:xfrm>
          <a:prstGeom prst="rect">
            <a:avLst/>
          </a:prstGeom>
          <a:noFill/>
          <a:ln/>
        </p:spPr>
        <p:txBody>
          <a:bodyPr wrap="square" lIns="0" tIns="0" rIns="0" bIns="0" rtlCol="0" anchor="ctr">
            <a:normAutofit/>
          </a:bodyPr>
          <a:lstStyle/>
          <a:p>
            <a:pPr marL="0" indent="0" algn="l">
              <a:buNone/>
            </a:pPr>
            <a:r>
              <a:rPr lang="en-US" sz="1130" b="1" dirty="0">
                <a:solidFill>
                  <a:srgbClr val="FFFFFF"/>
                </a:solidFill>
                <a:latin typeface="Aptos" pitchFamily="34" charset="0"/>
                <a:ea typeface="Aptos" pitchFamily="34" charset="-122"/>
                <a:cs typeface="Aptos" pitchFamily="34" charset="-120"/>
              </a:rPr>
              <a:t>Prácticas y componentes del Portafolio; sin entregas adicionales</a:t>
            </a:r>
            <a:endParaRPr lang="en-US" sz="1130" dirty="0"/>
          </a:p>
        </p:txBody>
      </p:sp>
      <p:sp>
        <p:nvSpPr>
          <p:cNvPr id="10" name="Shape 8"/>
          <p:cNvSpPr/>
          <p:nvPr/>
        </p:nvSpPr>
        <p:spPr>
          <a:xfrm>
            <a:off x="621792" y="2176272"/>
            <a:ext cx="1417320" cy="685800"/>
          </a:xfrm>
          <a:prstGeom prst="rect">
            <a:avLst/>
          </a:prstGeom>
          <a:solidFill>
            <a:srgbClr val="FFFFFF"/>
          </a:solidFill>
          <a:ln w="6350">
            <a:solidFill>
              <a:srgbClr val="D6D6D6"/>
            </a:solidFill>
            <a:prstDash val="solid"/>
          </a:ln>
        </p:spPr>
      </p:sp>
      <p:sp>
        <p:nvSpPr>
          <p:cNvPr id="11" name="Text 9"/>
          <p:cNvSpPr/>
          <p:nvPr/>
        </p:nvSpPr>
        <p:spPr>
          <a:xfrm>
            <a:off x="676656" y="2240280"/>
            <a:ext cx="1307592" cy="576072"/>
          </a:xfrm>
          <a:prstGeom prst="rect">
            <a:avLst/>
          </a:prstGeom>
          <a:noFill/>
          <a:ln/>
        </p:spPr>
        <p:txBody>
          <a:bodyPr wrap="square" lIns="0" tIns="0" rIns="0" bIns="0" rtlCol="0" anchor="ctr">
            <a:normAutofit/>
          </a:bodyPr>
          <a:lstStyle/>
          <a:p>
            <a:pPr marL="0" indent="0" algn="l">
              <a:buNone/>
            </a:pPr>
            <a:r>
              <a:rPr lang="en-US" sz="1130" dirty="0">
                <a:solidFill>
                  <a:srgbClr val="1F2937"/>
                </a:solidFill>
                <a:latin typeface="Aptos" pitchFamily="34" charset="0"/>
                <a:ea typeface="Aptos" pitchFamily="34" charset="-122"/>
                <a:cs typeface="Aptos" pitchFamily="34" charset="-120"/>
              </a:rPr>
              <a:t>C1</a:t>
            </a:r>
            <a:endParaRPr lang="en-US" sz="1130" dirty="0"/>
          </a:p>
        </p:txBody>
      </p:sp>
      <p:sp>
        <p:nvSpPr>
          <p:cNvPr id="12" name="Shape 10"/>
          <p:cNvSpPr/>
          <p:nvPr/>
        </p:nvSpPr>
        <p:spPr>
          <a:xfrm>
            <a:off x="2039112" y="2176272"/>
            <a:ext cx="9555480" cy="685800"/>
          </a:xfrm>
          <a:prstGeom prst="rect">
            <a:avLst/>
          </a:prstGeom>
          <a:solidFill>
            <a:srgbClr val="FFFFFF"/>
          </a:solidFill>
          <a:ln w="6350">
            <a:solidFill>
              <a:srgbClr val="D6D6D6"/>
            </a:solidFill>
            <a:prstDash val="solid"/>
          </a:ln>
        </p:spPr>
      </p:sp>
      <p:sp>
        <p:nvSpPr>
          <p:cNvPr id="13" name="Text 11"/>
          <p:cNvSpPr/>
          <p:nvPr/>
        </p:nvSpPr>
        <p:spPr>
          <a:xfrm>
            <a:off x="2093976" y="2240280"/>
            <a:ext cx="9445752" cy="576072"/>
          </a:xfrm>
          <a:prstGeom prst="rect">
            <a:avLst/>
          </a:prstGeom>
          <a:noFill/>
          <a:ln/>
        </p:spPr>
        <p:txBody>
          <a:bodyPr wrap="square" lIns="0" tIns="0" rIns="0" bIns="0" rtlCol="0" anchor="ctr">
            <a:normAutofit/>
          </a:bodyPr>
          <a:lstStyle/>
          <a:p>
            <a:pPr marL="0" indent="0" algn="l">
              <a:buNone/>
            </a:pPr>
            <a:r>
              <a:rPr lang="en-US" sz="1130" dirty="0">
                <a:solidFill>
                  <a:srgbClr val="1F2937"/>
                </a:solidFill>
                <a:latin typeface="Aptos" pitchFamily="34" charset="0"/>
                <a:ea typeface="Aptos" pitchFamily="34" charset="-122"/>
                <a:cs typeface="Aptos" pitchFamily="34" charset="-120"/>
              </a:rPr>
              <a:t>Necesidades formativas, caracterización del grupo, brechas, prioridades y respuesta formativa sustentadas en K01.</a:t>
            </a:r>
            <a:endParaRPr lang="en-US" sz="1130" dirty="0"/>
          </a:p>
        </p:txBody>
      </p:sp>
      <p:sp>
        <p:nvSpPr>
          <p:cNvPr id="14" name="Shape 12"/>
          <p:cNvSpPr/>
          <p:nvPr/>
        </p:nvSpPr>
        <p:spPr>
          <a:xfrm>
            <a:off x="621792" y="2862072"/>
            <a:ext cx="1417320" cy="685800"/>
          </a:xfrm>
          <a:prstGeom prst="rect">
            <a:avLst/>
          </a:prstGeom>
          <a:solidFill>
            <a:srgbClr val="FFFFFF"/>
          </a:solidFill>
          <a:ln w="6350">
            <a:solidFill>
              <a:srgbClr val="D6D6D6"/>
            </a:solidFill>
            <a:prstDash val="solid"/>
          </a:ln>
        </p:spPr>
      </p:sp>
      <p:sp>
        <p:nvSpPr>
          <p:cNvPr id="15" name="Text 13"/>
          <p:cNvSpPr/>
          <p:nvPr/>
        </p:nvSpPr>
        <p:spPr>
          <a:xfrm>
            <a:off x="676656" y="2926080"/>
            <a:ext cx="1307592" cy="576072"/>
          </a:xfrm>
          <a:prstGeom prst="rect">
            <a:avLst/>
          </a:prstGeom>
          <a:noFill/>
          <a:ln/>
        </p:spPr>
        <p:txBody>
          <a:bodyPr wrap="square" lIns="0" tIns="0" rIns="0" bIns="0" rtlCol="0" anchor="ctr">
            <a:normAutofit/>
          </a:bodyPr>
          <a:lstStyle/>
          <a:p>
            <a:pPr marL="0" indent="0" algn="l">
              <a:buNone/>
            </a:pPr>
            <a:r>
              <a:rPr lang="en-US" sz="1130" dirty="0">
                <a:solidFill>
                  <a:srgbClr val="1F2937"/>
                </a:solidFill>
                <a:latin typeface="Aptos" pitchFamily="34" charset="0"/>
                <a:ea typeface="Aptos" pitchFamily="34" charset="-122"/>
                <a:cs typeface="Aptos" pitchFamily="34" charset="-120"/>
              </a:rPr>
              <a:t>C2</a:t>
            </a:r>
            <a:endParaRPr lang="en-US" sz="1130" dirty="0"/>
          </a:p>
        </p:txBody>
      </p:sp>
      <p:sp>
        <p:nvSpPr>
          <p:cNvPr id="16" name="Shape 14"/>
          <p:cNvSpPr/>
          <p:nvPr/>
        </p:nvSpPr>
        <p:spPr>
          <a:xfrm>
            <a:off x="2039112" y="2862072"/>
            <a:ext cx="9555480" cy="685800"/>
          </a:xfrm>
          <a:prstGeom prst="rect">
            <a:avLst/>
          </a:prstGeom>
          <a:solidFill>
            <a:srgbClr val="FFFFFF"/>
          </a:solidFill>
          <a:ln w="6350">
            <a:solidFill>
              <a:srgbClr val="D6D6D6"/>
            </a:solidFill>
            <a:prstDash val="solid"/>
          </a:ln>
        </p:spPr>
      </p:sp>
      <p:sp>
        <p:nvSpPr>
          <p:cNvPr id="17" name="Text 15"/>
          <p:cNvSpPr/>
          <p:nvPr/>
        </p:nvSpPr>
        <p:spPr>
          <a:xfrm>
            <a:off x="2093976" y="2926080"/>
            <a:ext cx="9445752" cy="576072"/>
          </a:xfrm>
          <a:prstGeom prst="rect">
            <a:avLst/>
          </a:prstGeom>
          <a:noFill/>
          <a:ln/>
        </p:spPr>
        <p:txBody>
          <a:bodyPr wrap="square" lIns="0" tIns="0" rIns="0" bIns="0" rtlCol="0" anchor="ctr">
            <a:normAutofit/>
          </a:bodyPr>
          <a:lstStyle/>
          <a:p>
            <a:pPr marL="0" indent="0" algn="l">
              <a:buNone/>
            </a:pPr>
            <a:r>
              <a:rPr lang="en-US" sz="1130" dirty="0">
                <a:solidFill>
                  <a:srgbClr val="1F2937"/>
                </a:solidFill>
                <a:latin typeface="Aptos" pitchFamily="34" charset="0"/>
                <a:ea typeface="Aptos" pitchFamily="34" charset="-122"/>
                <a:cs typeface="Aptos" pitchFamily="34" charset="-120"/>
              </a:rPr>
              <a:t>Ficha de sesión y alineación; guía de facilitación con inclusión, sostenibilidad y alternativas offline.</a:t>
            </a:r>
            <a:endParaRPr lang="en-US" sz="1130" dirty="0"/>
          </a:p>
        </p:txBody>
      </p:sp>
      <p:sp>
        <p:nvSpPr>
          <p:cNvPr id="18" name="Shape 16"/>
          <p:cNvSpPr/>
          <p:nvPr/>
        </p:nvSpPr>
        <p:spPr>
          <a:xfrm>
            <a:off x="621792" y="3547872"/>
            <a:ext cx="1417320" cy="685800"/>
          </a:xfrm>
          <a:prstGeom prst="rect">
            <a:avLst/>
          </a:prstGeom>
          <a:solidFill>
            <a:srgbClr val="FFFFFF"/>
          </a:solidFill>
          <a:ln w="6350">
            <a:solidFill>
              <a:srgbClr val="D6D6D6"/>
            </a:solidFill>
            <a:prstDash val="solid"/>
          </a:ln>
        </p:spPr>
      </p:sp>
      <p:sp>
        <p:nvSpPr>
          <p:cNvPr id="19" name="Text 17"/>
          <p:cNvSpPr/>
          <p:nvPr/>
        </p:nvSpPr>
        <p:spPr>
          <a:xfrm>
            <a:off x="676656" y="3611880"/>
            <a:ext cx="1307592" cy="576072"/>
          </a:xfrm>
          <a:prstGeom prst="rect">
            <a:avLst/>
          </a:prstGeom>
          <a:noFill/>
          <a:ln/>
        </p:spPr>
        <p:txBody>
          <a:bodyPr wrap="square" lIns="0" tIns="0" rIns="0" bIns="0" rtlCol="0" anchor="ctr">
            <a:normAutofit/>
          </a:bodyPr>
          <a:lstStyle/>
          <a:p>
            <a:pPr marL="0" indent="0" algn="l">
              <a:buNone/>
            </a:pPr>
            <a:r>
              <a:rPr lang="en-US" sz="1130" dirty="0">
                <a:solidFill>
                  <a:srgbClr val="1F2937"/>
                </a:solidFill>
                <a:latin typeface="Aptos" pitchFamily="34" charset="0"/>
                <a:ea typeface="Aptos" pitchFamily="34" charset="-122"/>
                <a:cs typeface="Aptos" pitchFamily="34" charset="-120"/>
              </a:rPr>
              <a:t>C3</a:t>
            </a:r>
            <a:endParaRPr lang="en-US" sz="1130" dirty="0"/>
          </a:p>
        </p:txBody>
      </p:sp>
      <p:sp>
        <p:nvSpPr>
          <p:cNvPr id="20" name="Shape 18"/>
          <p:cNvSpPr/>
          <p:nvPr/>
        </p:nvSpPr>
        <p:spPr>
          <a:xfrm>
            <a:off x="2039112" y="3547872"/>
            <a:ext cx="9555480" cy="685800"/>
          </a:xfrm>
          <a:prstGeom prst="rect">
            <a:avLst/>
          </a:prstGeom>
          <a:solidFill>
            <a:srgbClr val="FFFFFF"/>
          </a:solidFill>
          <a:ln w="6350">
            <a:solidFill>
              <a:srgbClr val="D6D6D6"/>
            </a:solidFill>
            <a:prstDash val="solid"/>
          </a:ln>
        </p:spPr>
      </p:sp>
      <p:sp>
        <p:nvSpPr>
          <p:cNvPr id="21" name="Text 19"/>
          <p:cNvSpPr/>
          <p:nvPr/>
        </p:nvSpPr>
        <p:spPr>
          <a:xfrm>
            <a:off x="2093976" y="3611880"/>
            <a:ext cx="9445752" cy="576072"/>
          </a:xfrm>
          <a:prstGeom prst="rect">
            <a:avLst/>
          </a:prstGeom>
          <a:noFill/>
          <a:ln/>
        </p:spPr>
        <p:txBody>
          <a:bodyPr wrap="square" lIns="0" tIns="0" rIns="0" bIns="0" rtlCol="0" anchor="ctr">
            <a:normAutofit/>
          </a:bodyPr>
          <a:lstStyle/>
          <a:p>
            <a:pPr marL="0" indent="0" algn="l">
              <a:buNone/>
            </a:pPr>
            <a:r>
              <a:rPr lang="en-US" sz="1130" dirty="0">
                <a:solidFill>
                  <a:srgbClr val="1F2937"/>
                </a:solidFill>
                <a:latin typeface="Aptos" pitchFamily="34" charset="0"/>
                <a:ea typeface="Aptos" pitchFamily="34" charset="-122"/>
                <a:cs typeface="Aptos" pitchFamily="34" charset="-120"/>
              </a:rPr>
              <a:t>Microfacilitación, observación y retroalimentación: metodología activa, aprendizaje, participación y gestión de situaciones críticas.</a:t>
            </a:r>
            <a:endParaRPr lang="en-US" sz="1130" dirty="0"/>
          </a:p>
        </p:txBody>
      </p:sp>
      <p:sp>
        <p:nvSpPr>
          <p:cNvPr id="22" name="Shape 20"/>
          <p:cNvSpPr/>
          <p:nvPr/>
        </p:nvSpPr>
        <p:spPr>
          <a:xfrm>
            <a:off x="621792" y="4233672"/>
            <a:ext cx="1417320" cy="685800"/>
          </a:xfrm>
          <a:prstGeom prst="rect">
            <a:avLst/>
          </a:prstGeom>
          <a:solidFill>
            <a:srgbClr val="FFFFFF"/>
          </a:solidFill>
          <a:ln w="6350">
            <a:solidFill>
              <a:srgbClr val="D6D6D6"/>
            </a:solidFill>
            <a:prstDash val="solid"/>
          </a:ln>
        </p:spPr>
      </p:sp>
      <p:sp>
        <p:nvSpPr>
          <p:cNvPr id="23" name="Text 21"/>
          <p:cNvSpPr/>
          <p:nvPr/>
        </p:nvSpPr>
        <p:spPr>
          <a:xfrm>
            <a:off x="676656" y="4297680"/>
            <a:ext cx="1307592" cy="576072"/>
          </a:xfrm>
          <a:prstGeom prst="rect">
            <a:avLst/>
          </a:prstGeom>
          <a:noFill/>
          <a:ln/>
        </p:spPr>
        <p:txBody>
          <a:bodyPr wrap="square" lIns="0" tIns="0" rIns="0" bIns="0" rtlCol="0" anchor="ctr">
            <a:normAutofit/>
          </a:bodyPr>
          <a:lstStyle/>
          <a:p>
            <a:pPr marL="0" indent="0" algn="l">
              <a:buNone/>
            </a:pPr>
            <a:r>
              <a:rPr lang="en-US" sz="1130" dirty="0">
                <a:solidFill>
                  <a:srgbClr val="1F2937"/>
                </a:solidFill>
                <a:latin typeface="Aptos" pitchFamily="34" charset="0"/>
                <a:ea typeface="Aptos" pitchFamily="34" charset="-122"/>
                <a:cs typeface="Aptos" pitchFamily="34" charset="-120"/>
              </a:rPr>
              <a:t>C4</a:t>
            </a:r>
            <a:endParaRPr lang="en-US" sz="1130" dirty="0"/>
          </a:p>
        </p:txBody>
      </p:sp>
      <p:sp>
        <p:nvSpPr>
          <p:cNvPr id="24" name="Shape 22"/>
          <p:cNvSpPr/>
          <p:nvPr/>
        </p:nvSpPr>
        <p:spPr>
          <a:xfrm>
            <a:off x="2039112" y="4233672"/>
            <a:ext cx="9555480" cy="685800"/>
          </a:xfrm>
          <a:prstGeom prst="rect">
            <a:avLst/>
          </a:prstGeom>
          <a:solidFill>
            <a:srgbClr val="FFFFFF"/>
          </a:solidFill>
          <a:ln w="6350">
            <a:solidFill>
              <a:srgbClr val="D6D6D6"/>
            </a:solidFill>
            <a:prstDash val="solid"/>
          </a:ln>
        </p:spPr>
      </p:sp>
      <p:sp>
        <p:nvSpPr>
          <p:cNvPr id="25" name="Text 23"/>
          <p:cNvSpPr/>
          <p:nvPr/>
        </p:nvSpPr>
        <p:spPr>
          <a:xfrm>
            <a:off x="2093976" y="4297680"/>
            <a:ext cx="9445752" cy="576072"/>
          </a:xfrm>
          <a:prstGeom prst="rect">
            <a:avLst/>
          </a:prstGeom>
          <a:noFill/>
          <a:ln/>
        </p:spPr>
        <p:txBody>
          <a:bodyPr wrap="square" lIns="0" tIns="0" rIns="0" bIns="0" rtlCol="0" anchor="ctr">
            <a:normAutofit/>
          </a:bodyPr>
          <a:lstStyle/>
          <a:p>
            <a:pPr marL="0" indent="0" algn="l">
              <a:buNone/>
            </a:pPr>
            <a:r>
              <a:rPr lang="en-US" sz="1130" dirty="0">
                <a:solidFill>
                  <a:srgbClr val="1F2937"/>
                </a:solidFill>
                <a:latin typeface="Aptos" pitchFamily="34" charset="0"/>
                <a:ea typeface="Aptos" pitchFamily="34" charset="-122"/>
                <a:cs typeface="Aptos" pitchFamily="34" charset="-120"/>
              </a:rPr>
              <a:t>Instrumento breve, análisis de evidencias y retroalimentación; decisiones de mejora del proceso formativo.</a:t>
            </a:r>
            <a:endParaRPr lang="en-US" sz="1130" dirty="0"/>
          </a:p>
        </p:txBody>
      </p:sp>
      <p:sp>
        <p:nvSpPr>
          <p:cNvPr id="28" name="Text 25"/>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29" name="Text 26"/>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Agenda de las 2 horas presenciales · Guía M1-T3</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Shape 4"/>
          <p:cNvSpPr/>
          <p:nvPr/>
        </p:nvSpPr>
        <p:spPr>
          <a:xfrm>
            <a:off x="621792" y="1490472"/>
            <a:ext cx="2788920" cy="594360"/>
          </a:xfrm>
          <a:prstGeom prst="rect">
            <a:avLst/>
          </a:prstGeom>
          <a:solidFill>
            <a:srgbClr val="002E54"/>
          </a:solidFill>
          <a:ln w="6350">
            <a:solidFill>
              <a:srgbClr val="D6D6D6"/>
            </a:solidFill>
            <a:prstDash val="solid"/>
          </a:ln>
        </p:spPr>
      </p:sp>
      <p:sp>
        <p:nvSpPr>
          <p:cNvPr id="7" name="Text 5"/>
          <p:cNvSpPr/>
          <p:nvPr/>
        </p:nvSpPr>
        <p:spPr>
          <a:xfrm>
            <a:off x="676656" y="1554480"/>
            <a:ext cx="2679192" cy="484632"/>
          </a:xfrm>
          <a:prstGeom prst="rect">
            <a:avLst/>
          </a:prstGeom>
          <a:noFill/>
          <a:ln/>
        </p:spPr>
        <p:txBody>
          <a:bodyPr wrap="square" lIns="0" tIns="0" rIns="0" bIns="0" rtlCol="0" anchor="ctr">
            <a:normAutofit/>
          </a:bodyPr>
          <a:lstStyle/>
          <a:p>
            <a:pPr marL="0" indent="0" algn="l">
              <a:buNone/>
            </a:pPr>
            <a:r>
              <a:rPr lang="en-US" sz="1210" b="1" dirty="0">
                <a:solidFill>
                  <a:srgbClr val="FFFFFF"/>
                </a:solidFill>
                <a:latin typeface="Aptos" pitchFamily="34" charset="0"/>
                <a:ea typeface="Aptos" pitchFamily="34" charset="-122"/>
                <a:cs typeface="Aptos" pitchFamily="34" charset="-120"/>
              </a:rPr>
              <a:t>Bloque</a:t>
            </a:r>
            <a:endParaRPr lang="en-US" sz="1210" dirty="0"/>
          </a:p>
        </p:txBody>
      </p:sp>
      <p:sp>
        <p:nvSpPr>
          <p:cNvPr id="8" name="Shape 6"/>
          <p:cNvSpPr/>
          <p:nvPr/>
        </p:nvSpPr>
        <p:spPr>
          <a:xfrm>
            <a:off x="3410712" y="1490472"/>
            <a:ext cx="1325880" cy="594360"/>
          </a:xfrm>
          <a:prstGeom prst="rect">
            <a:avLst/>
          </a:prstGeom>
          <a:solidFill>
            <a:srgbClr val="002E54"/>
          </a:solidFill>
          <a:ln w="6350">
            <a:solidFill>
              <a:srgbClr val="D6D6D6"/>
            </a:solidFill>
            <a:prstDash val="solid"/>
          </a:ln>
        </p:spPr>
      </p:sp>
      <p:sp>
        <p:nvSpPr>
          <p:cNvPr id="9" name="Text 7"/>
          <p:cNvSpPr/>
          <p:nvPr/>
        </p:nvSpPr>
        <p:spPr>
          <a:xfrm>
            <a:off x="3465576" y="1554480"/>
            <a:ext cx="1216152" cy="484632"/>
          </a:xfrm>
          <a:prstGeom prst="rect">
            <a:avLst/>
          </a:prstGeom>
          <a:noFill/>
          <a:ln/>
        </p:spPr>
        <p:txBody>
          <a:bodyPr wrap="square" lIns="0" tIns="0" rIns="0" bIns="0" rtlCol="0" anchor="ctr">
            <a:normAutofit/>
          </a:bodyPr>
          <a:lstStyle/>
          <a:p>
            <a:pPr marL="0" indent="0" algn="l">
              <a:buNone/>
            </a:pPr>
            <a:r>
              <a:rPr lang="en-US" sz="1210" b="1" dirty="0">
                <a:solidFill>
                  <a:srgbClr val="FFFFFF"/>
                </a:solidFill>
                <a:latin typeface="Aptos" pitchFamily="34" charset="0"/>
                <a:ea typeface="Aptos" pitchFamily="34" charset="-122"/>
                <a:cs typeface="Aptos" pitchFamily="34" charset="-120"/>
              </a:rPr>
              <a:t>Tiempo</a:t>
            </a:r>
            <a:endParaRPr lang="en-US" sz="1210" dirty="0"/>
          </a:p>
        </p:txBody>
      </p:sp>
      <p:sp>
        <p:nvSpPr>
          <p:cNvPr id="10" name="Shape 8"/>
          <p:cNvSpPr/>
          <p:nvPr/>
        </p:nvSpPr>
        <p:spPr>
          <a:xfrm>
            <a:off x="4736592" y="1490472"/>
            <a:ext cx="6858000" cy="594360"/>
          </a:xfrm>
          <a:prstGeom prst="rect">
            <a:avLst/>
          </a:prstGeom>
          <a:solidFill>
            <a:srgbClr val="002E54"/>
          </a:solidFill>
          <a:ln w="6350">
            <a:solidFill>
              <a:srgbClr val="D6D6D6"/>
            </a:solidFill>
            <a:prstDash val="solid"/>
          </a:ln>
        </p:spPr>
      </p:sp>
      <p:sp>
        <p:nvSpPr>
          <p:cNvPr id="11" name="Text 9"/>
          <p:cNvSpPr/>
          <p:nvPr/>
        </p:nvSpPr>
        <p:spPr>
          <a:xfrm>
            <a:off x="4791456" y="1554480"/>
            <a:ext cx="6748272" cy="484632"/>
          </a:xfrm>
          <a:prstGeom prst="rect">
            <a:avLst/>
          </a:prstGeom>
          <a:noFill/>
          <a:ln/>
        </p:spPr>
        <p:txBody>
          <a:bodyPr wrap="square" lIns="0" tIns="0" rIns="0" bIns="0" rtlCol="0" anchor="ctr">
            <a:normAutofit/>
          </a:bodyPr>
          <a:lstStyle/>
          <a:p>
            <a:pPr marL="0" indent="0" algn="l">
              <a:buNone/>
            </a:pPr>
            <a:r>
              <a:rPr lang="en-US" sz="1210" b="1" dirty="0">
                <a:solidFill>
                  <a:srgbClr val="FFFFFF"/>
                </a:solidFill>
                <a:latin typeface="Aptos" pitchFamily="34" charset="0"/>
                <a:ea typeface="Aptos" pitchFamily="34" charset="-122"/>
                <a:cs typeface="Aptos" pitchFamily="34" charset="-120"/>
              </a:rPr>
              <a:t>Propósito</a:t>
            </a:r>
            <a:endParaRPr lang="en-US" sz="1210" dirty="0"/>
          </a:p>
        </p:txBody>
      </p:sp>
      <p:sp>
        <p:nvSpPr>
          <p:cNvPr id="12" name="Shape 10"/>
          <p:cNvSpPr/>
          <p:nvPr/>
        </p:nvSpPr>
        <p:spPr>
          <a:xfrm>
            <a:off x="621792" y="2084832"/>
            <a:ext cx="2788920" cy="594360"/>
          </a:xfrm>
          <a:prstGeom prst="rect">
            <a:avLst/>
          </a:prstGeom>
          <a:solidFill>
            <a:srgbClr val="FFFFFF"/>
          </a:solidFill>
          <a:ln w="6350">
            <a:solidFill>
              <a:srgbClr val="D6D6D6"/>
            </a:solidFill>
            <a:prstDash val="solid"/>
          </a:ln>
        </p:spPr>
      </p:sp>
      <p:sp>
        <p:nvSpPr>
          <p:cNvPr id="13" name="Text 11"/>
          <p:cNvSpPr/>
          <p:nvPr/>
        </p:nvSpPr>
        <p:spPr>
          <a:xfrm>
            <a:off x="676656" y="2148840"/>
            <a:ext cx="267919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Apertura</a:t>
            </a:r>
            <a:endParaRPr lang="en-US" sz="1210" dirty="0"/>
          </a:p>
        </p:txBody>
      </p:sp>
      <p:sp>
        <p:nvSpPr>
          <p:cNvPr id="14" name="Shape 12"/>
          <p:cNvSpPr/>
          <p:nvPr/>
        </p:nvSpPr>
        <p:spPr>
          <a:xfrm>
            <a:off x="3410712" y="2084832"/>
            <a:ext cx="1325880" cy="594360"/>
          </a:xfrm>
          <a:prstGeom prst="rect">
            <a:avLst/>
          </a:prstGeom>
          <a:solidFill>
            <a:srgbClr val="FFFFFF"/>
          </a:solidFill>
          <a:ln w="6350">
            <a:solidFill>
              <a:srgbClr val="D6D6D6"/>
            </a:solidFill>
            <a:prstDash val="solid"/>
          </a:ln>
        </p:spPr>
      </p:sp>
      <p:sp>
        <p:nvSpPr>
          <p:cNvPr id="15" name="Text 13"/>
          <p:cNvSpPr/>
          <p:nvPr/>
        </p:nvSpPr>
        <p:spPr>
          <a:xfrm>
            <a:off x="3465576" y="2148840"/>
            <a:ext cx="121615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0–10 min</a:t>
            </a:r>
            <a:endParaRPr lang="en-US" sz="1210" dirty="0"/>
          </a:p>
        </p:txBody>
      </p:sp>
      <p:sp>
        <p:nvSpPr>
          <p:cNvPr id="16" name="Shape 14"/>
          <p:cNvSpPr/>
          <p:nvPr/>
        </p:nvSpPr>
        <p:spPr>
          <a:xfrm>
            <a:off x="4736592" y="2084832"/>
            <a:ext cx="6858000" cy="594360"/>
          </a:xfrm>
          <a:prstGeom prst="rect">
            <a:avLst/>
          </a:prstGeom>
          <a:solidFill>
            <a:srgbClr val="FFFFFF"/>
          </a:solidFill>
          <a:ln w="6350">
            <a:solidFill>
              <a:srgbClr val="D6D6D6"/>
            </a:solidFill>
            <a:prstDash val="solid"/>
          </a:ln>
        </p:spPr>
      </p:sp>
      <p:sp>
        <p:nvSpPr>
          <p:cNvPr id="17" name="Text 15"/>
          <p:cNvSpPr/>
          <p:nvPr/>
        </p:nvSpPr>
        <p:spPr>
          <a:xfrm>
            <a:off x="4791456" y="2148840"/>
            <a:ext cx="674827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Acordar criterios de observación y un clima seguro de práctica.</a:t>
            </a:r>
            <a:endParaRPr lang="en-US" sz="1210" dirty="0"/>
          </a:p>
        </p:txBody>
      </p:sp>
      <p:sp>
        <p:nvSpPr>
          <p:cNvPr id="18" name="Shape 16"/>
          <p:cNvSpPr/>
          <p:nvPr/>
        </p:nvSpPr>
        <p:spPr>
          <a:xfrm>
            <a:off x="621792" y="2679192"/>
            <a:ext cx="2788920" cy="594360"/>
          </a:xfrm>
          <a:prstGeom prst="rect">
            <a:avLst/>
          </a:prstGeom>
          <a:solidFill>
            <a:srgbClr val="FFFFFF"/>
          </a:solidFill>
          <a:ln w="6350">
            <a:solidFill>
              <a:srgbClr val="D6D6D6"/>
            </a:solidFill>
            <a:prstDash val="solid"/>
          </a:ln>
        </p:spPr>
      </p:sp>
      <p:sp>
        <p:nvSpPr>
          <p:cNvPr id="19" name="Text 17"/>
          <p:cNvSpPr/>
          <p:nvPr/>
        </p:nvSpPr>
        <p:spPr>
          <a:xfrm>
            <a:off x="676656" y="2743200"/>
            <a:ext cx="267919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Demostración de metodología activa</a:t>
            </a:r>
            <a:endParaRPr lang="en-US" sz="1210" dirty="0"/>
          </a:p>
        </p:txBody>
      </p:sp>
      <p:sp>
        <p:nvSpPr>
          <p:cNvPr id="20" name="Shape 18"/>
          <p:cNvSpPr/>
          <p:nvPr/>
        </p:nvSpPr>
        <p:spPr>
          <a:xfrm>
            <a:off x="3410712" y="2679192"/>
            <a:ext cx="1325880" cy="594360"/>
          </a:xfrm>
          <a:prstGeom prst="rect">
            <a:avLst/>
          </a:prstGeom>
          <a:solidFill>
            <a:srgbClr val="FFFFFF"/>
          </a:solidFill>
          <a:ln w="6350">
            <a:solidFill>
              <a:srgbClr val="D6D6D6"/>
            </a:solidFill>
            <a:prstDash val="solid"/>
          </a:ln>
        </p:spPr>
      </p:sp>
      <p:sp>
        <p:nvSpPr>
          <p:cNvPr id="21" name="Text 19"/>
          <p:cNvSpPr/>
          <p:nvPr/>
        </p:nvSpPr>
        <p:spPr>
          <a:xfrm>
            <a:off x="3465576" y="2743200"/>
            <a:ext cx="121615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10–25 min</a:t>
            </a:r>
            <a:endParaRPr lang="en-US" sz="1210" dirty="0"/>
          </a:p>
        </p:txBody>
      </p:sp>
      <p:sp>
        <p:nvSpPr>
          <p:cNvPr id="22" name="Shape 20"/>
          <p:cNvSpPr/>
          <p:nvPr/>
        </p:nvSpPr>
        <p:spPr>
          <a:xfrm>
            <a:off x="4736592" y="2679192"/>
            <a:ext cx="6858000" cy="594360"/>
          </a:xfrm>
          <a:prstGeom prst="rect">
            <a:avLst/>
          </a:prstGeom>
          <a:solidFill>
            <a:srgbClr val="FFFFFF"/>
          </a:solidFill>
          <a:ln w="6350">
            <a:solidFill>
              <a:srgbClr val="D6D6D6"/>
            </a:solidFill>
            <a:prstDash val="solid"/>
          </a:ln>
        </p:spPr>
      </p:sp>
      <p:sp>
        <p:nvSpPr>
          <p:cNvPr id="23" name="Text 21"/>
          <p:cNvSpPr/>
          <p:nvPr/>
        </p:nvSpPr>
        <p:spPr>
          <a:xfrm>
            <a:off x="4791456" y="2743200"/>
            <a:ext cx="674827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Modelar una mini-secuencia activa y explicar las decisiones de facilitación.</a:t>
            </a:r>
            <a:endParaRPr lang="en-US" sz="1210" dirty="0"/>
          </a:p>
        </p:txBody>
      </p:sp>
      <p:sp>
        <p:nvSpPr>
          <p:cNvPr id="24" name="Shape 22"/>
          <p:cNvSpPr/>
          <p:nvPr/>
        </p:nvSpPr>
        <p:spPr>
          <a:xfrm>
            <a:off x="621792" y="3273552"/>
            <a:ext cx="2788920" cy="594360"/>
          </a:xfrm>
          <a:prstGeom prst="rect">
            <a:avLst/>
          </a:prstGeom>
          <a:solidFill>
            <a:srgbClr val="FFFFFF"/>
          </a:solidFill>
          <a:ln w="6350">
            <a:solidFill>
              <a:srgbClr val="D6D6D6"/>
            </a:solidFill>
            <a:prstDash val="solid"/>
          </a:ln>
        </p:spPr>
      </p:sp>
      <p:sp>
        <p:nvSpPr>
          <p:cNvPr id="25" name="Text 23"/>
          <p:cNvSpPr/>
          <p:nvPr/>
        </p:nvSpPr>
        <p:spPr>
          <a:xfrm>
            <a:off x="676656" y="3337560"/>
            <a:ext cx="267919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Microfacilitación en equipos</a:t>
            </a:r>
            <a:endParaRPr lang="en-US" sz="1210" dirty="0"/>
          </a:p>
        </p:txBody>
      </p:sp>
      <p:sp>
        <p:nvSpPr>
          <p:cNvPr id="26" name="Shape 24"/>
          <p:cNvSpPr/>
          <p:nvPr/>
        </p:nvSpPr>
        <p:spPr>
          <a:xfrm>
            <a:off x="3410712" y="3273552"/>
            <a:ext cx="1325880" cy="594360"/>
          </a:xfrm>
          <a:prstGeom prst="rect">
            <a:avLst/>
          </a:prstGeom>
          <a:solidFill>
            <a:srgbClr val="FFFFFF"/>
          </a:solidFill>
          <a:ln w="6350">
            <a:solidFill>
              <a:srgbClr val="D6D6D6"/>
            </a:solidFill>
            <a:prstDash val="solid"/>
          </a:ln>
        </p:spPr>
      </p:sp>
      <p:sp>
        <p:nvSpPr>
          <p:cNvPr id="27" name="Text 25"/>
          <p:cNvSpPr/>
          <p:nvPr/>
        </p:nvSpPr>
        <p:spPr>
          <a:xfrm>
            <a:off x="3465576" y="3337560"/>
            <a:ext cx="121615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25–85 min</a:t>
            </a:r>
            <a:endParaRPr lang="en-US" sz="1210" dirty="0"/>
          </a:p>
        </p:txBody>
      </p:sp>
      <p:sp>
        <p:nvSpPr>
          <p:cNvPr id="28" name="Shape 26"/>
          <p:cNvSpPr/>
          <p:nvPr/>
        </p:nvSpPr>
        <p:spPr>
          <a:xfrm>
            <a:off x="4736592" y="3273552"/>
            <a:ext cx="6858000" cy="594360"/>
          </a:xfrm>
          <a:prstGeom prst="rect">
            <a:avLst/>
          </a:prstGeom>
          <a:solidFill>
            <a:srgbClr val="FFFFFF"/>
          </a:solidFill>
          <a:ln w="6350">
            <a:solidFill>
              <a:srgbClr val="D6D6D6"/>
            </a:solidFill>
            <a:prstDash val="solid"/>
          </a:ln>
        </p:spPr>
      </p:sp>
      <p:sp>
        <p:nvSpPr>
          <p:cNvPr id="29" name="Text 27"/>
          <p:cNvSpPr/>
          <p:nvPr/>
        </p:nvSpPr>
        <p:spPr>
          <a:xfrm>
            <a:off x="4791456" y="3337560"/>
            <a:ext cx="674827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Segmentos de 8–10 minutos en grupos pequeños; pares observan con rúbrica.</a:t>
            </a:r>
            <a:endParaRPr lang="en-US" sz="1210" dirty="0"/>
          </a:p>
        </p:txBody>
      </p:sp>
      <p:sp>
        <p:nvSpPr>
          <p:cNvPr id="30" name="Shape 28"/>
          <p:cNvSpPr/>
          <p:nvPr/>
        </p:nvSpPr>
        <p:spPr>
          <a:xfrm>
            <a:off x="621792" y="3867912"/>
            <a:ext cx="2788920" cy="594360"/>
          </a:xfrm>
          <a:prstGeom prst="rect">
            <a:avLst/>
          </a:prstGeom>
          <a:solidFill>
            <a:srgbClr val="FFFFFF"/>
          </a:solidFill>
          <a:ln w="6350">
            <a:solidFill>
              <a:srgbClr val="D6D6D6"/>
            </a:solidFill>
            <a:prstDash val="solid"/>
          </a:ln>
        </p:spPr>
      </p:sp>
      <p:sp>
        <p:nvSpPr>
          <p:cNvPr id="31" name="Text 29"/>
          <p:cNvSpPr/>
          <p:nvPr/>
        </p:nvSpPr>
        <p:spPr>
          <a:xfrm>
            <a:off x="676656" y="3931920"/>
            <a:ext cx="267919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Situaciones críticas</a:t>
            </a:r>
            <a:endParaRPr lang="en-US" sz="1210" dirty="0"/>
          </a:p>
        </p:txBody>
      </p:sp>
      <p:sp>
        <p:nvSpPr>
          <p:cNvPr id="32" name="Shape 30"/>
          <p:cNvSpPr/>
          <p:nvPr/>
        </p:nvSpPr>
        <p:spPr>
          <a:xfrm>
            <a:off x="3410712" y="3867912"/>
            <a:ext cx="1325880" cy="594360"/>
          </a:xfrm>
          <a:prstGeom prst="rect">
            <a:avLst/>
          </a:prstGeom>
          <a:solidFill>
            <a:srgbClr val="FFFFFF"/>
          </a:solidFill>
          <a:ln w="6350">
            <a:solidFill>
              <a:srgbClr val="D6D6D6"/>
            </a:solidFill>
            <a:prstDash val="solid"/>
          </a:ln>
        </p:spPr>
      </p:sp>
      <p:sp>
        <p:nvSpPr>
          <p:cNvPr id="33" name="Text 31"/>
          <p:cNvSpPr/>
          <p:nvPr/>
        </p:nvSpPr>
        <p:spPr>
          <a:xfrm>
            <a:off x="3465576" y="3931920"/>
            <a:ext cx="121615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85–105 min</a:t>
            </a:r>
            <a:endParaRPr lang="en-US" sz="1210" dirty="0"/>
          </a:p>
        </p:txBody>
      </p:sp>
      <p:sp>
        <p:nvSpPr>
          <p:cNvPr id="34" name="Shape 32"/>
          <p:cNvSpPr/>
          <p:nvPr/>
        </p:nvSpPr>
        <p:spPr>
          <a:xfrm>
            <a:off x="4736592" y="3867912"/>
            <a:ext cx="6858000" cy="594360"/>
          </a:xfrm>
          <a:prstGeom prst="rect">
            <a:avLst/>
          </a:prstGeom>
          <a:solidFill>
            <a:srgbClr val="FFFFFF"/>
          </a:solidFill>
          <a:ln w="6350">
            <a:solidFill>
              <a:srgbClr val="D6D6D6"/>
            </a:solidFill>
            <a:prstDash val="solid"/>
          </a:ln>
        </p:spPr>
      </p:sp>
      <p:sp>
        <p:nvSpPr>
          <p:cNvPr id="35" name="Text 33"/>
          <p:cNvSpPr/>
          <p:nvPr/>
        </p:nvSpPr>
        <p:spPr>
          <a:xfrm>
            <a:off x="4791456" y="3931920"/>
            <a:ext cx="674827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Practicar respuestas ante conflicto, dominio de la palabra, baja participación o interrupción.</a:t>
            </a:r>
            <a:endParaRPr lang="en-US" sz="1210" dirty="0"/>
          </a:p>
        </p:txBody>
      </p:sp>
      <p:sp>
        <p:nvSpPr>
          <p:cNvPr id="36" name="Shape 34"/>
          <p:cNvSpPr/>
          <p:nvPr/>
        </p:nvSpPr>
        <p:spPr>
          <a:xfrm>
            <a:off x="621792" y="4462272"/>
            <a:ext cx="2788920" cy="594360"/>
          </a:xfrm>
          <a:prstGeom prst="rect">
            <a:avLst/>
          </a:prstGeom>
          <a:solidFill>
            <a:srgbClr val="FFFFFF"/>
          </a:solidFill>
          <a:ln w="6350">
            <a:solidFill>
              <a:srgbClr val="D6D6D6"/>
            </a:solidFill>
            <a:prstDash val="solid"/>
          </a:ln>
        </p:spPr>
      </p:sp>
      <p:sp>
        <p:nvSpPr>
          <p:cNvPr id="37" name="Text 35"/>
          <p:cNvSpPr/>
          <p:nvPr/>
        </p:nvSpPr>
        <p:spPr>
          <a:xfrm>
            <a:off x="676656" y="4526280"/>
            <a:ext cx="267919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Balance y cierre</a:t>
            </a:r>
            <a:endParaRPr lang="en-US" sz="1210" dirty="0"/>
          </a:p>
        </p:txBody>
      </p:sp>
      <p:sp>
        <p:nvSpPr>
          <p:cNvPr id="38" name="Shape 36"/>
          <p:cNvSpPr/>
          <p:nvPr/>
        </p:nvSpPr>
        <p:spPr>
          <a:xfrm>
            <a:off x="3410712" y="4462272"/>
            <a:ext cx="1325880" cy="594360"/>
          </a:xfrm>
          <a:prstGeom prst="rect">
            <a:avLst/>
          </a:prstGeom>
          <a:solidFill>
            <a:srgbClr val="FFFFFF"/>
          </a:solidFill>
          <a:ln w="6350">
            <a:solidFill>
              <a:srgbClr val="D6D6D6"/>
            </a:solidFill>
            <a:prstDash val="solid"/>
          </a:ln>
        </p:spPr>
      </p:sp>
      <p:sp>
        <p:nvSpPr>
          <p:cNvPr id="39" name="Text 37"/>
          <p:cNvSpPr/>
          <p:nvPr/>
        </p:nvSpPr>
        <p:spPr>
          <a:xfrm>
            <a:off x="3465576" y="4526280"/>
            <a:ext cx="121615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105–120 min</a:t>
            </a:r>
            <a:endParaRPr lang="en-US" sz="1210" dirty="0"/>
          </a:p>
        </p:txBody>
      </p:sp>
      <p:sp>
        <p:nvSpPr>
          <p:cNvPr id="40" name="Shape 38"/>
          <p:cNvSpPr/>
          <p:nvPr/>
        </p:nvSpPr>
        <p:spPr>
          <a:xfrm>
            <a:off x="4736592" y="4462272"/>
            <a:ext cx="6858000" cy="594360"/>
          </a:xfrm>
          <a:prstGeom prst="rect">
            <a:avLst/>
          </a:prstGeom>
          <a:solidFill>
            <a:srgbClr val="FFFFFF"/>
          </a:solidFill>
          <a:ln w="6350">
            <a:solidFill>
              <a:srgbClr val="D6D6D6"/>
            </a:solidFill>
            <a:prstDash val="solid"/>
          </a:ln>
        </p:spPr>
      </p:sp>
      <p:sp>
        <p:nvSpPr>
          <p:cNvPr id="41" name="Text 39"/>
          <p:cNvSpPr/>
          <p:nvPr/>
        </p:nvSpPr>
        <p:spPr>
          <a:xfrm>
            <a:off x="4791456" y="4526280"/>
            <a:ext cx="6748272" cy="484632"/>
          </a:xfrm>
          <a:prstGeom prst="rect">
            <a:avLst/>
          </a:prstGeom>
          <a:noFill/>
          <a:ln/>
        </p:spPr>
        <p:txBody>
          <a:bodyPr wrap="square" lIns="0" tIns="0" rIns="0" bIns="0" rtlCol="0" anchor="ctr">
            <a:normAutofit/>
          </a:bodyPr>
          <a:lstStyle/>
          <a:p>
            <a:pPr marL="0" indent="0" algn="l">
              <a:buNone/>
            </a:pPr>
            <a:r>
              <a:rPr lang="en-US" sz="1210" dirty="0">
                <a:solidFill>
                  <a:srgbClr val="1F2937"/>
                </a:solidFill>
                <a:latin typeface="Aptos" pitchFamily="34" charset="0"/>
                <a:ea typeface="Aptos" pitchFamily="34" charset="-122"/>
                <a:cs typeface="Aptos" pitchFamily="34" charset="-120"/>
              </a:rPr>
              <a:t>105–115: comparar estrategias. 115–120: registrar una fortaleza y una mejora.</a:t>
            </a:r>
            <a:endParaRPr lang="en-US" sz="1210" dirty="0"/>
          </a:p>
        </p:txBody>
      </p:sp>
      <p:sp>
        <p:nvSpPr>
          <p:cNvPr id="44" name="Text 41"/>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45" name="Text 42"/>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Bibliografía básica del módulo</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13232" y="1490472"/>
            <a:ext cx="10789920" cy="4526280"/>
          </a:xfrm>
          <a:prstGeom prst="rect">
            <a:avLst/>
          </a:prstGeom>
          <a:noFill/>
          <a:ln/>
        </p:spPr>
        <p:txBody>
          <a:bodyPr wrap="square" lIns="635" tIns="635" rIns="635" bIns="635" rtlCol="0" anchor="ctr">
            <a:normAutofit/>
          </a:bodyPr>
          <a:lstStyle/>
          <a:p>
            <a:pPr marL="0" indent="0">
              <a:buNone/>
            </a:pPr>
            <a:r>
              <a:rPr lang="en-US" sz="1120" dirty="0">
                <a:solidFill>
                  <a:srgbClr val="1F2937"/>
                </a:solidFill>
                <a:latin typeface="Aptos" pitchFamily="34" charset="0"/>
                <a:ea typeface="Aptos" pitchFamily="34" charset="-122"/>
                <a:cs typeface="Aptos" pitchFamily="34" charset="-120"/>
              </a:rPr>
              <a:t>• Addine Fernández, F. (2018). Didáctica y currículo en la educación superior cubana. Pueblo y Educación.</a:t>
            </a:r>
            <a:endParaRPr lang="en-US" sz="1120" dirty="0"/>
          </a:p>
          <a:p>
            <a:pPr marL="0" indent="0">
              <a:buNone/>
            </a:pPr>
            <a:r>
              <a:rPr lang="en-US" sz="1120" dirty="0">
                <a:solidFill>
                  <a:srgbClr val="1F2937"/>
                </a:solidFill>
                <a:latin typeface="Aptos" pitchFamily="34" charset="0"/>
                <a:ea typeface="Aptos" pitchFamily="34" charset="-122"/>
                <a:cs typeface="Aptos" pitchFamily="34" charset="-120"/>
              </a:rPr>
              <a:t>• Cano, E. (2015). El enfoque por competencias en la educación superior: Evaluación y desarrollo de competencias en estudiantes universitarios. Revista de Investigación Educativa, 33(2).</a:t>
            </a:r>
            <a:endParaRPr lang="en-US" sz="1120" dirty="0"/>
          </a:p>
          <a:p>
            <a:pPr marL="0" indent="0">
              <a:buNone/>
            </a:pPr>
            <a:r>
              <a:rPr lang="en-US" sz="1120" dirty="0">
                <a:solidFill>
                  <a:srgbClr val="1F2937"/>
                </a:solidFill>
                <a:latin typeface="Aptos" pitchFamily="34" charset="0"/>
                <a:ea typeface="Aptos" pitchFamily="34" charset="-122"/>
                <a:cs typeface="Aptos" pitchFamily="34" charset="-120"/>
              </a:rPr>
              <a:t>• Horruitiner, P. (2019). La universidad cubana: un modelo de formación. Félix Varela.</a:t>
            </a:r>
            <a:endParaRPr lang="en-US" sz="1120" dirty="0"/>
          </a:p>
          <a:p>
            <a:pPr marL="0" indent="0">
              <a:buNone/>
            </a:pPr>
            <a:r>
              <a:rPr lang="en-US" sz="1120" dirty="0">
                <a:solidFill>
                  <a:srgbClr val="1F2937"/>
                </a:solidFill>
                <a:latin typeface="Aptos" pitchFamily="34" charset="0"/>
                <a:ea typeface="Aptos" pitchFamily="34" charset="-122"/>
                <a:cs typeface="Aptos" pitchFamily="34" charset="-120"/>
              </a:rPr>
              <a:t>• NC 3000:2018 – Sistema de gestión de la calidad. Requisitos para organismos de certificación de competencias. (ONN).</a:t>
            </a:r>
            <a:endParaRPr lang="en-US" sz="1120" dirty="0"/>
          </a:p>
          <a:p>
            <a:pPr marL="0" indent="0">
              <a:buNone/>
            </a:pPr>
            <a:r>
              <a:rPr lang="en-US" sz="1120" dirty="0">
                <a:solidFill>
                  <a:srgbClr val="1F2937"/>
                </a:solidFill>
                <a:latin typeface="Aptos" pitchFamily="34" charset="0"/>
                <a:ea typeface="Aptos" pitchFamily="34" charset="-122"/>
                <a:cs typeface="Aptos" pitchFamily="34" charset="-120"/>
              </a:rPr>
              <a:t>• MINED (2021). Estrategia de educación para el desarrollo sostenible en Cuba.</a:t>
            </a:r>
            <a:endParaRPr lang="en-US" sz="1120" dirty="0"/>
          </a:p>
          <a:p>
            <a:pPr marL="0" indent="0">
              <a:buNone/>
            </a:pPr>
            <a:r>
              <a:rPr lang="en-US" sz="1120" dirty="0">
                <a:solidFill>
                  <a:srgbClr val="1F2937"/>
                </a:solidFill>
                <a:latin typeface="Aptos" pitchFamily="34" charset="0"/>
                <a:ea typeface="Aptos" pitchFamily="34" charset="-122"/>
                <a:cs typeface="Aptos" pitchFamily="34" charset="-120"/>
              </a:rPr>
              <a:t>• CEPAL-UNESCO (2020). Educación inclusiva y equitativa en América Latina.</a:t>
            </a:r>
            <a:endParaRPr lang="en-US" sz="1120" dirty="0"/>
          </a:p>
        </p:txBody>
      </p:sp>
      <p:sp>
        <p:nvSpPr>
          <p:cNvPr id="9" name="Text 6"/>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0" name="Text 7"/>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F0E8"/>
        </a:solidFill>
        <a:effectLst/>
      </p:bgPr>
    </p:bg>
    <p:spTree>
      <p:nvGrpSpPr>
        <p:cNvPr id="1" name=""/>
        <p:cNvGrpSpPr/>
        <p:nvPr/>
      </p:nvGrpSpPr>
      <p:grpSpPr>
        <a:xfrm>
          <a:off x="0" y="0"/>
          <a:ext cx="0" cy="0"/>
          <a:chOff x="0" y="0"/>
          <a:chExt cx="0" cy="0"/>
        </a:xfrm>
      </p:grpSpPr>
      <p:sp>
        <p:nvSpPr>
          <p:cNvPr id="2" name="Shape 0"/>
          <p:cNvSpPr/>
          <p:nvPr/>
        </p:nvSpPr>
        <p:spPr>
          <a:xfrm>
            <a:off x="566928" y="393192"/>
            <a:ext cx="384048" cy="32004"/>
          </a:xfrm>
          <a:prstGeom prst="rect">
            <a:avLst/>
          </a:prstGeom>
          <a:solidFill>
            <a:srgbClr val="D89A2B"/>
          </a:solidFill>
          <a:ln w="12700">
            <a:solidFill>
              <a:srgbClr val="D89A2B"/>
            </a:solidFill>
            <a:prstDash val="solid"/>
          </a:ln>
        </p:spPr>
      </p:sp>
      <p:sp>
        <p:nvSpPr>
          <p:cNvPr id="3" name="Text 1"/>
          <p:cNvSpPr/>
          <p:nvPr/>
        </p:nvSpPr>
        <p:spPr>
          <a:xfrm>
            <a:off x="566928" y="548640"/>
            <a:ext cx="2926080" cy="201168"/>
          </a:xfrm>
          <a:prstGeom prst="rect">
            <a:avLst/>
          </a:prstGeom>
          <a:noFill/>
          <a:ln/>
        </p:spPr>
        <p:txBody>
          <a:bodyPr wrap="square" lIns="0" tIns="0" rIns="0" bIns="0" rtlCol="0" anchor="ctr"/>
          <a:lstStyle/>
          <a:p>
            <a:pPr marL="0" indent="0">
              <a:buNone/>
            </a:pPr>
            <a:r>
              <a:rPr lang="en-US" sz="950" b="1" dirty="0">
                <a:solidFill>
                  <a:srgbClr val="00CBA8"/>
                </a:solidFill>
                <a:latin typeface="Aptos" pitchFamily="34" charset="0"/>
                <a:ea typeface="Aptos" pitchFamily="34" charset="-122"/>
                <a:cs typeface="Aptos" pitchFamily="34" charset="-120"/>
              </a:rPr>
              <a:t>MÓDULO 1</a:t>
            </a:r>
            <a:endParaRPr lang="en-US" sz="950" dirty="0"/>
          </a:p>
        </p:txBody>
      </p:sp>
      <p:sp>
        <p:nvSpPr>
          <p:cNvPr id="4" name="Text 2"/>
          <p:cNvSpPr/>
          <p:nvPr/>
        </p:nvSpPr>
        <p:spPr>
          <a:xfrm>
            <a:off x="566928" y="749808"/>
            <a:ext cx="10881360" cy="438912"/>
          </a:xfrm>
          <a:prstGeom prst="rect">
            <a:avLst/>
          </a:prstGeom>
          <a:noFill/>
          <a:ln/>
        </p:spPr>
        <p:txBody>
          <a:bodyPr wrap="square" lIns="0" tIns="0" rIns="0" bIns="0" rtlCol="0" anchor="ctr">
            <a:normAutofit/>
          </a:bodyPr>
          <a:lstStyle/>
          <a:p>
            <a:pPr marL="0" indent="0">
              <a:buNone/>
            </a:pPr>
            <a:r>
              <a:rPr lang="en-US" sz="2300" dirty="0">
                <a:solidFill>
                  <a:srgbClr val="002E54"/>
                </a:solidFill>
                <a:latin typeface="Aptos Display" pitchFamily="34" charset="0"/>
                <a:ea typeface="Aptos Display" pitchFamily="34" charset="-122"/>
                <a:cs typeface="Aptos Display" pitchFamily="34" charset="-120"/>
              </a:rPr>
              <a:t>Cierre del módulo</a:t>
            </a:r>
            <a:endParaRPr lang="en-US" sz="2300" dirty="0"/>
          </a:p>
        </p:txBody>
      </p:sp>
      <p:sp>
        <p:nvSpPr>
          <p:cNvPr id="5" name="Shape 3"/>
          <p:cNvSpPr/>
          <p:nvPr/>
        </p:nvSpPr>
        <p:spPr>
          <a:xfrm>
            <a:off x="566928" y="1252728"/>
            <a:ext cx="11064240" cy="0"/>
          </a:xfrm>
          <a:prstGeom prst="line">
            <a:avLst/>
          </a:prstGeom>
          <a:noFill/>
          <a:ln w="8255">
            <a:solidFill>
              <a:srgbClr val="D9D4C9"/>
            </a:solidFill>
            <a:prstDash val="solid"/>
          </a:ln>
        </p:spPr>
      </p:sp>
      <p:sp>
        <p:nvSpPr>
          <p:cNvPr id="6" name="Text 4"/>
          <p:cNvSpPr/>
          <p:nvPr/>
        </p:nvSpPr>
        <p:spPr>
          <a:xfrm>
            <a:off x="777240" y="1691640"/>
            <a:ext cx="3657600" cy="256032"/>
          </a:xfrm>
          <a:prstGeom prst="rect">
            <a:avLst/>
          </a:prstGeom>
          <a:noFill/>
          <a:ln/>
        </p:spPr>
        <p:txBody>
          <a:bodyPr wrap="square" lIns="0" tIns="0" rIns="0" bIns="0" rtlCol="0" anchor="ctr"/>
          <a:lstStyle/>
          <a:p>
            <a:pPr marL="0" indent="0">
              <a:buNone/>
            </a:pPr>
            <a:r>
              <a:rPr lang="en-US" sz="1400" b="1" dirty="0">
                <a:solidFill>
                  <a:srgbClr val="00CBA8"/>
                </a:solidFill>
                <a:latin typeface="Aptos" pitchFamily="34" charset="0"/>
                <a:ea typeface="Aptos" pitchFamily="34" charset="-122"/>
                <a:cs typeface="Aptos" pitchFamily="34" charset="-120"/>
              </a:rPr>
              <a:t>Pregunta de salida</a:t>
            </a:r>
            <a:endParaRPr lang="en-US" sz="1400" dirty="0"/>
          </a:p>
        </p:txBody>
      </p:sp>
      <p:sp>
        <p:nvSpPr>
          <p:cNvPr id="7" name="Text 5"/>
          <p:cNvSpPr/>
          <p:nvPr/>
        </p:nvSpPr>
        <p:spPr>
          <a:xfrm>
            <a:off x="777240" y="2240280"/>
            <a:ext cx="10241280" cy="1097280"/>
          </a:xfrm>
          <a:prstGeom prst="rect">
            <a:avLst/>
          </a:prstGeom>
          <a:noFill/>
          <a:ln/>
        </p:spPr>
        <p:txBody>
          <a:bodyPr wrap="square" lIns="254" tIns="254" rIns="254" bIns="254" rtlCol="0" anchor="ctr">
            <a:normAutofit fontScale="92500" lnSpcReduction="10000"/>
          </a:bodyPr>
          <a:lstStyle/>
          <a:p>
            <a:pPr marL="0" indent="0">
              <a:buNone/>
            </a:pPr>
            <a:r>
              <a:rPr lang="en-US" sz="2800" b="1" dirty="0">
                <a:solidFill>
                  <a:srgbClr val="002E54"/>
                </a:solidFill>
                <a:latin typeface="Aptos Display" pitchFamily="34" charset="0"/>
                <a:ea typeface="Aptos Display" pitchFamily="34" charset="-122"/>
                <a:cs typeface="Aptos Display" pitchFamily="34" charset="-120"/>
              </a:rPr>
              <a:t>¿Qué cambiaré en mi forma de diseñar o facilitar una sesión para que sea más participativa, inclusiva y aplicable al acompañamiento a NAE?</a:t>
            </a:r>
            <a:endParaRPr lang="en-US" sz="2800" dirty="0"/>
          </a:p>
        </p:txBody>
      </p:sp>
      <p:sp>
        <p:nvSpPr>
          <p:cNvPr id="8" name="Shape 6"/>
          <p:cNvSpPr/>
          <p:nvPr/>
        </p:nvSpPr>
        <p:spPr>
          <a:xfrm>
            <a:off x="777240" y="4160520"/>
            <a:ext cx="3611880" cy="54864"/>
          </a:xfrm>
          <a:prstGeom prst="rect">
            <a:avLst/>
          </a:prstGeom>
          <a:solidFill>
            <a:srgbClr val="D89A2B"/>
          </a:solidFill>
          <a:ln w="12700">
            <a:solidFill>
              <a:srgbClr val="D89A2B"/>
            </a:solidFill>
            <a:prstDash val="solid"/>
          </a:ln>
        </p:spPr>
      </p:sp>
      <p:sp>
        <p:nvSpPr>
          <p:cNvPr id="9" name="Text 7"/>
          <p:cNvSpPr/>
          <p:nvPr/>
        </p:nvSpPr>
        <p:spPr>
          <a:xfrm>
            <a:off x="777240" y="4526280"/>
            <a:ext cx="8046720" cy="365760"/>
          </a:xfrm>
          <a:prstGeom prst="rect">
            <a:avLst/>
          </a:prstGeom>
          <a:noFill/>
          <a:ln/>
        </p:spPr>
        <p:txBody>
          <a:bodyPr wrap="square" lIns="0" tIns="0" rIns="0" bIns="0" rtlCol="0" anchor="ctr"/>
          <a:lstStyle/>
          <a:p>
            <a:pPr marL="0" indent="0">
              <a:buNone/>
            </a:pPr>
            <a:r>
              <a:rPr lang="en-US" sz="1800" dirty="0">
                <a:solidFill>
                  <a:srgbClr val="1F2937"/>
                </a:solidFill>
                <a:latin typeface="Aptos" pitchFamily="34" charset="0"/>
                <a:ea typeface="Aptos" pitchFamily="34" charset="-122"/>
                <a:cs typeface="Aptos" pitchFamily="34" charset="-120"/>
              </a:rPr>
              <a:t>Compromiso de aplicación territorial</a:t>
            </a:r>
            <a:endParaRPr lang="en-US" sz="1800" dirty="0"/>
          </a:p>
        </p:txBody>
      </p:sp>
      <p:sp>
        <p:nvSpPr>
          <p:cNvPr id="12" name="Text 9"/>
          <p:cNvSpPr/>
          <p:nvPr/>
        </p:nvSpPr>
        <p:spPr>
          <a:xfrm>
            <a:off x="566928" y="6291072"/>
            <a:ext cx="2651760" cy="22860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Actividad 2.3.2 — FdF</a:t>
            </a:r>
            <a:endParaRPr lang="en-US" sz="850" dirty="0"/>
          </a:p>
        </p:txBody>
      </p:sp>
      <p:sp>
        <p:nvSpPr>
          <p:cNvPr id="13" name="Text 10"/>
          <p:cNvSpPr/>
          <p:nvPr/>
        </p:nvSpPr>
        <p:spPr>
          <a:xfrm>
            <a:off x="11201400" y="6291072"/>
            <a:ext cx="411480" cy="201168"/>
          </a:xfrm>
          <a:prstGeom prst="rect">
            <a:avLst/>
          </a:prstGeom>
          <a:noFill/>
          <a:ln/>
        </p:spPr>
        <p:txBody>
          <a:bodyPr wrap="square" lIns="0" tIns="0" rIns="0" bIns="0" rtlCol="0" anchor="ctr"/>
          <a:lstStyle/>
          <a:p>
            <a:pPr marL="0" indent="0" algn="r">
              <a:buNone/>
            </a:pPr>
            <a:r>
              <a:rPr lang="en-US" sz="850" dirty="0">
                <a:solidFill>
                  <a:srgbClr val="6B7280"/>
                </a:solidFill>
                <a:latin typeface="Aptos" pitchFamily="34" charset="0"/>
                <a:ea typeface="Aptos" pitchFamily="34" charset="-122"/>
                <a:cs typeface="Aptos" pitchFamily="34" charset="-120"/>
              </a:rPr>
              <a:t>43</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2B41"/>
        </a:solidFill>
        <a:effectLst/>
      </p:bgPr>
    </p:bg>
    <p:spTree>
      <p:nvGrpSpPr>
        <p:cNvPr id="1" name="Shape 83"/>
        <p:cNvGrpSpPr/>
        <p:nvPr/>
      </p:nvGrpSpPr>
      <p:grpSpPr>
        <a:xfrm>
          <a:off x="0" y="0"/>
          <a:ext cx="0" cy="0"/>
          <a:chOff x="0" y="0"/>
          <a:chExt cx="0" cy="0"/>
        </a:xfrm>
      </p:grpSpPr>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4524" y="-8141"/>
            <a:ext cx="6339853" cy="6238253"/>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369" y="406257"/>
            <a:ext cx="2275844" cy="1113539"/>
          </a:xfrm>
          <a:prstGeom prst="rect">
            <a:avLst/>
          </a:prstGeom>
        </p:spPr>
      </p:pic>
      <p:sp>
        <p:nvSpPr>
          <p:cNvPr id="86" name="Google Shape;86;p1"/>
          <p:cNvSpPr/>
          <p:nvPr/>
        </p:nvSpPr>
        <p:spPr>
          <a:xfrm>
            <a:off x="0" y="6230112"/>
            <a:ext cx="12192000" cy="646176"/>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121900" tIns="60933" rIns="121900" bIns="609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87" name="Google Shape;87;p1" descr="asset_portada_6.png"/>
          <p:cNvPicPr preferRelativeResize="0"/>
          <p:nvPr/>
        </p:nvPicPr>
        <p:blipFill rotWithShape="1">
          <a:blip r:embed="rId5">
            <a:alphaModFix/>
          </a:blip>
          <a:srcRect/>
          <a:stretch/>
        </p:blipFill>
        <p:spPr>
          <a:xfrm>
            <a:off x="3974592" y="6266688"/>
            <a:ext cx="4255008" cy="560832"/>
          </a:xfrm>
          <a:prstGeom prst="rect">
            <a:avLst/>
          </a:prstGeom>
          <a:noFill/>
          <a:ln>
            <a:noFill/>
          </a:ln>
        </p:spPr>
      </p:pic>
      <p:sp>
        <p:nvSpPr>
          <p:cNvPr id="92" name="Google Shape;92;p1"/>
          <p:cNvSpPr txBox="1"/>
          <p:nvPr/>
        </p:nvSpPr>
        <p:spPr>
          <a:xfrm>
            <a:off x="9776851" y="827613"/>
            <a:ext cx="2224940" cy="328177"/>
          </a:xfrm>
          <a:prstGeom prst="rect">
            <a:avLst/>
          </a:prstGeom>
          <a:noFill/>
          <a:ln>
            <a:noFill/>
          </a:ln>
        </p:spPr>
        <p:txBody>
          <a:bodyPr spcFirstLastPara="1" wrap="square" lIns="121900" tIns="60933" rIns="121900" bIns="60933"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dirty="0">
                <a:ln>
                  <a:noFill/>
                </a:ln>
                <a:solidFill>
                  <a:srgbClr val="A3C5ED"/>
                </a:solidFill>
                <a:effectLst/>
                <a:uLnTx/>
                <a:uFillTx/>
                <a:latin typeface="Calibri"/>
                <a:ea typeface="Calibri"/>
                <a:cs typeface="Calibri"/>
                <a:sym typeface="Calibri"/>
              </a:rPr>
              <a:t>La Habana, Cuba · 2026</a:t>
            </a: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Text 0"/>
          <p:cNvSpPr/>
          <p:nvPr/>
        </p:nvSpPr>
        <p:spPr>
          <a:xfrm>
            <a:off x="658369" y="2539241"/>
            <a:ext cx="53035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Gracias.</a:t>
            </a:r>
            <a:endParaRPr kumimoji="0" lang="en-US" sz="38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Text 1"/>
          <p:cNvSpPr/>
          <p:nvPr/>
        </p:nvSpPr>
        <p:spPr>
          <a:xfrm>
            <a:off x="658369" y="3308861"/>
            <a:ext cx="56692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AFCBE1"/>
                </a:solidFill>
                <a:effectLst/>
                <a:uLnTx/>
                <a:uFillTx/>
                <a:latin typeface="Aptos Display" pitchFamily="34" charset="0"/>
                <a:ea typeface="Aptos Display" pitchFamily="34" charset="-122"/>
                <a:cs typeface="Aptos Display" pitchFamily="34" charset="-120"/>
              </a:rPr>
              <a:t>Construimos juntos.</a:t>
            </a:r>
            <a:endParaRPr kumimoji="0" lang="en-US" sz="30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Shape 2"/>
          <p:cNvSpPr/>
          <p:nvPr/>
        </p:nvSpPr>
        <p:spPr>
          <a:xfrm>
            <a:off x="684873" y="4478721"/>
            <a:ext cx="3291840" cy="45720"/>
          </a:xfrm>
          <a:prstGeom prst="rect">
            <a:avLst/>
          </a:prstGeom>
          <a:solidFill>
            <a:srgbClr val="D89A2B"/>
          </a:solidFill>
          <a:ln w="12700">
            <a:solidFill>
              <a:srgbClr val="D89A2B"/>
            </a:solidFill>
            <a:prstDash val="solid"/>
          </a:ln>
        </p:spPr>
      </p:sp>
      <p:sp>
        <p:nvSpPr>
          <p:cNvPr id="3" name="Text 3">
            <a:extLst>
              <a:ext uri="{FF2B5EF4-FFF2-40B4-BE49-F238E27FC236}">
                <a16:creationId xmlns:a16="http://schemas.microsoft.com/office/drawing/2014/main" id="{2B4825A5-B3C9-C82E-301E-DE8D5985658D}"/>
              </a:ext>
            </a:extLst>
          </p:cNvPr>
          <p:cNvSpPr/>
          <p:nvPr/>
        </p:nvSpPr>
        <p:spPr>
          <a:xfrm>
            <a:off x="713231" y="4736592"/>
            <a:ext cx="7308551" cy="594360"/>
          </a:xfrm>
          <a:prstGeom prst="rect">
            <a:avLst/>
          </a:prstGeom>
          <a:noFill/>
          <a:ln/>
        </p:spPr>
        <p:txBody>
          <a:bodyPr wrap="square" lIns="0" tIns="0" rIns="0" bIns="0" rtlCol="0" anchor="ctr"/>
          <a:lstStyle/>
          <a:p>
            <a:r>
              <a:rPr lang="es-419" sz="1050" b="1" noProof="0" dirty="0">
                <a:solidFill>
                  <a:schemeClr val="bg1"/>
                </a:solidFill>
              </a:rPr>
              <a:t>Material elaborado en el marco del Proyecto NAE</a:t>
            </a:r>
            <a:br>
              <a:rPr lang="es-419" sz="1050" noProof="0" dirty="0">
                <a:solidFill>
                  <a:schemeClr val="bg1"/>
                </a:solidFill>
              </a:rPr>
            </a:br>
            <a:r>
              <a:rPr lang="es-419" sz="1050" b="1" noProof="0" dirty="0">
                <a:solidFill>
                  <a:schemeClr val="bg1"/>
                </a:solidFill>
              </a:rPr>
              <a:t>Financiado por la </a:t>
            </a:r>
            <a:r>
              <a:rPr lang="es-419" sz="1050" b="1" noProof="0" dirty="0" err="1">
                <a:solidFill>
                  <a:schemeClr val="bg1"/>
                </a:solidFill>
              </a:rPr>
              <a:t>Agence</a:t>
            </a:r>
            <a:r>
              <a:rPr lang="es-419" sz="1050" b="1" noProof="0" dirty="0">
                <a:solidFill>
                  <a:schemeClr val="bg1"/>
                </a:solidFill>
              </a:rPr>
              <a:t> </a:t>
            </a:r>
            <a:r>
              <a:rPr lang="es-419" sz="1050" b="1" noProof="0" dirty="0" err="1">
                <a:solidFill>
                  <a:schemeClr val="bg1"/>
                </a:solidFill>
              </a:rPr>
              <a:t>Française</a:t>
            </a:r>
            <a:r>
              <a:rPr lang="es-419" sz="1050" b="1" noProof="0" dirty="0">
                <a:solidFill>
                  <a:schemeClr val="bg1"/>
                </a:solidFill>
              </a:rPr>
              <a:t> de </a:t>
            </a:r>
            <a:r>
              <a:rPr lang="es-419" sz="1050" b="1" noProof="0" dirty="0" err="1">
                <a:solidFill>
                  <a:schemeClr val="bg1"/>
                </a:solidFill>
              </a:rPr>
              <a:t>Développement</a:t>
            </a:r>
            <a:r>
              <a:rPr lang="es-419" sz="1050" b="1" noProof="0" dirty="0">
                <a:solidFill>
                  <a:schemeClr val="bg1"/>
                </a:solidFill>
              </a:rPr>
              <a:t> (AFD), con cofinanciación de la Unión Europea</a:t>
            </a:r>
          </a:p>
          <a:p>
            <a:endParaRPr lang="es-419" sz="1050" noProof="0" dirty="0">
              <a:solidFill>
                <a:schemeClr val="bg1"/>
              </a:solidFill>
              <a:latin typeface="Aptos" pitchFamily="34" charset="0"/>
              <a:ea typeface="Aptos" pitchFamily="34" charset="-122"/>
              <a:cs typeface="Aptos" pitchFamily="34" charset="-120"/>
            </a:endParaRPr>
          </a:p>
          <a:p>
            <a:r>
              <a:rPr lang="es-419" sz="1050" noProof="0" dirty="0">
                <a:solidFill>
                  <a:schemeClr val="bg1"/>
                </a:solidFill>
                <a:latin typeface="Aptos" pitchFamily="34" charset="0"/>
                <a:ea typeface="Aptos" pitchFamily="34" charset="-122"/>
                <a:cs typeface="Aptos" pitchFamily="34" charset="-120"/>
              </a:rPr>
              <a:t>Implementación Técnica: Universidad de Alicante (UA) - Parque Científico Tecnológico de La Habana (PCTH)</a:t>
            </a:r>
            <a:endParaRPr lang="es-419" sz="1050" noProof="0" dirty="0">
              <a:solidFill>
                <a:schemeClr val="bg1"/>
              </a:solidFill>
            </a:endParaRPr>
          </a:p>
        </p:txBody>
      </p:sp>
    </p:spTree>
    <p:extLst>
      <p:ext uri="{BB962C8B-B14F-4D97-AF65-F5344CB8AC3E}">
        <p14:creationId xmlns:p14="http://schemas.microsoft.com/office/powerpoint/2010/main" val="19721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5843</Words>
  <Application>Microsoft Office PowerPoint</Application>
  <PresentationFormat>Panorámica</PresentationFormat>
  <Paragraphs>575</Paragraphs>
  <Slides>44</Slides>
  <Notes>44</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44</vt:i4>
      </vt:variant>
    </vt:vector>
  </HeadingPairs>
  <TitlesOfParts>
    <vt:vector size="50" baseType="lpstr">
      <vt:lpstr>Aptos</vt:lpstr>
      <vt:lpstr>Aptos Display</vt:lpstr>
      <vt:lpstr>Arial</vt:lpstr>
      <vt:lpstr>Calibri</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de Alicante / Parque Científico Tecnológico de La Habana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 FdF NAE - Módulo 1</dc:title>
  <dc:subject>Módulo 1 - Ingeniería de la formación y facilitación de personas adultas</dc:subject>
  <dc:creator>Proyecto NAE - UA/PCTH</dc:creator>
  <cp:lastModifiedBy>Dario-Acer26</cp:lastModifiedBy>
  <cp:revision>8</cp:revision>
  <dcterms:created xsi:type="dcterms:W3CDTF">2026-08-25T01:31:30Z</dcterms:created>
  <dcterms:modified xsi:type="dcterms:W3CDTF">2026-09-13T01:16:03Z</dcterms:modified>
</cp:coreProperties>
</file>