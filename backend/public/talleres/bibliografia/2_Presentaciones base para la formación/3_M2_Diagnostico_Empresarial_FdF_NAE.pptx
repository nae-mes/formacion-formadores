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20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21.xml" ContentType="application/vnd.openxmlformats-officedocument.presentationml.notesSlide+xml"/>
  <Override PartName="/ppt/theme/themeOverride18.xml" ContentType="application/vnd.openxmlformats-officedocument.themeOverride+xml"/>
  <Override PartName="/ppt/notesSlides/notesSlide22.xml" ContentType="application/vnd.openxmlformats-officedocument.presentationml.notesSlide+xml"/>
  <Override PartName="/ppt/theme/themeOverride19.xml" ContentType="application/vnd.openxmlformats-officedocument.themeOverride+xml"/>
  <Override PartName="/ppt/notesSlides/notesSlide23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24.xml" ContentType="application/vnd.openxmlformats-officedocument.presentationml.notesSlide+xml"/>
  <Override PartName="/ppt/theme/themeOverride21.xml" ContentType="application/vnd.openxmlformats-officedocument.themeOverr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heme/themeOverride22.xml" ContentType="application/vnd.openxmlformats-officedocument.themeOverride+xml"/>
  <Override PartName="/ppt/notesSlides/notesSlide27.xml" ContentType="application/vnd.openxmlformats-officedocument.presentationml.notesSlide+xml"/>
  <Override PartName="/ppt/theme/themeOverride23.xml" ContentType="application/vnd.openxmlformats-officedocument.themeOverride+xml"/>
  <Override PartName="/ppt/notesSlides/notesSlide28.xml" ContentType="application/vnd.openxmlformats-officedocument.presentationml.notesSlide+xml"/>
  <Override PartName="/ppt/theme/themeOverride24.xml" ContentType="application/vnd.openxmlformats-officedocument.themeOverride+xml"/>
  <Override PartName="/ppt/notesSlides/notesSlide29.xml" ContentType="application/vnd.openxmlformats-officedocument.presentationml.notesSlide+xml"/>
  <Override PartName="/ppt/theme/themeOverride25.xml" ContentType="application/vnd.openxmlformats-officedocument.themeOverride+xml"/>
  <Override PartName="/ppt/notesSlides/notesSlide30.xml" ContentType="application/vnd.openxmlformats-officedocument.presentationml.notesSlide+xml"/>
  <Override PartName="/ppt/theme/themeOverride26.xml" ContentType="application/vnd.openxmlformats-officedocument.themeOverride+xml"/>
  <Override PartName="/ppt/notesSlides/notesSlide31.xml" ContentType="application/vnd.openxmlformats-officedocument.presentationml.notesSlide+xml"/>
  <Override PartName="/ppt/theme/themeOverride27.xml" ContentType="application/vnd.openxmlformats-officedocument.themeOverr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heme/themeOverride28.xml" ContentType="application/vnd.openxmlformats-officedocument.themeOverride+xml"/>
  <Override PartName="/ppt/notesSlides/notesSlide34.xml" ContentType="application/vnd.openxmlformats-officedocument.presentationml.notesSlide+xml"/>
  <Override PartName="/ppt/theme/themeOverride29.xml" ContentType="application/vnd.openxmlformats-officedocument.themeOverride+xml"/>
  <Override PartName="/ppt/notesSlides/notesSlide35.xml" ContentType="application/vnd.openxmlformats-officedocument.presentationml.notesSlide+xml"/>
  <Override PartName="/ppt/theme/themeOverride30.xml" ContentType="application/vnd.openxmlformats-officedocument.themeOverride+xml"/>
  <Override PartName="/ppt/notesSlides/notesSlide36.xml" ContentType="application/vnd.openxmlformats-officedocument.presentationml.notesSlide+xml"/>
  <Override PartName="/ppt/theme/themeOverride31.xml" ContentType="application/vnd.openxmlformats-officedocument.themeOverride+xml"/>
  <Override PartName="/ppt/notesSlides/notesSlide37.xml" ContentType="application/vnd.openxmlformats-officedocument.presentationml.notesSlide+xml"/>
  <Override PartName="/ppt/theme/themeOverride32.xml" ContentType="application/vnd.openxmlformats-officedocument.themeOverr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67" r:id="rId4"/>
    <p:sldMasterId id="2147483691" r:id="rId5"/>
    <p:sldMasterId id="2147483703" r:id="rId6"/>
  </p:sldMasterIdLst>
  <p:notesMasterIdLst>
    <p:notesMasterId r:id="rId46"/>
  </p:notesMasterIdLst>
  <p:sldIdLst>
    <p:sldId id="299" r:id="rId7"/>
    <p:sldId id="300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7" r:id="rId45"/>
  </p:sldIdLst>
  <p:sldSz cx="16256000" cy="9144000"/>
  <p:notesSz cx="9144000" cy="1625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84" autoAdjust="0"/>
  </p:normalViewPr>
  <p:slideViewPr>
    <p:cSldViewPr snapToGrid="0">
      <p:cViewPr varScale="1">
        <p:scale>
          <a:sx n="54" d="100"/>
          <a:sy n="54" d="100"/>
        </p:scale>
        <p:origin x="4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34B9F1C-FE5C-4F04-8CF8-8BCB9CC06F8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8950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9667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292DE3-4899-4766-915A-21CB95BFAC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Programa FdF-NAE V2, módulo 2 y marco de competencias; Guía del Facilitador/a V2, §§2 y 6.2. El M2 desarrolla C5. El diagnóstico empresarial identifica necesidades de apoyo y, cuando hay brechas de aprendizaje, alimenta el ciclo pedagógico. Ambos ciclos se articulan con la transferencia y multiplicación territorial.</a:t>
            </a:r>
          </a:p>
        </p:txBody>
      </p:sp>
      <p:sp>
        <p:nvSpPr>
          <p:cNvPr id="51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EDA439-7FC6-4BFC-84EE-4F3FB5F06E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CA3D78-4234-4D8F-BC66-9626E7902C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E0A4B6-3E24-481F-9B97-EADC319920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79F40D-14B3-4982-87BC-F5C672C749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Programa FdF-NAE V2, §§4.4 y 10.2; Guía V2, §§6 y 9.3. Las evidencias mínimas de dominio se integran en los cuatro productos del Portafolio como componentes, anexos, registros o criterios de valoración. No constituyen tareas calificables adicionales.</a:t>
            </a:r>
          </a:p>
        </p:txBody>
      </p:sp>
      <p:sp>
        <p:nvSpPr>
          <p:cNvPr id="52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B91C86-FCDA-48CC-B158-5AAE872595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859705-66AF-48A9-A45A-5E3B2BDC67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5D2F1F-001D-4AB3-AAE0-DF69440544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1F2350-2606-4E56-A7B5-47DB804032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14F202-513B-4807-B216-DC4F3CCBA9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1EB510-ED6D-40EB-B4B4-127AD6A3E6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332E65-3159-49C7-88C5-E1B0ACC95C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Fuente: K01 Caso La Colmena, Producción y operaciones. En los últimos tres meses hubo 186 pedidos, 151 a tiempo y 35 con retraso. La falta de envases o insumos es una explicación del equipo, que debe contrastarse con registros y con otras causas, incluidas las interrupciones eléctricas. La elección del apoyo requiere análisis, no una solución predeterminada.</a:t>
            </a:r>
          </a:p>
        </p:txBody>
      </p:sp>
      <p:sp>
        <p:nvSpPr>
          <p:cNvPr id="54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063223-1AC1-4716-88F3-5AF56340FA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A3797C-FF13-43E6-8B05-13C85A812A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DCF52E-2B7B-40C9-9D1E-C6E3F1827B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1E488F-761B-4718-94FC-6C90D11943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BA92E9-A56D-42A6-BCF8-F26C0AB99F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DD3703-156C-4EB0-9E43-283B13B8BE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FF38B3-77D7-4179-90F3-940BDACDF4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Guía V2, capítulo 7, §§7.1–7.3 y 7.9; K02 Diagnóstico empresarial.xlsx y K03 Problemática jerarquizada.xlsx. Seleccionar y adaptar según características, etapa, necesidades y territorio del NAE, sin una secuencia rígida de aplicación obligatoria. K02 y K03 proceden de Creciendo con su Negocio, CVI/PNUD, y son complementarios a la arquitectura FdF-NAE. K08 se menciona únicamente como opción pertinente según la Guía, sin requerir su aplicación en M2.</a:t>
            </a:r>
          </a:p>
        </p:txBody>
      </p:sp>
      <p:sp>
        <p:nvSpPr>
          <p:cNvPr id="56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88DBB6-50F6-4BF0-AC93-4F2FA7C593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Guía V2, §7.2; K02, hojas Ficha de la Empresa, Capacidades Empresariales y Resumen. Esta tabla resume el uso de K02 y no reproduce su formulario. La escala 0–10 se aplica a cada afirmación de Capacidades Empresariales, no a la ficha general ni a la calificación de participantes. NA significa no aplica y no debe sustituir información desconocida. Si falta evidencia, registrarlo en comentarios y contrastar. Revisar el Resumen junto con fuentes y relaciones entre dimensiones. Incorporar participación por género, cuidados, inclusión, innovación, sostenibilidad, ética y contexto territorial. El archivo suministrado contiene errores #DIV/0! en Resumen; no interpretarlos como resultados del NAE. Revisar valoraciones y comentarios cuando no se obtenga una síntesis válida.</a:t>
            </a:r>
          </a:p>
        </p:txBody>
      </p:sp>
      <p:sp>
        <p:nvSpPr>
          <p:cNvPr id="57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2B6722-0172-47E9-AA20-E5044DC6B4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Guía V2, §7.3; K03, hojas LineaBase, Ejemplo LineaBase y Guía Indicadores; K01, Producción y operaciones. K03 registra problemas ya priorizados, línea de base, indicador y valores inicial, esperado y final. El árbol de problemas y los cinco porqués son técnicas de análisis previo, no pestañas de K03. El ejemplo toma 151/186 entregas a tiempo, aproximadamente 81 %, del caso. No se prescribe una meta: acordar el valor esperado con el NAE según capacidades y recursos, y articularlo con M3. El valor final corresponde a la evaluación posterior a la implementación, no al diagnóstico M2. Las referencias a etapas del CVI en el archivo no cambian el itinerario FdF-NAE.</a:t>
            </a:r>
          </a:p>
        </p:txBody>
      </p:sp>
      <p:sp>
        <p:nvSpPr>
          <p:cNvPr id="57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C0FD40-689C-4B8C-860C-8939C885A6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Programa V2, resultados del M2 y §10.2; Guía V2, §6.2 y §9.3. Los descriptores sirven para observar y retroalimentar el diagnóstico. No se presentan como una rúbrica codificada de la Caja de Herramientas, una ponderación nueva ni un instrumento normativo adicional. La calificación del Producto 1 se realiza con los instrumentos de evaluación del Programa. Incorporar también los criterios transversales de la diapositiva 35.</a:t>
            </a:r>
          </a:p>
        </p:txBody>
      </p:sp>
      <p:sp>
        <p:nvSpPr>
          <p:cNvPr id="57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8268EF-5F10-4FAB-A487-C83ACCA8F1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5FB1F7-FF19-4F18-A0F4-BF61D22C30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Guía V2, §6.2 y ficha M2 Clínica de diagnóstico empresarial integral. Se conserva la secuencia de 120 minutos. La jornada presencial ocurre primero y las sesiones sincrónicas posteriores profundizan la aplicación y retroalimentan; las horas asincrónicas se distribuyen antes y durante el itinerario. La distribución temática por modalidad de la diapositiva 9 no constituye una secuencia cronológica rígida. Reservar la presencialidad para modelar, practicar y retroalimentar. El registro de hallazgos y el avance de diagnóstico son práctica, integrada en el Producto 1 en el hito del cronograma.</a:t>
            </a:r>
          </a:p>
        </p:txBody>
      </p:sp>
      <p:sp>
        <p:nvSpPr>
          <p:cNvPr id="58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C41FF2-57DA-465B-A534-CF5DF5E355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K01 Caso La Colmena; Guía V2, §§5 y 6.2. Recuperar la experiencia de las personas adultas y distribuir roles para asegurar participación. Respetar confidencialidad y consentimiento. No inventar respuestas para completar K02: señalar los datos faltantes. Considerar las barreras de cuidado mencionadas por las trabajadoras del caso.</a:t>
            </a:r>
          </a:p>
        </p:txBody>
      </p:sp>
      <p:sp>
        <p:nvSpPr>
          <p:cNvPr id="58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26F6CE-7CBF-4EF6-9B05-76DCC73622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11D461-8C4E-4625-818D-49BE4E2DF8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55E0E9-124B-41EA-A2A1-A314DB9703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D42AB6-71EB-423B-A71E-84386EF66E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Guía V2, §§6.2 y 10; K02 y K03 suministrados. Usar copias descargadas, formatos impresos, entrevistas presenciales o por teléfono y consolidación posterior. Si el Resumen de K02 muestra errores, basar la discusión en las valoraciones sustentadas y las evidencias disponibles, sin asumir resultados automáticos válidos. Mantener la competencia y los criterios del Programa en la transferencia territorial.</a:t>
            </a:r>
          </a:p>
        </p:txBody>
      </p:sp>
      <p:sp>
        <p:nvSpPr>
          <p:cNvPr id="598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56B8F2-5579-4615-9927-6AB95928A8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7F478D-435C-4819-B118-45BAB17D95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Programa V2, §10.2; Guía V2, §§6, 6.2 y 9.3. Producto 1 del Portafolio: Diagnóstico empresarial integral. Las fichas, matrices, análisis y simulaciones se integran como componentes o registros de práctica, sin nuevas tareas calificables. El valor esperado de K03 se acuerda y articula con el Plan de Mejora; el valor final se registra tras su implementación. La entrega se realiza según el hito previsto y admite mejora con retroalimentación.</a:t>
            </a:r>
          </a:p>
        </p:txBody>
      </p:sp>
      <p:sp>
        <p:nvSpPr>
          <p:cNvPr id="60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3BB1B5-F514-4198-AECA-910CEB8C30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93BEE7-02CE-4039-BD52-D232CC7944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Programa V2, §§10.1–10.3; Guía V2, §§9.1–9.4. Estas preguntas abiertas son práctica sin calificación adicional. El Programa contempla una prueba diagnóstica inicial no calificativa y una prueba teórica final equivalente de 30 preguntas de opción múltiple, cinco por módulo, con cuatro alternativas y una correcta. La prueba teórica final se aplica al concluir los seis módulos y representa el 30 %; los cuatro productos del Portafolio representan el 70 %. No se añade una prueba calificable propia del M2.</a:t>
            </a:r>
          </a:p>
        </p:txBody>
      </p:sp>
      <p:sp>
        <p:nvSpPr>
          <p:cNvPr id="61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F3DB47-78B2-43CC-8756-1ED0BD13CA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Programa V2, §10.2; Guía V2, §§6, 7.11 y 9.3. Los cuatro productos integradores son Diagnóstico empresarial integral, Plan de Mejora, Evaluación del Plan de Mejora y Diseño de réplica territorial, documentado mediante K10 Plan de Multiplicación Territorial. El cierre de la clínica incluye evidencia y retroalimentación, sin crear requisitos de aprobación adicionales. En M3 las prioridades y líneas de base alimentan objetivos, acciones, responsables, recursos, plazos e indicadores. Transferir la metodología con adaptación al territorio.</a:t>
            </a:r>
          </a:p>
        </p:txBody>
      </p:sp>
      <p:sp>
        <p:nvSpPr>
          <p:cNvPr id="61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0A26B3-3B09-4872-9943-4BA6870DEE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EC7359-0995-4EF9-9797-F6DCCEEFDF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8289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4">
            <a:extLst>
              <a:ext uri="{FF2B5EF4-FFF2-40B4-BE49-F238E27FC236}">
                <a16:creationId xmlns:a16="http://schemas.microsoft.com/office/drawing/2014/main" id="{F951A535-116A-2257-A535-2C6AFA2ADA25}"/>
              </a:ext>
            </a:extLst>
          </p:cNvPr>
          <p:cNvSpPr/>
          <p:nvPr userDrawn="1"/>
        </p:nvSpPr>
        <p:spPr>
          <a:xfrm>
            <a:off x="1" y="8314944"/>
            <a:ext cx="16255593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/mnt/data/ppt_media/ppt/media/image3.png">
            <a:extLst>
              <a:ext uri="{FF2B5EF4-FFF2-40B4-BE49-F238E27FC236}">
                <a16:creationId xmlns:a16="http://schemas.microsoft.com/office/drawing/2014/main" id="{6285504D-A15B-FBBA-7529-0E7AAC9AB9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66944" y="8388096"/>
            <a:ext cx="5669280" cy="7071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>
            <a:extLst>
              <a:ext uri="{FF2B5EF4-FFF2-40B4-BE49-F238E27FC236}">
                <a16:creationId xmlns:a16="http://schemas.microsoft.com/office/drawing/2014/main" id="{6555FC7E-5794-4027-FB2A-AE6326D98FAE}"/>
              </a:ext>
            </a:extLst>
          </p:cNvPr>
          <p:cNvSpPr/>
          <p:nvPr userDrawn="1"/>
        </p:nvSpPr>
        <p:spPr>
          <a:xfrm>
            <a:off x="1" y="8314944"/>
            <a:ext cx="16255593" cy="829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5" name="Picture 9" descr="image3.png">
            <a:extLst>
              <a:ext uri="{FF2B5EF4-FFF2-40B4-BE49-F238E27FC236}">
                <a16:creationId xmlns:a16="http://schemas.microsoft.com/office/drawing/2014/main" id="{D03CCC90-9433-4900-1518-4CFECBDFD3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19876" y="8401555"/>
            <a:ext cx="4815840" cy="65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80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840568"/>
            <a:ext cx="103632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181600"/>
            <a:ext cx="85344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30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413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5875867"/>
            <a:ext cx="10363200" cy="1816100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875618"/>
            <a:ext cx="10363200" cy="2000249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556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33601"/>
            <a:ext cx="5384800" cy="60346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133601"/>
            <a:ext cx="5384800" cy="60346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47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046817"/>
            <a:ext cx="5386917" cy="8530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899833"/>
            <a:ext cx="5386917" cy="52683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2046817"/>
            <a:ext cx="5389033" cy="8530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899833"/>
            <a:ext cx="5389033" cy="52683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70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50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69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64067"/>
            <a:ext cx="4011084" cy="154940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364067"/>
            <a:ext cx="6815667" cy="7804151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913467"/>
            <a:ext cx="4011084" cy="6254751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24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6400800"/>
            <a:ext cx="7315200" cy="7556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817033"/>
            <a:ext cx="7315200" cy="54864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7156451"/>
            <a:ext cx="7315200" cy="1073149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15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718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366185"/>
            <a:ext cx="274320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66185"/>
            <a:ext cx="802640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694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>
            <a:extLst>
              <a:ext uri="{FF2B5EF4-FFF2-40B4-BE49-F238E27FC236}">
                <a16:creationId xmlns:a16="http://schemas.microsoft.com/office/drawing/2014/main" id="{527F240F-2546-B915-E053-5D82DA5C5C0F}"/>
              </a:ext>
            </a:extLst>
          </p:cNvPr>
          <p:cNvSpPr/>
          <p:nvPr userDrawn="1"/>
        </p:nvSpPr>
        <p:spPr>
          <a:xfrm>
            <a:off x="1" y="8314944"/>
            <a:ext cx="16255593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1" descr="/mnt/data/ppt_media/ppt/media/image3.png">
            <a:extLst>
              <a:ext uri="{FF2B5EF4-FFF2-40B4-BE49-F238E27FC236}">
                <a16:creationId xmlns:a16="http://schemas.microsoft.com/office/drawing/2014/main" id="{4FBEBD08-E65D-1106-0FAA-DA04196D98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66944" y="8388096"/>
            <a:ext cx="5669280" cy="70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7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411876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1219200" y="3787424"/>
            <a:ext cx="13817600" cy="2613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2438400" y="6908800"/>
            <a:ext cx="11379200" cy="3115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137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996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1832484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812800" y="2844802"/>
            <a:ext cx="14630400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625519" lvl="1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506342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1284112" y="7834489"/>
            <a:ext cx="13817600" cy="242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711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1284112" y="5167491"/>
            <a:ext cx="13817600" cy="266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812760" lvl="0" indent="-406379" algn="l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3556">
                <a:solidFill>
                  <a:srgbClr val="888888"/>
                </a:solidFill>
              </a:defRPr>
            </a:lvl1pPr>
            <a:lvl2pPr marL="1625519" lvl="1" indent="-406379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3200">
                <a:solidFill>
                  <a:srgbClr val="888888"/>
                </a:solidFill>
              </a:defRPr>
            </a:lvl2pPr>
            <a:lvl3pPr marL="2438278" lvl="2" indent="-406379" algn="l">
              <a:spcBef>
                <a:spcPts val="56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844">
                <a:solidFill>
                  <a:srgbClr val="888888"/>
                </a:solidFill>
              </a:defRPr>
            </a:lvl3pPr>
            <a:lvl4pPr marL="3251037" lvl="3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4pPr>
            <a:lvl5pPr marL="4063797" lvl="4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5pPr>
            <a:lvl6pPr marL="4876557" lvl="5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6pPr>
            <a:lvl7pPr marL="5689315" lvl="6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7pPr>
            <a:lvl8pPr marL="6502075" lvl="7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8pPr>
            <a:lvl9pPr marL="7314834" lvl="8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5325734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812800" y="2844802"/>
            <a:ext cx="7179733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722453" algn="l">
              <a:spcBef>
                <a:spcPts val="996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4977"/>
            </a:lvl1pPr>
            <a:lvl2pPr marL="1625519" lvl="1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4267"/>
            </a:lvl2pPr>
            <a:lvl3pPr marL="2438278" lvl="2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3200"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3200"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8263467" y="2844802"/>
            <a:ext cx="7179733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722453" algn="l">
              <a:spcBef>
                <a:spcPts val="996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4977"/>
            </a:lvl1pPr>
            <a:lvl2pPr marL="1625519" lvl="1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4267"/>
            </a:lvl2pPr>
            <a:lvl3pPr marL="2438278" lvl="2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3200"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3200"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5321052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812801" y="2729089"/>
            <a:ext cx="7182556" cy="113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812760" lvl="0" indent="-40637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4267" b="1"/>
            </a:lvl1pPr>
            <a:lvl2pPr marL="1625519" lvl="1" indent="-406379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56" b="1"/>
            </a:lvl2pPr>
            <a:lvl3pPr marL="2438278" lvl="2" indent="-40637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/>
            </a:lvl3pPr>
            <a:lvl4pPr marL="3251037" lvl="3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4pPr>
            <a:lvl5pPr marL="4063797" lvl="4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5pPr>
            <a:lvl6pPr marL="4876557" lvl="5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6pPr>
            <a:lvl7pPr marL="5689315" lvl="6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7pPr>
            <a:lvl8pPr marL="6502075" lvl="7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8pPr>
            <a:lvl9pPr marL="7314834" lvl="8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812801" y="3866444"/>
            <a:ext cx="7182556" cy="702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4267"/>
            </a:lvl1pPr>
            <a:lvl2pPr marL="1625519" lvl="1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3556"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3pPr>
            <a:lvl4pPr marL="3251037" lvl="3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844"/>
            </a:lvl4pPr>
            <a:lvl5pPr marL="4063797" lvl="4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844"/>
            </a:lvl5pPr>
            <a:lvl6pPr marL="4876557" lvl="5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6pPr>
            <a:lvl7pPr marL="5689315" lvl="6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7pPr>
            <a:lvl8pPr marL="6502075" lvl="7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8pPr>
            <a:lvl9pPr marL="7314834" lvl="8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8257825" y="2729089"/>
            <a:ext cx="7185377" cy="113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812760" lvl="0" indent="-40637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4267" b="1"/>
            </a:lvl1pPr>
            <a:lvl2pPr marL="1625519" lvl="1" indent="-406379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56" b="1"/>
            </a:lvl2pPr>
            <a:lvl3pPr marL="2438278" lvl="2" indent="-40637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/>
            </a:lvl3pPr>
            <a:lvl4pPr marL="3251037" lvl="3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4pPr>
            <a:lvl5pPr marL="4063797" lvl="4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5pPr>
            <a:lvl6pPr marL="4876557" lvl="5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6pPr>
            <a:lvl7pPr marL="5689315" lvl="6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7pPr>
            <a:lvl8pPr marL="6502075" lvl="7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8pPr>
            <a:lvl9pPr marL="7314834" lvl="8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8257825" y="3866444"/>
            <a:ext cx="7185377" cy="702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4267"/>
            </a:lvl1pPr>
            <a:lvl2pPr marL="1625519" lvl="1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3556"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3pPr>
            <a:lvl4pPr marL="3251037" lvl="3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844"/>
            </a:lvl4pPr>
            <a:lvl5pPr marL="4063797" lvl="4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844"/>
            </a:lvl5pPr>
            <a:lvl6pPr marL="4876557" lvl="5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6pPr>
            <a:lvl7pPr marL="5689315" lvl="6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7pPr>
            <a:lvl8pPr marL="6502075" lvl="7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8pPr>
            <a:lvl9pPr marL="7314834" lvl="8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2954584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863419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812801" y="485423"/>
            <a:ext cx="5348112" cy="206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3556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6355645" y="485423"/>
            <a:ext cx="9087556" cy="10405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767606" algn="l">
              <a:spcBef>
                <a:spcPts val="1137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5689"/>
            </a:lvl1pPr>
            <a:lvl2pPr marL="1625519" lvl="1" indent="-722453" algn="l">
              <a:spcBef>
                <a:spcPts val="996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4977"/>
            </a:lvl2pPr>
            <a:lvl3pPr marL="2438278" lvl="2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4267"/>
            </a:lvl3pPr>
            <a:lvl4pPr marL="3251037" lvl="3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3556"/>
            </a:lvl4pPr>
            <a:lvl5pPr marL="4063797" lvl="4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3556"/>
            </a:lvl5pPr>
            <a:lvl6pPr marL="4876557" lvl="5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6pPr>
            <a:lvl7pPr marL="5689315" lvl="6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7pPr>
            <a:lvl8pPr marL="6502075" lvl="7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8pPr>
            <a:lvl9pPr marL="7314834" lvl="8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812801" y="2551290"/>
            <a:ext cx="5348112" cy="8339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406379" algn="l">
              <a:spcBef>
                <a:spcPts val="49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489"/>
            </a:lvl1pPr>
            <a:lvl2pPr marL="1625519" lvl="1" indent="-406379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/>
            </a:lvl2pPr>
            <a:lvl3pPr marL="2438278" lvl="2" indent="-406379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777"/>
            </a:lvl3pPr>
            <a:lvl4pPr marL="3251037" lvl="3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4pPr>
            <a:lvl5pPr marL="4063797" lvl="4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5pPr>
            <a:lvl6pPr marL="4876557" lvl="5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6pPr>
            <a:lvl7pPr marL="5689315" lvl="6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7pPr>
            <a:lvl8pPr marL="6502075" lvl="7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8pPr>
            <a:lvl9pPr marL="7314834" lvl="8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471345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3186289" y="8534401"/>
            <a:ext cx="9753600" cy="1007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3556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3186289" y="1089377"/>
            <a:ext cx="9753600" cy="731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3186289" y="9541936"/>
            <a:ext cx="9753600" cy="143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406379" algn="l">
              <a:spcBef>
                <a:spcPts val="49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489"/>
            </a:lvl1pPr>
            <a:lvl2pPr marL="1625519" lvl="1" indent="-406379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/>
            </a:lvl2pPr>
            <a:lvl3pPr marL="2438278" lvl="2" indent="-406379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777"/>
            </a:lvl3pPr>
            <a:lvl4pPr marL="3251037" lvl="3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4pPr>
            <a:lvl5pPr marL="4063797" lvl="4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5pPr>
            <a:lvl6pPr marL="4876557" lvl="5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6pPr>
            <a:lvl7pPr marL="5689315" lvl="6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7pPr>
            <a:lvl8pPr marL="6502075" lvl="7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8pPr>
            <a:lvl9pPr marL="7314834" lvl="8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42683604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4104925" y="-447321"/>
            <a:ext cx="8046156" cy="146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625519" lvl="1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242770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8413047" y="3860801"/>
            <a:ext cx="10402711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962381" y="338667"/>
            <a:ext cx="10402711" cy="1070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625519" lvl="1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3640000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419384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1219200" y="3787424"/>
            <a:ext cx="13817600" cy="2613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2438400" y="6908800"/>
            <a:ext cx="11379200" cy="3115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137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996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5316081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812800" y="2844802"/>
            <a:ext cx="14630400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625519" lvl="1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8757565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1284112" y="7834489"/>
            <a:ext cx="13817600" cy="242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711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1284112" y="5167491"/>
            <a:ext cx="13817600" cy="266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812760" lvl="0" indent="-406379" algn="l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3556">
                <a:solidFill>
                  <a:srgbClr val="888888"/>
                </a:solidFill>
              </a:defRPr>
            </a:lvl1pPr>
            <a:lvl2pPr marL="1625519" lvl="1" indent="-406379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3200">
                <a:solidFill>
                  <a:srgbClr val="888888"/>
                </a:solidFill>
              </a:defRPr>
            </a:lvl2pPr>
            <a:lvl3pPr marL="2438278" lvl="2" indent="-406379" algn="l">
              <a:spcBef>
                <a:spcPts val="56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844">
                <a:solidFill>
                  <a:srgbClr val="888888"/>
                </a:solidFill>
              </a:defRPr>
            </a:lvl3pPr>
            <a:lvl4pPr marL="3251037" lvl="3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4pPr>
            <a:lvl5pPr marL="4063797" lvl="4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5pPr>
            <a:lvl6pPr marL="4876557" lvl="5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6pPr>
            <a:lvl7pPr marL="5689315" lvl="6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7pPr>
            <a:lvl8pPr marL="6502075" lvl="7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8pPr>
            <a:lvl9pPr marL="7314834" lvl="8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856063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812800" y="2844802"/>
            <a:ext cx="7179733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722453" algn="l">
              <a:spcBef>
                <a:spcPts val="996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4977"/>
            </a:lvl1pPr>
            <a:lvl2pPr marL="1625519" lvl="1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4267"/>
            </a:lvl2pPr>
            <a:lvl3pPr marL="2438278" lvl="2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3200"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3200"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8263467" y="2844802"/>
            <a:ext cx="7179733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722453" algn="l">
              <a:spcBef>
                <a:spcPts val="996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4977"/>
            </a:lvl1pPr>
            <a:lvl2pPr marL="1625519" lvl="1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4267"/>
            </a:lvl2pPr>
            <a:lvl3pPr marL="2438278" lvl="2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3200"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3200"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3944692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812801" y="2729089"/>
            <a:ext cx="7182556" cy="113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812760" lvl="0" indent="-40637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4267" b="1"/>
            </a:lvl1pPr>
            <a:lvl2pPr marL="1625519" lvl="1" indent="-406379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56" b="1"/>
            </a:lvl2pPr>
            <a:lvl3pPr marL="2438278" lvl="2" indent="-40637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/>
            </a:lvl3pPr>
            <a:lvl4pPr marL="3251037" lvl="3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4pPr>
            <a:lvl5pPr marL="4063797" lvl="4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5pPr>
            <a:lvl6pPr marL="4876557" lvl="5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6pPr>
            <a:lvl7pPr marL="5689315" lvl="6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7pPr>
            <a:lvl8pPr marL="6502075" lvl="7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8pPr>
            <a:lvl9pPr marL="7314834" lvl="8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812801" y="3866444"/>
            <a:ext cx="7182556" cy="702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4267"/>
            </a:lvl1pPr>
            <a:lvl2pPr marL="1625519" lvl="1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3556"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3pPr>
            <a:lvl4pPr marL="3251037" lvl="3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844"/>
            </a:lvl4pPr>
            <a:lvl5pPr marL="4063797" lvl="4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844"/>
            </a:lvl5pPr>
            <a:lvl6pPr marL="4876557" lvl="5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6pPr>
            <a:lvl7pPr marL="5689315" lvl="6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7pPr>
            <a:lvl8pPr marL="6502075" lvl="7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8pPr>
            <a:lvl9pPr marL="7314834" lvl="8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8257825" y="2729089"/>
            <a:ext cx="7185377" cy="113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812760" lvl="0" indent="-40637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4267" b="1"/>
            </a:lvl1pPr>
            <a:lvl2pPr marL="1625519" lvl="1" indent="-406379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56" b="1"/>
            </a:lvl2pPr>
            <a:lvl3pPr marL="2438278" lvl="2" indent="-40637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/>
            </a:lvl3pPr>
            <a:lvl4pPr marL="3251037" lvl="3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4pPr>
            <a:lvl5pPr marL="4063797" lvl="4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5pPr>
            <a:lvl6pPr marL="4876557" lvl="5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6pPr>
            <a:lvl7pPr marL="5689315" lvl="6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7pPr>
            <a:lvl8pPr marL="6502075" lvl="7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8pPr>
            <a:lvl9pPr marL="7314834" lvl="8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8257825" y="3866444"/>
            <a:ext cx="7185377" cy="702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4267"/>
            </a:lvl1pPr>
            <a:lvl2pPr marL="1625519" lvl="1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3556"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3pPr>
            <a:lvl4pPr marL="3251037" lvl="3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844"/>
            </a:lvl4pPr>
            <a:lvl5pPr marL="4063797" lvl="4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844"/>
            </a:lvl5pPr>
            <a:lvl6pPr marL="4876557" lvl="5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6pPr>
            <a:lvl7pPr marL="5689315" lvl="6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7pPr>
            <a:lvl8pPr marL="6502075" lvl="7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8pPr>
            <a:lvl9pPr marL="7314834" lvl="8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40636917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41879869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812801" y="485423"/>
            <a:ext cx="5348112" cy="206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3556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6355645" y="485423"/>
            <a:ext cx="9087556" cy="10405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767606" algn="l">
              <a:spcBef>
                <a:spcPts val="1137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5689"/>
            </a:lvl1pPr>
            <a:lvl2pPr marL="1625519" lvl="1" indent="-722453" algn="l">
              <a:spcBef>
                <a:spcPts val="996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4977"/>
            </a:lvl2pPr>
            <a:lvl3pPr marL="2438278" lvl="2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4267"/>
            </a:lvl3pPr>
            <a:lvl4pPr marL="3251037" lvl="3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3556"/>
            </a:lvl4pPr>
            <a:lvl5pPr marL="4063797" lvl="4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3556"/>
            </a:lvl5pPr>
            <a:lvl6pPr marL="4876557" lvl="5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6pPr>
            <a:lvl7pPr marL="5689315" lvl="6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7pPr>
            <a:lvl8pPr marL="6502075" lvl="7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8pPr>
            <a:lvl9pPr marL="7314834" lvl="8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812801" y="2551290"/>
            <a:ext cx="5348112" cy="8339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406379" algn="l">
              <a:spcBef>
                <a:spcPts val="49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489"/>
            </a:lvl1pPr>
            <a:lvl2pPr marL="1625519" lvl="1" indent="-406379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/>
            </a:lvl2pPr>
            <a:lvl3pPr marL="2438278" lvl="2" indent="-406379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777"/>
            </a:lvl3pPr>
            <a:lvl4pPr marL="3251037" lvl="3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4pPr>
            <a:lvl5pPr marL="4063797" lvl="4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5pPr>
            <a:lvl6pPr marL="4876557" lvl="5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6pPr>
            <a:lvl7pPr marL="5689315" lvl="6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7pPr>
            <a:lvl8pPr marL="6502075" lvl="7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8pPr>
            <a:lvl9pPr marL="7314834" lvl="8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2473546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3186289" y="8534401"/>
            <a:ext cx="9753600" cy="1007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3556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3186289" y="1089377"/>
            <a:ext cx="9753600" cy="731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3186289" y="9541936"/>
            <a:ext cx="9753600" cy="143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406379" algn="l">
              <a:spcBef>
                <a:spcPts val="49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489"/>
            </a:lvl1pPr>
            <a:lvl2pPr marL="1625519" lvl="1" indent="-406379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/>
            </a:lvl2pPr>
            <a:lvl3pPr marL="2438278" lvl="2" indent="-406379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777"/>
            </a:lvl3pPr>
            <a:lvl4pPr marL="3251037" lvl="3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4pPr>
            <a:lvl5pPr marL="4063797" lvl="4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5pPr>
            <a:lvl6pPr marL="4876557" lvl="5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6pPr>
            <a:lvl7pPr marL="5689315" lvl="6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7pPr>
            <a:lvl8pPr marL="6502075" lvl="7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8pPr>
            <a:lvl9pPr marL="7314834" lvl="8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42131542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4104925" y="-447321"/>
            <a:ext cx="8046156" cy="146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625519" lvl="1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9958287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8413047" y="3860801"/>
            <a:ext cx="10402711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962381" y="338667"/>
            <a:ext cx="10402711" cy="1070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625519" lvl="1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06407411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9435937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1219200" y="3787424"/>
            <a:ext cx="13817600" cy="2613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2438400" y="6908800"/>
            <a:ext cx="11379200" cy="3115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137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996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0489756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812800" y="2844802"/>
            <a:ext cx="14630400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625519" lvl="1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2439022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1284112" y="7834489"/>
            <a:ext cx="13817600" cy="242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711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1284112" y="5167491"/>
            <a:ext cx="13817600" cy="266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812760" lvl="0" indent="-406379" algn="l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3556">
                <a:solidFill>
                  <a:srgbClr val="888888"/>
                </a:solidFill>
              </a:defRPr>
            </a:lvl1pPr>
            <a:lvl2pPr marL="1625519" lvl="1" indent="-406379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3200">
                <a:solidFill>
                  <a:srgbClr val="888888"/>
                </a:solidFill>
              </a:defRPr>
            </a:lvl2pPr>
            <a:lvl3pPr marL="2438278" lvl="2" indent="-406379" algn="l">
              <a:spcBef>
                <a:spcPts val="56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844">
                <a:solidFill>
                  <a:srgbClr val="888888"/>
                </a:solidFill>
              </a:defRPr>
            </a:lvl3pPr>
            <a:lvl4pPr marL="3251037" lvl="3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4pPr>
            <a:lvl5pPr marL="4063797" lvl="4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5pPr>
            <a:lvl6pPr marL="4876557" lvl="5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6pPr>
            <a:lvl7pPr marL="5689315" lvl="6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7pPr>
            <a:lvl8pPr marL="6502075" lvl="7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8pPr>
            <a:lvl9pPr marL="7314834" lvl="8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7935673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812800" y="2844802"/>
            <a:ext cx="7179733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722453" algn="l">
              <a:spcBef>
                <a:spcPts val="996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4977"/>
            </a:lvl1pPr>
            <a:lvl2pPr marL="1625519" lvl="1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4267"/>
            </a:lvl2pPr>
            <a:lvl3pPr marL="2438278" lvl="2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3200"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3200"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8263467" y="2844802"/>
            <a:ext cx="7179733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722453" algn="l">
              <a:spcBef>
                <a:spcPts val="996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4977"/>
            </a:lvl1pPr>
            <a:lvl2pPr marL="1625519" lvl="1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4267"/>
            </a:lvl2pPr>
            <a:lvl3pPr marL="2438278" lvl="2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3200"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3200"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68361457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812801" y="2729089"/>
            <a:ext cx="7182556" cy="113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812760" lvl="0" indent="-40637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4267" b="1"/>
            </a:lvl1pPr>
            <a:lvl2pPr marL="1625519" lvl="1" indent="-406379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56" b="1"/>
            </a:lvl2pPr>
            <a:lvl3pPr marL="2438278" lvl="2" indent="-40637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/>
            </a:lvl3pPr>
            <a:lvl4pPr marL="3251037" lvl="3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4pPr>
            <a:lvl5pPr marL="4063797" lvl="4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5pPr>
            <a:lvl6pPr marL="4876557" lvl="5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6pPr>
            <a:lvl7pPr marL="5689315" lvl="6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7pPr>
            <a:lvl8pPr marL="6502075" lvl="7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8pPr>
            <a:lvl9pPr marL="7314834" lvl="8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812801" y="3866444"/>
            <a:ext cx="7182556" cy="702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4267"/>
            </a:lvl1pPr>
            <a:lvl2pPr marL="1625519" lvl="1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3556"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3pPr>
            <a:lvl4pPr marL="3251037" lvl="3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844"/>
            </a:lvl4pPr>
            <a:lvl5pPr marL="4063797" lvl="4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844"/>
            </a:lvl5pPr>
            <a:lvl6pPr marL="4876557" lvl="5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6pPr>
            <a:lvl7pPr marL="5689315" lvl="6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7pPr>
            <a:lvl8pPr marL="6502075" lvl="7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8pPr>
            <a:lvl9pPr marL="7314834" lvl="8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8257825" y="2729089"/>
            <a:ext cx="7185377" cy="113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812760" lvl="0" indent="-40637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4267" b="1"/>
            </a:lvl1pPr>
            <a:lvl2pPr marL="1625519" lvl="1" indent="-406379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56" b="1"/>
            </a:lvl2pPr>
            <a:lvl3pPr marL="2438278" lvl="2" indent="-40637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/>
            </a:lvl3pPr>
            <a:lvl4pPr marL="3251037" lvl="3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4pPr>
            <a:lvl5pPr marL="4063797" lvl="4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5pPr>
            <a:lvl6pPr marL="4876557" lvl="5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6pPr>
            <a:lvl7pPr marL="5689315" lvl="6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7pPr>
            <a:lvl8pPr marL="6502075" lvl="7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8pPr>
            <a:lvl9pPr marL="7314834" lvl="8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8257825" y="3866444"/>
            <a:ext cx="7185377" cy="702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4267"/>
            </a:lvl1pPr>
            <a:lvl2pPr marL="1625519" lvl="1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3556"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3pPr>
            <a:lvl4pPr marL="3251037" lvl="3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844"/>
            </a:lvl4pPr>
            <a:lvl5pPr marL="4063797" lvl="4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844"/>
            </a:lvl5pPr>
            <a:lvl6pPr marL="4876557" lvl="5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6pPr>
            <a:lvl7pPr marL="5689315" lvl="6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7pPr>
            <a:lvl8pPr marL="6502075" lvl="7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8pPr>
            <a:lvl9pPr marL="7314834" lvl="8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2139789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417908207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812801" y="485423"/>
            <a:ext cx="5348112" cy="206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3556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6355645" y="485423"/>
            <a:ext cx="9087556" cy="10405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767606" algn="l">
              <a:spcBef>
                <a:spcPts val="1137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5689"/>
            </a:lvl1pPr>
            <a:lvl2pPr marL="1625519" lvl="1" indent="-722453" algn="l">
              <a:spcBef>
                <a:spcPts val="996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4977"/>
            </a:lvl2pPr>
            <a:lvl3pPr marL="2438278" lvl="2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4267"/>
            </a:lvl3pPr>
            <a:lvl4pPr marL="3251037" lvl="3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3556"/>
            </a:lvl4pPr>
            <a:lvl5pPr marL="4063797" lvl="4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3556"/>
            </a:lvl5pPr>
            <a:lvl6pPr marL="4876557" lvl="5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6pPr>
            <a:lvl7pPr marL="5689315" lvl="6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7pPr>
            <a:lvl8pPr marL="6502075" lvl="7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8pPr>
            <a:lvl9pPr marL="7314834" lvl="8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812801" y="2551290"/>
            <a:ext cx="5348112" cy="8339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406379" algn="l">
              <a:spcBef>
                <a:spcPts val="49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489"/>
            </a:lvl1pPr>
            <a:lvl2pPr marL="1625519" lvl="1" indent="-406379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/>
            </a:lvl2pPr>
            <a:lvl3pPr marL="2438278" lvl="2" indent="-406379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777"/>
            </a:lvl3pPr>
            <a:lvl4pPr marL="3251037" lvl="3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4pPr>
            <a:lvl5pPr marL="4063797" lvl="4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5pPr>
            <a:lvl6pPr marL="4876557" lvl="5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6pPr>
            <a:lvl7pPr marL="5689315" lvl="6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7pPr>
            <a:lvl8pPr marL="6502075" lvl="7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8pPr>
            <a:lvl9pPr marL="7314834" lvl="8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1360195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3186289" y="8534401"/>
            <a:ext cx="9753600" cy="1007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3556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3186289" y="1089377"/>
            <a:ext cx="9753600" cy="731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3186289" y="9541936"/>
            <a:ext cx="9753600" cy="143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406379" algn="l">
              <a:spcBef>
                <a:spcPts val="49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489"/>
            </a:lvl1pPr>
            <a:lvl2pPr marL="1625519" lvl="1" indent="-406379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/>
            </a:lvl2pPr>
            <a:lvl3pPr marL="2438278" lvl="2" indent="-406379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777"/>
            </a:lvl3pPr>
            <a:lvl4pPr marL="3251037" lvl="3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4pPr>
            <a:lvl5pPr marL="4063797" lvl="4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5pPr>
            <a:lvl6pPr marL="4876557" lvl="5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6pPr>
            <a:lvl7pPr marL="5689315" lvl="6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7pPr>
            <a:lvl8pPr marL="6502075" lvl="7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8pPr>
            <a:lvl9pPr marL="7314834" lvl="8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50740706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4104925" y="-447321"/>
            <a:ext cx="8046156" cy="146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625519" lvl="1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6683858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8413047" y="3860801"/>
            <a:ext cx="10402711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962381" y="338667"/>
            <a:ext cx="10402711" cy="1070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625519" lvl="1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44145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795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33601"/>
            <a:ext cx="109728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3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812800" y="2844802"/>
            <a:ext cx="14630400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625519">
              <a:buClr>
                <a:srgbClr val="000000"/>
              </a:buClr>
            </a:pPr>
            <a:endParaRPr lang="es-ES" kern="0"/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625519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99733521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812800" y="2844802"/>
            <a:ext cx="14630400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85189280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812800" y="2844802"/>
            <a:ext cx="14630400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17706234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700" y="-10854"/>
            <a:ext cx="8453137" cy="831767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25" y="541677"/>
            <a:ext cx="3034459" cy="1484719"/>
          </a:xfrm>
          <a:prstGeom prst="rect">
            <a:avLst/>
          </a:prstGeom>
        </p:spPr>
      </p:pic>
      <p:sp>
        <p:nvSpPr>
          <p:cNvPr id="86" name="Google Shape;86;p1"/>
          <p:cNvSpPr/>
          <p:nvPr/>
        </p:nvSpPr>
        <p:spPr>
          <a:xfrm>
            <a:off x="0" y="8306816"/>
            <a:ext cx="16256000" cy="8615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62533" tIns="81244" rIns="162533" bIns="81244" anchor="ctr" anchorCtr="0">
            <a:noAutofit/>
          </a:bodyPr>
          <a:lstStyle/>
          <a:p>
            <a:pPr algn="ctr" defTabSz="1625519">
              <a:buClr>
                <a:srgbClr val="000000"/>
              </a:buClr>
              <a:defRPr/>
            </a:pPr>
            <a:endParaRPr sz="3200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" descr="asset_portada_6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99456" y="8355584"/>
            <a:ext cx="5673344" cy="74777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687816" y="2228680"/>
            <a:ext cx="14855483" cy="53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t" anchorCtr="0">
            <a:spAutoFit/>
          </a:bodyPr>
          <a:lstStyle/>
          <a:p>
            <a:pPr defTabSz="1625519">
              <a:buClr>
                <a:srgbClr val="000000"/>
              </a:buClr>
            </a:pPr>
            <a:r>
              <a:rPr lang="es-ES" sz="2400" kern="0" dirty="0">
                <a:solidFill>
                  <a:srgbClr val="40BCFF"/>
                </a:solidFill>
                <a:latin typeface="Calibri"/>
                <a:ea typeface="Aptos"/>
                <a:cs typeface="Calibri"/>
                <a:sym typeface="Calibri"/>
              </a:rPr>
              <a:t>Programa </a:t>
            </a:r>
            <a:r>
              <a:rPr lang="es-ES" sz="2400" kern="0" dirty="0" err="1">
                <a:solidFill>
                  <a:srgbClr val="40BCFF"/>
                </a:solidFill>
                <a:latin typeface="Calibri"/>
                <a:ea typeface="Aptos"/>
                <a:cs typeface="Calibri"/>
                <a:sym typeface="Calibri"/>
              </a:rPr>
              <a:t>FdF</a:t>
            </a:r>
            <a:r>
              <a:rPr lang="es-ES" sz="2400" kern="0" dirty="0">
                <a:solidFill>
                  <a:srgbClr val="40BCFF"/>
                </a:solidFill>
                <a:latin typeface="Calibri"/>
                <a:ea typeface="Aptos"/>
                <a:cs typeface="Calibri"/>
                <a:sym typeface="Calibri"/>
              </a:rPr>
              <a:t>-NAE</a:t>
            </a:r>
          </a:p>
        </p:txBody>
      </p:sp>
      <p:sp>
        <p:nvSpPr>
          <p:cNvPr id="92" name="Google Shape;92;p1"/>
          <p:cNvSpPr txBox="1"/>
          <p:nvPr/>
        </p:nvSpPr>
        <p:spPr>
          <a:xfrm>
            <a:off x="13035801" y="1103485"/>
            <a:ext cx="2966587" cy="43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t" anchorCtr="0">
            <a:spAutoFit/>
          </a:bodyPr>
          <a:lstStyle/>
          <a:p>
            <a:pPr defTabSz="1625519">
              <a:buClr>
                <a:srgbClr val="000000"/>
              </a:buClr>
              <a:defRPr/>
            </a:pPr>
            <a:r>
              <a:rPr lang="en-US" sz="1777" kern="0" dirty="0">
                <a:solidFill>
                  <a:srgbClr val="A3C5ED"/>
                </a:solidFill>
                <a:latin typeface="Calibri"/>
                <a:ea typeface="Calibri"/>
                <a:cs typeface="Calibri"/>
                <a:sym typeface="Calibri"/>
              </a:rPr>
              <a:t>La Habana, Cuba · 2026</a:t>
            </a:r>
            <a:endParaRPr sz="2489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754608" y="2720687"/>
            <a:ext cx="944880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1219170">
              <a:defRPr/>
            </a:pPr>
            <a:r>
              <a:rPr lang="en-US" sz="38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</a:t>
            </a: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2</a:t>
            </a:r>
            <a:endParaRPr lang="en-US" sz="3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 flipV="1">
            <a:off x="687815" y="5364892"/>
            <a:ext cx="4864845" cy="53089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2" name="Text 4"/>
          <p:cNvSpPr/>
          <p:nvPr/>
        </p:nvSpPr>
        <p:spPr>
          <a:xfrm>
            <a:off x="877825" y="6061568"/>
            <a:ext cx="8290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1600" dirty="0">
                <a:solidFill>
                  <a:srgbClr val="C7D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Formación de Formadores</a:t>
            </a:r>
            <a:endParaRPr lang="en-US"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7"/>
          <p:cNvSpPr/>
          <p:nvPr/>
        </p:nvSpPr>
        <p:spPr>
          <a:xfrm>
            <a:off x="687816" y="8540496"/>
            <a:ext cx="3535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1133" dirty="0">
                <a:solidFill>
                  <a:srgbClr val="B9C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1133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5"/>
          <p:cNvSpPr txBox="1"/>
          <p:nvPr/>
        </p:nvSpPr>
        <p:spPr>
          <a:xfrm>
            <a:off x="687816" y="4004212"/>
            <a:ext cx="7924800" cy="818686"/>
          </a:xfrm>
          <a:prstGeom prst="rect">
            <a:avLst/>
          </a:prstGeom>
          <a:noFill/>
        </p:spPr>
        <p:txBody>
          <a:bodyPr wrap="square" lIns="36576" tIns="24384" rIns="36576" bIns="24384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500" dirty="0" err="1">
                <a:solidFill>
                  <a:srgbClr val="FFFFFF"/>
                </a:solidFill>
                <a:latin typeface="Aptos Display"/>
                <a:ea typeface="Aptos Display"/>
              </a:rPr>
              <a:t>Diagnóstico</a:t>
            </a:r>
            <a:r>
              <a:rPr lang="en-US" sz="2500" dirty="0">
                <a:solidFill>
                  <a:srgbClr val="FFFFFF"/>
                </a:solidFill>
                <a:latin typeface="Aptos Display"/>
                <a:ea typeface="Aptos Display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Aptos Display"/>
                <a:ea typeface="Aptos Display"/>
              </a:rPr>
              <a:t>empresarial</a:t>
            </a:r>
            <a:r>
              <a:rPr lang="en-US" sz="2500" dirty="0">
                <a:solidFill>
                  <a:srgbClr val="FFFFFF"/>
                </a:solidFill>
                <a:latin typeface="Aptos Display"/>
                <a:ea typeface="Aptos Display"/>
              </a:rPr>
              <a:t> integral de </a:t>
            </a:r>
            <a:r>
              <a:rPr lang="en-US" sz="2500" dirty="0" err="1">
                <a:solidFill>
                  <a:srgbClr val="FFFFFF"/>
                </a:solidFill>
                <a:latin typeface="Aptos Display"/>
                <a:ea typeface="Aptos Display"/>
              </a:rPr>
              <a:t>los</a:t>
            </a:r>
            <a:r>
              <a:rPr lang="en-US" sz="2500" dirty="0">
                <a:solidFill>
                  <a:srgbClr val="FFFFFF"/>
                </a:solidFill>
                <a:latin typeface="Aptos Display"/>
                <a:ea typeface="Aptos Display"/>
              </a:rPr>
              <a:t> NAE</a:t>
            </a:r>
          </a:p>
          <a:p>
            <a:pPr>
              <a:tabLst>
                <a:tab pos="0" algn="l"/>
              </a:tabLst>
            </a:pPr>
            <a:r>
              <a:rPr lang="en-US" sz="2500" dirty="0">
                <a:solidFill>
                  <a:srgbClr val="FFFFFF"/>
                </a:solidFill>
                <a:latin typeface="Aptos Display"/>
                <a:ea typeface="Aptos Display"/>
              </a:rPr>
              <a:t>y </a:t>
            </a:r>
            <a:r>
              <a:rPr lang="en-US" sz="2500" dirty="0" err="1">
                <a:solidFill>
                  <a:srgbClr val="FFFFFF"/>
                </a:solidFill>
                <a:latin typeface="Aptos Display"/>
                <a:ea typeface="Aptos Display"/>
              </a:rPr>
              <a:t>necesidades</a:t>
            </a:r>
            <a:r>
              <a:rPr lang="en-US" sz="2500" dirty="0">
                <a:solidFill>
                  <a:srgbClr val="FFFFFF"/>
                </a:solidFill>
                <a:latin typeface="Aptos Display"/>
                <a:ea typeface="Aptos Display"/>
              </a:rPr>
              <a:t> de </a:t>
            </a:r>
            <a:r>
              <a:rPr lang="en-US" sz="2500" dirty="0" err="1">
                <a:solidFill>
                  <a:srgbClr val="FFFFFF"/>
                </a:solidFill>
                <a:latin typeface="Aptos Display"/>
                <a:ea typeface="Aptos Display"/>
              </a:rPr>
              <a:t>acompañamiento</a:t>
            </a:r>
            <a:endParaRPr lang="en-US" sz="2500" dirty="0">
              <a:solidFill>
                <a:srgbClr val="FFFFFF"/>
              </a:solidFill>
              <a:latin typeface="Aptos Display"/>
              <a:ea typeface="Aptos Display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816C6FBE-3937-A342-491C-41934EFD9B30}"/>
              </a:ext>
            </a:extLst>
          </p:cNvPr>
          <p:cNvSpPr/>
          <p:nvPr/>
        </p:nvSpPr>
        <p:spPr>
          <a:xfrm>
            <a:off x="880964" y="7109894"/>
            <a:ext cx="1132686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s-419" sz="1400" b="1" dirty="0">
                <a:solidFill>
                  <a:srgbClr val="C7D7E2"/>
                </a:solidFill>
                <a:latin typeface="Aptos" pitchFamily="34" charset="0"/>
              </a:rPr>
              <a:t>Proyecto NAE · Financiado por la </a:t>
            </a:r>
            <a:r>
              <a:rPr lang="es-419" sz="1400" b="1" dirty="0" err="1">
                <a:solidFill>
                  <a:srgbClr val="C7D7E2"/>
                </a:solidFill>
                <a:latin typeface="Aptos" pitchFamily="34" charset="0"/>
              </a:rPr>
              <a:t>Agence</a:t>
            </a:r>
            <a:r>
              <a:rPr lang="es-419" sz="1400" b="1" dirty="0">
                <a:solidFill>
                  <a:srgbClr val="C7D7E2"/>
                </a:solidFill>
                <a:latin typeface="Aptos" pitchFamily="34" charset="0"/>
              </a:rPr>
              <a:t> </a:t>
            </a:r>
            <a:r>
              <a:rPr lang="es-419" sz="1400" b="1" dirty="0" err="1">
                <a:solidFill>
                  <a:srgbClr val="C7D7E2"/>
                </a:solidFill>
                <a:latin typeface="Aptos" pitchFamily="34" charset="0"/>
              </a:rPr>
              <a:t>Française</a:t>
            </a:r>
            <a:r>
              <a:rPr lang="es-419" sz="1400" b="1" dirty="0">
                <a:solidFill>
                  <a:srgbClr val="C7D7E2"/>
                </a:solidFill>
                <a:latin typeface="Aptos" pitchFamily="34" charset="0"/>
              </a:rPr>
              <a:t> de </a:t>
            </a:r>
            <a:r>
              <a:rPr lang="es-419" sz="1400" b="1" dirty="0" err="1">
                <a:solidFill>
                  <a:srgbClr val="C7D7E2"/>
                </a:solidFill>
                <a:latin typeface="Aptos" pitchFamily="34" charset="0"/>
              </a:rPr>
              <a:t>Développement</a:t>
            </a:r>
            <a:r>
              <a:rPr lang="es-419" sz="1400" b="1" dirty="0">
                <a:solidFill>
                  <a:srgbClr val="C7D7E2"/>
                </a:solidFill>
                <a:latin typeface="Aptos" pitchFamily="34" charset="0"/>
              </a:rPr>
              <a:t> (AFD), con cofinanciación de la Unión Europea</a:t>
            </a:r>
          </a:p>
          <a:p>
            <a:pPr defTabSz="1219170"/>
            <a:endParaRPr lang="es-419" sz="1400" b="1" dirty="0">
              <a:solidFill>
                <a:srgbClr val="C7D7E2"/>
              </a:solidFill>
              <a:latin typeface="Aptos" pitchFamily="34" charset="0"/>
            </a:endParaRPr>
          </a:p>
          <a:p>
            <a:pPr defTabSz="1219170"/>
            <a:r>
              <a:rPr lang="es-419" sz="1400" dirty="0">
                <a:solidFill>
                  <a:srgbClr val="C7D7E2"/>
                </a:solidFill>
                <a:latin typeface="Aptos" pitchFamily="34" charset="0"/>
              </a:rPr>
              <a:t>Implementación técnica: Universidad de Alicante (UA) · Parque Científico Tecnológico de La Habana (PCTH)</a:t>
            </a:r>
          </a:p>
          <a:p>
            <a:pPr defTabSz="1219170"/>
            <a:endParaRPr lang="es-419" sz="1400" dirty="0">
              <a:solidFill>
                <a:srgbClr val="C7D7E2"/>
              </a:solidFill>
              <a:latin typeface="Aptos" pitchFamily="34" charset="0"/>
            </a:endParaRPr>
          </a:p>
          <a:p>
            <a:pPr defTabSz="1219170"/>
            <a:r>
              <a:rPr lang="es-419" sz="1400" dirty="0">
                <a:solidFill>
                  <a:srgbClr val="C7D7E2"/>
                </a:solidFill>
                <a:latin typeface="Aptos" pitchFamily="34" charset="0"/>
              </a:rPr>
              <a:t>La Habana, Cuba · 2026</a:t>
            </a:r>
          </a:p>
        </p:txBody>
      </p:sp>
    </p:spTree>
    <p:extLst>
      <p:ext uri="{BB962C8B-B14F-4D97-AF65-F5344CB8AC3E}">
        <p14:creationId xmlns:p14="http://schemas.microsoft.com/office/powerpoint/2010/main" val="3911939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183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5904" y="8388096"/>
            <a:ext cx="3535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1133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1133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Google Shape;87;p1" descr="asset_portada_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99456" y="8355584"/>
            <a:ext cx="5673344" cy="74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Shape 3"/>
          <p:cNvSpPr/>
          <p:nvPr/>
        </p:nvSpPr>
        <p:spPr>
          <a:xfrm>
            <a:off x="1036320" y="6390989"/>
            <a:ext cx="5286216" cy="60959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8" name="Google Shape;360;p11"/>
          <p:cNvSpPr txBox="1"/>
          <p:nvPr/>
        </p:nvSpPr>
        <p:spPr>
          <a:xfrm>
            <a:off x="727456" y="631265"/>
            <a:ext cx="9144000" cy="57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2933" dirty="0">
                <a:solidFill>
                  <a:srgbClr val="40BCFF"/>
                </a:solidFill>
                <a:latin typeface="Calibri"/>
                <a:ea typeface="Aptos"/>
                <a:cs typeface="Calibri"/>
                <a:sym typeface="Calibri"/>
              </a:rPr>
              <a:t>PRESENTACIÓN DEL MÓDULO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1036320" y="2743200"/>
            <a:ext cx="7924800" cy="1772601"/>
          </a:xfrm>
          <a:prstGeom prst="rect">
            <a:avLst/>
          </a:prstGeom>
          <a:noFill/>
        </p:spPr>
        <p:txBody>
          <a:bodyPr wrap="square" lIns="36576" tIns="24384" rIns="36576" bIns="24384" anchor="t">
            <a:spAutoFit/>
          </a:bodyPr>
          <a:lstStyle/>
          <a:p>
            <a:pPr algn="l">
              <a:lnSpc>
                <a:spcPct val="100000"/>
              </a:lnSpc>
              <a:defRPr sz="2800" b="0">
                <a:solidFill>
                  <a:srgbClr val="002D46"/>
                </a:solidFill>
                <a:latin typeface="Aptos Display"/>
              </a:defRPr>
            </a:pPr>
            <a:r>
              <a:rPr lang="es-ES" sz="3733" dirty="0"/>
              <a:t>Módulo 2. Diagnóstico empresarial integral de los NAE</a:t>
            </a:r>
          </a:p>
          <a:p>
            <a:pPr algn="l">
              <a:lnSpc>
                <a:spcPct val="100000"/>
              </a:lnSpc>
              <a:defRPr sz="2800" b="0">
                <a:solidFill>
                  <a:srgbClr val="002D46"/>
                </a:solidFill>
                <a:latin typeface="Aptos Display"/>
              </a:defRPr>
            </a:pPr>
            <a:r>
              <a:rPr lang="es-ES" sz="3733" dirty="0"/>
              <a:t>y necesidades de acompañamiento</a:t>
            </a:r>
          </a:p>
        </p:txBody>
      </p:sp>
      <p:sp>
        <p:nvSpPr>
          <p:cNvPr id="17" name="TextBox 6"/>
          <p:cNvSpPr txBox="1"/>
          <p:nvPr/>
        </p:nvSpPr>
        <p:spPr>
          <a:xfrm>
            <a:off x="1036320" y="4819077"/>
            <a:ext cx="7193280" cy="664797"/>
          </a:xfrm>
          <a:prstGeom prst="rect">
            <a:avLst/>
          </a:prstGeom>
          <a:noFill/>
        </p:spPr>
        <p:txBody>
          <a:bodyPr wrap="square" lIns="36576" tIns="24384" rIns="36576" bIns="24384" anchor="t">
            <a:spAutoFit/>
          </a:bodyPr>
          <a:lstStyle/>
          <a:p>
            <a:r>
              <a:rPr lang="es-ES" sz="2000" dirty="0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Competencia C5 · Diagnóstico integral, análisis causal, priorización y definición de modalidad de acompañamiento</a:t>
            </a:r>
          </a:p>
        </p:txBody>
      </p:sp>
    </p:spTree>
    <p:extLst>
      <p:ext uri="{BB962C8B-B14F-4D97-AF65-F5344CB8AC3E}">
        <p14:creationId xmlns:p14="http://schemas.microsoft.com/office/powerpoint/2010/main" val="2298744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6637FE91-4C50-370D-7183-D4497C818584}"/>
              </a:ext>
            </a:extLst>
          </p:cNvPr>
          <p:cNvSpPr/>
          <p:nvPr/>
        </p:nvSpPr>
        <p:spPr>
          <a:xfrm>
            <a:off x="0" y="-1"/>
            <a:ext cx="16256000" cy="8157411"/>
          </a:xfrm>
          <a:prstGeom prst="rect">
            <a:avLst/>
          </a:prstGeom>
          <a:solidFill>
            <a:srgbClr val="00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 1"/>
          <p:cNvSpPr/>
          <p:nvPr/>
        </p:nvSpPr>
        <p:spPr>
          <a:xfrm>
            <a:off x="1014840" y="1901880"/>
            <a:ext cx="254160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0" u="none" strike="noStrike">
                <a:solidFill>
                  <a:srgbClr val="C88D2D"/>
                </a:solidFill>
                <a:effectLst/>
                <a:uFillTx/>
                <a:latin typeface="Arial Narrow"/>
                <a:ea typeface="Arial Narrow"/>
              </a:rPr>
              <a:t>01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1014840" y="3300840"/>
            <a:ext cx="75852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1014840" y="3557160"/>
            <a:ext cx="107895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MARCO DEL MÓDULO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1014840" y="4380120"/>
            <a:ext cx="886932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3E1DD"/>
                </a:solidFill>
                <a:effectLst/>
                <a:uFillTx/>
                <a:latin typeface="Arial Narrow"/>
                <a:ea typeface="Arial Narrow"/>
              </a:rPr>
              <a:t>Propósito, competencia, resultados de aprendizaje y ruta de implementación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1014840" y="8385120"/>
            <a:ext cx="381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C2C0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Ficha técnica del Módulo 2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4"/>
          <p:cNvSpPr/>
          <p:nvPr/>
        </p:nvSpPr>
        <p:spPr>
          <a:xfrm>
            <a:off x="758880" y="1691640"/>
            <a:ext cx="2834280" cy="1051200"/>
          </a:xfrm>
          <a:prstGeom prst="rect">
            <a:avLst/>
          </a:prstGeom>
          <a:solidFill>
            <a:srgbClr val="002F4E"/>
          </a:solidFill>
          <a:ln w="12700">
            <a:solidFill>
              <a:srgbClr val="002F4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5"/>
          <p:cNvSpPr/>
          <p:nvPr/>
        </p:nvSpPr>
        <p:spPr>
          <a:xfrm>
            <a:off x="896040" y="176472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7 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6"/>
          <p:cNvSpPr/>
          <p:nvPr/>
        </p:nvSpPr>
        <p:spPr>
          <a:xfrm>
            <a:off x="896040" y="222192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DDE6ED"/>
                </a:solidFill>
                <a:effectLst/>
                <a:uFillTx/>
                <a:latin typeface="Arial Narrow"/>
                <a:ea typeface="Arial Narrow"/>
              </a:rPr>
              <a:t>Duración total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7"/>
          <p:cNvSpPr/>
          <p:nvPr/>
        </p:nvSpPr>
        <p:spPr>
          <a:xfrm>
            <a:off x="3794760" y="1691640"/>
            <a:ext cx="2834280" cy="1051200"/>
          </a:xfrm>
          <a:prstGeom prst="rect">
            <a:avLst/>
          </a:prstGeom>
          <a:solidFill>
            <a:srgbClr val="002F4E"/>
          </a:solidFill>
          <a:ln w="12700">
            <a:solidFill>
              <a:srgbClr val="002F4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8"/>
          <p:cNvSpPr/>
          <p:nvPr/>
        </p:nvSpPr>
        <p:spPr>
          <a:xfrm>
            <a:off x="3931920" y="176472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2 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9"/>
          <p:cNvSpPr/>
          <p:nvPr/>
        </p:nvSpPr>
        <p:spPr>
          <a:xfrm>
            <a:off x="3931920" y="222192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DDE6ED"/>
                </a:solidFill>
                <a:effectLst/>
                <a:uFillTx/>
                <a:latin typeface="Arial Narrow"/>
                <a:ea typeface="Arial Narrow"/>
              </a:rPr>
              <a:t>Presencial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0"/>
          <p:cNvSpPr/>
          <p:nvPr/>
        </p:nvSpPr>
        <p:spPr>
          <a:xfrm>
            <a:off x="6830640" y="1691640"/>
            <a:ext cx="2834280" cy="1051200"/>
          </a:xfrm>
          <a:prstGeom prst="rect">
            <a:avLst/>
          </a:prstGeom>
          <a:solidFill>
            <a:srgbClr val="002F4E"/>
          </a:solidFill>
          <a:ln w="12700">
            <a:solidFill>
              <a:srgbClr val="002F4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6967800" y="176472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1 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2"/>
          <p:cNvSpPr/>
          <p:nvPr/>
        </p:nvSpPr>
        <p:spPr>
          <a:xfrm>
            <a:off x="6967800" y="222192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DDE6ED"/>
                </a:solidFill>
                <a:effectLst/>
                <a:uFillTx/>
                <a:latin typeface="Arial Narrow"/>
                <a:ea typeface="Arial Narrow"/>
              </a:rPr>
              <a:t>Virtual sincrónica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3"/>
          <p:cNvSpPr/>
          <p:nvPr/>
        </p:nvSpPr>
        <p:spPr>
          <a:xfrm>
            <a:off x="9866520" y="1691640"/>
            <a:ext cx="2834280" cy="1051200"/>
          </a:xfrm>
          <a:prstGeom prst="rect">
            <a:avLst/>
          </a:prstGeom>
          <a:solidFill>
            <a:srgbClr val="002F4E"/>
          </a:solidFill>
          <a:ln w="12700">
            <a:solidFill>
              <a:srgbClr val="002F4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10003680" y="176472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4 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10003680" y="222192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DDE6ED"/>
                </a:solidFill>
                <a:effectLst/>
                <a:uFillTx/>
                <a:latin typeface="Arial Narrow"/>
                <a:ea typeface="Arial Narrow"/>
              </a:rPr>
              <a:t>Virtual asincrónica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6"/>
          <p:cNvSpPr/>
          <p:nvPr/>
        </p:nvSpPr>
        <p:spPr>
          <a:xfrm>
            <a:off x="12902040" y="1691640"/>
            <a:ext cx="2578320" cy="1051200"/>
          </a:xfrm>
          <a:prstGeom prst="rect">
            <a:avLst/>
          </a:prstGeom>
          <a:solidFill>
            <a:srgbClr val="002F4E"/>
          </a:solidFill>
          <a:ln w="12700">
            <a:solidFill>
              <a:srgbClr val="002F4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7"/>
          <p:cNvSpPr/>
          <p:nvPr/>
        </p:nvSpPr>
        <p:spPr>
          <a:xfrm>
            <a:off x="13039200" y="1764720"/>
            <a:ext cx="2304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C5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8"/>
          <p:cNvSpPr/>
          <p:nvPr/>
        </p:nvSpPr>
        <p:spPr>
          <a:xfrm>
            <a:off x="13039200" y="2221920"/>
            <a:ext cx="2304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DDE6ED"/>
                </a:solidFill>
                <a:effectLst/>
                <a:uFillTx/>
                <a:latin typeface="Arial Narrow"/>
                <a:ea typeface="Arial Narrow"/>
              </a:rPr>
              <a:t>Competencia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9"/>
          <p:cNvSpPr/>
          <p:nvPr/>
        </p:nvSpPr>
        <p:spPr>
          <a:xfrm>
            <a:off x="758880" y="3246120"/>
            <a:ext cx="7040520" cy="1874160"/>
          </a:xfrm>
          <a:prstGeom prst="roundRect">
            <a:avLst>
              <a:gd name="adj" fmla="val 3902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0"/>
          <p:cNvSpPr/>
          <p:nvPr/>
        </p:nvSpPr>
        <p:spPr>
          <a:xfrm>
            <a:off x="987480" y="3447360"/>
            <a:ext cx="6583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Propósito</a:t>
            </a:r>
            <a:r>
              <a:rPr lang="en-US" b="1" u="none" strike="noStrike" dirty="0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 de </a:t>
            </a:r>
            <a:r>
              <a:rPr lang="en-US" b="1" u="none" strike="noStrike" dirty="0" err="1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facilitación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1"/>
          <p:cNvSpPr/>
          <p:nvPr/>
        </p:nvSpPr>
        <p:spPr>
          <a:xfrm>
            <a:off x="987480" y="3886200"/>
            <a:ext cx="6583320" cy="10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Desarrollar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capacidad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para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caracterizar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un NAE,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analizar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integralmente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su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situación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diferenciar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síntomas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problemas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causas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priorizar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definir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modalidad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acompañamiento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2"/>
          <p:cNvSpPr/>
          <p:nvPr/>
        </p:nvSpPr>
        <p:spPr>
          <a:xfrm>
            <a:off x="8385120" y="3246120"/>
            <a:ext cx="7095240" cy="1874160"/>
          </a:xfrm>
          <a:prstGeom prst="roundRect">
            <a:avLst>
              <a:gd name="adj" fmla="val 3902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3"/>
          <p:cNvSpPr/>
          <p:nvPr/>
        </p:nvSpPr>
        <p:spPr>
          <a:xfrm>
            <a:off x="8613720" y="3447360"/>
            <a:ext cx="663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Producto</a:t>
            </a:r>
            <a:r>
              <a:rPr lang="en-US" b="1" u="none" strike="noStrike" dirty="0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 1 del </a:t>
            </a:r>
            <a:r>
              <a:rPr lang="en-US" b="1" u="none" strike="noStrike" dirty="0" err="1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Portafolio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4"/>
          <p:cNvSpPr/>
          <p:nvPr/>
        </p:nvSpPr>
        <p:spPr>
          <a:xfrm>
            <a:off x="8613720" y="3886200"/>
            <a:ext cx="6638040" cy="10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Diagnóstico empresarial integral. Debe sustentar fortalezas, brechas, problemas, causas, riesgos, oportunidades, prioridades y modalidad de acompañamiento.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5"/>
          <p:cNvSpPr/>
          <p:nvPr/>
        </p:nvSpPr>
        <p:spPr>
          <a:xfrm>
            <a:off x="758880" y="5532120"/>
            <a:ext cx="14721480" cy="1416960"/>
          </a:xfrm>
          <a:prstGeom prst="roundRect">
            <a:avLst>
              <a:gd name="adj" fmla="val 5161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6"/>
          <p:cNvSpPr/>
          <p:nvPr/>
        </p:nvSpPr>
        <p:spPr>
          <a:xfrm>
            <a:off x="987480" y="5733360"/>
            <a:ext cx="14264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Dos </a:t>
            </a:r>
            <a:r>
              <a:rPr lang="en-US" b="1" u="none" strike="noStrike" dirty="0" err="1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ciclos</a:t>
            </a:r>
            <a:r>
              <a:rPr lang="en-US" b="1" u="none" strike="noStrike" dirty="0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 </a:t>
            </a:r>
            <a:r>
              <a:rPr lang="en-US" b="1" u="none" strike="noStrike" dirty="0" err="1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articulados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7"/>
          <p:cNvSpPr/>
          <p:nvPr/>
        </p:nvSpPr>
        <p:spPr>
          <a:xfrm>
            <a:off x="987480" y="6172200"/>
            <a:ext cx="1426428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Pedagógico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Diagnosticar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necesidades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aprendizaje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→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Diseñar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→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Facilitar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→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Evaluar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→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Mejorar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→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Multiplicar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.
Empresarial: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Diagnosticar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el NAE →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Diseñar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el Plan de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Mejora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→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Acompañar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su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implementación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→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Evaluar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resultados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→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Ajustar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→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Fortalecer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capacidades</a:t>
            </a: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Objetivo del módulo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4"/>
          <p:cNvSpPr/>
          <p:nvPr/>
        </p:nvSpPr>
        <p:spPr>
          <a:xfrm>
            <a:off x="758880" y="1691640"/>
            <a:ext cx="14721480" cy="1874160"/>
          </a:xfrm>
          <a:prstGeom prst="rect">
            <a:avLst/>
          </a:prstGeom>
          <a:solidFill>
            <a:srgbClr val="E9EEE8"/>
          </a:solidFill>
          <a:ln w="12700">
            <a:solidFill>
              <a:srgbClr val="00856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1143000" y="2011680"/>
            <a:ext cx="1394424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Desarrollar la capacidad para realizar diagnósticos integrales y participativos de los Nuevos Actores Económicos, identificando fortalezas, brechas, problemas, causas, riesgos y oportunidades y determinando las prioridades y modalidades de acompañamiento requeridas.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758880" y="4160520"/>
            <a:ext cx="4708800" cy="2011320"/>
          </a:xfrm>
          <a:prstGeom prst="roundRect">
            <a:avLst>
              <a:gd name="adj" fmla="val 3636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987480" y="436176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 dirty="0" err="1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Diagnóstico</a:t>
            </a:r>
            <a:r>
              <a:rPr lang="en-US" sz="1520" b="1" u="none" strike="noStrike" dirty="0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 integral</a:t>
            </a:r>
            <a:endParaRPr lang="en-US" sz="15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987480" y="4800600"/>
            <a:ext cx="4251600" cy="12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No se limita a una revisión financiera. Integra estrategia, mercado, operaciones, personas, innovación, sostenibilidad, formalización, riesgos y territorio.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9"/>
          <p:cNvSpPr/>
          <p:nvPr/>
        </p:nvSpPr>
        <p:spPr>
          <a:xfrm>
            <a:off x="5779080" y="4160520"/>
            <a:ext cx="4708800" cy="2011320"/>
          </a:xfrm>
          <a:prstGeom prst="roundRect">
            <a:avLst>
              <a:gd name="adj" fmla="val 3636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0"/>
          <p:cNvSpPr/>
          <p:nvPr/>
        </p:nvSpPr>
        <p:spPr>
          <a:xfrm>
            <a:off x="6007680" y="436176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 dirty="0" err="1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Participativo</a:t>
            </a:r>
            <a:r>
              <a:rPr lang="en-US" sz="1520" b="1" u="none" strike="noStrike" dirty="0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 y </a:t>
            </a:r>
            <a:r>
              <a:rPr lang="en-US" sz="1520" b="1" u="none" strike="noStrike" dirty="0" err="1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basado</a:t>
            </a:r>
            <a:r>
              <a:rPr lang="en-US" sz="1520" b="1" u="none" strike="noStrike" dirty="0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 </a:t>
            </a:r>
            <a:r>
              <a:rPr lang="en-US" sz="1520" b="1" u="none" strike="noStrike" dirty="0" err="1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en</a:t>
            </a:r>
            <a:r>
              <a:rPr lang="en-US" sz="1520" b="1" u="none" strike="noStrike" dirty="0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 </a:t>
            </a:r>
            <a:r>
              <a:rPr lang="en-US" sz="1520" b="1" u="none" strike="noStrike" dirty="0" err="1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evidencias</a:t>
            </a:r>
            <a:endParaRPr lang="en-US" sz="15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1"/>
          <p:cNvSpPr/>
          <p:nvPr/>
        </p:nvSpPr>
        <p:spPr>
          <a:xfrm>
            <a:off x="6007680" y="4800600"/>
            <a:ext cx="4251600" cy="12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Recoge información de diferentes fuentes y construye criterios con las personas responsables del NAE.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2"/>
          <p:cNvSpPr/>
          <p:nvPr/>
        </p:nvSpPr>
        <p:spPr>
          <a:xfrm>
            <a:off x="10798920" y="4160520"/>
            <a:ext cx="4681440" cy="2011320"/>
          </a:xfrm>
          <a:prstGeom prst="roundRect">
            <a:avLst>
              <a:gd name="adj" fmla="val 3636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3"/>
          <p:cNvSpPr/>
          <p:nvPr/>
        </p:nvSpPr>
        <p:spPr>
          <a:xfrm>
            <a:off x="11027520" y="4361760"/>
            <a:ext cx="422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 dirty="0" err="1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Orientado</a:t>
            </a:r>
            <a:r>
              <a:rPr lang="en-US" sz="1520" b="1" u="none" strike="noStrike" dirty="0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 a </a:t>
            </a:r>
            <a:r>
              <a:rPr lang="en-US" sz="1520" b="1" u="none" strike="noStrike" dirty="0" err="1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decisiones</a:t>
            </a:r>
            <a:endParaRPr lang="en-US" sz="15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4"/>
          <p:cNvSpPr/>
          <p:nvPr/>
        </p:nvSpPr>
        <p:spPr>
          <a:xfrm>
            <a:off x="11027520" y="4800600"/>
            <a:ext cx="4224240" cy="12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Debe conducir a prioridades claras y a la definición de formación, mentoría, asistencia técnica o derivación especializada.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Resultados esperados de aprendizaje I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Table 0"/>
          <p:cNvGraphicFramePr/>
          <p:nvPr/>
        </p:nvGraphicFramePr>
        <p:xfrm>
          <a:off x="758880" y="1691640"/>
          <a:ext cx="14721840" cy="49377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Resultado</a:t>
                      </a:r>
                      <a:endParaRPr lang="en-US" sz="14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Capacidad esperada</a:t>
                      </a:r>
                      <a:endParaRPr lang="en-US" sz="14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</a:t>
                      </a:r>
                      <a:endParaRPr lang="en-US" sz="14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Caracterizar un NAE considerando actividad, trayectoria, dimensión, etapa de desarrollo y contexto territorial.</a:t>
                      </a:r>
                      <a:endParaRPr lang="en-US" sz="14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</a:t>
                      </a:r>
                      <a:endParaRPr lang="en-US" sz="14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Seleccionar y aplicar técnicas básicas para obtener información empresarial.</a:t>
                      </a:r>
                      <a:endParaRPr lang="en-US" sz="14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3</a:t>
                      </a:r>
                      <a:endParaRPr lang="en-US" sz="14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Analizar de forma integral las principales dimensiones de la empresa o emprendimiento.</a:t>
                      </a:r>
                      <a:endParaRPr lang="en-US" sz="14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4</a:t>
                      </a:r>
                      <a:endParaRPr lang="en-US" sz="14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Diferenciar datos, síntomas, problemas y causas.</a:t>
                      </a:r>
                      <a:endParaRPr lang="en-US" sz="14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5</a:t>
                      </a:r>
                      <a:endParaRPr lang="en-US" sz="14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Identificar fortalezas y capacidades existentes.</a:t>
                      </a:r>
                      <a:endParaRPr lang="en-US" sz="14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Resultados esperados de aprendizaje II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6" name="Table 0"/>
          <p:cNvGraphicFramePr/>
          <p:nvPr/>
        </p:nvGraphicFramePr>
        <p:xfrm>
          <a:off x="758880" y="1691640"/>
          <a:ext cx="14721840" cy="5119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3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Resultado</a:t>
                      </a:r>
                      <a:endParaRPr lang="en-US" sz="14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Capacidad esperada</a:t>
                      </a:r>
                      <a:endParaRPr lang="en-US" sz="14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6</a:t>
                      </a:r>
                      <a:endParaRPr lang="en-US" sz="14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Determinar brechas y oportunidades de desarrollo.</a:t>
                      </a:r>
                      <a:endParaRPr lang="en-US" sz="14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7</a:t>
                      </a:r>
                      <a:endParaRPr lang="en-US" sz="14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Priorizar problemas considerando impacto, urgencia, capacidad de intervención y viabilidad.</a:t>
                      </a:r>
                      <a:endParaRPr lang="en-US" sz="14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8</a:t>
                      </a:r>
                      <a:endParaRPr lang="en-US" sz="14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Identificar necesidades que pueden ser atendidas mediante formación, mentoría o asistencia técnica.</a:t>
                      </a:r>
                      <a:endParaRPr lang="en-US" sz="14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</a:t>
                      </a:r>
                      <a:endParaRPr lang="en-US" sz="14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Reconocer cuándo resulta necesaria la derivación hacia una persona o institución especializada.</a:t>
                      </a:r>
                      <a:endParaRPr lang="en-US" sz="14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3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10</a:t>
                      </a:r>
                      <a:endParaRPr lang="en-US" sz="14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Incorporar género, inclusión, sostenibilidad y territorio durante el diagnóstico.</a:t>
                      </a:r>
                      <a:endParaRPr lang="en-US" sz="14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Competencia C5: desempeño observable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4"/>
          <p:cNvSpPr/>
          <p:nvPr/>
        </p:nvSpPr>
        <p:spPr>
          <a:xfrm>
            <a:off x="758880" y="1691640"/>
            <a:ext cx="7040520" cy="2331360"/>
          </a:xfrm>
          <a:prstGeom prst="roundRect">
            <a:avLst>
              <a:gd name="adj" fmla="val 3137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5"/>
          <p:cNvSpPr/>
          <p:nvPr/>
        </p:nvSpPr>
        <p:spPr>
          <a:xfrm>
            <a:off x="987480" y="1892880"/>
            <a:ext cx="6583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Competencia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6"/>
          <p:cNvSpPr/>
          <p:nvPr/>
        </p:nvSpPr>
        <p:spPr>
          <a:xfrm>
            <a:off x="987480" y="2331720"/>
            <a:ext cx="6583320" cy="152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Realizar diagnósticos empresariales integrales de los NAE.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7"/>
          <p:cNvSpPr/>
          <p:nvPr/>
        </p:nvSpPr>
        <p:spPr>
          <a:xfrm>
            <a:off x="8385120" y="1691640"/>
            <a:ext cx="7095240" cy="2331360"/>
          </a:xfrm>
          <a:prstGeom prst="roundRect">
            <a:avLst>
              <a:gd name="adj" fmla="val 3137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8"/>
          <p:cNvSpPr/>
          <p:nvPr/>
        </p:nvSpPr>
        <p:spPr>
          <a:xfrm>
            <a:off x="8613720" y="1892880"/>
            <a:ext cx="663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Componentes del diagnóstico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9"/>
          <p:cNvSpPr/>
          <p:nvPr/>
        </p:nvSpPr>
        <p:spPr>
          <a:xfrm>
            <a:off x="8613720" y="2331720"/>
            <a:ext cx="6638040" cy="152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Caracterización y valoración con K02; análisis causal; fortalezas y brechas; prioridades y línea de base con K03; modalidad de acompañamiento. Se integran en el diagnóstico, sin entregas adicionales.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0"/>
          <p:cNvSpPr/>
          <p:nvPr/>
        </p:nvSpPr>
        <p:spPr>
          <a:xfrm>
            <a:off x="758880" y="4407480"/>
            <a:ext cx="5486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Desempeño esperado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1"/>
          <p:cNvSpPr/>
          <p:nvPr/>
        </p:nvSpPr>
        <p:spPr>
          <a:xfrm>
            <a:off x="758880" y="4864320"/>
            <a:ext cx="14721840" cy="360"/>
          </a:xfrm>
          <a:prstGeom prst="line">
            <a:avLst/>
          </a:prstGeom>
          <a:ln w="8890">
            <a:solidFill>
              <a:srgbClr val="D2CE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2"/>
          <p:cNvSpPr/>
          <p:nvPr/>
        </p:nvSpPr>
        <p:spPr>
          <a:xfrm>
            <a:off x="758880" y="5257800"/>
            <a:ext cx="2856240" cy="868320"/>
          </a:xfrm>
          <a:prstGeom prst="chevron">
            <a:avLst>
              <a:gd name="adj" fmla="val 50000"/>
            </a:avLst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3"/>
          <p:cNvSpPr/>
          <p:nvPr/>
        </p:nvSpPr>
        <p:spPr>
          <a:xfrm>
            <a:off x="868680" y="5422320"/>
            <a:ext cx="2627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Recopilar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evidencias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4"/>
          <p:cNvSpPr/>
          <p:nvPr/>
        </p:nvSpPr>
        <p:spPr>
          <a:xfrm>
            <a:off x="3725280" y="5257800"/>
            <a:ext cx="2856240" cy="868320"/>
          </a:xfrm>
          <a:prstGeom prst="chevron">
            <a:avLst>
              <a:gd name="adj" fmla="val 50000"/>
            </a:avLst>
          </a:prstGeom>
          <a:solidFill>
            <a:srgbClr val="00A3B5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5"/>
          <p:cNvSpPr/>
          <p:nvPr/>
        </p:nvSpPr>
        <p:spPr>
          <a:xfrm>
            <a:off x="3835080" y="5422320"/>
            <a:ext cx="2627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Interpretar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sistémicamente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6"/>
          <p:cNvSpPr/>
          <p:nvPr/>
        </p:nvSpPr>
        <p:spPr>
          <a:xfrm>
            <a:off x="6691680" y="5257800"/>
            <a:ext cx="2856240" cy="868320"/>
          </a:xfrm>
          <a:prstGeom prst="chevron">
            <a:avLst>
              <a:gd name="adj" fmla="val 50000"/>
            </a:avLst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7"/>
          <p:cNvSpPr/>
          <p:nvPr/>
        </p:nvSpPr>
        <p:spPr>
          <a:xfrm>
            <a:off x="6801480" y="5422320"/>
            <a:ext cx="2627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Diferenciar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síntomas y causas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8"/>
          <p:cNvSpPr/>
          <p:nvPr/>
        </p:nvSpPr>
        <p:spPr>
          <a:xfrm>
            <a:off x="9657720" y="5257800"/>
            <a:ext cx="2856240" cy="868320"/>
          </a:xfrm>
          <a:prstGeom prst="chevron">
            <a:avLst>
              <a:gd name="adj" fmla="val 50000"/>
            </a:avLst>
          </a:prstGeom>
          <a:solidFill>
            <a:srgbClr val="00A3B5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9"/>
          <p:cNvSpPr/>
          <p:nvPr/>
        </p:nvSpPr>
        <p:spPr>
          <a:xfrm>
            <a:off x="9767520" y="5422320"/>
            <a:ext cx="2627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Priorizar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áreas de mejora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0"/>
          <p:cNvSpPr/>
          <p:nvPr/>
        </p:nvSpPr>
        <p:spPr>
          <a:xfrm>
            <a:off x="12624120" y="5257800"/>
            <a:ext cx="2856240" cy="868320"/>
          </a:xfrm>
          <a:prstGeom prst="chevron">
            <a:avLst>
              <a:gd name="adj" fmla="val 50000"/>
            </a:avLst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1"/>
          <p:cNvSpPr/>
          <p:nvPr/>
        </p:nvSpPr>
        <p:spPr>
          <a:xfrm>
            <a:off x="12733920" y="5422320"/>
            <a:ext cx="2627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Definir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apoyo o derivación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Ruta del Módulo 2 por modalidad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3" name="Table 0"/>
          <p:cNvGraphicFramePr/>
          <p:nvPr/>
        </p:nvGraphicFramePr>
        <p:xfrm>
          <a:off x="758880" y="1554480"/>
          <a:ext cx="14721840" cy="63075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1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Tema</a:t>
                      </a:r>
                      <a:endParaRPr lang="en-US" sz="106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Contenido central</a:t>
                      </a:r>
                      <a:endParaRPr lang="en-US" sz="106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Modalidad</a:t>
                      </a:r>
                      <a:endParaRPr lang="en-US" sz="106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1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1. Fundamentos del diagnóstico empresarial</a:t>
                      </a:r>
                      <a:endParaRPr lang="en-US" sz="10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Propósito, diagnóstico participativo, alcance y límites, objetividad, confidencialidad, fuentes y triangulación.</a:t>
                      </a:r>
                      <a:endParaRPr lang="en-US" sz="10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 h asincrónica</a:t>
                      </a:r>
                      <a:endParaRPr lang="en-US" sz="10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1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2. Caracterización del NAE</a:t>
                      </a:r>
                      <a:endParaRPr lang="en-US" sz="10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Naturaleza, actividad, trayectoria, etapa, empleo, productos, mercado, territorio y actores relacionados.</a:t>
                      </a:r>
                      <a:endParaRPr lang="en-US" sz="10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 h asincrónica</a:t>
                      </a:r>
                      <a:endParaRPr lang="en-US" sz="10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1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3. Dimensiones del diagnóstico integral</a:t>
                      </a:r>
                      <a:endParaRPr lang="en-US" sz="10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Estrategia, valor, clientes, operaciones, finanzas, personas, calidad, innovación, sostenibilidad, formalización, riesgos y territorio.</a:t>
                      </a:r>
                      <a:endParaRPr lang="en-US" sz="10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 h asincrónicas</a:t>
                      </a:r>
                      <a:endParaRPr lang="en-US" sz="10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1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4. Análisis causal</a:t>
                      </a:r>
                      <a:endParaRPr lang="en-US" sz="10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Datos, evidencias, síntomas, problema, causas, consecuencias, árbol de problemas y cinco porqués.</a:t>
                      </a:r>
                      <a:endParaRPr lang="en-US" sz="10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 h sincrónica</a:t>
                      </a:r>
                      <a:endParaRPr lang="en-US" sz="10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1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5. Priorización</a:t>
                      </a:r>
                      <a:endParaRPr lang="en-US" sz="10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Importancia, urgencia, impacto, capacidad de actuación, esfuerzo, recursos y viabilidad.</a:t>
                      </a:r>
                      <a:endParaRPr lang="en-US" sz="10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 h presencial</a:t>
                      </a:r>
                      <a:endParaRPr lang="en-US" sz="10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1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6. Modalidad de acompañamiento</a:t>
                      </a:r>
                      <a:endParaRPr lang="en-US" sz="10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Formación, mentoría, asesoría, asistencia técnica, incubación, aceleración y derivación especializada.</a:t>
                      </a:r>
                      <a:endParaRPr lang="en-US" sz="10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 h presencial</a:t>
                      </a:r>
                      <a:endParaRPr lang="en-US" sz="10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D61F259-F2BB-1BC1-6EAA-560890BF4A60}"/>
              </a:ext>
            </a:extLst>
          </p:cNvPr>
          <p:cNvSpPr/>
          <p:nvPr/>
        </p:nvSpPr>
        <p:spPr>
          <a:xfrm>
            <a:off x="0" y="-1"/>
            <a:ext cx="16256000" cy="8157411"/>
          </a:xfrm>
          <a:prstGeom prst="rect">
            <a:avLst/>
          </a:prstGeom>
          <a:solidFill>
            <a:srgbClr val="00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 1"/>
          <p:cNvSpPr/>
          <p:nvPr/>
        </p:nvSpPr>
        <p:spPr>
          <a:xfrm>
            <a:off x="1014840" y="1901880"/>
            <a:ext cx="254160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0" u="none" strike="noStrike">
                <a:solidFill>
                  <a:srgbClr val="C88D2D"/>
                </a:solidFill>
                <a:effectLst/>
                <a:uFillTx/>
                <a:latin typeface="Arial Narrow"/>
                <a:ea typeface="Arial Narrow"/>
              </a:rPr>
              <a:t>02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"/>
          <p:cNvSpPr/>
          <p:nvPr/>
        </p:nvSpPr>
        <p:spPr>
          <a:xfrm>
            <a:off x="1014840" y="3300840"/>
            <a:ext cx="75852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1014840" y="3557160"/>
            <a:ext cx="107895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ENFOQUE CONCEPTUAL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1014840" y="4380120"/>
            <a:ext cx="886932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3E1DD"/>
                </a:solidFill>
                <a:effectLst/>
                <a:uFillTx/>
                <a:latin typeface="Arial Narrow"/>
                <a:ea typeface="Arial Narrow"/>
              </a:rPr>
              <a:t>Diagnóstico integral, análisis causal, priorización y decisiones de acompañamiento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1014840" y="8385120"/>
            <a:ext cx="381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C2C0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Diagnóstico empresarial integral: sentido y alcance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758880" y="1691640"/>
            <a:ext cx="4708800" cy="2377080"/>
          </a:xfrm>
          <a:prstGeom prst="roundRect">
            <a:avLst>
              <a:gd name="adj" fmla="val 3077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5"/>
          <p:cNvSpPr/>
          <p:nvPr/>
        </p:nvSpPr>
        <p:spPr>
          <a:xfrm>
            <a:off x="987480" y="189288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Qué busca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6"/>
          <p:cNvSpPr/>
          <p:nvPr/>
        </p:nvSpPr>
        <p:spPr>
          <a:xfrm>
            <a:off x="987480" y="2331720"/>
            <a:ext cx="425160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Comprender la situación real del NAE, identificar capacidades existentes, brechas, problemas, causas, riesgos y oportunidades.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7"/>
          <p:cNvSpPr/>
          <p:nvPr/>
        </p:nvSpPr>
        <p:spPr>
          <a:xfrm>
            <a:off x="5779080" y="1691640"/>
            <a:ext cx="4708800" cy="2377080"/>
          </a:xfrm>
          <a:prstGeom prst="roundRect">
            <a:avLst>
              <a:gd name="adj" fmla="val 3077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8"/>
          <p:cNvSpPr/>
          <p:nvPr/>
        </p:nvSpPr>
        <p:spPr>
          <a:xfrm>
            <a:off x="6007680" y="189288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Cómo se construye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9"/>
          <p:cNvSpPr/>
          <p:nvPr/>
        </p:nvSpPr>
        <p:spPr>
          <a:xfrm>
            <a:off x="6007680" y="2331720"/>
            <a:ext cx="425160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Mediante revisión de evidencias, entrevistas, observación, análisis documental y triangulación de fuentes.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0"/>
          <p:cNvSpPr/>
          <p:nvPr/>
        </p:nvSpPr>
        <p:spPr>
          <a:xfrm>
            <a:off x="10798920" y="1691640"/>
            <a:ext cx="4681440" cy="2377080"/>
          </a:xfrm>
          <a:prstGeom prst="roundRect">
            <a:avLst>
              <a:gd name="adj" fmla="val 3077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1"/>
          <p:cNvSpPr/>
          <p:nvPr/>
        </p:nvSpPr>
        <p:spPr>
          <a:xfrm>
            <a:off x="11027520" y="1892880"/>
            <a:ext cx="422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Para qué sirve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2"/>
          <p:cNvSpPr/>
          <p:nvPr/>
        </p:nvSpPr>
        <p:spPr>
          <a:xfrm>
            <a:off x="11027520" y="2331720"/>
            <a:ext cx="422424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Priorizar decisiones de mejora y definir si corresponde formación, mentoría, asistencia técnica, consultoría o derivación.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3"/>
          <p:cNvSpPr/>
          <p:nvPr/>
        </p:nvSpPr>
        <p:spPr>
          <a:xfrm>
            <a:off x="758880" y="46087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Principio operativo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4"/>
          <p:cNvSpPr/>
          <p:nvPr/>
        </p:nvSpPr>
        <p:spPr>
          <a:xfrm>
            <a:off x="758880" y="5074920"/>
            <a:ext cx="1472148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Un buen diagnóstico no adelanta soluciones: primero contrasta información, distingue síntomas de causas y define prioridades con criterios explícitos.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Diagnóstico participativo y evidencia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0" name="Table 0"/>
          <p:cNvGraphicFramePr/>
          <p:nvPr/>
        </p:nvGraphicFramePr>
        <p:xfrm>
          <a:off x="758880" y="1691640"/>
          <a:ext cx="14721840" cy="4937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7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6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Elemento</a:t>
                      </a:r>
                      <a:endParaRPr lang="en-US" sz="126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6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Criterio de calidad</a:t>
                      </a:r>
                      <a:endParaRPr lang="en-US" sz="126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6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Riesgo si se omite</a:t>
                      </a:r>
                      <a:endParaRPr lang="en-US" sz="126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Fuentes primarias</a:t>
                      </a:r>
                      <a:endParaRPr lang="en-US" sz="12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Entrevistas, observación, conversaciones con personas clave.</a:t>
                      </a:r>
                      <a:endParaRPr lang="en-US" sz="12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Diagnóstico dependiente de una sola percepción.</a:t>
                      </a:r>
                      <a:endParaRPr lang="en-US" sz="12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7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Fuentes secundarias</a:t>
                      </a:r>
                      <a:endParaRPr lang="en-US" sz="12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Registros, documentos, ventas, costos, procesos, evidencias existentes.</a:t>
                      </a:r>
                      <a:endParaRPr lang="en-US" sz="12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Conclusiones sin trazabilidad.</a:t>
                      </a:r>
                      <a:endParaRPr lang="en-US" sz="12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7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Triangulación</a:t>
                      </a:r>
                      <a:endParaRPr lang="en-US" sz="12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Contrastar datos, relatos y observaciones antes de concluir.</a:t>
                      </a:r>
                      <a:endParaRPr lang="en-US" sz="12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Confundir síntomas con causas.</a:t>
                      </a:r>
                      <a:endParaRPr lang="en-US" sz="12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7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Confidencialidad</a:t>
                      </a:r>
                      <a:endParaRPr lang="en-US" sz="12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Usar información con límites, consentimiento y manejo responsable.</a:t>
                      </a:r>
                      <a:endParaRPr lang="en-US" sz="12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Pérdida de confianza y riesgo ético.</a:t>
                      </a:r>
                      <a:endParaRPr lang="en-US" sz="12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1" name="Shape 4"/>
          <p:cNvSpPr/>
          <p:nvPr/>
        </p:nvSpPr>
        <p:spPr>
          <a:xfrm>
            <a:off x="758880" y="6903720"/>
            <a:ext cx="14721480" cy="804240"/>
          </a:xfrm>
          <a:prstGeom prst="roundRect">
            <a:avLst>
              <a:gd name="adj" fmla="val 9091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987480" y="7104960"/>
            <a:ext cx="14264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Pregunta de control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987480" y="7423800"/>
            <a:ext cx="14264280" cy="23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¿Qué sabemos por evidencia y qué estamos suponiendo?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Diagnóstico formativo vs diagnóstico empresarial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8" name="Table 0"/>
          <p:cNvGraphicFramePr/>
          <p:nvPr/>
        </p:nvGraphicFramePr>
        <p:xfrm>
          <a:off x="758880" y="1691640"/>
          <a:ext cx="14721840" cy="45252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5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Criterio</a:t>
                      </a:r>
                      <a:endParaRPr lang="en-US" sz="12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Diagnóstico formativo</a:t>
                      </a:r>
                      <a:endParaRPr lang="en-US" sz="12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Diagnóstico empresarial</a:t>
                      </a:r>
                      <a:endParaRPr lang="en-US" sz="12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3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Unidad de análisis</a:t>
                      </a:r>
                      <a:endParaRPr lang="en-US" sz="12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3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Personas y estructuras de apoyo.</a:t>
                      </a:r>
                      <a:endParaRPr lang="en-US" sz="12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3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NAE como organización económica.</a:t>
                      </a:r>
                      <a:endParaRPr lang="en-US" sz="12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5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3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Finalidad</a:t>
                      </a:r>
                      <a:endParaRPr lang="en-US" sz="12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3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Identificar brechas de competencias y orientar respuestas formativas.</a:t>
                      </a:r>
                      <a:endParaRPr lang="en-US" sz="12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3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Comprender situación empresarial y establecer prioridades de mejora.</a:t>
                      </a:r>
                      <a:endParaRPr lang="en-US" sz="12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3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Productos</a:t>
                      </a:r>
                      <a:endParaRPr lang="en-US" sz="12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3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Caracterización, matriz de brechas y respuesta formativa.</a:t>
                      </a:r>
                      <a:endParaRPr lang="en-US" sz="12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3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Diagnóstico integral, análisis causal, prioridades y modalidad de acompañamiento.</a:t>
                      </a:r>
                      <a:endParaRPr lang="en-US" sz="12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5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3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Riesgo común</a:t>
                      </a:r>
                      <a:endParaRPr lang="en-US" sz="12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3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Confundir falta de conocimiento con problemas de gestión, recursos o mercado.</a:t>
                      </a:r>
                      <a:endParaRPr lang="en-US" sz="12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3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Convertir todo problema empresarial en un curso.</a:t>
                      </a:r>
                      <a:endParaRPr lang="en-US" sz="12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9" name="Shape 4"/>
          <p:cNvSpPr/>
          <p:nvPr/>
        </p:nvSpPr>
        <p:spPr>
          <a:xfrm>
            <a:off x="758880" y="6537960"/>
            <a:ext cx="14721480" cy="1005480"/>
          </a:xfrm>
          <a:prstGeom prst="roundRect">
            <a:avLst>
              <a:gd name="adj" fmla="val 7273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987480" y="6739200"/>
            <a:ext cx="14264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Criterio clave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987480" y="7178040"/>
            <a:ext cx="14264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Una brecha empresarial puede requerir formación, pero también mentoría, asesoría, asistencia técnica, financiamiento, articulación institucional o derivación especializada.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Dimensiones del diagnóstico integral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4"/>
          <p:cNvSpPr/>
          <p:nvPr/>
        </p:nvSpPr>
        <p:spPr>
          <a:xfrm>
            <a:off x="758880" y="1645920"/>
            <a:ext cx="3428640" cy="932400"/>
          </a:xfrm>
          <a:prstGeom prst="roundRect">
            <a:avLst>
              <a:gd name="adj" fmla="val 5882"/>
            </a:avLst>
          </a:prstGeom>
          <a:solidFill>
            <a:srgbClr val="E7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5"/>
          <p:cNvSpPr/>
          <p:nvPr/>
        </p:nvSpPr>
        <p:spPr>
          <a:xfrm>
            <a:off x="905400" y="1810440"/>
            <a:ext cx="31359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Estrategia y modelo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de negocio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6"/>
          <p:cNvSpPr/>
          <p:nvPr/>
        </p:nvSpPr>
        <p:spPr>
          <a:xfrm>
            <a:off x="4443840" y="1645920"/>
            <a:ext cx="3428640" cy="932400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7"/>
          <p:cNvSpPr/>
          <p:nvPr/>
        </p:nvSpPr>
        <p:spPr>
          <a:xfrm>
            <a:off x="4590360" y="1810440"/>
            <a:ext cx="31359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Propuesta de valor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8"/>
          <p:cNvSpPr/>
          <p:nvPr/>
        </p:nvSpPr>
        <p:spPr>
          <a:xfrm>
            <a:off x="8129160" y="1645920"/>
            <a:ext cx="3428640" cy="932400"/>
          </a:xfrm>
          <a:prstGeom prst="roundRect">
            <a:avLst>
              <a:gd name="adj" fmla="val 5882"/>
            </a:avLst>
          </a:prstGeom>
          <a:solidFill>
            <a:srgbClr val="E7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9"/>
          <p:cNvSpPr/>
          <p:nvPr/>
        </p:nvSpPr>
        <p:spPr>
          <a:xfrm>
            <a:off x="8275320" y="1810440"/>
            <a:ext cx="31359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Clientes, mercados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y comercialización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0"/>
          <p:cNvSpPr/>
          <p:nvPr/>
        </p:nvSpPr>
        <p:spPr>
          <a:xfrm>
            <a:off x="11814120" y="1645920"/>
            <a:ext cx="3428640" cy="932400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1"/>
          <p:cNvSpPr/>
          <p:nvPr/>
        </p:nvSpPr>
        <p:spPr>
          <a:xfrm>
            <a:off x="11960280" y="1810440"/>
            <a:ext cx="31359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Producción 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operaciones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2"/>
          <p:cNvSpPr/>
          <p:nvPr/>
        </p:nvSpPr>
        <p:spPr>
          <a:xfrm>
            <a:off x="758880" y="2907720"/>
            <a:ext cx="3428640" cy="932400"/>
          </a:xfrm>
          <a:prstGeom prst="roundRect">
            <a:avLst>
              <a:gd name="adj" fmla="val 5882"/>
            </a:avLst>
          </a:prstGeom>
          <a:solidFill>
            <a:srgbClr val="E7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3"/>
          <p:cNvSpPr/>
          <p:nvPr/>
        </p:nvSpPr>
        <p:spPr>
          <a:xfrm>
            <a:off x="905400" y="3072240"/>
            <a:ext cx="31359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Costos y finanzas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básicas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4"/>
          <p:cNvSpPr/>
          <p:nvPr/>
        </p:nvSpPr>
        <p:spPr>
          <a:xfrm>
            <a:off x="4443840" y="2907720"/>
            <a:ext cx="3428640" cy="932400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5"/>
          <p:cNvSpPr/>
          <p:nvPr/>
        </p:nvSpPr>
        <p:spPr>
          <a:xfrm>
            <a:off x="4590360" y="3072240"/>
            <a:ext cx="31359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Personas 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organización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6"/>
          <p:cNvSpPr/>
          <p:nvPr/>
        </p:nvSpPr>
        <p:spPr>
          <a:xfrm>
            <a:off x="8129160" y="2907720"/>
            <a:ext cx="3428640" cy="932400"/>
          </a:xfrm>
          <a:prstGeom prst="roundRect">
            <a:avLst>
              <a:gd name="adj" fmla="val 5882"/>
            </a:avLst>
          </a:prstGeom>
          <a:solidFill>
            <a:srgbClr val="E7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7"/>
          <p:cNvSpPr/>
          <p:nvPr/>
        </p:nvSpPr>
        <p:spPr>
          <a:xfrm>
            <a:off x="8275320" y="3072240"/>
            <a:ext cx="31359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Calidad 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productividad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8"/>
          <p:cNvSpPr/>
          <p:nvPr/>
        </p:nvSpPr>
        <p:spPr>
          <a:xfrm>
            <a:off x="11814120" y="2907720"/>
            <a:ext cx="3428640" cy="932400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9"/>
          <p:cNvSpPr/>
          <p:nvPr/>
        </p:nvSpPr>
        <p:spPr>
          <a:xfrm>
            <a:off x="11960280" y="3072240"/>
            <a:ext cx="31359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Innovación 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digitalización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0"/>
          <p:cNvSpPr/>
          <p:nvPr/>
        </p:nvSpPr>
        <p:spPr>
          <a:xfrm>
            <a:off x="758880" y="4169520"/>
            <a:ext cx="3428640" cy="932400"/>
          </a:xfrm>
          <a:prstGeom prst="roundRect">
            <a:avLst>
              <a:gd name="adj" fmla="val 5882"/>
            </a:avLst>
          </a:prstGeom>
          <a:solidFill>
            <a:srgbClr val="E7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1"/>
          <p:cNvSpPr/>
          <p:nvPr/>
        </p:nvSpPr>
        <p:spPr>
          <a:xfrm>
            <a:off x="905400" y="4334400"/>
            <a:ext cx="31359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Sostenibilidad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2"/>
          <p:cNvSpPr/>
          <p:nvPr/>
        </p:nvSpPr>
        <p:spPr>
          <a:xfrm>
            <a:off x="4443840" y="4169520"/>
            <a:ext cx="3428640" cy="932400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3"/>
          <p:cNvSpPr/>
          <p:nvPr/>
        </p:nvSpPr>
        <p:spPr>
          <a:xfrm>
            <a:off x="4590360" y="4334400"/>
            <a:ext cx="31359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Formalización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y riesgos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4"/>
          <p:cNvSpPr/>
          <p:nvPr/>
        </p:nvSpPr>
        <p:spPr>
          <a:xfrm>
            <a:off x="8129160" y="4169520"/>
            <a:ext cx="3428640" cy="932400"/>
          </a:xfrm>
          <a:prstGeom prst="roundRect">
            <a:avLst>
              <a:gd name="adj" fmla="val 5882"/>
            </a:avLst>
          </a:prstGeom>
          <a:solidFill>
            <a:srgbClr val="E7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5"/>
          <p:cNvSpPr/>
          <p:nvPr/>
        </p:nvSpPr>
        <p:spPr>
          <a:xfrm>
            <a:off x="8275320" y="4334400"/>
            <a:ext cx="31359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Territorio 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alianzas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6"/>
          <p:cNvSpPr/>
          <p:nvPr/>
        </p:nvSpPr>
        <p:spPr>
          <a:xfrm>
            <a:off x="758880" y="5650920"/>
            <a:ext cx="14721480" cy="1261440"/>
          </a:xfrm>
          <a:prstGeom prst="roundRect">
            <a:avLst>
              <a:gd name="adj" fmla="val 5797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7"/>
          <p:cNvSpPr/>
          <p:nvPr/>
        </p:nvSpPr>
        <p:spPr>
          <a:xfrm>
            <a:off x="987480" y="5852160"/>
            <a:ext cx="14264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Transversalidad en el diagnóstico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8"/>
          <p:cNvSpPr/>
          <p:nvPr/>
        </p:nvSpPr>
        <p:spPr>
          <a:xfrm>
            <a:off x="987480" y="6291000"/>
            <a:ext cx="14264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El diagnóstico debe identificar barreras diferenciadas relacionadas con género, juventudes, inclusión, acceso a recursos, tecnología, financiamiento, redes, oportunidades y participación.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Diferenciar datos, síntomas, problemas y causas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4"/>
          <p:cNvSpPr/>
          <p:nvPr/>
        </p:nvSpPr>
        <p:spPr>
          <a:xfrm>
            <a:off x="758880" y="1828800"/>
            <a:ext cx="2856240" cy="868320"/>
          </a:xfrm>
          <a:prstGeom prst="chevron">
            <a:avLst>
              <a:gd name="adj" fmla="val 50000"/>
            </a:avLst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868680" y="1993320"/>
            <a:ext cx="2627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Dato /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evidencia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6"/>
          <p:cNvSpPr/>
          <p:nvPr/>
        </p:nvSpPr>
        <p:spPr>
          <a:xfrm>
            <a:off x="3725280" y="1828800"/>
            <a:ext cx="2856240" cy="868320"/>
          </a:xfrm>
          <a:prstGeom prst="chevron">
            <a:avLst>
              <a:gd name="adj" fmla="val 50000"/>
            </a:avLst>
          </a:prstGeom>
          <a:solidFill>
            <a:srgbClr val="00A3B5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7"/>
          <p:cNvSpPr/>
          <p:nvPr/>
        </p:nvSpPr>
        <p:spPr>
          <a:xfrm>
            <a:off x="3835080" y="1993320"/>
            <a:ext cx="2627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Síntoma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observable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8"/>
          <p:cNvSpPr/>
          <p:nvPr/>
        </p:nvSpPr>
        <p:spPr>
          <a:xfrm>
            <a:off x="6691680" y="1828800"/>
            <a:ext cx="2856240" cy="868320"/>
          </a:xfrm>
          <a:prstGeom prst="chevron">
            <a:avLst>
              <a:gd name="adj" fmla="val 50000"/>
            </a:avLst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6801480" y="1993320"/>
            <a:ext cx="2627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Problema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definido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0"/>
          <p:cNvSpPr/>
          <p:nvPr/>
        </p:nvSpPr>
        <p:spPr>
          <a:xfrm>
            <a:off x="9657720" y="1828800"/>
            <a:ext cx="2856240" cy="868320"/>
          </a:xfrm>
          <a:prstGeom prst="chevron">
            <a:avLst>
              <a:gd name="adj" fmla="val 50000"/>
            </a:avLst>
          </a:prstGeom>
          <a:solidFill>
            <a:srgbClr val="00A3B5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1"/>
          <p:cNvSpPr/>
          <p:nvPr/>
        </p:nvSpPr>
        <p:spPr>
          <a:xfrm>
            <a:off x="9767520" y="1993320"/>
            <a:ext cx="2627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Causa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prioritaria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2"/>
          <p:cNvSpPr/>
          <p:nvPr/>
        </p:nvSpPr>
        <p:spPr>
          <a:xfrm>
            <a:off x="12624120" y="1828800"/>
            <a:ext cx="2856240" cy="868320"/>
          </a:xfrm>
          <a:prstGeom prst="chevron">
            <a:avLst>
              <a:gd name="adj" fmla="val 50000"/>
            </a:avLst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3"/>
          <p:cNvSpPr/>
          <p:nvPr/>
        </p:nvSpPr>
        <p:spPr>
          <a:xfrm>
            <a:off x="12733920" y="1993320"/>
            <a:ext cx="2627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Decisión de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acompañamiento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5" name="Table 0"/>
          <p:cNvGraphicFramePr/>
          <p:nvPr/>
        </p:nvGraphicFramePr>
        <p:xfrm>
          <a:off x="758880" y="3337560"/>
          <a:ext cx="14721840" cy="40672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7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Nivel</a:t>
                      </a:r>
                      <a:endParaRPr lang="en-US" sz="12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Pregunta guía</a:t>
                      </a:r>
                      <a:endParaRPr lang="en-US" sz="12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Ejemplo basado en K01</a:t>
                      </a:r>
                      <a:endParaRPr lang="en-US" sz="12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Dato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¿Qué información concreta tenemos?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35 de 186 pedidos se retrasaron en tres meses.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Síntoma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¿Qué señal visible aparece?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Entregas fuera del plazo acordado.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Problema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¿Qué situación limita el desempeño?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Incumplimiento de plazos de entrega.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7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Causa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¿Por qué ocurre?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Según el equipo: faltan envases o insumos. Contrastar registros y otras causas.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7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Decisión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¿Qué apoyo corresponde?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Definir apoyo tras validar causas y capacidades del NAE.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Análisis causal: árbol de problemas y cinco porqués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4"/>
          <p:cNvSpPr/>
          <p:nvPr/>
        </p:nvSpPr>
        <p:spPr>
          <a:xfrm>
            <a:off x="758880" y="1691640"/>
            <a:ext cx="7040520" cy="2331360"/>
          </a:xfrm>
          <a:prstGeom prst="roundRect">
            <a:avLst>
              <a:gd name="adj" fmla="val 3137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5"/>
          <p:cNvSpPr/>
          <p:nvPr/>
        </p:nvSpPr>
        <p:spPr>
          <a:xfrm>
            <a:off x="987480" y="1892880"/>
            <a:ext cx="6583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Árbol de problemas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6"/>
          <p:cNvSpPr/>
          <p:nvPr/>
        </p:nvSpPr>
        <p:spPr>
          <a:xfrm>
            <a:off x="987480" y="2331720"/>
            <a:ext cx="6583320" cy="152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Permite organizar problema central, causas y consecuencias. Ayuda a evitar diagnósticos lineales o basados solo en síntomas.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7"/>
          <p:cNvSpPr/>
          <p:nvPr/>
        </p:nvSpPr>
        <p:spPr>
          <a:xfrm>
            <a:off x="8385120" y="1691640"/>
            <a:ext cx="7095240" cy="2331360"/>
          </a:xfrm>
          <a:prstGeom prst="roundRect">
            <a:avLst>
              <a:gd name="adj" fmla="val 3137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8"/>
          <p:cNvSpPr/>
          <p:nvPr/>
        </p:nvSpPr>
        <p:spPr>
          <a:xfrm>
            <a:off x="8613720" y="1892880"/>
            <a:ext cx="663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Cinco porqués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9"/>
          <p:cNvSpPr/>
          <p:nvPr/>
        </p:nvSpPr>
        <p:spPr>
          <a:xfrm>
            <a:off x="8613720" y="2331720"/>
            <a:ext cx="6638040" cy="152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Profundiza causas sucesivas hasta identificar factores de gestión, recursos, procesos, capacidades o contexto.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0"/>
          <p:cNvSpPr/>
          <p:nvPr/>
        </p:nvSpPr>
        <p:spPr>
          <a:xfrm>
            <a:off x="758880" y="4617720"/>
            <a:ext cx="2361960" cy="868320"/>
          </a:xfrm>
          <a:prstGeom prst="chevron">
            <a:avLst>
              <a:gd name="adj" fmla="val 50000"/>
            </a:avLst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1"/>
          <p:cNvSpPr/>
          <p:nvPr/>
        </p:nvSpPr>
        <p:spPr>
          <a:xfrm>
            <a:off x="868680" y="4782240"/>
            <a:ext cx="2133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Evidencia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2"/>
          <p:cNvSpPr/>
          <p:nvPr/>
        </p:nvSpPr>
        <p:spPr>
          <a:xfrm>
            <a:off x="3231000" y="4617720"/>
            <a:ext cx="2361960" cy="868320"/>
          </a:xfrm>
          <a:prstGeom prst="chevron">
            <a:avLst>
              <a:gd name="adj" fmla="val 50000"/>
            </a:avLst>
          </a:prstGeom>
          <a:solidFill>
            <a:srgbClr val="00A3B5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3"/>
          <p:cNvSpPr/>
          <p:nvPr/>
        </p:nvSpPr>
        <p:spPr>
          <a:xfrm>
            <a:off x="3340440" y="4782240"/>
            <a:ext cx="2133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Síntoma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4"/>
          <p:cNvSpPr/>
          <p:nvPr/>
        </p:nvSpPr>
        <p:spPr>
          <a:xfrm>
            <a:off x="5702760" y="4617720"/>
            <a:ext cx="2361960" cy="868320"/>
          </a:xfrm>
          <a:prstGeom prst="chevron">
            <a:avLst>
              <a:gd name="adj" fmla="val 50000"/>
            </a:avLst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5"/>
          <p:cNvSpPr/>
          <p:nvPr/>
        </p:nvSpPr>
        <p:spPr>
          <a:xfrm>
            <a:off x="5812560" y="4782240"/>
            <a:ext cx="2133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Problema central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6"/>
          <p:cNvSpPr/>
          <p:nvPr/>
        </p:nvSpPr>
        <p:spPr>
          <a:xfrm>
            <a:off x="8174880" y="4617720"/>
            <a:ext cx="2361960" cy="868320"/>
          </a:xfrm>
          <a:prstGeom prst="chevron">
            <a:avLst>
              <a:gd name="adj" fmla="val 50000"/>
            </a:avLst>
          </a:prstGeom>
          <a:solidFill>
            <a:srgbClr val="00A3B5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7"/>
          <p:cNvSpPr/>
          <p:nvPr/>
        </p:nvSpPr>
        <p:spPr>
          <a:xfrm>
            <a:off x="8284320" y="4782240"/>
            <a:ext cx="2133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Causas inmediatas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8"/>
          <p:cNvSpPr/>
          <p:nvPr/>
        </p:nvSpPr>
        <p:spPr>
          <a:xfrm>
            <a:off x="10646640" y="4617720"/>
            <a:ext cx="2361960" cy="868320"/>
          </a:xfrm>
          <a:prstGeom prst="chevron">
            <a:avLst>
              <a:gd name="adj" fmla="val 50000"/>
            </a:avLst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9"/>
          <p:cNvSpPr/>
          <p:nvPr/>
        </p:nvSpPr>
        <p:spPr>
          <a:xfrm>
            <a:off x="10756440" y="4782240"/>
            <a:ext cx="2133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Causas raíz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0"/>
          <p:cNvSpPr/>
          <p:nvPr/>
        </p:nvSpPr>
        <p:spPr>
          <a:xfrm>
            <a:off x="13118760" y="4617720"/>
            <a:ext cx="2361960" cy="868320"/>
          </a:xfrm>
          <a:prstGeom prst="chevron">
            <a:avLst>
              <a:gd name="adj" fmla="val 50000"/>
            </a:avLst>
          </a:prstGeom>
          <a:solidFill>
            <a:srgbClr val="00A3B5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1"/>
          <p:cNvSpPr/>
          <p:nvPr/>
        </p:nvSpPr>
        <p:spPr>
          <a:xfrm>
            <a:off x="13228200" y="4782240"/>
            <a:ext cx="2133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Prioridad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2"/>
          <p:cNvSpPr/>
          <p:nvPr/>
        </p:nvSpPr>
        <p:spPr>
          <a:xfrm>
            <a:off x="758880" y="6172200"/>
            <a:ext cx="14721480" cy="914040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3"/>
          <p:cNvSpPr/>
          <p:nvPr/>
        </p:nvSpPr>
        <p:spPr>
          <a:xfrm>
            <a:off x="987480" y="6373440"/>
            <a:ext cx="14264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Regla práctica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4"/>
          <p:cNvSpPr/>
          <p:nvPr/>
        </p:nvSpPr>
        <p:spPr>
          <a:xfrm>
            <a:off x="987480" y="6692280"/>
            <a:ext cx="14264280" cy="23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No saltar directamente a soluciones antes de analizar causas y verificar que la causa priorizada pueda ser acompañada por el programa o requiera derivación.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3BC16C01-F3F4-67B0-6226-E41DB42532DE}"/>
              </a:ext>
            </a:extLst>
          </p:cNvPr>
          <p:cNvSpPr/>
          <p:nvPr/>
        </p:nvSpPr>
        <p:spPr>
          <a:xfrm>
            <a:off x="0" y="8302680"/>
            <a:ext cx="16255800" cy="859320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Image 2" descr="/mnt/data/template_inspect/ppt/media/image3.png">
            <a:extLst>
              <a:ext uri="{FF2B5EF4-FFF2-40B4-BE49-F238E27FC236}">
                <a16:creationId xmlns:a16="http://schemas.microsoft.com/office/drawing/2014/main" id="{B797B35C-FB75-9BA5-0664-145ADE1AF134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303520" y="8357760"/>
            <a:ext cx="5668920" cy="74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Priorización de áreas de intervención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5" name="Table 0"/>
          <p:cNvGraphicFramePr/>
          <p:nvPr/>
        </p:nvGraphicFramePr>
        <p:xfrm>
          <a:off x="758880" y="1691640"/>
          <a:ext cx="10149840" cy="4389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Criterio</a:t>
                      </a:r>
                      <a:endParaRPr lang="en-US" sz="13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Pregunta operativa</a:t>
                      </a:r>
                      <a:endParaRPr lang="en-US" sz="13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Impacto</a:t>
                      </a:r>
                      <a:endParaRPr lang="en-US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¿Qué mejora tendría mayor efecto sobre el desempeño o la sostenibilidad del NAE?</a:t>
                      </a:r>
                      <a:endParaRPr lang="en-US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Urgencia</a:t>
                      </a:r>
                      <a:endParaRPr lang="en-US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¿Qué problema requiere atención inmediata para evitar deterioro o pérdida de oportunidades?</a:t>
                      </a:r>
                      <a:endParaRPr lang="en-US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Capacidad de actuación</a:t>
                      </a:r>
                      <a:endParaRPr lang="en-US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¿El NAE y el ecosistema de apoyo tienen capacidad real para intervenir?</a:t>
                      </a:r>
                      <a:endParaRPr lang="en-US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Esfuerzo / recursos</a:t>
                      </a:r>
                      <a:endParaRPr lang="en-US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¿Qué recursos, tiempo o coordinación exige la acción?</a:t>
                      </a:r>
                      <a:endParaRPr lang="en-US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Viabilidad</a:t>
                      </a:r>
                      <a:endParaRPr lang="en-US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¿La solución puede implementarse en el contexto territorial y logístico actual?</a:t>
                      </a:r>
                      <a:endParaRPr lang="en-US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6" name="Shape 4"/>
          <p:cNvSpPr/>
          <p:nvPr/>
        </p:nvSpPr>
        <p:spPr>
          <a:xfrm>
            <a:off x="11292840" y="1691640"/>
            <a:ext cx="4187520" cy="4388760"/>
          </a:xfrm>
          <a:prstGeom prst="roundRect">
            <a:avLst>
              <a:gd name="adj" fmla="val 1747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5"/>
          <p:cNvSpPr/>
          <p:nvPr/>
        </p:nvSpPr>
        <p:spPr>
          <a:xfrm>
            <a:off x="11521440" y="1892880"/>
            <a:ext cx="3730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Criterios de discusión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6"/>
          <p:cNvSpPr/>
          <p:nvPr/>
        </p:nvSpPr>
        <p:spPr>
          <a:xfrm>
            <a:off x="11521440" y="2331720"/>
            <a:ext cx="3730320" cy="358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Impacto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Urgencia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Viabilidad de actuación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Prioridad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7"/>
          <p:cNvSpPr/>
          <p:nvPr/>
        </p:nvSpPr>
        <p:spPr>
          <a:xfrm>
            <a:off x="758880" y="6446520"/>
            <a:ext cx="14721480" cy="868320"/>
          </a:xfrm>
          <a:prstGeom prst="roundRect">
            <a:avLst>
              <a:gd name="adj" fmla="val 8421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8"/>
          <p:cNvSpPr/>
          <p:nvPr/>
        </p:nvSpPr>
        <p:spPr>
          <a:xfrm>
            <a:off x="987480" y="6647760"/>
            <a:ext cx="14264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Resultado esperado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9"/>
          <p:cNvSpPr/>
          <p:nvPr/>
        </p:nvSpPr>
        <p:spPr>
          <a:xfrm>
            <a:off x="987480" y="6966600"/>
            <a:ext cx="14264280" cy="23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Seleccionar prioridades justificadas. Registrarlas en K03 con su línea de base e indicadores para orientar el Plan de Mejora.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Modalidades de acompañamiento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6" name="Table 0"/>
          <p:cNvGraphicFramePr/>
          <p:nvPr/>
        </p:nvGraphicFramePr>
        <p:xfrm>
          <a:off x="758880" y="1691640"/>
          <a:ext cx="14721840" cy="5531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0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Modalidad</a:t>
                      </a:r>
                      <a:endParaRPr lang="en-US" sz="12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Cuándo corresponde</a:t>
                      </a:r>
                      <a:endParaRPr lang="en-US" sz="12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Formación</a:t>
                      </a:r>
                      <a:endParaRPr lang="en-US" sz="12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Cuando existe una brecha de conocimiento, habilidad o criterio que puede abordarse mediante aprendizaje.</a:t>
                      </a:r>
                      <a:endParaRPr lang="en-US" sz="12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Mentoría</a:t>
                      </a:r>
                      <a:endParaRPr lang="en-US" sz="12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Cuando la persona responsable necesita analizar opciones, decidir, comprometerse y aprender durante la acción.</a:t>
                      </a:r>
                      <a:endParaRPr lang="en-US" sz="12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Asesoría</a:t>
                      </a:r>
                      <a:endParaRPr lang="en-US" sz="12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Cuando se requiere orientación técnica puntual para resolver una situación específica.</a:t>
                      </a:r>
                      <a:endParaRPr lang="en-US" sz="12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Asistencia técnica</a:t>
                      </a:r>
                      <a:endParaRPr lang="en-US" sz="12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Cuando se necesita apoyo especializado aplicado a procesos, herramientas o sistemas.</a:t>
                      </a:r>
                      <a:endParaRPr lang="en-US" sz="12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Incubación / aceleración</a:t>
                      </a:r>
                      <a:endParaRPr lang="en-US" sz="12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Cuando el NAE requiere fortalecimiento integral según etapa de desarrollo y potencial de crecimiento.</a:t>
                      </a:r>
                      <a:endParaRPr lang="en-US" sz="12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Derivación especializada</a:t>
                      </a:r>
                      <a:endParaRPr lang="en-US" sz="12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2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Cuando el tema excede la competencia profesional: jurídico, fiscal, financiero, tecnológico u otro.</a:t>
                      </a:r>
                      <a:endParaRPr lang="en-US" sz="12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B387068-D2B9-A6CD-8463-EBF1F626F40C}"/>
              </a:ext>
            </a:extLst>
          </p:cNvPr>
          <p:cNvSpPr/>
          <p:nvPr/>
        </p:nvSpPr>
        <p:spPr>
          <a:xfrm>
            <a:off x="0" y="-1"/>
            <a:ext cx="16256000" cy="8157411"/>
          </a:xfrm>
          <a:prstGeom prst="rect">
            <a:avLst/>
          </a:prstGeom>
          <a:solidFill>
            <a:srgbClr val="00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 1"/>
          <p:cNvSpPr/>
          <p:nvPr/>
        </p:nvSpPr>
        <p:spPr>
          <a:xfrm>
            <a:off x="1014840" y="1901880"/>
            <a:ext cx="254160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0" u="none" strike="noStrike">
                <a:solidFill>
                  <a:srgbClr val="C88D2D"/>
                </a:solidFill>
                <a:effectLst/>
                <a:uFillTx/>
                <a:latin typeface="Arial Narrow"/>
                <a:ea typeface="Arial Narrow"/>
              </a:rPr>
              <a:t>03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"/>
          <p:cNvSpPr/>
          <p:nvPr/>
        </p:nvSpPr>
        <p:spPr>
          <a:xfrm>
            <a:off x="1014840" y="3300840"/>
            <a:ext cx="75852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"/>
          <p:cNvSpPr/>
          <p:nvPr/>
        </p:nvSpPr>
        <p:spPr>
          <a:xfrm>
            <a:off x="1014840" y="3557160"/>
            <a:ext cx="107895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CASO Y HERRAMIENTAS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4"/>
          <p:cNvSpPr/>
          <p:nvPr/>
        </p:nvSpPr>
        <p:spPr>
          <a:xfrm>
            <a:off x="1014840" y="4380120"/>
            <a:ext cx="886932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3E1DD"/>
                </a:solidFill>
                <a:effectLst/>
                <a:uFillTx/>
                <a:latin typeface="Arial Narrow"/>
                <a:ea typeface="Arial Narrow"/>
              </a:rPr>
              <a:t>Uso del caso transversal y plantillas del kit para construir evidencias de diagnóstico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5"/>
          <p:cNvSpPr/>
          <p:nvPr/>
        </p:nvSpPr>
        <p:spPr>
          <a:xfrm>
            <a:off x="1014840" y="8385120"/>
            <a:ext cx="381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C2C0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Caso NAE transversal: “Alimentos La Colmena”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4"/>
          <p:cNvSpPr/>
          <p:nvPr/>
        </p:nvSpPr>
        <p:spPr>
          <a:xfrm>
            <a:off x="758880" y="1645920"/>
            <a:ext cx="4937400" cy="5303160"/>
          </a:xfrm>
          <a:prstGeom prst="rect">
            <a:avLst/>
          </a:prstGeom>
          <a:solidFill>
            <a:srgbClr val="002F4E"/>
          </a:solidFill>
          <a:ln w="12700">
            <a:solidFill>
              <a:srgbClr val="002F4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5"/>
          <p:cNvSpPr/>
          <p:nvPr/>
        </p:nvSpPr>
        <p:spPr>
          <a:xfrm>
            <a:off x="1115640" y="2148840"/>
            <a:ext cx="420588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Alimentos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La Colmena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6"/>
          <p:cNvSpPr/>
          <p:nvPr/>
        </p:nvSpPr>
        <p:spPr>
          <a:xfrm>
            <a:off x="1115640" y="3520440"/>
            <a:ext cx="420588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6ED"/>
                </a:solidFill>
                <a:effectLst/>
                <a:uFillTx/>
                <a:latin typeface="Arial Narrow"/>
                <a:ea typeface="Arial Narrow"/>
              </a:rPr>
              <a:t>Mipyme privada ficticia ubicada en un municipio cabecera provincial. Produce conservas, salsas y alimentos procesados a pequeña escala.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7"/>
          <p:cNvSpPr/>
          <p:nvPr/>
        </p:nvSpPr>
        <p:spPr>
          <a:xfrm>
            <a:off x="1115640" y="594360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DEBE2"/>
                </a:solidFill>
                <a:effectLst/>
                <a:uFillTx/>
                <a:latin typeface="Arial"/>
                <a:ea typeface="Arial"/>
              </a:rPr>
              <a:t>Caso simulado para fines pedagógicos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8"/>
          <p:cNvSpPr/>
          <p:nvPr/>
        </p:nvSpPr>
        <p:spPr>
          <a:xfrm>
            <a:off x="6080760" y="1645920"/>
            <a:ext cx="4434480" cy="1919880"/>
          </a:xfrm>
          <a:prstGeom prst="roundRect">
            <a:avLst>
              <a:gd name="adj" fmla="val 3810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9"/>
          <p:cNvSpPr/>
          <p:nvPr/>
        </p:nvSpPr>
        <p:spPr>
          <a:xfrm>
            <a:off x="6309360" y="1847160"/>
            <a:ext cx="3977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Crecimiento con tensiones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0"/>
          <p:cNvSpPr/>
          <p:nvPr/>
        </p:nvSpPr>
        <p:spPr>
          <a:xfrm>
            <a:off x="6309360" y="2286000"/>
            <a:ext cx="39772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Ha crecido rápidamente, pero la dirección concentra decisiones y los registros no se usan sistemáticamente para decidir.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1"/>
          <p:cNvSpPr/>
          <p:nvPr/>
        </p:nvSpPr>
        <p:spPr>
          <a:xfrm>
            <a:off x="11045880" y="1645920"/>
            <a:ext cx="4434480" cy="1919880"/>
          </a:xfrm>
          <a:prstGeom prst="roundRect">
            <a:avLst>
              <a:gd name="adj" fmla="val 3810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2"/>
          <p:cNvSpPr/>
          <p:nvPr/>
        </p:nvSpPr>
        <p:spPr>
          <a:xfrm>
            <a:off x="11274480" y="1847160"/>
            <a:ext cx="3977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Operación reactiva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3"/>
          <p:cNvSpPr/>
          <p:nvPr/>
        </p:nvSpPr>
        <p:spPr>
          <a:xfrm>
            <a:off x="11274480" y="2286000"/>
            <a:ext cx="39772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Producción según pedidos y disponibilidad de materias primas; atrasos cuando faltan envases o insumos.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4"/>
          <p:cNvSpPr/>
          <p:nvPr/>
        </p:nvSpPr>
        <p:spPr>
          <a:xfrm>
            <a:off x="6080760" y="3977640"/>
            <a:ext cx="4434480" cy="1919880"/>
          </a:xfrm>
          <a:prstGeom prst="roundRect">
            <a:avLst>
              <a:gd name="adj" fmla="val 3810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5"/>
          <p:cNvSpPr/>
          <p:nvPr/>
        </p:nvSpPr>
        <p:spPr>
          <a:xfrm>
            <a:off x="6309360" y="4178880"/>
            <a:ext cx="3977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Mercado poco segmentado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6"/>
          <p:cNvSpPr/>
          <p:nvPr/>
        </p:nvSpPr>
        <p:spPr>
          <a:xfrm>
            <a:off x="6309360" y="4617720"/>
            <a:ext cx="39772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Promoción por redes sociales y recomendaciones; no existe base consolidada de clientes ni registro de reclamaciones.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7"/>
          <p:cNvSpPr/>
          <p:nvPr/>
        </p:nvSpPr>
        <p:spPr>
          <a:xfrm>
            <a:off x="11045880" y="3977640"/>
            <a:ext cx="4434480" cy="1919880"/>
          </a:xfrm>
          <a:prstGeom prst="roundRect">
            <a:avLst>
              <a:gd name="adj" fmla="val 3810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8"/>
          <p:cNvSpPr/>
          <p:nvPr/>
        </p:nvSpPr>
        <p:spPr>
          <a:xfrm>
            <a:off x="11274480" y="4178880"/>
            <a:ext cx="3977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Transversalidad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9"/>
          <p:cNvSpPr/>
          <p:nvPr/>
        </p:nvSpPr>
        <p:spPr>
          <a:xfrm>
            <a:off x="11274480" y="4617720"/>
            <a:ext cx="39772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Nueve mujeres y cinco hombres. Barreras de cuidado para capacitarse; prácticas ambientales aisladas; conectividad y energía irregulares.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Información complementaria del caso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8" name="Table 0"/>
          <p:cNvGraphicFramePr/>
          <p:nvPr/>
        </p:nvGraphicFramePr>
        <p:xfrm>
          <a:off x="758880" y="1508760"/>
          <a:ext cx="14721840" cy="64908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9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Área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Dato del caso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Ventas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Crecieron durante los últimos 12 meses, pero con oscilaciones mensuales importantes.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Costos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 registran compras y gastos generales; no hay costeo consistente por producto.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Clientes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Predominan ventas locales; no existe base consolidada de clientes ni segmentación.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Operaciones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Dependencia de algunos insumos y envases; planificación reactiva.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Personas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Funciones parcialmente definidas; decisiones centralizadas.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9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Innovación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 prueban nuevos sabores y presentaciones, sin proceso formal de validación.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9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Digitalización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Uso básico de hojas de cálculo, mensajería y redes sociales.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9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Sostenibilidad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Prácticas aisladas, sin metas ni indicadores.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9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Riesgos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Electricidad, conectividad, insumos, concentración de decisiones y expansión sin planificación.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85287EDA-9C21-2264-F12B-C57F8FF512EA}"/>
              </a:ext>
            </a:extLst>
          </p:cNvPr>
          <p:cNvSpPr/>
          <p:nvPr/>
        </p:nvSpPr>
        <p:spPr>
          <a:xfrm>
            <a:off x="0" y="8302680"/>
            <a:ext cx="16255800" cy="859320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Image 2" descr="/mnt/data/template_inspect/ppt/media/image3.png">
            <a:extLst>
              <a:ext uri="{FF2B5EF4-FFF2-40B4-BE49-F238E27FC236}">
                <a16:creationId xmlns:a16="http://schemas.microsoft.com/office/drawing/2014/main" id="{AD39FDB3-6D3B-55E5-8417-0FD49407852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303520" y="8357760"/>
            <a:ext cx="5668920" cy="74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Herramientas del kit para el Módulo 2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4"/>
          <p:cNvSpPr/>
          <p:nvPr/>
        </p:nvSpPr>
        <p:spPr>
          <a:xfrm>
            <a:off x="758880" y="1691640"/>
            <a:ext cx="4708800" cy="2331360"/>
          </a:xfrm>
          <a:prstGeom prst="roundRect">
            <a:avLst>
              <a:gd name="adj" fmla="val 3137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5"/>
          <p:cNvSpPr/>
          <p:nvPr/>
        </p:nvSpPr>
        <p:spPr>
          <a:xfrm>
            <a:off x="987480" y="189288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K01 · Caso NAE transversal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6"/>
          <p:cNvSpPr/>
          <p:nvPr/>
        </p:nvSpPr>
        <p:spPr>
          <a:xfrm>
            <a:off x="987480" y="2331720"/>
            <a:ext cx="4251600" cy="152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Hilo conductor para analizar el NAE, contrastar información, construir el diagnóstico y conectar los módulos posteriores.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7"/>
          <p:cNvSpPr/>
          <p:nvPr/>
        </p:nvSpPr>
        <p:spPr>
          <a:xfrm>
            <a:off x="5779080" y="1691640"/>
            <a:ext cx="4708800" cy="2331360"/>
          </a:xfrm>
          <a:prstGeom prst="roundRect">
            <a:avLst>
              <a:gd name="adj" fmla="val 3137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8"/>
          <p:cNvSpPr/>
          <p:nvPr/>
        </p:nvSpPr>
        <p:spPr>
          <a:xfrm>
            <a:off x="6007680" y="189288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K02 · Diagnóstico empresarial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9"/>
          <p:cNvSpPr/>
          <p:nvPr/>
        </p:nvSpPr>
        <p:spPr>
          <a:xfrm>
            <a:off x="6007680" y="2331720"/>
            <a:ext cx="4251600" cy="152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Ficha de la Empresa, Capacidades Empresariales y Resumen. Valorar afirmaciones de 0 a 10 o NA y sustentar con evidencias.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0"/>
          <p:cNvSpPr/>
          <p:nvPr/>
        </p:nvSpPr>
        <p:spPr>
          <a:xfrm>
            <a:off x="10798920" y="1691640"/>
            <a:ext cx="4681440" cy="2331360"/>
          </a:xfrm>
          <a:prstGeom prst="roundRect">
            <a:avLst>
              <a:gd name="adj" fmla="val 3137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1"/>
          <p:cNvSpPr/>
          <p:nvPr/>
        </p:nvSpPr>
        <p:spPr>
          <a:xfrm>
            <a:off x="11027520" y="1892880"/>
            <a:ext cx="422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K03 · Problemática Jerarquizada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2"/>
          <p:cNvSpPr/>
          <p:nvPr/>
        </p:nvSpPr>
        <p:spPr>
          <a:xfrm>
            <a:off x="11027520" y="2331720"/>
            <a:ext cx="4224240" cy="152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Registra problemáticas priorizadas, línea de base, indicador y valores inicial, esperado y final. El valor final se recoge tras implementar el Plan de Mejora.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3"/>
          <p:cNvSpPr/>
          <p:nvPr/>
        </p:nvSpPr>
        <p:spPr>
          <a:xfrm>
            <a:off x="758880" y="4617720"/>
            <a:ext cx="7040520" cy="1554120"/>
          </a:xfrm>
          <a:prstGeom prst="roundRect">
            <a:avLst>
              <a:gd name="adj" fmla="val 4706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4"/>
          <p:cNvSpPr/>
          <p:nvPr/>
        </p:nvSpPr>
        <p:spPr>
          <a:xfrm>
            <a:off x="987480" y="4818960"/>
            <a:ext cx="6583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K08 · Modelo de Negocio de Impacto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5"/>
          <p:cNvSpPr/>
          <p:nvPr/>
        </p:nvSpPr>
        <p:spPr>
          <a:xfrm>
            <a:off x="987480" y="5257800"/>
            <a:ext cx="65833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Complementario, solo si es pertinente revisar el modelo de negocio, la propuesta de valor, el mercado o la sostenibilidad.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6"/>
          <p:cNvSpPr/>
          <p:nvPr/>
        </p:nvSpPr>
        <p:spPr>
          <a:xfrm>
            <a:off x="8385120" y="4617720"/>
            <a:ext cx="7095240" cy="1554120"/>
          </a:xfrm>
          <a:prstGeom prst="roundRect">
            <a:avLst>
              <a:gd name="adj" fmla="val 4706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7"/>
          <p:cNvSpPr/>
          <p:nvPr/>
        </p:nvSpPr>
        <p:spPr>
          <a:xfrm>
            <a:off x="8613720" y="4818960"/>
            <a:ext cx="663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Selección según el NAE y el territorio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8"/>
          <p:cNvSpPr/>
          <p:nvPr/>
        </p:nvSpPr>
        <p:spPr>
          <a:xfrm>
            <a:off x="8613720" y="5257800"/>
            <a:ext cx="663804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K02 y K03 son referentes CVI/PNUD complementarios. Su uso responde a necesidades y contexto, sin sustituir competencias ni evaluación del FdF-NAE.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K02 · Diagnóstico empresarial: uso y lectura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2" name="Table 0"/>
          <p:cNvGraphicFramePr/>
          <p:nvPr/>
        </p:nvGraphicFramePr>
        <p:xfrm>
          <a:off x="758880" y="1508760"/>
          <a:ext cx="14721840" cy="59436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Hoja / área</a:t>
                      </a:r>
                      <a:endParaRPr lang="en-US" sz="96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Qué se revisa</a:t>
                      </a:r>
                      <a:endParaRPr lang="en-US" sz="96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Valoración</a:t>
                      </a:r>
                      <a:endParaRPr lang="en-US" sz="96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Evidencias</a:t>
                      </a:r>
                      <a:endParaRPr lang="en-US" sz="96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Uso del resultado</a:t>
                      </a:r>
                      <a:endParaRPr lang="en-US" sz="96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Ficha de la Empresa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Datos generales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Sin puntuación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Datos disponibles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Caracterizar el NAE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Situación legal y tributaria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Afirmaciones de K02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0–10 / NA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Comentarios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Fortalezas y brechas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Liderazgo y clima organizacional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Afirmaciones de K02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0–10 / NA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Comentarios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Fortalezas y brechas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Organización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Afirmaciones de K02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0–10 / NA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Comentarios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Fortalezas y brechas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Contabilidad y finanzas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Afirmaciones de K02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0–10 / NA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Comentarios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Fortalezas y brechas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Plan estratégico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Afirmaciones de K02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0–10 / NA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Comentarios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Fortalezas y brechas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Producción y operaciones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Afirmaciones de K02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0–10 / NA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Comentarios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Fortalezas y brechas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Aseguramiento de la calidad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Afirmaciones de K02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0–10 / NA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Comentarios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Fortalezas y brechas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Comercialización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Afirmaciones de K02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0–10 / NA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Comentarios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Fortalezas y brechas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93" name="Shape 4"/>
          <p:cNvSpPr/>
          <p:nvPr/>
        </p:nvSpPr>
        <p:spPr>
          <a:xfrm>
            <a:off x="621720" y="7539120"/>
            <a:ext cx="14721480" cy="594000"/>
          </a:xfrm>
          <a:prstGeom prst="roundRect">
            <a:avLst>
              <a:gd name="adj" fmla="val 12308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5"/>
          <p:cNvSpPr/>
          <p:nvPr/>
        </p:nvSpPr>
        <p:spPr>
          <a:xfrm>
            <a:off x="987480" y="7599621"/>
            <a:ext cx="14264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Aplicación de K02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6"/>
          <p:cNvSpPr/>
          <p:nvPr/>
        </p:nvSpPr>
        <p:spPr>
          <a:xfrm>
            <a:off x="987480" y="7828221"/>
            <a:ext cx="142642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lang="en-US" sz="128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omple</a:t>
            </a:r>
            <a:r>
              <a:rPr lang="en-US" sz="128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128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ar Ficha de</a:t>
            </a:r>
            <a:r>
              <a:rPr lang="en-US" sz="128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28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la Em</a:t>
            </a:r>
            <a:r>
              <a:rPr lang="en-US" sz="128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128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resa; valorar </a:t>
            </a:r>
            <a:r>
              <a:rPr lang="en-US" sz="128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afirmac</a:t>
            </a:r>
            <a:r>
              <a:rPr lang="en-US" sz="128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iones</a:t>
            </a:r>
            <a:r>
              <a:rPr lang="en-US" sz="128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28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y comentar evide</a:t>
            </a:r>
            <a:r>
              <a:rPr lang="en-US" sz="128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nc</a:t>
            </a:r>
            <a:r>
              <a:rPr lang="en-US" sz="128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ias; r</a:t>
            </a:r>
            <a:r>
              <a:rPr lang="en-US" sz="128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e</a:t>
            </a:r>
            <a:r>
              <a:rPr lang="en-US" sz="128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visar Resumen. 0 =</a:t>
            </a:r>
            <a:r>
              <a:rPr lang="en-US" sz="128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desacuerdo total; </a:t>
            </a:r>
            <a:r>
              <a:rPr lang="en-US" sz="128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10 = acuerdo total</a:t>
            </a:r>
            <a:r>
              <a:rPr lang="en-US" sz="128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; NA =</a:t>
            </a:r>
            <a:r>
              <a:rPr lang="en-US" sz="128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no aplica.</a:t>
            </a:r>
            <a:r>
              <a:rPr lang="en-US" sz="128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Contrast</a:t>
            </a:r>
            <a:r>
              <a:rPr lang="en-US" sz="1280" b="0" u="none" strike="noStrike" dirty="0" err="1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ar hallazgos</a:t>
            </a:r>
            <a:r>
              <a:rPr lang="en-US" sz="128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2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K03 · Problemática Jerarquizada: ejemplo K01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0" name="Table 0"/>
          <p:cNvGraphicFramePr/>
          <p:nvPr/>
        </p:nvGraphicFramePr>
        <p:xfrm>
          <a:off x="758880" y="1828800"/>
          <a:ext cx="14721840" cy="338256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45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Problemática</a:t>
                      </a:r>
                      <a:endParaRPr lang="en-US" sz="106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Línea de base</a:t>
                      </a:r>
                      <a:endParaRPr lang="en-US" sz="106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Indicador</a:t>
                      </a:r>
                      <a:endParaRPr lang="en-US" sz="106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Valor inicial</a:t>
                      </a:r>
                      <a:endParaRPr lang="en-US" sz="106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Valor esperado</a:t>
                      </a:r>
                      <a:endParaRPr lang="en-US" sz="106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Valor final</a:t>
                      </a:r>
                      <a:endParaRPr lang="en-US" sz="106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Retrasos en pedidos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35 de 186 pedidos se retrasaron en tres meses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% de entregas a tiempo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81 % aprox.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Por acordar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6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Tras implementación</a:t>
                      </a: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06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06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06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06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06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06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06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06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06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06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06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06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1" name="Shape 4"/>
          <p:cNvSpPr/>
          <p:nvPr/>
        </p:nvSpPr>
        <p:spPr>
          <a:xfrm>
            <a:off x="758880" y="5715000"/>
            <a:ext cx="4708800" cy="1325520"/>
          </a:xfrm>
          <a:prstGeom prst="roundRect">
            <a:avLst>
              <a:gd name="adj" fmla="val 5517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5"/>
          <p:cNvSpPr/>
          <p:nvPr/>
        </p:nvSpPr>
        <p:spPr>
          <a:xfrm>
            <a:off x="987480" y="591624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Antes del registro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6"/>
          <p:cNvSpPr/>
          <p:nvPr/>
        </p:nvSpPr>
        <p:spPr>
          <a:xfrm>
            <a:off x="987480" y="6355080"/>
            <a:ext cx="42516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Analizar causas y priorizar con criterios explícitos.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7"/>
          <p:cNvSpPr/>
          <p:nvPr/>
        </p:nvSpPr>
        <p:spPr>
          <a:xfrm>
            <a:off x="5779080" y="5715000"/>
            <a:ext cx="4708800" cy="1325520"/>
          </a:xfrm>
          <a:prstGeom prst="roundRect">
            <a:avLst>
              <a:gd name="adj" fmla="val 5517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8"/>
          <p:cNvSpPr/>
          <p:nvPr/>
        </p:nvSpPr>
        <p:spPr>
          <a:xfrm>
            <a:off x="6007680" y="591624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Situación de partida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9"/>
          <p:cNvSpPr/>
          <p:nvPr/>
        </p:nvSpPr>
        <p:spPr>
          <a:xfrm>
            <a:off x="6007680" y="6355080"/>
            <a:ext cx="42516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Sustentar línea de base e indicador con evidencias.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0"/>
          <p:cNvSpPr/>
          <p:nvPr/>
        </p:nvSpPr>
        <p:spPr>
          <a:xfrm>
            <a:off x="10798920" y="5715000"/>
            <a:ext cx="4681440" cy="1325520"/>
          </a:xfrm>
          <a:prstGeom prst="roundRect">
            <a:avLst>
              <a:gd name="adj" fmla="val 5517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1"/>
          <p:cNvSpPr/>
          <p:nvPr/>
        </p:nvSpPr>
        <p:spPr>
          <a:xfrm>
            <a:off x="11027520" y="5916240"/>
            <a:ext cx="422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Continuidad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2"/>
          <p:cNvSpPr/>
          <p:nvPr/>
        </p:nvSpPr>
        <p:spPr>
          <a:xfrm>
            <a:off x="11027520" y="6355080"/>
            <a:ext cx="42242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Acordar valor esperado. Medir el final tras implementar.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Descriptores para retroalimentar el diagnóstico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4" name="Table 0"/>
          <p:cNvGraphicFramePr/>
          <p:nvPr/>
        </p:nvGraphicFramePr>
        <p:xfrm>
          <a:off x="758880" y="1554480"/>
          <a:ext cx="14721840" cy="61257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20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Criterio</a:t>
                      </a:r>
                      <a:endParaRPr lang="en-US" sz="989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Sólido</a:t>
                      </a:r>
                      <a:endParaRPr lang="en-US" sz="989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Adecuado</a:t>
                      </a:r>
                      <a:endParaRPr lang="en-US" sz="989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Parcial</a:t>
                      </a:r>
                      <a:endParaRPr lang="en-US" sz="989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Insuficiente</a:t>
                      </a:r>
                      <a:endParaRPr lang="en-US" sz="989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0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Uso de evidencias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Integra y contrasta fuentes pertinentes.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Usa evidencias suficientes.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Evidencias limitadas o poco contrastadas.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Predominan supuestos.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0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Integralidad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Analiza dimensiones relevantes y relaciones entre ellas.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Cubre dimensiones principales.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Omite dimensiones importantes.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Análisis fragmentario.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0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Análisis causal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Distingue claramente síntomas, problemas y causas.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Identifica causas principales.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Relaciones causales incompletas.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Salta de síntomas a soluciones.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0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Priorización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Prioriza con criterios explícitos y justificados.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Prioriza con justificación suficiente.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Priorización débil.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No establece prioridades.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0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 dirty="0" err="1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Acompañamiento</a:t>
                      </a:r>
                      <a:endParaRPr lang="en-US" sz="989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Distingue formación, mentoría, asistencia y derivación.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Selecciona modalidad pertinente.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Modalidad parcialmente justificada.</a:t>
                      </a:r>
                      <a:endParaRPr lang="en-US" sz="9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9" b="0" u="none" strike="noStrike" dirty="0" err="1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Confunde</a:t>
                      </a:r>
                      <a:r>
                        <a:rPr lang="en-US" sz="989" b="0" u="none" strike="noStrike" dirty="0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989" b="0" u="none" strike="noStrike" dirty="0" err="1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modalidades</a:t>
                      </a:r>
                      <a:r>
                        <a:rPr lang="en-US" sz="989" b="0" u="none" strike="noStrike" dirty="0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.</a:t>
                      </a:r>
                      <a:endParaRPr lang="en-US" sz="989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06FF1D4-E3E3-A469-8DBA-76B3446FD3A9}"/>
              </a:ext>
            </a:extLst>
          </p:cNvPr>
          <p:cNvSpPr/>
          <p:nvPr/>
        </p:nvSpPr>
        <p:spPr>
          <a:xfrm>
            <a:off x="0" y="-1"/>
            <a:ext cx="16256000" cy="8157411"/>
          </a:xfrm>
          <a:prstGeom prst="rect">
            <a:avLst/>
          </a:prstGeom>
          <a:solidFill>
            <a:srgbClr val="00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 1"/>
          <p:cNvSpPr/>
          <p:nvPr/>
        </p:nvSpPr>
        <p:spPr>
          <a:xfrm>
            <a:off x="1014840" y="1901880"/>
            <a:ext cx="254160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0" u="none" strike="noStrike">
                <a:solidFill>
                  <a:srgbClr val="C88D2D"/>
                </a:solidFill>
                <a:effectLst/>
                <a:uFillTx/>
                <a:latin typeface="Arial Narrow"/>
                <a:ea typeface="Arial Narrow"/>
              </a:rPr>
              <a:t>04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2"/>
          <p:cNvSpPr/>
          <p:nvPr/>
        </p:nvSpPr>
        <p:spPr>
          <a:xfrm>
            <a:off x="1014840" y="3300840"/>
            <a:ext cx="75852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3"/>
          <p:cNvSpPr/>
          <p:nvPr/>
        </p:nvSpPr>
        <p:spPr>
          <a:xfrm>
            <a:off x="1014840" y="3557160"/>
            <a:ext cx="107895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CLÍNICA PRESENCIAL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4"/>
          <p:cNvSpPr/>
          <p:nvPr/>
        </p:nvSpPr>
        <p:spPr>
          <a:xfrm>
            <a:off x="1014840" y="4380120"/>
            <a:ext cx="886932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3E1DD"/>
                </a:solidFill>
                <a:effectLst/>
                <a:uFillTx/>
                <a:latin typeface="Arial Narrow"/>
                <a:ea typeface="Arial Narrow"/>
              </a:rPr>
              <a:t>Secuencia didáctica para aplicar entrevista, análisis causal, priorización y modalidad de acompañamiento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5"/>
          <p:cNvSpPr/>
          <p:nvPr/>
        </p:nvSpPr>
        <p:spPr>
          <a:xfrm>
            <a:off x="1014840" y="8385120"/>
            <a:ext cx="381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C2C0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M2 · Clínica de diagnóstico empresarial integral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4"/>
          <p:cNvSpPr/>
          <p:nvPr/>
        </p:nvSpPr>
        <p:spPr>
          <a:xfrm>
            <a:off x="758880" y="1508760"/>
            <a:ext cx="14721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Duración y modalidad: 2 h presencial, articuladas con 4 h asincrónicas y 1 h sincrónica.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5"/>
          <p:cNvSpPr/>
          <p:nvPr/>
        </p:nvSpPr>
        <p:spPr>
          <a:xfrm>
            <a:off x="758880" y="2057400"/>
            <a:ext cx="7040520" cy="1508400"/>
          </a:xfrm>
          <a:prstGeom prst="roundRect">
            <a:avLst>
              <a:gd name="adj" fmla="val 4848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6"/>
          <p:cNvSpPr/>
          <p:nvPr/>
        </p:nvSpPr>
        <p:spPr>
          <a:xfrm>
            <a:off x="987480" y="2258640"/>
            <a:ext cx="6583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Resultado operativo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7"/>
          <p:cNvSpPr/>
          <p:nvPr/>
        </p:nvSpPr>
        <p:spPr>
          <a:xfrm>
            <a:off x="987480" y="2697480"/>
            <a:ext cx="658332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Aplicar entrevista, análisis causal, priorización y decisión de modalidad de acompañamiento sobre el caso transversal.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8"/>
          <p:cNvSpPr/>
          <p:nvPr/>
        </p:nvSpPr>
        <p:spPr>
          <a:xfrm>
            <a:off x="8385120" y="2057400"/>
            <a:ext cx="7095240" cy="1508400"/>
          </a:xfrm>
          <a:prstGeom prst="roundRect">
            <a:avLst>
              <a:gd name="adj" fmla="val 4848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9"/>
          <p:cNvSpPr/>
          <p:nvPr/>
        </p:nvSpPr>
        <p:spPr>
          <a:xfrm>
            <a:off x="8613720" y="2258640"/>
            <a:ext cx="663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Evidencia de práctica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0"/>
          <p:cNvSpPr/>
          <p:nvPr/>
        </p:nvSpPr>
        <p:spPr>
          <a:xfrm>
            <a:off x="8613720" y="2697480"/>
            <a:ext cx="663804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Avance del diagnóstico integral para el Producto 1.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3" name="Table 0"/>
          <p:cNvGraphicFramePr/>
          <p:nvPr/>
        </p:nvGraphicFramePr>
        <p:xfrm>
          <a:off x="758880" y="3977640"/>
          <a:ext cx="14721840" cy="38404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4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Tiempo</a:t>
                      </a:r>
                      <a:endParaRPr lang="en-US" sz="10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Momento</a:t>
                      </a:r>
                      <a:endParaRPr lang="en-US" sz="10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Orientación operativa</a:t>
                      </a:r>
                      <a:endParaRPr lang="en-US" sz="10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0–15 min</a:t>
                      </a:r>
                      <a:endParaRPr lang="en-US" sz="10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Briefing</a:t>
                      </a:r>
                      <a:endParaRPr lang="en-US" sz="10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Recuperar experiencias, revisar dimensiones y distribuir roles.</a:t>
                      </a:r>
                      <a:endParaRPr lang="en-US" sz="10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15–50 min</a:t>
                      </a:r>
                      <a:endParaRPr lang="en-US" sz="10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Entrevista simulada</a:t>
                      </a:r>
                      <a:endParaRPr lang="en-US" sz="10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Modelar entrevista y triangulación. Simular con K01 y registrar en K02 sin adelantar soluciones.</a:t>
                      </a:r>
                      <a:endParaRPr lang="en-US" sz="10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50–75 min</a:t>
                      </a:r>
                      <a:endParaRPr lang="en-US" sz="10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Análisis causal</a:t>
                      </a:r>
                      <a:endParaRPr lang="en-US" sz="10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Separar datos, síntomas, problemas y causas; aplicar cinco porqués o árbol de problemas.</a:t>
                      </a:r>
                      <a:endParaRPr lang="en-US" sz="10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75–95 min</a:t>
                      </a:r>
                      <a:endParaRPr lang="en-US" sz="10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Priorización</a:t>
                      </a:r>
                      <a:endParaRPr lang="en-US" sz="10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Valorar impacto, urgencia y viabilidad. Registrar prioridades y línea de base en K03.</a:t>
                      </a:r>
                      <a:endParaRPr lang="en-US" sz="10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95–110 min</a:t>
                      </a:r>
                      <a:endParaRPr lang="en-US" sz="10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Modalidad de apoyo</a:t>
                      </a:r>
                      <a:endParaRPr lang="en-US" sz="10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Definir apoyo o derivación considerando género, inclusión, sostenibilidad y territorio.</a:t>
                      </a:r>
                      <a:endParaRPr lang="en-US" sz="10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110–120 min</a:t>
                      </a:r>
                      <a:endParaRPr lang="en-US" sz="10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Debriefing</a:t>
                      </a:r>
                      <a:endParaRPr lang="en-US" sz="10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8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Contrastar evidencias. Reconocer logros, priorizar mejoras y acordar revisión.</a:t>
                      </a:r>
                      <a:endParaRPr lang="en-US" sz="10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Roles para la entrevista simulada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4"/>
          <p:cNvSpPr/>
          <p:nvPr/>
        </p:nvSpPr>
        <p:spPr>
          <a:xfrm>
            <a:off x="758880" y="1691640"/>
            <a:ext cx="4708800" cy="2742840"/>
          </a:xfrm>
          <a:prstGeom prst="roundRect">
            <a:avLst>
              <a:gd name="adj" fmla="val 2667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5"/>
          <p:cNvSpPr/>
          <p:nvPr/>
        </p:nvSpPr>
        <p:spPr>
          <a:xfrm>
            <a:off x="987480" y="189288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Persona responsable del NAE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6"/>
          <p:cNvSpPr/>
          <p:nvPr/>
        </p:nvSpPr>
        <p:spPr>
          <a:xfrm>
            <a:off x="987480" y="2331720"/>
            <a:ext cx="4251600" cy="193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Responde con la información de K01 y expresa sus tensiones de gestión. Señala los datos no disponibles sin inventar evidencias.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7"/>
          <p:cNvSpPr/>
          <p:nvPr/>
        </p:nvSpPr>
        <p:spPr>
          <a:xfrm>
            <a:off x="5779080" y="1691640"/>
            <a:ext cx="4708800" cy="2742840"/>
          </a:xfrm>
          <a:prstGeom prst="roundRect">
            <a:avLst>
              <a:gd name="adj" fmla="val 2667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8"/>
          <p:cNvSpPr/>
          <p:nvPr/>
        </p:nvSpPr>
        <p:spPr>
          <a:xfrm>
            <a:off x="6007680" y="189288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Equipo diagnosticador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9"/>
          <p:cNvSpPr/>
          <p:nvPr/>
        </p:nvSpPr>
        <p:spPr>
          <a:xfrm>
            <a:off x="6007680" y="2331720"/>
            <a:ext cx="4251600" cy="193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Escucha, pregunta, contrasta información, identifica evidencias faltantes y evita sugerir soluciones durante la entrevista.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10"/>
          <p:cNvSpPr/>
          <p:nvPr/>
        </p:nvSpPr>
        <p:spPr>
          <a:xfrm>
            <a:off x="10798920" y="1691640"/>
            <a:ext cx="4681440" cy="2742840"/>
          </a:xfrm>
          <a:prstGeom prst="roundRect">
            <a:avLst>
              <a:gd name="adj" fmla="val 2667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1"/>
          <p:cNvSpPr/>
          <p:nvPr/>
        </p:nvSpPr>
        <p:spPr>
          <a:xfrm>
            <a:off x="11027520" y="1892880"/>
            <a:ext cx="422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Observador/a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2"/>
          <p:cNvSpPr/>
          <p:nvPr/>
        </p:nvSpPr>
        <p:spPr>
          <a:xfrm>
            <a:off x="11027520" y="2331720"/>
            <a:ext cx="4224240" cy="193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Observa preguntas, evidencias y participación equilibrada. Registra barreras de acceso y cuidado, sesgos y trato ético.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13"/>
          <p:cNvSpPr/>
          <p:nvPr/>
        </p:nvSpPr>
        <p:spPr>
          <a:xfrm>
            <a:off x="758880" y="4937760"/>
            <a:ext cx="14721480" cy="1462680"/>
          </a:xfrm>
          <a:prstGeom prst="roundRect">
            <a:avLst>
              <a:gd name="adj" fmla="val 5000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4"/>
          <p:cNvSpPr/>
          <p:nvPr/>
        </p:nvSpPr>
        <p:spPr>
          <a:xfrm>
            <a:off x="987480" y="5139000"/>
            <a:ext cx="14264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Regla de facilitación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5"/>
          <p:cNvSpPr/>
          <p:nvPr/>
        </p:nvSpPr>
        <p:spPr>
          <a:xfrm>
            <a:off x="987480" y="5577840"/>
            <a:ext cx="142642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La entrevista no es una sesión de asesoría. Su función es comprender la situación, reunir evidencia y formular hipótesis de diagnóstico que luego serán contrastadas.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Secuencia de trabajo durante la clínica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4"/>
          <p:cNvSpPr/>
          <p:nvPr/>
        </p:nvSpPr>
        <p:spPr>
          <a:xfrm>
            <a:off x="758880" y="1828800"/>
            <a:ext cx="2008800" cy="868320"/>
          </a:xfrm>
          <a:prstGeom prst="chevron">
            <a:avLst>
              <a:gd name="adj" fmla="val 50000"/>
            </a:avLst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5"/>
          <p:cNvSpPr/>
          <p:nvPr/>
        </p:nvSpPr>
        <p:spPr>
          <a:xfrm>
            <a:off x="868680" y="1993320"/>
            <a:ext cx="1780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Briefing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y roles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6"/>
          <p:cNvSpPr/>
          <p:nvPr/>
        </p:nvSpPr>
        <p:spPr>
          <a:xfrm>
            <a:off x="2877840" y="1828800"/>
            <a:ext cx="2008800" cy="868320"/>
          </a:xfrm>
          <a:prstGeom prst="chevron">
            <a:avLst>
              <a:gd name="adj" fmla="val 50000"/>
            </a:avLst>
          </a:prstGeom>
          <a:solidFill>
            <a:srgbClr val="00A3B5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7"/>
          <p:cNvSpPr/>
          <p:nvPr/>
        </p:nvSpPr>
        <p:spPr>
          <a:xfrm>
            <a:off x="2987640" y="1993320"/>
            <a:ext cx="1780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Entrevista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simulada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8"/>
          <p:cNvSpPr/>
          <p:nvPr/>
        </p:nvSpPr>
        <p:spPr>
          <a:xfrm>
            <a:off x="4996440" y="1828800"/>
            <a:ext cx="2008800" cy="868320"/>
          </a:xfrm>
          <a:prstGeom prst="chevron">
            <a:avLst>
              <a:gd name="adj" fmla="val 50000"/>
            </a:avLst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9"/>
          <p:cNvSpPr/>
          <p:nvPr/>
        </p:nvSpPr>
        <p:spPr>
          <a:xfrm>
            <a:off x="5106240" y="1993320"/>
            <a:ext cx="1780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Registro de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hallazgos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0"/>
          <p:cNvSpPr/>
          <p:nvPr/>
        </p:nvSpPr>
        <p:spPr>
          <a:xfrm>
            <a:off x="7115400" y="1828800"/>
            <a:ext cx="2008800" cy="868320"/>
          </a:xfrm>
          <a:prstGeom prst="chevron">
            <a:avLst>
              <a:gd name="adj" fmla="val 50000"/>
            </a:avLst>
          </a:prstGeom>
          <a:solidFill>
            <a:srgbClr val="00A3B5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1"/>
          <p:cNvSpPr/>
          <p:nvPr/>
        </p:nvSpPr>
        <p:spPr>
          <a:xfrm>
            <a:off x="7225200" y="1993320"/>
            <a:ext cx="1780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Análisis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causal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2"/>
          <p:cNvSpPr/>
          <p:nvPr/>
        </p:nvSpPr>
        <p:spPr>
          <a:xfrm>
            <a:off x="9234000" y="1828800"/>
            <a:ext cx="2008800" cy="868320"/>
          </a:xfrm>
          <a:prstGeom prst="chevron">
            <a:avLst>
              <a:gd name="adj" fmla="val 50000"/>
            </a:avLst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3"/>
          <p:cNvSpPr/>
          <p:nvPr/>
        </p:nvSpPr>
        <p:spPr>
          <a:xfrm>
            <a:off x="9343800" y="1993320"/>
            <a:ext cx="1780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Priorización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4"/>
          <p:cNvSpPr/>
          <p:nvPr/>
        </p:nvSpPr>
        <p:spPr>
          <a:xfrm>
            <a:off x="11352960" y="1828800"/>
            <a:ext cx="2008800" cy="868320"/>
          </a:xfrm>
          <a:prstGeom prst="chevron">
            <a:avLst>
              <a:gd name="adj" fmla="val 50000"/>
            </a:avLst>
          </a:prstGeom>
          <a:solidFill>
            <a:srgbClr val="00A3B5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5"/>
          <p:cNvSpPr/>
          <p:nvPr/>
        </p:nvSpPr>
        <p:spPr>
          <a:xfrm>
            <a:off x="11462760" y="1993320"/>
            <a:ext cx="1780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Modalidad de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apoyo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16"/>
          <p:cNvSpPr/>
          <p:nvPr/>
        </p:nvSpPr>
        <p:spPr>
          <a:xfrm>
            <a:off x="13471560" y="1828800"/>
            <a:ext cx="2008800" cy="868320"/>
          </a:xfrm>
          <a:prstGeom prst="chevron">
            <a:avLst>
              <a:gd name="adj" fmla="val 50000"/>
            </a:avLst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7"/>
          <p:cNvSpPr/>
          <p:nvPr/>
        </p:nvSpPr>
        <p:spPr>
          <a:xfrm>
            <a:off x="13581360" y="1993320"/>
            <a:ext cx="1780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Debriefing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final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8"/>
          <p:cNvSpPr/>
          <p:nvPr/>
        </p:nvSpPr>
        <p:spPr>
          <a:xfrm>
            <a:off x="758880" y="3291840"/>
            <a:ext cx="4708800" cy="2285640"/>
          </a:xfrm>
          <a:prstGeom prst="roundRect">
            <a:avLst>
              <a:gd name="adj" fmla="val 3200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9"/>
          <p:cNvSpPr/>
          <p:nvPr/>
        </p:nvSpPr>
        <p:spPr>
          <a:xfrm>
            <a:off x="987480" y="349308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Antes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20"/>
          <p:cNvSpPr/>
          <p:nvPr/>
        </p:nvSpPr>
        <p:spPr>
          <a:xfrm>
            <a:off x="987480" y="3931920"/>
            <a:ext cx="425160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Revisar K01 y preparar preguntas. Iniciar la Ficha de la Empresa de K02 con la información disponible.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21"/>
          <p:cNvSpPr/>
          <p:nvPr/>
        </p:nvSpPr>
        <p:spPr>
          <a:xfrm>
            <a:off x="5779080" y="3291840"/>
            <a:ext cx="4708800" cy="2285640"/>
          </a:xfrm>
          <a:prstGeom prst="roundRect">
            <a:avLst>
              <a:gd name="adj" fmla="val 3200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22"/>
          <p:cNvSpPr/>
          <p:nvPr/>
        </p:nvSpPr>
        <p:spPr>
          <a:xfrm>
            <a:off x="6007680" y="349308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Durante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23"/>
          <p:cNvSpPr/>
          <p:nvPr/>
        </p:nvSpPr>
        <p:spPr>
          <a:xfrm>
            <a:off x="6007680" y="3931920"/>
            <a:ext cx="425160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Entrevistar y contrastar evidencias en K02. Analizar causas y priorizar según la situación del NAE.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24"/>
          <p:cNvSpPr/>
          <p:nvPr/>
        </p:nvSpPr>
        <p:spPr>
          <a:xfrm>
            <a:off x="10798920" y="3291840"/>
            <a:ext cx="4681440" cy="2285640"/>
          </a:xfrm>
          <a:prstGeom prst="roundRect">
            <a:avLst>
              <a:gd name="adj" fmla="val 3200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25"/>
          <p:cNvSpPr/>
          <p:nvPr/>
        </p:nvSpPr>
        <p:spPr>
          <a:xfrm>
            <a:off x="11027520" y="3493080"/>
            <a:ext cx="422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Después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6"/>
          <p:cNvSpPr/>
          <p:nvPr/>
        </p:nvSpPr>
        <p:spPr>
          <a:xfrm>
            <a:off x="11027520" y="3931920"/>
            <a:ext cx="422424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Registrar prioridades y línea de base en K03. Argumentar el apoyo y revisar el diagnóstico con la retroalimentación.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Preguntas detonadoras del Módulo 2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4"/>
          <p:cNvSpPr/>
          <p:nvPr/>
        </p:nvSpPr>
        <p:spPr>
          <a:xfrm>
            <a:off x="758880" y="1691640"/>
            <a:ext cx="4708800" cy="1828440"/>
          </a:xfrm>
          <a:prstGeom prst="roundRect">
            <a:avLst>
              <a:gd name="adj" fmla="val 4000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5"/>
          <p:cNvSpPr/>
          <p:nvPr/>
        </p:nvSpPr>
        <p:spPr>
          <a:xfrm>
            <a:off x="987480" y="189288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Evidencia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6"/>
          <p:cNvSpPr/>
          <p:nvPr/>
        </p:nvSpPr>
        <p:spPr>
          <a:xfrm>
            <a:off x="987480" y="2331720"/>
            <a:ext cx="425160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¿Qué sabemos realmente del NAE y qué estamos suponiendo?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7"/>
          <p:cNvSpPr/>
          <p:nvPr/>
        </p:nvSpPr>
        <p:spPr>
          <a:xfrm>
            <a:off x="5779080" y="1691640"/>
            <a:ext cx="4708800" cy="1828440"/>
          </a:xfrm>
          <a:prstGeom prst="roundRect">
            <a:avLst>
              <a:gd name="adj" fmla="val 4000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8"/>
          <p:cNvSpPr/>
          <p:nvPr/>
        </p:nvSpPr>
        <p:spPr>
          <a:xfrm>
            <a:off x="6007680" y="189288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Análisis causal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9"/>
          <p:cNvSpPr/>
          <p:nvPr/>
        </p:nvSpPr>
        <p:spPr>
          <a:xfrm>
            <a:off x="6007680" y="2331720"/>
            <a:ext cx="425160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¿Estamos observando un síntoma, un problema o una causa?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0"/>
          <p:cNvSpPr/>
          <p:nvPr/>
        </p:nvSpPr>
        <p:spPr>
          <a:xfrm>
            <a:off x="10798920" y="1691640"/>
            <a:ext cx="4681440" cy="1828440"/>
          </a:xfrm>
          <a:prstGeom prst="roundRect">
            <a:avLst>
              <a:gd name="adj" fmla="val 4000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1"/>
          <p:cNvSpPr/>
          <p:nvPr/>
        </p:nvSpPr>
        <p:spPr>
          <a:xfrm>
            <a:off x="11027520" y="1892880"/>
            <a:ext cx="422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Prioridad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2"/>
          <p:cNvSpPr/>
          <p:nvPr/>
        </p:nvSpPr>
        <p:spPr>
          <a:xfrm>
            <a:off x="11027520" y="2331720"/>
            <a:ext cx="422424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¿Qué área debe priorizarse por impacto, urgencia y viabilidad?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3"/>
          <p:cNvSpPr/>
          <p:nvPr/>
        </p:nvSpPr>
        <p:spPr>
          <a:xfrm>
            <a:off x="758880" y="4069080"/>
            <a:ext cx="7040520" cy="1919880"/>
          </a:xfrm>
          <a:prstGeom prst="roundRect">
            <a:avLst>
              <a:gd name="adj" fmla="val 3810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4"/>
          <p:cNvSpPr/>
          <p:nvPr/>
        </p:nvSpPr>
        <p:spPr>
          <a:xfrm>
            <a:off x="987480" y="4270320"/>
            <a:ext cx="6583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Competencia profesional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5"/>
          <p:cNvSpPr/>
          <p:nvPr/>
        </p:nvSpPr>
        <p:spPr>
          <a:xfrm>
            <a:off x="987480" y="4709160"/>
            <a:ext cx="658332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¿Qué apoyo excede nuestro ámbito de competencia y requiere derivación responsable?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16"/>
          <p:cNvSpPr/>
          <p:nvPr/>
        </p:nvSpPr>
        <p:spPr>
          <a:xfrm>
            <a:off x="8385120" y="4069080"/>
            <a:ext cx="7095240" cy="1919880"/>
          </a:xfrm>
          <a:prstGeom prst="roundRect">
            <a:avLst>
              <a:gd name="adj" fmla="val 3810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7"/>
          <p:cNvSpPr/>
          <p:nvPr/>
        </p:nvSpPr>
        <p:spPr>
          <a:xfrm>
            <a:off x="8613720" y="4270320"/>
            <a:ext cx="663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Decisión de acompañamiento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8"/>
          <p:cNvSpPr/>
          <p:nvPr/>
        </p:nvSpPr>
        <p:spPr>
          <a:xfrm>
            <a:off x="8613720" y="4709160"/>
            <a:ext cx="663804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¿La necesidad identificada se atiende mejor con formación, mentoría, asistencia técnica, consultoría o derivación?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Alertas pedagógicas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4"/>
          <p:cNvSpPr/>
          <p:nvPr/>
        </p:nvSpPr>
        <p:spPr>
          <a:xfrm>
            <a:off x="758880" y="1691640"/>
            <a:ext cx="4708800" cy="2102760"/>
          </a:xfrm>
          <a:prstGeom prst="roundRect">
            <a:avLst>
              <a:gd name="adj" fmla="val 3478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5"/>
          <p:cNvSpPr/>
          <p:nvPr/>
        </p:nvSpPr>
        <p:spPr>
          <a:xfrm>
            <a:off x="987480" y="189288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Una sola fuente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6"/>
          <p:cNvSpPr/>
          <p:nvPr/>
        </p:nvSpPr>
        <p:spPr>
          <a:xfrm>
            <a:off x="987480" y="2331720"/>
            <a:ext cx="425160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Evitar diagnósticos basados únicamente en la opinión de la dirección o en un registro aislado.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7"/>
          <p:cNvSpPr/>
          <p:nvPr/>
        </p:nvSpPr>
        <p:spPr>
          <a:xfrm>
            <a:off x="5779080" y="1691640"/>
            <a:ext cx="4708800" cy="2102760"/>
          </a:xfrm>
          <a:prstGeom prst="roundRect">
            <a:avLst>
              <a:gd name="adj" fmla="val 3478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8"/>
          <p:cNvSpPr/>
          <p:nvPr/>
        </p:nvSpPr>
        <p:spPr>
          <a:xfrm>
            <a:off x="6007680" y="189288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Soluciones prematuras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9"/>
          <p:cNvSpPr/>
          <p:nvPr/>
        </p:nvSpPr>
        <p:spPr>
          <a:xfrm>
            <a:off x="6007680" y="2331720"/>
            <a:ext cx="425160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No saltar directamente a soluciones antes de analizar causas y validar evidencias.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10"/>
          <p:cNvSpPr/>
          <p:nvPr/>
        </p:nvSpPr>
        <p:spPr>
          <a:xfrm>
            <a:off x="10798920" y="1691640"/>
            <a:ext cx="4681440" cy="2102760"/>
          </a:xfrm>
          <a:prstGeom prst="roundRect">
            <a:avLst>
              <a:gd name="adj" fmla="val 3478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1"/>
          <p:cNvSpPr/>
          <p:nvPr/>
        </p:nvSpPr>
        <p:spPr>
          <a:xfrm>
            <a:off x="11027520" y="1892880"/>
            <a:ext cx="422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Confusión de brechas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2"/>
          <p:cNvSpPr/>
          <p:nvPr/>
        </p:nvSpPr>
        <p:spPr>
          <a:xfrm>
            <a:off x="11027520" y="2331720"/>
            <a:ext cx="422424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No confundir una brecha empresarial con una brecha de aprendizaje.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13"/>
          <p:cNvSpPr/>
          <p:nvPr/>
        </p:nvSpPr>
        <p:spPr>
          <a:xfrm>
            <a:off x="758880" y="4343400"/>
            <a:ext cx="14721480" cy="1371240"/>
          </a:xfrm>
          <a:prstGeom prst="roundRect">
            <a:avLst>
              <a:gd name="adj" fmla="val 5333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4"/>
          <p:cNvSpPr/>
          <p:nvPr/>
        </p:nvSpPr>
        <p:spPr>
          <a:xfrm>
            <a:off x="987480" y="4544640"/>
            <a:ext cx="14264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Criterio de calidad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5"/>
          <p:cNvSpPr/>
          <p:nvPr/>
        </p:nvSpPr>
        <p:spPr>
          <a:xfrm>
            <a:off x="987480" y="4983480"/>
            <a:ext cx="142642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Un diagnóstico sólido no es el que contiene más información, sino el que ordena evidencias, interpreta relaciones, prioriza y permite tomar decisiones viables de acompañamiento.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Adaptación a baja conectividad o interrupciones energéticas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16" name="Table 0"/>
          <p:cNvGraphicFramePr/>
          <p:nvPr/>
        </p:nvGraphicFramePr>
        <p:xfrm>
          <a:off x="758880" y="1691640"/>
          <a:ext cx="14721840" cy="42048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0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Riesgo operativo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Alternativa metodológica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Conectividad inestable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Entregar K01 y K02–K03 descargados o impresos; permitir revisión asincrónica y entrega diferida.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Falla eléctrica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Trabajar matrices en papelógrafo, tarjetas o fichas impresas; no depender de proyección.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0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Imposibilidad de videoconferencia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Realizar entrevista simulada presencial o por teléfono; registrar evidencias en papel.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0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Limitaciones de dispositivos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Usar K02–K03 impresos y consolidar después. Si Resumen no devuelve resultados válidos, contrastar las valoraciones y evidencias.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7" name="Shape 4"/>
          <p:cNvSpPr/>
          <p:nvPr/>
        </p:nvSpPr>
        <p:spPr>
          <a:xfrm>
            <a:off x="758880" y="6446520"/>
            <a:ext cx="14721480" cy="868320"/>
          </a:xfrm>
          <a:prstGeom prst="roundRect">
            <a:avLst>
              <a:gd name="adj" fmla="val 8421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5"/>
          <p:cNvSpPr/>
          <p:nvPr/>
        </p:nvSpPr>
        <p:spPr>
          <a:xfrm>
            <a:off x="987480" y="6647760"/>
            <a:ext cx="14264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Principio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6"/>
          <p:cNvSpPr/>
          <p:nvPr/>
        </p:nvSpPr>
        <p:spPr>
          <a:xfrm>
            <a:off x="987480" y="6966600"/>
            <a:ext cx="14264280" cy="23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La adaptación puede cambiar el recurso, pero no debe alterar la competencia, el resultado de aprendizaje ni la evidencia esperada.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C1C17CB-8D92-1E73-0105-CD3ED3433423}"/>
              </a:ext>
            </a:extLst>
          </p:cNvPr>
          <p:cNvSpPr/>
          <p:nvPr/>
        </p:nvSpPr>
        <p:spPr>
          <a:xfrm>
            <a:off x="0" y="-1"/>
            <a:ext cx="16256000" cy="8157411"/>
          </a:xfrm>
          <a:prstGeom prst="rect">
            <a:avLst/>
          </a:prstGeom>
          <a:solidFill>
            <a:srgbClr val="00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Text 1"/>
          <p:cNvSpPr/>
          <p:nvPr/>
        </p:nvSpPr>
        <p:spPr>
          <a:xfrm>
            <a:off x="1014840" y="1901880"/>
            <a:ext cx="254160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0" u="none" strike="noStrike">
                <a:solidFill>
                  <a:srgbClr val="C88D2D"/>
                </a:solidFill>
                <a:effectLst/>
                <a:uFillTx/>
                <a:latin typeface="Arial Narrow"/>
                <a:ea typeface="Arial Narrow"/>
              </a:rPr>
              <a:t>05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2"/>
          <p:cNvSpPr/>
          <p:nvPr/>
        </p:nvSpPr>
        <p:spPr>
          <a:xfrm>
            <a:off x="1014840" y="3300840"/>
            <a:ext cx="75852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3"/>
          <p:cNvSpPr/>
          <p:nvPr/>
        </p:nvSpPr>
        <p:spPr>
          <a:xfrm>
            <a:off x="1014840" y="3557160"/>
            <a:ext cx="107895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EVALUACIÓN Y CIERRE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4"/>
          <p:cNvSpPr/>
          <p:nvPr/>
        </p:nvSpPr>
        <p:spPr>
          <a:xfrm>
            <a:off x="1014840" y="4380120"/>
            <a:ext cx="886932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3E1DD"/>
                </a:solidFill>
                <a:effectLst/>
                <a:uFillTx/>
                <a:latin typeface="Arial Narrow"/>
                <a:ea typeface="Arial Narrow"/>
              </a:rPr>
              <a:t>Evidencias, criterios de calidad, evaluación teórica y bibliografía básica del módulo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5"/>
          <p:cNvSpPr/>
          <p:nvPr/>
        </p:nvSpPr>
        <p:spPr>
          <a:xfrm>
            <a:off x="1014840" y="8385120"/>
            <a:ext cx="381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C2C0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Diagnóstico empresarial integral: Producto 1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4"/>
          <p:cNvSpPr/>
          <p:nvPr/>
        </p:nvSpPr>
        <p:spPr>
          <a:xfrm>
            <a:off x="758880" y="1691640"/>
            <a:ext cx="14721480" cy="1051200"/>
          </a:xfrm>
          <a:prstGeom prst="roundRect">
            <a:avLst>
              <a:gd name="adj" fmla="val 6957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5"/>
          <p:cNvSpPr/>
          <p:nvPr/>
        </p:nvSpPr>
        <p:spPr>
          <a:xfrm>
            <a:off x="987480" y="1892880"/>
            <a:ext cx="14264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Producto evaluativo del Portafolio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6"/>
          <p:cNvSpPr/>
          <p:nvPr/>
        </p:nvSpPr>
        <p:spPr>
          <a:xfrm>
            <a:off x="987480" y="2331720"/>
            <a:ext cx="142642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Diagnóstico de un NAE real, anonimizado o simulado. Integra fichas, análisis y registros de práctica, sin entregas calificables adicionales.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34" name="Table 0"/>
          <p:cNvGraphicFramePr/>
          <p:nvPr/>
        </p:nvGraphicFramePr>
        <p:xfrm>
          <a:off x="758880" y="3108960"/>
          <a:ext cx="14721840" cy="420552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0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Componente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Debe contener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Caracterización del NAE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Caracterización con la Ficha de la Empresa de K02 y datos de actividad, etapa, empleo, mercado y territorio.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Diagnóstico integral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Valoración inicial con K02, contrastada con evidencias: fortalezas, brechas, riesgos, oportunidades e información faltante.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Análisis causal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Diferenciación entre datos, síntomas, problemas y causas.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Priorización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Prioridades justificadas y registradas en K03 con línea de base, indicador y valor inicial. Acordar el esperado.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Modalidad de apoyo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Recomendación de formación, mentoría, asistencia técnica, consultoría, incubación/aceleración o derivación.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Criterios mínimos de calidad del diagnóstico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4"/>
          <p:cNvSpPr/>
          <p:nvPr/>
        </p:nvSpPr>
        <p:spPr>
          <a:xfrm>
            <a:off x="758880" y="1691640"/>
            <a:ext cx="4708800" cy="1965600"/>
          </a:xfrm>
          <a:prstGeom prst="roundRect">
            <a:avLst>
              <a:gd name="adj" fmla="val 3721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5"/>
          <p:cNvSpPr/>
          <p:nvPr/>
        </p:nvSpPr>
        <p:spPr>
          <a:xfrm>
            <a:off x="987480" y="189288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1. Evidencia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6"/>
          <p:cNvSpPr/>
          <p:nvPr/>
        </p:nvSpPr>
        <p:spPr>
          <a:xfrm>
            <a:off x="987480" y="2331720"/>
            <a:ext cx="4251600" cy="11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Las conclusiones se sustentan en datos, entrevistas, observación o documentos, no en supuestos.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7"/>
          <p:cNvSpPr/>
          <p:nvPr/>
        </p:nvSpPr>
        <p:spPr>
          <a:xfrm>
            <a:off x="5779080" y="1691640"/>
            <a:ext cx="4708800" cy="1965600"/>
          </a:xfrm>
          <a:prstGeom prst="roundRect">
            <a:avLst>
              <a:gd name="adj" fmla="val 3721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8"/>
          <p:cNvSpPr/>
          <p:nvPr/>
        </p:nvSpPr>
        <p:spPr>
          <a:xfrm>
            <a:off x="6007680" y="189288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2. Integralidad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9"/>
          <p:cNvSpPr/>
          <p:nvPr/>
        </p:nvSpPr>
        <p:spPr>
          <a:xfrm>
            <a:off x="6007680" y="2331720"/>
            <a:ext cx="4251600" cy="11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El análisis considera dimensiones empresariales relevantes y sus relaciones.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0"/>
          <p:cNvSpPr/>
          <p:nvPr/>
        </p:nvSpPr>
        <p:spPr>
          <a:xfrm>
            <a:off x="10798920" y="1691640"/>
            <a:ext cx="4681440" cy="1965600"/>
          </a:xfrm>
          <a:prstGeom prst="roundRect">
            <a:avLst>
              <a:gd name="adj" fmla="val 3721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1"/>
          <p:cNvSpPr/>
          <p:nvPr/>
        </p:nvSpPr>
        <p:spPr>
          <a:xfrm>
            <a:off x="11027520" y="1892880"/>
            <a:ext cx="422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3. Causalidad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2"/>
          <p:cNvSpPr/>
          <p:nvPr/>
        </p:nvSpPr>
        <p:spPr>
          <a:xfrm>
            <a:off x="11027520" y="2331720"/>
            <a:ext cx="4224240" cy="11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Distingue claramente síntomas, problemas y causas antes de proponer acciones.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3"/>
          <p:cNvSpPr/>
          <p:nvPr/>
        </p:nvSpPr>
        <p:spPr>
          <a:xfrm>
            <a:off x="758880" y="4160520"/>
            <a:ext cx="4708800" cy="1965600"/>
          </a:xfrm>
          <a:prstGeom prst="roundRect">
            <a:avLst>
              <a:gd name="adj" fmla="val 3721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4"/>
          <p:cNvSpPr/>
          <p:nvPr/>
        </p:nvSpPr>
        <p:spPr>
          <a:xfrm>
            <a:off x="987480" y="436176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4. Priorización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5"/>
          <p:cNvSpPr/>
          <p:nvPr/>
        </p:nvSpPr>
        <p:spPr>
          <a:xfrm>
            <a:off x="987480" y="4800600"/>
            <a:ext cx="4251600" cy="11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Selecciona áreas con criterios explícitos: impacto, urgencia, viabilidad y capacidad de actuación.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16"/>
          <p:cNvSpPr/>
          <p:nvPr/>
        </p:nvSpPr>
        <p:spPr>
          <a:xfrm>
            <a:off x="5779080" y="4160520"/>
            <a:ext cx="4708800" cy="1965600"/>
          </a:xfrm>
          <a:prstGeom prst="roundRect">
            <a:avLst>
              <a:gd name="adj" fmla="val 3721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7"/>
          <p:cNvSpPr/>
          <p:nvPr/>
        </p:nvSpPr>
        <p:spPr>
          <a:xfrm>
            <a:off x="6007680" y="436176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5. Pertinencia del apoyo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18"/>
          <p:cNvSpPr/>
          <p:nvPr/>
        </p:nvSpPr>
        <p:spPr>
          <a:xfrm>
            <a:off x="6007680" y="4800600"/>
            <a:ext cx="4251600" cy="11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Distingue formación, mentoría, asistencia técnica, consultoría y derivación.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19"/>
          <p:cNvSpPr/>
          <p:nvPr/>
        </p:nvSpPr>
        <p:spPr>
          <a:xfrm>
            <a:off x="10798920" y="4160520"/>
            <a:ext cx="4681440" cy="1965600"/>
          </a:xfrm>
          <a:prstGeom prst="roundRect">
            <a:avLst>
              <a:gd name="adj" fmla="val 3721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20"/>
          <p:cNvSpPr/>
          <p:nvPr/>
        </p:nvSpPr>
        <p:spPr>
          <a:xfrm>
            <a:off x="11027520" y="4361760"/>
            <a:ext cx="422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6. Transversalidad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21"/>
          <p:cNvSpPr/>
          <p:nvPr/>
        </p:nvSpPr>
        <p:spPr>
          <a:xfrm>
            <a:off x="11027520" y="4800600"/>
            <a:ext cx="4224240" cy="11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Integra género, inclusión, sostenibilidad, innovación, ética y territorio en evidencias, prioridades y apoyo.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Preguntas de práctica y retroalimentación: M2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61" name="Table 0"/>
          <p:cNvGraphicFramePr/>
          <p:nvPr/>
        </p:nvGraphicFramePr>
        <p:xfrm>
          <a:off x="758880" y="1691640"/>
          <a:ext cx="14721840" cy="4937400"/>
        </p:xfrm>
        <a:graphic>
          <a:graphicData uri="http://schemas.openxmlformats.org/drawingml/2006/table">
            <a:tbl>
              <a:tblPr/>
              <a:tblGrid>
                <a:gridCol w="9875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7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1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Pregunta</a:t>
                      </a:r>
                      <a:endParaRPr lang="en-US" sz="121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1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Respuesta orientativa</a:t>
                      </a:r>
                      <a:endParaRPr lang="en-US" sz="121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1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En el diagnóstico, las ventas disminuyeron durante tres meses. Esta información debe considerarse inicialmente como:</a:t>
                      </a:r>
                      <a:endParaRPr lang="en-US" sz="121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1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Un dato que puede indicar un síntoma y requiere análisis causal.</a:t>
                      </a:r>
                      <a:endParaRPr lang="en-US" sz="121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7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1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¿Qué práctica fortalece más la calidad del diagnóstico?</a:t>
                      </a:r>
                      <a:endParaRPr lang="en-US" sz="121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1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Triangular registros, entrevistas, observación y otras fuentes pertinentes.</a:t>
                      </a:r>
                      <a:endParaRPr lang="en-US" sz="121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7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1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Al priorizar problemas, el criterio más adecuado es:</a:t>
                      </a:r>
                      <a:endParaRPr lang="en-US" sz="121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1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Combinar impacto, urgencia, viabilidad/capacidad de actuación y evidencia.</a:t>
                      </a:r>
                      <a:endParaRPr lang="en-US" sz="121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7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1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 el diagnóstico identifica un asunto jurídico especializado fuera de la competencia del mentor/a, corresponde:</a:t>
                      </a:r>
                      <a:endParaRPr lang="en-US" sz="121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1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Derivarlo responsablemente a un servicio o especialista pertinente.</a:t>
                      </a:r>
                      <a:endParaRPr lang="en-US" sz="121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2" name="Shape 4"/>
          <p:cNvSpPr/>
          <p:nvPr/>
        </p:nvSpPr>
        <p:spPr>
          <a:xfrm>
            <a:off x="758880" y="6903720"/>
            <a:ext cx="14721480" cy="712800"/>
          </a:xfrm>
          <a:prstGeom prst="roundRect">
            <a:avLst>
              <a:gd name="adj" fmla="val 10256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5"/>
          <p:cNvSpPr/>
          <p:nvPr/>
        </p:nvSpPr>
        <p:spPr>
          <a:xfrm>
            <a:off x="987480" y="7104960"/>
            <a:ext cx="14264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Uso recomendado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6"/>
          <p:cNvSpPr/>
          <p:nvPr/>
        </p:nvSpPr>
        <p:spPr>
          <a:xfrm>
            <a:off x="987480" y="7332360"/>
            <a:ext cx="14264280" cy="23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Práctica sin calificación adicional. La prueba diagnóstica inicial no califica; la prueba teórica del Programa se aplica al finalizar los seis módulos.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Producto de cierre y continuidad hacia Módulo 3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4"/>
          <p:cNvSpPr/>
          <p:nvPr/>
        </p:nvSpPr>
        <p:spPr>
          <a:xfrm>
            <a:off x="758880" y="1828800"/>
            <a:ext cx="2856240" cy="868320"/>
          </a:xfrm>
          <a:prstGeom prst="chevron">
            <a:avLst>
              <a:gd name="adj" fmla="val 50000"/>
            </a:avLst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5"/>
          <p:cNvSpPr/>
          <p:nvPr/>
        </p:nvSpPr>
        <p:spPr>
          <a:xfrm>
            <a:off x="868680" y="1993320"/>
            <a:ext cx="2627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Diagnóstico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integral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6"/>
          <p:cNvSpPr/>
          <p:nvPr/>
        </p:nvSpPr>
        <p:spPr>
          <a:xfrm>
            <a:off x="3725280" y="1828800"/>
            <a:ext cx="2856240" cy="868320"/>
          </a:xfrm>
          <a:prstGeom prst="chevron">
            <a:avLst>
              <a:gd name="adj" fmla="val 50000"/>
            </a:avLst>
          </a:prstGeom>
          <a:solidFill>
            <a:srgbClr val="00A3B5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7"/>
          <p:cNvSpPr/>
          <p:nvPr/>
        </p:nvSpPr>
        <p:spPr>
          <a:xfrm>
            <a:off x="3835080" y="1993320"/>
            <a:ext cx="2627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Problema y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causas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8"/>
          <p:cNvSpPr/>
          <p:nvPr/>
        </p:nvSpPr>
        <p:spPr>
          <a:xfrm>
            <a:off x="6691680" y="1828800"/>
            <a:ext cx="2856240" cy="868320"/>
          </a:xfrm>
          <a:prstGeom prst="chevron">
            <a:avLst>
              <a:gd name="adj" fmla="val 50000"/>
            </a:avLst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9"/>
          <p:cNvSpPr/>
          <p:nvPr/>
        </p:nvSpPr>
        <p:spPr>
          <a:xfrm>
            <a:off x="6801480" y="1993320"/>
            <a:ext cx="2627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Prioridad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justificada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0"/>
          <p:cNvSpPr/>
          <p:nvPr/>
        </p:nvSpPr>
        <p:spPr>
          <a:xfrm>
            <a:off x="9657720" y="1828800"/>
            <a:ext cx="2856240" cy="868320"/>
          </a:xfrm>
          <a:prstGeom prst="chevron">
            <a:avLst>
              <a:gd name="adj" fmla="val 50000"/>
            </a:avLst>
          </a:prstGeom>
          <a:solidFill>
            <a:srgbClr val="00A3B5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1"/>
          <p:cNvSpPr/>
          <p:nvPr/>
        </p:nvSpPr>
        <p:spPr>
          <a:xfrm>
            <a:off x="9767520" y="1993320"/>
            <a:ext cx="2627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Modalidad de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apoyo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12"/>
          <p:cNvSpPr/>
          <p:nvPr/>
        </p:nvSpPr>
        <p:spPr>
          <a:xfrm>
            <a:off x="12624120" y="1828800"/>
            <a:ext cx="2856240" cy="868320"/>
          </a:xfrm>
          <a:prstGeom prst="chevron">
            <a:avLst>
              <a:gd name="adj" fmla="val 50000"/>
            </a:avLst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3"/>
          <p:cNvSpPr/>
          <p:nvPr/>
        </p:nvSpPr>
        <p:spPr>
          <a:xfrm>
            <a:off x="12733920" y="1993320"/>
            <a:ext cx="2627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Insumo para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 Narrow"/>
                <a:ea typeface="Arial Narrow"/>
              </a:rPr>
              <a:t>Plan de Mejora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14"/>
          <p:cNvSpPr/>
          <p:nvPr/>
        </p:nvSpPr>
        <p:spPr>
          <a:xfrm>
            <a:off x="758880" y="3429000"/>
            <a:ext cx="7040520" cy="2148480"/>
          </a:xfrm>
          <a:prstGeom prst="roundRect">
            <a:avLst>
              <a:gd name="adj" fmla="val 3404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5"/>
          <p:cNvSpPr/>
          <p:nvPr/>
        </p:nvSpPr>
        <p:spPr>
          <a:xfrm>
            <a:off x="987480" y="3630240"/>
            <a:ext cx="6583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Cierre del Módulo 2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6"/>
          <p:cNvSpPr/>
          <p:nvPr/>
        </p:nvSpPr>
        <p:spPr>
          <a:xfrm>
            <a:off x="987480" y="4069080"/>
            <a:ext cx="6583320" cy="134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Compartir el avance del diagnóstico y revisar evidencias, causas y prioridades con retroalimentación. Entregar el Producto 1 en el hito previsto.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17"/>
          <p:cNvSpPr/>
          <p:nvPr/>
        </p:nvSpPr>
        <p:spPr>
          <a:xfrm>
            <a:off x="8385120" y="3429000"/>
            <a:ext cx="7095240" cy="2148480"/>
          </a:xfrm>
          <a:prstGeom prst="roundRect">
            <a:avLst>
              <a:gd name="adj" fmla="val 3404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18"/>
          <p:cNvSpPr/>
          <p:nvPr/>
        </p:nvSpPr>
        <p:spPr>
          <a:xfrm>
            <a:off x="8613720" y="3630240"/>
            <a:ext cx="663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Puente con Módulo 3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9"/>
          <p:cNvSpPr/>
          <p:nvPr/>
        </p:nvSpPr>
        <p:spPr>
          <a:xfrm>
            <a:off x="8613720" y="4069080"/>
            <a:ext cx="6638040" cy="134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K03 conecta las prioridades y la línea de base con el Plan de Mejora. Adaptar el acompañamiento al NAE y al territorio.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20"/>
          <p:cNvSpPr/>
          <p:nvPr/>
        </p:nvSpPr>
        <p:spPr>
          <a:xfrm>
            <a:off x="758880" y="5989320"/>
            <a:ext cx="14721480" cy="1005480"/>
          </a:xfrm>
          <a:prstGeom prst="roundRect">
            <a:avLst>
              <a:gd name="adj" fmla="val 7273"/>
            </a:avLst>
          </a:prstGeom>
          <a:solidFill>
            <a:srgbClr val="E9EEE8"/>
          </a:solidFill>
          <a:ln w="6350">
            <a:solidFill>
              <a:srgbClr val="D8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21"/>
          <p:cNvSpPr/>
          <p:nvPr/>
        </p:nvSpPr>
        <p:spPr>
          <a:xfrm>
            <a:off x="987480" y="6190560"/>
            <a:ext cx="14264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002F4E"/>
                </a:solidFill>
                <a:effectLst/>
                <a:uFillTx/>
                <a:latin typeface="Arial Narrow"/>
                <a:ea typeface="Arial Narrow"/>
              </a:rPr>
              <a:t>Cuatro productos integradores del Portafolio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22"/>
          <p:cNvSpPr/>
          <p:nvPr/>
        </p:nvSpPr>
        <p:spPr>
          <a:xfrm>
            <a:off x="987480" y="6629400"/>
            <a:ext cx="14264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Diagnóstico empresarial integral; Plan de Mejora; Evaluación del Plan de Mejora; Diseño de réplica territorial, documentado mediante K10 Plan de Multiplicación Territorial.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Shape 0"/>
          <p:cNvSpPr/>
          <p:nvPr/>
        </p:nvSpPr>
        <p:spPr>
          <a:xfrm>
            <a:off x="758880" y="530280"/>
            <a:ext cx="511560" cy="54360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1"/>
          <p:cNvSpPr/>
          <p:nvPr/>
        </p:nvSpPr>
        <p:spPr>
          <a:xfrm>
            <a:off x="758880" y="694800"/>
            <a:ext cx="1444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0856F"/>
                </a:solidFill>
                <a:effectLst/>
                <a:uFillTx/>
                <a:latin typeface="Arial Narrow"/>
                <a:ea typeface="Arial Narrow"/>
              </a:rPr>
              <a:t>Bibliografía básica del módulo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2"/>
          <p:cNvSpPr/>
          <p:nvPr/>
        </p:nvSpPr>
        <p:spPr>
          <a:xfrm>
            <a:off x="758880" y="1270800"/>
            <a:ext cx="14730840" cy="360"/>
          </a:xfrm>
          <a:prstGeom prst="line">
            <a:avLst/>
          </a:prstGeom>
          <a:ln w="10160">
            <a:solidFill>
              <a:srgbClr val="D5D1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3"/>
          <p:cNvSpPr/>
          <p:nvPr/>
        </p:nvSpPr>
        <p:spPr>
          <a:xfrm>
            <a:off x="758880" y="86320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Actividad 2.3.2 — FdF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92" name="Table 0"/>
          <p:cNvGraphicFramePr/>
          <p:nvPr/>
        </p:nvGraphicFramePr>
        <p:xfrm>
          <a:off x="758880" y="1691640"/>
          <a:ext cx="14721840" cy="4937400"/>
        </p:xfrm>
        <a:graphic>
          <a:graphicData uri="http://schemas.openxmlformats.org/drawingml/2006/table">
            <a:tbl>
              <a:tblPr/>
              <a:tblGrid>
                <a:gridCol w="73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7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1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Referencia</a:t>
                      </a:r>
                      <a:endParaRPr lang="en-US" sz="121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1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Uso en el módulo</a:t>
                      </a:r>
                      <a:endParaRPr lang="en-US" sz="121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1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Consejo de Estado de la República de Cuba (2024). Decreto-Ley 88/2024: Sobre las micro, pequeñas y medianas empresas.</a:t>
                      </a:r>
                      <a:endParaRPr lang="en-US" sz="121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1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Marco normativo relevante para comprender las MIPYMES en Cuba.</a:t>
                      </a:r>
                      <a:endParaRPr lang="en-US" sz="121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7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1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Oficina Nacional de Estadística e Información (2025). Organización institucional. Principales entidades.</a:t>
                      </a:r>
                      <a:endParaRPr lang="en-US" sz="121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1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Contextualización territorial y sectorial.</a:t>
                      </a:r>
                      <a:endParaRPr lang="en-US" sz="121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7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1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OECD (2021). Business advice for entrepreneurship and small firms.</a:t>
                      </a:r>
                      <a:endParaRPr lang="en-US" sz="121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1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Fundamento de servicios de desarrollo empresarial y segmentación del apoyo.</a:t>
                      </a:r>
                      <a:endParaRPr lang="en-US" sz="121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7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1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PNUD Cuba (s. f.). Nuevos Actores Económicos.</a:t>
                      </a:r>
                      <a:endParaRPr lang="en-US" sz="121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1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Referencia del ecosistema NAE y marco de intervención.</a:t>
                      </a:r>
                      <a:endParaRPr lang="en-US" sz="121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6480">
                      <a:solidFill>
                        <a:srgbClr val="D2CEC1"/>
                      </a:solidFill>
                      <a:prstDash val="solid"/>
                    </a:lnL>
                    <a:lnR w="6480">
                      <a:solidFill>
                        <a:srgbClr val="D2CEC1"/>
                      </a:solidFill>
                      <a:prstDash val="solid"/>
                    </a:lnR>
                    <a:lnT w="6480">
                      <a:solidFill>
                        <a:srgbClr val="D2CEC1"/>
                      </a:solidFill>
                      <a:prstDash val="solid"/>
                    </a:lnT>
                    <a:lnB w="6480">
                      <a:solidFill>
                        <a:srgbClr val="D2CEC1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700" y="-10854"/>
            <a:ext cx="8453137" cy="831767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25" y="541677"/>
            <a:ext cx="3034459" cy="1484719"/>
          </a:xfrm>
          <a:prstGeom prst="rect">
            <a:avLst/>
          </a:prstGeom>
        </p:spPr>
      </p:pic>
      <p:sp>
        <p:nvSpPr>
          <p:cNvPr id="86" name="Google Shape;86;p1"/>
          <p:cNvSpPr/>
          <p:nvPr/>
        </p:nvSpPr>
        <p:spPr>
          <a:xfrm>
            <a:off x="0" y="8306816"/>
            <a:ext cx="16256000" cy="8615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62533" tIns="81244" rIns="162533" bIns="81244" anchor="ctr" anchorCtr="0">
            <a:noAutofit/>
          </a:bodyPr>
          <a:lstStyle/>
          <a:p>
            <a:pPr algn="ctr" defTabSz="1625519">
              <a:buClr>
                <a:srgbClr val="000000"/>
              </a:buClr>
            </a:pPr>
            <a:endParaRPr sz="3200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" descr="asset_portada_6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99456" y="8355584"/>
            <a:ext cx="5673344" cy="747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3035801" y="1103485"/>
            <a:ext cx="2966587" cy="43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t" anchorCtr="0">
            <a:spAutoFit/>
          </a:bodyPr>
          <a:lstStyle/>
          <a:p>
            <a:pPr defTabSz="1625519">
              <a:buClr>
                <a:srgbClr val="000000"/>
              </a:buClr>
            </a:pPr>
            <a:r>
              <a:rPr lang="en-US" sz="1777" kern="0" dirty="0">
                <a:solidFill>
                  <a:srgbClr val="A3C5ED"/>
                </a:solidFill>
                <a:latin typeface="Calibri"/>
                <a:ea typeface="Calibri"/>
                <a:cs typeface="Calibri"/>
                <a:sym typeface="Calibri"/>
              </a:rPr>
              <a:t>La Habana, Cuba · 2026</a:t>
            </a:r>
            <a:endParaRPr sz="2489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Text 0"/>
          <p:cNvSpPr/>
          <p:nvPr/>
        </p:nvSpPr>
        <p:spPr>
          <a:xfrm>
            <a:off x="877825" y="3385655"/>
            <a:ext cx="70713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Gracias.</a:t>
            </a:r>
            <a:endParaRPr lang="en-US" sz="5067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1"/>
          <p:cNvSpPr/>
          <p:nvPr/>
        </p:nvSpPr>
        <p:spPr>
          <a:xfrm>
            <a:off x="877825" y="4411815"/>
            <a:ext cx="75590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AFCB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Construimos juntos.</a:t>
            </a:r>
            <a:endParaRPr lang="en-US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2"/>
          <p:cNvSpPr/>
          <p:nvPr/>
        </p:nvSpPr>
        <p:spPr>
          <a:xfrm>
            <a:off x="913164" y="5971628"/>
            <a:ext cx="4389120" cy="6096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13473FAC-D74F-03E8-7ABB-B6F31C1CA3CF}"/>
              </a:ext>
            </a:extLst>
          </p:cNvPr>
          <p:cNvSpPr/>
          <p:nvPr/>
        </p:nvSpPr>
        <p:spPr>
          <a:xfrm>
            <a:off x="877825" y="6575342"/>
            <a:ext cx="9620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noProof="0" dirty="0">
                <a:solidFill>
                  <a:schemeClr val="bg1"/>
                </a:solidFill>
                <a:latin typeface="Aptos" panose="020B0004020202020204" pitchFamily="34" charset="0"/>
              </a:rPr>
              <a:t>Material elaborado en el marco del Proyecto NAE</a:t>
            </a:r>
            <a:br>
              <a:rPr lang="es-419" sz="1600" noProof="0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s-419" sz="1600" b="1" noProof="0" dirty="0">
                <a:solidFill>
                  <a:schemeClr val="bg1"/>
                </a:solidFill>
                <a:latin typeface="Aptos" panose="020B0004020202020204" pitchFamily="34" charset="0"/>
              </a:rPr>
              <a:t>Financiado por la </a:t>
            </a:r>
            <a:r>
              <a:rPr lang="es-419" sz="1600" b="1" noProof="0" dirty="0" err="1">
                <a:solidFill>
                  <a:schemeClr val="bg1"/>
                </a:solidFill>
                <a:latin typeface="Aptos" panose="020B0004020202020204" pitchFamily="34" charset="0"/>
              </a:rPr>
              <a:t>Agence</a:t>
            </a:r>
            <a:r>
              <a:rPr lang="es-419" sz="1600" b="1" noProof="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s-419" sz="1600" b="1" noProof="0" dirty="0" err="1">
                <a:solidFill>
                  <a:schemeClr val="bg1"/>
                </a:solidFill>
                <a:latin typeface="Aptos" panose="020B0004020202020204" pitchFamily="34" charset="0"/>
              </a:rPr>
              <a:t>Française</a:t>
            </a:r>
            <a:r>
              <a:rPr lang="es-419" sz="1600" b="1" noProof="0" dirty="0">
                <a:solidFill>
                  <a:schemeClr val="bg1"/>
                </a:solidFill>
                <a:latin typeface="Aptos" panose="020B0004020202020204" pitchFamily="34" charset="0"/>
              </a:rPr>
              <a:t> de </a:t>
            </a:r>
            <a:r>
              <a:rPr lang="es-419" sz="1600" b="1" noProof="0" dirty="0" err="1">
                <a:solidFill>
                  <a:schemeClr val="bg1"/>
                </a:solidFill>
                <a:latin typeface="Aptos" panose="020B0004020202020204" pitchFamily="34" charset="0"/>
              </a:rPr>
              <a:t>Développement</a:t>
            </a:r>
            <a:r>
              <a:rPr lang="es-419" sz="1600" b="1" noProof="0" dirty="0">
                <a:solidFill>
                  <a:schemeClr val="bg1"/>
                </a:solidFill>
                <a:latin typeface="Aptos" panose="020B0004020202020204" pitchFamily="34" charset="0"/>
              </a:rPr>
              <a:t> (AFD), con cofinanciación de la Unión Europea</a:t>
            </a:r>
          </a:p>
          <a:p>
            <a:endParaRPr lang="es-419" sz="1600" noProof="0" dirty="0">
              <a:solidFill>
                <a:schemeClr val="bg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s-419" sz="16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 Técnica: Universidad de Alicante (UA) - Parque Científico Tecnológico de La Habana (PCTH)</a:t>
            </a:r>
            <a:endParaRPr lang="es-419" sz="1600" noProof="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653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</TotalTime>
  <Words>4941</Words>
  <Application>Microsoft Office PowerPoint</Application>
  <PresentationFormat>Personalizado</PresentationFormat>
  <Paragraphs>663</Paragraphs>
  <Slides>39</Slides>
  <Notes>39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6</vt:i4>
      </vt:variant>
      <vt:variant>
        <vt:lpstr>Títulos de diapositiva</vt:lpstr>
      </vt:variant>
      <vt:variant>
        <vt:i4>39</vt:i4>
      </vt:variant>
    </vt:vector>
  </HeadingPairs>
  <TitlesOfParts>
    <vt:vector size="53" baseType="lpstr">
      <vt:lpstr>Aptos</vt:lpstr>
      <vt:lpstr>Aptos Display</vt:lpstr>
      <vt:lpstr>Arial</vt:lpstr>
      <vt:lpstr>Arial Narrow</vt:lpstr>
      <vt:lpstr>Calibri</vt:lpstr>
      <vt:lpstr>Symbol</vt:lpstr>
      <vt:lpstr>Times New Roman</vt:lpstr>
      <vt:lpstr>Wingdings</vt:lpstr>
      <vt:lpstr>Office Theme</vt:lpstr>
      <vt:lpstr>1_Office Theme</vt:lpstr>
      <vt:lpstr>2_Office Theme</vt:lpstr>
      <vt:lpstr>4_Office Theme</vt:lpstr>
      <vt:lpstr>5_Office Theme</vt:lpstr>
      <vt:lpstr>3_Office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Proyecto NAE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Darío Calahorrano</dc:creator>
  <cp:lastModifiedBy>Dario-Acer26</cp:lastModifiedBy>
  <cp:revision>13</cp:revision>
  <dcterms:modified xsi:type="dcterms:W3CDTF">2026-09-13T01:15:59Z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2026-08-26T01:49:30Z</dcterms:created>
  <dc:creator>OpenAI</dc:creator>
  <dc:description/>
  <dc:language>en-US</dc:language>
  <cp:lastModifiedBy>OpenAI</cp:lastModifiedBy>
  <dcterms:modified xsi:type="dcterms:W3CDTF">2026-08-26T01:49:30Z</dcterms:modified>
  <cp:revision>1</cp:revision>
  <dc:subject>Programa FdF-NAE · Módulo 2</dc:subject>
  <dc:title>Módulo 2 · Diagnóstico empresarial integral de los NAE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39</vt:r8>
  </property>
  <property fmtid="{D5CDD505-2E9C-101B-9397-08002B2CF9AE}" pid="3" name="PresentationFormat">
    <vt:lpwstr>On-screen Show (16:9)</vt:lpwstr>
  </property>
  <property fmtid="{D5CDD505-2E9C-101B-9397-08002B2CF9AE}" pid="4" name="Slides">
    <vt:r8>39</vt:r8>
  </property>
</Properties>
</file>