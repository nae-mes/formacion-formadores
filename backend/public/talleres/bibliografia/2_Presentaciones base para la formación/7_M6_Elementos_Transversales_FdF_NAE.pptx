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4" r:id="rId3"/>
  </p:sldMasterIdLst>
  <p:notesMasterIdLst>
    <p:notesMasterId r:id="rId31"/>
  </p:notesMasterIdLst>
  <p:sldIdLst>
    <p:sldId id="284" r:id="rId4"/>
    <p:sldId id="28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5D1F9-291F-4E78-B2D3-7DBF863875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C2C9E-2FBC-4932-8706-AC26FA7565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874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826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FdF-NAE V2, M6 y §10.2; Guía del Facilitador/a V2, §§6, 6.6 y 9.3; K10. Se mantienen seis horas: una presencial, una sincrónica y cuatro asincrónicas; C7 y aplicación transversal de C2–C6. El cuarto producto evaluativo integrador es Diseño de réplica territorial, documentado mediante K10 Plan de Multiplicación Territorial. La auditoría, matriz de adaptación, escenarios y registros son evidencias de práctica que pueden integrarse como componentes o anexos, no productos calificables separados. Los enfoques se aplican desde el inicio del Programa; M6 sistematiza y verifica su integración.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temas y modalidades M6; Guía V2, §§6.6 y 6.7. La tabla distribuye la carga temática, no impone un orden cronológico rígido. Preparar previamente caso, evidencias de módulos anteriores y recursos. Articular el taller presencial con la hora sincrónica de profundización y retroalimentación y las cuatro horas asincrónicas, sin añadir horas. La ficha presencial aparece en la diapositiva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§§6.6, 7.11, 8 y 10; Programa V2, M6. K10 es la herramienta central. K02–K09 se consultan únicamente para verificar transversalidad y transferencia, sin volver a aplicarlas obligatoriamente en M6. Revisar evidencias ya elaboradas y proponer mejoras concretas. M6 contribuye al ciclo pedagógico mediante evaluación, mejora y multiplicación, y transfiere el ciclo de acompañamiento empresarial para fortalecer capacidades del NAE. No confundir ambos ciclos ni convertir el kit en una cadena universal de formatos.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Tema 1 M6; Guía V2, §8; K10, §4. Trasladar las preguntas a decisiones del diseño de réplica: horarios compatibles con cuidados, accesibilidad, participación equilibrada, diversidad de casos y liderazgo de mujeres y juventudes. Explicitar en K10 cómo se aplicará cada enfoque durante las actividades, no solo mencionarlo. Desagregar cuando sea pertinente y proteger información sensible.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M6 Tema 5 y §11; Guía V2, §§7.11 y 10.1–10.3; K10, §§1–3. Caracterizar experiencia del grupo, necesidades de aprendizaje, NAE, sectores, movilidad y recursos. Vincular actores, servicios e instituciones con apoyos concretos para formación, cofacilitación o derivación, asignando responsabilidades realistas. Justificar adaptaciones de casos, dinámicas, recursos y organización; no alterar competencias, resultados o criterios esenciales. La posibilidad de adaptar formatos no autoriza modificar indiscriminadamente cada archivo: respetar los componentes y condiciones de uso de la herramienta elegida. Las referencias CVI/PNUD son complementarias y se seleccionan cuando son pertinentes.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§6.6; K10, §5. Anticipar riesgo, posible efecto y alternativa ante electricidad, conectividad, falta de equipos, movilidad, espacio o materiales. Preparar kit completamente imprimible, PDF descargados, herramientas imprimibles, actividades sin internet, materiales reutilizables y facilitación sin proyector. Acordar canales alternativos y entrega diferida de evidencias. Conservar los resultados esenciales y criterios de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§11; Guía V2, capítulo 10; K10, §§1–6. Preparar la réplica, confirmar participantes y recursos, planificar objetivos, resultados, responsables, secuencia, tiempos y contingencias. Usar los materiales FdF-NAE y seleccionar herramientas CVI solo cuando sean pertinentes; estas no sustituyen arquitectura, competencias, productos evaluativos o criterios del Programa. Prever cofacilitación y acompañamiento técnico, registro de actividades, evaluación común cuando corresponda, retroalimentación, sistematización y cierre ante las instancias responsables.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§11.2; Guía V2, §10.2; K10, §§2–3. Preservar competencias, resultados, contenidos esenciales, metodologías activas y práctica, herramientas esenciales, evidencias, criterios e instrumentos comunes de evaluación, enfoques transversales y calidad. Se pueden adaptar ejemplos, casos, dinámicas, recursos, formatos, secuencias, tiempos específicos y modalidades de apoyo, con justificación territorial. Ajustar tiempos específicos sin modificar carga total ni resultados esenciales. En K10 hacer explícita la relación resultado esperado, actividad práctica, herramienta o recurso, evidencia/evaluación 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§§6.6 y 10.4–10.5; K10, §6. Definir mecanismos, aplicación y responsables de observación de facilitación, revisión de evidencias, retroalimentación a formadores/as, evaluación de participantes, asistencia y sistematización. Prever lista de cotejo común y balance posterior a la sesión. Conservar solo evidencias pertinentes y proteger datos e imágenes. No transformar cada registro en un nuevo requisito calificable del Portafolio. Los criterios de evaluación y certificación se rigen por el Programa aprobado.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§10.2, producto 4, y §11; Guía V2, §§6.6 y 7.11; K10_Plan de Multiplicación Territorial.docx. Se presentan las seis secciones reales del instrumento. En Datos generales registrar provincia, municipios, institución, personas formadoras, fecha, lugar, número y perfil de participantes, modalidad y duración. En Fidelidad metodológica definir competencias, resultados, contenidos, práctica, herramientas, evidencias y evaluación, y completar la secuencia con resultado esperado, actividad, recurso, evidencia y tiempo. Incluir las necesidades formativas identificadas del grupo en su caracterización y traducirlas a resultados y diseño de sesión, como exige el producto 4 del Programa. Contextualizar NAE, sectores, actores y recursos; justificar adaptaciones. Integrar enfoques en actividades, prever contingencias y asignar responsables de calidad y evidencias. K10 documenta el Diseño de réplica territorial, no un quinto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§6.6 y ficha M6 Auditoría transversal y diseño de multiplicación en §6.7. Secuencia general: Auditoría transversal, Adaptación, Práctica presencial y Transferencia. El taller de una hora mantiene los tiempos de la ficha: 0–10 revisar diagnóstico, plan y evaluación con lista de género, inclusión, sostenibilidad, innovación y ética; 10–25 distinguir elementos esenciales y adaptables; 25–40 resolver restricciones de conectividad, energía, recursos o logística; 40–52 definir cofacilitación, observación, retroalimentación y evidencias; 52–60 cerrar compromisos de K10 y ofrecer retroalimentación breve basada en evidencia. Articular con las horas virtuales previstas para completar y ajustar el producto, sin ampliar la carga. Recuperar experiencia de personas adultas, contrastar decisiones entre pares y permitir una versión mejorada. La auditoría, matriz y escenario son prácticas, no tareas calificables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metodología M6; Guía V2, §§6, 6.6 y 8; K10, §§2–6. Utilizar la tabla como lista de verificación de evidencias previas. Cada fila destaca algunos enfoques sin excluir los demás: revisar también innovación, ética, género, inclusión, sostenibilidad y territorio donde correspondan. K02–K09 pueden servir de referencia sin volver a aplicarlas obligatoriamente. En mentoría/seguimiento revisar registros y prácticas, no un nuevo producto evaluativo. Identificar hallazgo, evidencia y mejora concreta; incorporar las decisiones al diseño de réplica y a K10 cuando corresponda, sin exigir un informe de auditoría calificable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§11.2; Guía V2, §§7.11 y 10.2; K10, §§2–3. Seleccionar las herramientas de cada módulo según situación, características, nivel de desarrollo, necesidades y territorio del NAE. No convertir CVI/PNUD en una arquitectura curricular alternativa ni en una secuencia obligatoria. M6 usa K10 como herramienta central y K02–K09 únicamente como referencias de transversalidad y transferencia. Toda adaptación debe justificarse y conservar competencias, resultados, evaluación y calidad; evitar ajustes de conveniencia que los eliminen.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§10.2; Guía V2, §§6, 6.6, 9.3 y 10; K10. El Portafolio reúne únicamente cuatro productos integradores. Los ejercicios de auditoría, adaptación, escenarios y registros aportan práctica o componentes, sin calificaciones separadas. K10 documenta el cuarto producto y prepara una réplica planificada, contextualizada y documentada. Usar la observación y la comunidad de práctica para compartir lecciones, ajustar la facilitación y fortalecer capacidades territoriales.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5437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097A804-B023-D430-6D97-543CEEA3D047}"/>
              </a:ext>
            </a:extLst>
          </p:cNvPr>
          <p:cNvSpPr/>
          <p:nvPr userDrawn="1"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9" descr="image3.png">
            <a:extLst>
              <a:ext uri="{FF2B5EF4-FFF2-40B4-BE49-F238E27FC236}">
                <a16:creationId xmlns:a16="http://schemas.microsoft.com/office/drawing/2014/main" id="{9AFBAEC0-2347-C8E3-46FB-BD1BAD6CD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982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378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E04D826-5D5B-A59B-9621-19044DA5452A}"/>
              </a:ext>
            </a:extLst>
          </p:cNvPr>
          <p:cNvSpPr/>
          <p:nvPr userDrawn="1"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9" descr="image3.png">
            <a:extLst>
              <a:ext uri="{FF2B5EF4-FFF2-40B4-BE49-F238E27FC236}">
                <a16:creationId xmlns:a16="http://schemas.microsoft.com/office/drawing/2014/main" id="{5065BEA6-7326-441F-BAD7-C38AE968E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31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7805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914400" y="2840568"/>
            <a:ext cx="10363200" cy="196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3475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145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963084" y="3875619"/>
            <a:ext cx="10363200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39" lvl="1" indent="-304784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09" lvl="2" indent="-304784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278" lvl="3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848" lvl="4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418" lvl="5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6986" lvl="6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556" lvl="7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126" lvl="8" indent="-30478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466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6197601" y="2133602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39" lvl="1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09" lvl="2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1570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609601" y="2046817"/>
            <a:ext cx="5386917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09601" y="2899833"/>
            <a:ext cx="5386917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6193369" y="2046817"/>
            <a:ext cx="5389033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70" lvl="0" indent="-30478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39" lvl="1" indent="-304784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09" lvl="2" indent="-30478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278" lvl="3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848" lvl="4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418" lvl="5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6986" lvl="6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556" lvl="7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126" lvl="8" indent="-304784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6193369" y="2899833"/>
            <a:ext cx="5389033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39" lvl="1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848" lvl="4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418" lvl="5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6986" lvl="6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556" lvl="7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126" lvl="8" indent="-4402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6130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20345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609601" y="364068"/>
            <a:ext cx="4011084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4766734" y="364068"/>
            <a:ext cx="6815667" cy="780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575705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39" lvl="1" indent="-54184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09" lvl="2" indent="-507974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278" lvl="3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848" lvl="4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418" lvl="5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6986" lvl="6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556" lvl="7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126" lvl="8" indent="-47411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609601" y="1913468"/>
            <a:ext cx="4011084" cy="62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3226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2389717" y="6400801"/>
            <a:ext cx="7315200" cy="75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2389717" y="817033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2389717" y="7156452"/>
            <a:ext cx="7315200" cy="107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30478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39" lvl="1" indent="-3047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09" lvl="2" indent="-304784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278" lvl="3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848" lvl="4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418" lvl="5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6986" lvl="6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556" lvl="7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126" lvl="8" indent="-304784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94274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3078694" y="-335491"/>
            <a:ext cx="603461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90347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6309786" y="2895601"/>
            <a:ext cx="780203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721786" y="254001"/>
            <a:ext cx="780203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70" lvl="0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39" lvl="1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09" lvl="2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278" lvl="3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848" lvl="4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418" lvl="5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986" lvl="6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556" lvl="7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126" lvl="8" indent="-457178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448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22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609600" y="2133602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609601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4165601" y="8475135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8737600" y="8475135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39516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525" y="-8140"/>
            <a:ext cx="6339853" cy="62382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406258"/>
            <a:ext cx="2275844" cy="111353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6230112"/>
            <a:ext cx="12192000" cy="6461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515863" y="1800579"/>
            <a:ext cx="11141612" cy="4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40BCFF"/>
                </a:solidFill>
                <a:effectLst/>
                <a:uLnTx/>
                <a:uFillTx/>
                <a:latin typeface="Calibri"/>
                <a:ea typeface="Aptos"/>
                <a:cs typeface="Calibri"/>
                <a:sym typeface="Calibri"/>
              </a:rPr>
              <a:t>Programa 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40BCFF"/>
                </a:solidFill>
                <a:effectLst/>
                <a:uLnTx/>
                <a:uFillTx/>
                <a:latin typeface="Calibri"/>
                <a:ea typeface="Aptos"/>
                <a:cs typeface="Calibri"/>
                <a:sym typeface="Calibri"/>
              </a:rPr>
              <a:t>FdF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40BCFF"/>
                </a:solidFill>
                <a:effectLst/>
                <a:uLnTx/>
                <a:uFillTx/>
                <a:latin typeface="Calibri"/>
                <a:ea typeface="Aptos"/>
                <a:cs typeface="Calibri"/>
                <a:sym typeface="Calibri"/>
              </a:rPr>
              <a:t>-NAE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9776851" y="827614"/>
            <a:ext cx="2224940" cy="32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A3C5ED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kumimoji="0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58369" y="2327745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58369" y="4300235"/>
            <a:ext cx="3291840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2" name="Text 4"/>
          <p:cNvSpPr/>
          <p:nvPr/>
        </p:nvSpPr>
        <p:spPr>
          <a:xfrm>
            <a:off x="658369" y="454617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7D7E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Formación de Formadores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7"/>
          <p:cNvSpPr/>
          <p:nvPr/>
        </p:nvSpPr>
        <p:spPr>
          <a:xfrm>
            <a:off x="515862" y="6405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9C7D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35509" y="3146853"/>
            <a:ext cx="590753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5EEF3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+mn-cs"/>
              </a:rPr>
              <a:t>Elementos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E5EEF3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5EEF3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+mn-cs"/>
              </a:rPr>
              <a:t>transversa</a:t>
            </a:r>
            <a:r>
              <a:rPr lang="en-US" sz="2500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les, </a:t>
            </a:r>
            <a:r>
              <a:rPr lang="en-US" sz="2500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articulación</a:t>
            </a:r>
            <a:r>
              <a:rPr lang="en-US" sz="2500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 territorial y </a:t>
            </a:r>
            <a:r>
              <a:rPr lang="en-US" sz="2500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transferencia</a:t>
            </a:r>
            <a:r>
              <a:rPr lang="en-US" sz="2500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 </a:t>
            </a:r>
            <a:r>
              <a:rPr lang="en-US" sz="2500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</a:rPr>
              <a:t>metodológica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240A08AB-E0A3-F072-985E-B3215D5D6A46}"/>
              </a:ext>
            </a:extLst>
          </p:cNvPr>
          <p:cNvSpPr/>
          <p:nvPr/>
        </p:nvSpPr>
        <p:spPr>
          <a:xfrm>
            <a:off x="658368" y="5217022"/>
            <a:ext cx="72470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000" b="1" noProof="0" dirty="0">
                <a:solidFill>
                  <a:schemeClr val="bg1"/>
                </a:solidFill>
              </a:rPr>
              <a:t>Proyecto NAE · Financiado por la </a:t>
            </a:r>
            <a:r>
              <a:rPr lang="es-419" sz="1000" b="1" noProof="0" dirty="0" err="1">
                <a:solidFill>
                  <a:schemeClr val="bg1"/>
                </a:solidFill>
              </a:rPr>
              <a:t>Agence</a:t>
            </a:r>
            <a:r>
              <a:rPr lang="es-419" sz="1000" b="1" noProof="0" dirty="0">
                <a:solidFill>
                  <a:schemeClr val="bg1"/>
                </a:solidFill>
              </a:rPr>
              <a:t> </a:t>
            </a:r>
            <a:r>
              <a:rPr lang="es-419" sz="1000" b="1" noProof="0" dirty="0" err="1">
                <a:solidFill>
                  <a:schemeClr val="bg1"/>
                </a:solidFill>
              </a:rPr>
              <a:t>Française</a:t>
            </a:r>
            <a:r>
              <a:rPr lang="es-419" sz="1000" b="1" noProof="0" dirty="0">
                <a:solidFill>
                  <a:schemeClr val="bg1"/>
                </a:solidFill>
              </a:rPr>
              <a:t> de </a:t>
            </a:r>
            <a:r>
              <a:rPr lang="es-419" sz="1000" b="1" noProof="0" dirty="0" err="1">
                <a:solidFill>
                  <a:schemeClr val="bg1"/>
                </a:solidFill>
              </a:rPr>
              <a:t>Développement</a:t>
            </a:r>
            <a:r>
              <a:rPr lang="es-419" sz="1000" b="1" noProof="0" dirty="0">
                <a:solidFill>
                  <a:schemeClr val="bg1"/>
                </a:solidFill>
              </a:rPr>
              <a:t> (AFD), con cofinanciación de la Unión Europea</a:t>
            </a:r>
          </a:p>
          <a:p>
            <a:pPr marL="0" indent="0">
              <a:buNone/>
            </a:pPr>
            <a:endParaRPr lang="es-419" sz="1000" b="1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0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técnica</a:t>
            </a:r>
            <a:r>
              <a:rPr lang="es-419" sz="1000" b="1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s-419" sz="10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Alicante (UA) · Parque Científico Tecnológico de La Habana (PCTH)</a:t>
            </a:r>
          </a:p>
          <a:p>
            <a:pPr marL="0" indent="0">
              <a:buNone/>
            </a:pPr>
            <a:endParaRPr lang="es-419" sz="1000" b="1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000" noProof="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Habana, Cuba · 2026</a:t>
            </a:r>
            <a:endParaRPr lang="es-419" sz="1000" noProof="0" dirty="0"/>
          </a:p>
        </p:txBody>
      </p:sp>
    </p:spTree>
    <p:extLst>
      <p:ext uri="{BB962C8B-B14F-4D97-AF65-F5344CB8AC3E}">
        <p14:creationId xmlns:p14="http://schemas.microsoft.com/office/powerpoint/2010/main" val="423546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77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Google Shape;87;p1" descr="asset_portada_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3"/>
          <p:cNvSpPr/>
          <p:nvPr/>
        </p:nvSpPr>
        <p:spPr>
          <a:xfrm>
            <a:off x="676656" y="5262610"/>
            <a:ext cx="4218432" cy="45719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676656" y="2176272"/>
            <a:ext cx="6252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00" b="1" i="0" u="none" strike="noStrike" kern="1200" cap="none" spc="0" normalizeH="0" baseline="0" noProof="0" dirty="0" err="1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Elementos</a:t>
            </a: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kumimoji="0" lang="en-US" sz="3100" b="1" i="0" u="none" strike="noStrike" kern="1200" cap="none" spc="0" normalizeH="0" baseline="0" noProof="0" dirty="0" err="1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transversales</a:t>
            </a: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</a:t>
            </a:r>
            <a:r>
              <a:rPr kumimoji="0" lang="en-US" sz="3100" b="1" i="0" u="none" strike="noStrike" kern="1200" cap="none" spc="0" normalizeH="0" baseline="0" noProof="0" dirty="0" err="1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articulación</a:t>
            </a:r>
            <a:r>
              <a:rPr kumimoji="0" lang="en-US" sz="3100" b="1" i="0" u="none" strike="noStrike" kern="1200" cap="none" spc="0" normalizeH="0" noProof="0" dirty="0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territorial y </a:t>
            </a:r>
            <a:r>
              <a:rPr kumimoji="0" lang="en-US" sz="3100" b="1" i="0" u="none" strike="noStrike" kern="1200" cap="none" spc="0" normalizeH="0" noProof="0" dirty="0" err="1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transferencia</a:t>
            </a:r>
            <a:r>
              <a:rPr kumimoji="0" lang="en-US" sz="3100" b="1" i="0" u="none" strike="noStrike" kern="1200" cap="none" spc="0" normalizeH="0" noProof="0" dirty="0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kumimoji="0" lang="en-US" sz="3100" b="1" i="0" u="none" strike="noStrike" kern="1200" cap="none" spc="0" normalizeH="0" noProof="0" dirty="0" err="1">
                <a:ln>
                  <a:noFill/>
                </a:ln>
                <a:solidFill>
                  <a:srgbClr val="002E5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metodológica</a:t>
            </a:r>
            <a:endParaRPr kumimoji="0" lang="en-US" sz="3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Google Shape;360;p11"/>
          <p:cNvSpPr txBox="1"/>
          <p:nvPr/>
        </p:nvSpPr>
        <p:spPr>
          <a:xfrm>
            <a:off x="545592" y="473449"/>
            <a:ext cx="6858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0BCFF"/>
                </a:solidFill>
                <a:effectLst/>
                <a:uLnTx/>
                <a:uFillTx/>
                <a:latin typeface="Calibri"/>
                <a:ea typeface="Aptos"/>
                <a:cs typeface="Calibri"/>
                <a:sym typeface="Calibri"/>
              </a:rPr>
              <a:t>PRESENTACIÓN DEL MÓDULO</a:t>
            </a:r>
          </a:p>
        </p:txBody>
      </p:sp>
      <p:sp>
        <p:nvSpPr>
          <p:cNvPr id="14" name="TextBox 6"/>
          <p:cNvSpPr txBox="1"/>
          <p:nvPr/>
        </p:nvSpPr>
        <p:spPr>
          <a:xfrm>
            <a:off x="658368" y="4104640"/>
            <a:ext cx="5852160" cy="9140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defTabSz="914378">
              <a:lnSpc>
                <a:spcPct val="100000"/>
              </a:lnSpc>
              <a:defRPr sz="1550" b="0">
                <a:solidFill>
                  <a:srgbClr val="1C6156"/>
                </a:solidFill>
                <a:latin typeface="Aptos"/>
              </a:defRPr>
            </a:pP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</a:t>
            </a:r>
            <a:r>
              <a:rPr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C7 · </a:t>
            </a: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</a:t>
            </a:r>
            <a:r>
              <a:rPr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transversal de C2–C6 para </a:t>
            </a: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</a:t>
            </a:r>
            <a:r>
              <a:rPr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enfoques</a:t>
            </a:r>
            <a:r>
              <a:rPr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</a:t>
            </a:r>
            <a:r>
              <a:rPr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metodologías</a:t>
            </a:r>
            <a:r>
              <a:rPr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multiplicar</a:t>
            </a:r>
            <a:r>
              <a:rPr sz="19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sz="1900" dirty="0" err="1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sz="1900" dirty="0">
              <a:solidFill>
                <a:srgbClr val="0A344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074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1508760" cy="567258"/>
          </a:xfrm>
          <a:prstGeom prst="rect">
            <a:avLst/>
          </a:prstGeom>
        </p:spPr>
      </p:pic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777240"/>
            <a:ext cx="4667999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572768"/>
            <a:ext cx="5212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B897"/>
                </a:solidFill>
                <a:latin typeface="Aptos"/>
              </a:defRPr>
            </a:pPr>
            <a:r>
              <a:t>PRESENTACIÓN DEL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630936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002D46"/>
                </a:solidFill>
                <a:latin typeface="Aptos Display"/>
              </a:defRPr>
            </a:pPr>
            <a:r>
              <a:t>Módulo 6. Elementos transversales, articulación</a:t>
            </a:r>
          </a:p>
          <a:p>
            <a:pPr algn="l">
              <a:lnSpc>
                <a:spcPct val="100000"/>
              </a:lnSpc>
              <a:defRPr sz="2600" b="0">
                <a:solidFill>
                  <a:srgbClr val="002D46"/>
                </a:solidFill>
                <a:latin typeface="Aptos Display"/>
              </a:defRPr>
            </a:pPr>
            <a:r>
              <a:t>territorial y transferencia metodológica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585216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1C6156"/>
                </a:solidFill>
                <a:latin typeface="Aptos"/>
              </a:defRPr>
            </a:pPr>
            <a:r>
              <a:rPr dirty="0" err="1"/>
              <a:t>Competencia</a:t>
            </a:r>
            <a:r>
              <a:rPr dirty="0"/>
              <a:t> C7 · </a:t>
            </a:r>
            <a:r>
              <a:rPr dirty="0" err="1"/>
              <a:t>Aplicación</a:t>
            </a:r>
            <a:r>
              <a:rPr dirty="0"/>
              <a:t> transversal de C2–C6 para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enfoques</a:t>
            </a:r>
            <a:r>
              <a:rPr dirty="0"/>
              <a:t>, </a:t>
            </a:r>
            <a:r>
              <a:rPr dirty="0" err="1"/>
              <a:t>adaptar</a:t>
            </a:r>
            <a:r>
              <a:rPr dirty="0"/>
              <a:t> </a:t>
            </a:r>
            <a:r>
              <a:rPr dirty="0" err="1"/>
              <a:t>metodologías</a:t>
            </a:r>
            <a:r>
              <a:rPr dirty="0"/>
              <a:t> y </a:t>
            </a:r>
            <a:r>
              <a:rPr dirty="0" err="1"/>
              <a:t>multiplicar</a:t>
            </a:r>
            <a:r>
              <a:rPr dirty="0"/>
              <a:t> con </a:t>
            </a:r>
            <a:r>
              <a:rPr dirty="0" err="1"/>
              <a:t>calidad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77240" y="4315968"/>
            <a:ext cx="3657600" cy="54864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73152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FFFFFF"/>
                </a:solidFill>
                <a:latin typeface="Aptos Display"/>
              </a:defRPr>
            </a:pPr>
            <a:r>
              <a:t>MARCO DEL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64008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Carácter transversal, objetivo, resultados esperados y estructura de trabajo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  <a:latin typeface="Aptos"/>
              </a:defRPr>
            </a:pPr>
            <a:r>
              <a:t>Actividad 2.3.2 — FdF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Ficha técnica del Módulo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900" b="1">
                <a:solidFill>
                  <a:srgbClr val="FFFFFF"/>
                </a:solidFill>
                <a:latin typeface="Aptos"/>
              </a:defRPr>
            </a:pPr>
            <a:r>
              <a:t>6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19072"/>
            <a:ext cx="17830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19" b="0">
                <a:solidFill>
                  <a:srgbClr val="FFFFFF"/>
                </a:solidFill>
                <a:latin typeface="Aptos"/>
              </a:defRPr>
            </a:pPr>
            <a:r>
              <a:t>Duración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900" b="1">
                <a:solidFill>
                  <a:srgbClr val="FFFFFF"/>
                </a:solidFill>
                <a:latin typeface="Aptos"/>
              </a:defRPr>
            </a:pPr>
            <a:r>
              <a:t>1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719072"/>
            <a:ext cx="17830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19" b="0">
                <a:solidFill>
                  <a:srgbClr val="FFFFFF"/>
                </a:solidFill>
                <a:latin typeface="Aptos"/>
              </a:defRPr>
            </a:pPr>
            <a:r>
              <a:t>Presencial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48655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900" b="1">
                <a:solidFill>
                  <a:srgbClr val="FFFFFF"/>
                </a:solidFill>
                <a:latin typeface="Aptos"/>
              </a:defRPr>
            </a:pPr>
            <a:r>
              <a:t>1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5" y="1719072"/>
            <a:ext cx="17830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19" b="0">
                <a:solidFill>
                  <a:srgbClr val="FFFFFF"/>
                </a:solidFill>
                <a:latin typeface="Aptos"/>
              </a:defRPr>
            </a:pPr>
            <a:r>
              <a:t>Virtual sincrónica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3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61504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900" b="1">
                <a:solidFill>
                  <a:srgbClr val="FFFFFF"/>
                </a:solidFill>
                <a:latin typeface="Aptos"/>
              </a:defRPr>
            </a:pPr>
            <a:r>
              <a:t>4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1719072"/>
            <a:ext cx="17830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19" b="0">
                <a:solidFill>
                  <a:srgbClr val="FFFFFF"/>
                </a:solidFill>
                <a:latin typeface="Aptos"/>
              </a:defRPr>
            </a:pPr>
            <a:r>
              <a:t>Virtual asincrónica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28632" y="1325880"/>
            <a:ext cx="1874519" cy="822960"/>
          </a:xfrm>
          <a:prstGeom prst="roundRect">
            <a:avLst/>
          </a:prstGeom>
          <a:solidFill>
            <a:srgbClr val="00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74352" y="1417320"/>
            <a:ext cx="1783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900" b="1">
                <a:solidFill>
                  <a:srgbClr val="FFFFFF"/>
                </a:solidFill>
                <a:latin typeface="Aptos"/>
              </a:defRPr>
            </a:pPr>
            <a:r>
              <a:t>C7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1719072"/>
            <a:ext cx="17830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919" b="0">
                <a:solidFill>
                  <a:srgbClr val="FFFFFF"/>
                </a:solidFill>
                <a:latin typeface="Aptos"/>
              </a:defRPr>
            </a:pPr>
            <a:r>
              <a:t>Aplicación transversal de C2–C6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423160"/>
            <a:ext cx="5212080" cy="12344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2423160"/>
            <a:ext cx="73152" cy="12344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251460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Carácter del módulo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807208"/>
            <a:ext cx="4992624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Los contenidos no se incorporan únicamente al final del programa; deben aplicarse durante el diseño formativo, el diagnóstico, la formulación del plan, el acompañamiento y la evaluación.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2423160"/>
            <a:ext cx="5212080" cy="12344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2423160"/>
            <a:ext cx="73152" cy="12344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251460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Propósito central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807208"/>
            <a:ext cx="4992624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Sistematizar, profundizar y verificar la integración de los enfoques transversales y preparar la transferencia territorial.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977639"/>
            <a:ext cx="10634472" cy="102412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3977639"/>
            <a:ext cx="73152" cy="102412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69079"/>
            <a:ext cx="10433304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Producto evaluativo integrador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61688"/>
            <a:ext cx="10415016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Diseño de réplica territorial, documentado mediante K10 Plan de Multiplicación Territorial. La auditoría y las simulaciones son evidencias de práctica, sin productos calificables adicionales.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Objetivo del módulo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881360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850" b="0">
                <a:solidFill>
                  <a:srgbClr val="002D46"/>
                </a:solidFill>
                <a:latin typeface="Aptos"/>
              </a:defRPr>
            </a:pPr>
            <a:r>
              <a:t>Integrar los enfoques de género, inclusión, sostenibilidad, innovación, ética y territorialidad en el ciclo de acompañamiento empresarial y desarrollar la capacidad para adaptar, multiplicar y transferir las metodologías del programa preservando sus competencias, principios y estándares de calidad.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5176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65176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Integración transversal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485546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4E585D"/>
                </a:solidFill>
                <a:latin typeface="Aptos"/>
              </a:defRPr>
            </a:pPr>
            <a:r>
              <a:t>Aplicar los enfoques en diagnóstico, planificación, implementación y evaluación.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Articulación territorial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35808"/>
            <a:ext cx="485546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4E585D"/>
                </a:solidFill>
                <a:latin typeface="Aptos"/>
              </a:defRPr>
            </a:pPr>
            <a:r>
              <a:t>Analizar al NAE como parte de un ecosistema de actores, servicios y oportunidades.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77639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977639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79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Adaptación contextual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61688"/>
            <a:ext cx="485546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4E585D"/>
                </a:solidFill>
                <a:latin typeface="Aptos"/>
              </a:defRPr>
            </a:pPr>
            <a:r>
              <a:t>Ajustar metodologías y recursos a realidades territoriales, baja conectividad e interrupciones energéticas.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77639"/>
            <a:ext cx="507492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977639"/>
            <a:ext cx="73152" cy="100584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069079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Transferencia metodológica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61688"/>
            <a:ext cx="485546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20" b="0">
                <a:solidFill>
                  <a:srgbClr val="4E585D"/>
                </a:solidFill>
                <a:latin typeface="Aptos"/>
              </a:defRPr>
            </a:pPr>
            <a:r>
              <a:t>Multiplicar el programa preservando competencias, principios y calidad.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Competencia C7 y aplicación transversal de C2–C6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65276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73152" cy="105156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Competencia del módulo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9928"/>
            <a:ext cx="10433304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80" b="0">
                <a:solidFill>
                  <a:srgbClr val="4E585D"/>
                </a:solidFill>
                <a:latin typeface="Aptos"/>
              </a:defRPr>
            </a:pPr>
            <a:r>
              <a:t>Aplicar transversalmente los enfoques de género, inclusión, sostenibilidad, innovación, ética y territorialidad y transferir las metodologías del programa mediante un modelo de cascada con aseguramiento de calidad.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88920"/>
            <a:ext cx="1729740" cy="731520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898648"/>
            <a:ext cx="163829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Diseño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formativo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2433828" y="301752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552700" y="2788920"/>
            <a:ext cx="1729740" cy="731520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98420" y="2898648"/>
            <a:ext cx="163829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Diagnóstico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empresarial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273296" y="301752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92168" y="2788920"/>
            <a:ext cx="1729740" cy="731520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7888" y="2898648"/>
            <a:ext cx="163829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Plan de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mejora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6112764" y="301752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31636" y="2788920"/>
            <a:ext cx="1729740" cy="731520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77356" y="2898648"/>
            <a:ext cx="163829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Acompañamiento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y mentoría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7952232" y="301752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71104" y="2788920"/>
            <a:ext cx="1729740" cy="731520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6824" y="2898648"/>
            <a:ext cx="163829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Evaluación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791700" y="3017520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10572" y="2788920"/>
            <a:ext cx="1729740" cy="731520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56292" y="2898648"/>
            <a:ext cx="1638299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Réplica y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transferencia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60520"/>
            <a:ext cx="5212080" cy="9601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160520"/>
            <a:ext cx="73152" cy="96012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251959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Lógica del módulo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44568"/>
            <a:ext cx="4992624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No agrega una capa decorativa; revisa si los enfoques están efectivamente incorporados en todo el ciclo.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160520"/>
            <a:ext cx="5212080" cy="9601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160520"/>
            <a:ext cx="73152" cy="96012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4251959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Criterio de calidad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544568"/>
            <a:ext cx="4992624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30" b="0">
                <a:solidFill>
                  <a:srgbClr val="4E585D"/>
                </a:solidFill>
                <a:latin typeface="Aptos"/>
              </a:defRPr>
            </a:pPr>
            <a:r>
              <a:t>La réplica territorial debe mantener fidelidad metodológica y, al mismo tiempo, adaptarse a las condiciones concretas del territorio.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Resultados esperados de aprendizaje 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45720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8930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252728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Identificar barreras diferenciadas de participación y desarrollo empresarial.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45720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28930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252728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Integrar el enfoque de género en diagnóstico, planificación, implementación y evaluación.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965960"/>
            <a:ext cx="457200" cy="310896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02082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1984248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Promover la participación y liderazgo de las mujeres.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45720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02082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984248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Incorporar criterios de inclusión de juventudes y diversidad.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697480"/>
            <a:ext cx="45720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5234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2715768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Integrar dimensiones económicas, sociales y ambientales de sostenibilidad.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697480"/>
            <a:ext cx="45720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75234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715768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Aplicar principios éticos, de confidencialidad y protección de información.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429000"/>
            <a:ext cx="457200" cy="310896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48386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447288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Incorporar la innovación como herramienta para resolver problemas empresariales.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Resultados esperados de aprendizaje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530352" cy="310896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8930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252728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Analizar al NAE como parte de un ecosistema territorial.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30352" cy="310896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28930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52728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Identificar actores y servicios relevantes para su acompañamiento.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965960"/>
            <a:ext cx="530352" cy="310896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02082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1984248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Adaptar metodologías y recursos a diferentes contextos territoriales.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30352" cy="310896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02082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84248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Diseñar alternativas para condiciones de baja conectividad o interrupciones energéticas.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697480"/>
            <a:ext cx="530352" cy="310896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5234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2715768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Planificar acciones de multiplicación.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697480"/>
            <a:ext cx="530352" cy="310896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75234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15768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Aplicar criterios mínimos de aseguramiento de calidad durante las réplicas.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429000"/>
            <a:ext cx="530352" cy="310896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483864"/>
            <a:ext cx="438912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19" y="3447288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90" b="0">
                <a:solidFill>
                  <a:srgbClr val="002D46"/>
                </a:solidFill>
                <a:latin typeface="Aptos"/>
              </a:defRPr>
            </a:pPr>
            <a:r>
              <a:t>Registrar evidencias de la transferencia metodológica.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Ruta del Módulo 6 por modalidad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344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Tema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Carga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Modalidad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Foco operativo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1. Género e inclusión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 h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Barreras diferenciadas, liderazgo femenino, juventudes, diversidad, sesgos, accesibilidad, lenguaje inclusivo e indicadores desagregados.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2. Sostenibilidad empresarial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 h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Sostenibilidad económica, social y ambiental; eficiencia; uso responsable de recursos; economía circular y resiliencia.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3. Innovación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0,5 h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Innovación en productos, procesos, organización y comercialización; innovación frugal; capacidades territoriales y vínculo universidad-empresa.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4. Ética del acompañamiento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0,5 h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Respeto, confidencialidad, integridad, conflictos de interés, consentimiento y manejo responsable de información.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5. Adaptación territorial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 h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Virtual asincrónica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Contexto, herramientas, recursos disponibles, baja conectividad, energía, logística y alternativas offline.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6. Transferencia metodológica y modelo de cascada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 h + 1 h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Presencial + sincrónica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Componentes esenciales y adaptables, fidelidad metodológica, cofacilitación, observación, retroalimentación, control de calidad y comunidad de práctica.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73152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FFFFFF"/>
                </a:solidFill>
                <a:latin typeface="Aptos Display"/>
              </a:defRPr>
            </a:pPr>
            <a:r>
              <a:t>ENFOQUES TRANSVERSALES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64008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Género, inclusión, sostenibilidad, innovación, ética y adaptación territorial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  <a:latin typeface="Aptos"/>
              </a:defRPr>
            </a:pPr>
            <a:r>
              <a:t>Actividad 2.3.2 — FdF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Carácter transversal de los enfoques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729740" cy="749808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27048"/>
            <a:ext cx="1638299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Diagnóstico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433828" y="164592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52700" y="1417320"/>
            <a:ext cx="1729740" cy="749808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98420" y="1527048"/>
            <a:ext cx="1638299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Planificación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4273296" y="164592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92168" y="1417320"/>
            <a:ext cx="1729740" cy="749808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7888" y="1527048"/>
            <a:ext cx="1638299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Implementación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6112764" y="164592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31636" y="1417320"/>
            <a:ext cx="1729740" cy="749808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7356" y="1527048"/>
            <a:ext cx="1638299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Acompañamiento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7952232" y="164592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71104" y="1417320"/>
            <a:ext cx="1729740" cy="749808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6824" y="1527048"/>
            <a:ext cx="1638299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Evaluación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9791700" y="1645920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910572" y="1417320"/>
            <a:ext cx="1729740" cy="749808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56292" y="1527048"/>
            <a:ext cx="1638299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Réplica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65176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265176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274320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Principio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35808"/>
            <a:ext cx="499262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Los enfoques transversales deben estar presentes en todas las herramientas, decisiones y evidencias del acompañamiento.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65176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265176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74320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Uso pedagógico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035808"/>
            <a:ext cx="499262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Revisar evidencias de M2–M5. K02–K09 son referencias para verificar transversalidad y transferencia, sin volver a aplicarlas obligatoriamente.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069080"/>
            <a:ext cx="10652760" cy="9144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069080"/>
            <a:ext cx="73152" cy="91440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160520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Dos ciclos articulados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453128"/>
            <a:ext cx="10433304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Pedagógico: Diagnosticar necesidades de aprendizaje → Diseñar → Facilitar → Evaluar → Mejorar → Multiplicar.
Empresarial: Diagnosticar el NAE → Diseñar el Plan de Mejora → Acompañar su implementación → Evaluar resultados → Ajustar → Fortalecer capacidades.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Tema 1 · Género e inclusión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200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1 h virtual asincrónica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Igualdad de oportunidades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Identificar brechas de acceso, participación y beneficios.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Barreras diferenciadas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Reconocer responsabilidades de cuidado, sesgos, restricciones de tiempo, movilidad o acceso.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523744"/>
            <a:ext cx="73152" cy="76809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Liderazgo femenino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Promover participación y visibilidad de las mujeres como actoras económicas.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523744"/>
            <a:ext cx="73152" cy="768096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Juventudes y diversidad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Incorporar inclusión intergeneracional y reconocimiento de la diversidad.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3493008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Accesibilidad y lenguaje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Usar recursos y lenguaje inclusivo, comprensible y pertinente.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493008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Indicadores desagregados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Cuando corresponda, observar participación, acceso y resultados diferenciados.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Tema 2 · Sostenibilidad empresarial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200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1 h virtual asincrónica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Dimensión económica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Viabilidad, eficiencia y resiliencia del negocio.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Dimensión social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Empleo, relaciones, inclusión y valor para la comunidad.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523744"/>
            <a:ext cx="73152" cy="76809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Dimensión ambiental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Uso responsable de recursos, manejo de residuos y reducción de impactos.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523744"/>
            <a:ext cx="73152" cy="768096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Economía circular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Reutilización, optimización y aprovechamiento de materiales.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3493008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Resiliencia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Capacidad de adaptación frente a cambios del entorno y restricciones.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493008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Uso pedagógico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El plan de mejora debe valorar impactos y sostenibilidad de las soluciones propuestas.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Temas 3 y 4 · Innovación y ética del acompañamiento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4572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0,5 h + 0,5 h virtuales asincrónicas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21208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73152" cy="114300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Innovación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992624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4E585D"/>
                </a:solidFill>
                <a:latin typeface="Aptos"/>
              </a:defRPr>
            </a:pPr>
            <a:r>
              <a:t>La innovación se entiende como respuesta a problemas empresariales: en productos, procesos, organización y comercialización. Incluye innovación frugal, capacidades territoriales y vinculación universidad-empresa.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212080" cy="11430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73152" cy="114300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Ética del acompañamiento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84248"/>
            <a:ext cx="4992624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4E585D"/>
                </a:solidFill>
                <a:latin typeface="Aptos"/>
              </a:defRPr>
            </a:pPr>
            <a:r>
              <a:t>Respeto, confidencialidad, integridad, imparcialidad, conflictos de interés, consentimiento, manejo responsable de información, límites profesionales y derivación responsable.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63240"/>
            <a:ext cx="521208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063240"/>
            <a:ext cx="73152" cy="105156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15468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Clave metodológica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47288"/>
            <a:ext cx="4992624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Innovar no es sofisticar por sofisticar; es resolver mejor una necesidad con los recursos disponibles.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063240"/>
            <a:ext cx="521208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63240"/>
            <a:ext cx="73152" cy="105156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15468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Clave ética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447288"/>
            <a:ext cx="4992624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La relación de acompañamiento requiere protección de información y claridad sobre lo que el rol permite o no permite hacer.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434840"/>
            <a:ext cx="10652760" cy="7315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434840"/>
            <a:ext cx="73152" cy="7315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79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Aplicación transversal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18888"/>
            <a:ext cx="10433304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Tanto la innovación como la ética deben ser visibles en las herramientas, decisiones, evidencias y recomendaciones del ciclo completo.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Tema 5 · Adaptación territorial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200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1 h virtual asincrónica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Análisis del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Caracterizar participantes, necesidades formativas, NAE, sectores y actores de apoyo en K10.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Contextualización de ejemplos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Ajustar casos, lenguaje y referencias al territorio.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523744"/>
            <a:ext cx="73152" cy="76809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Adaptación de herramientas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Justificar en K10 los ajustes de uso o formato, preservando propósitos, pasos críticos y condiciones de cada herramienta.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523744"/>
            <a:ext cx="73152" cy="768096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Recursos disponibles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Identificar instituciones, servicios, espacios, materiales y responsables que apoyarán la réplica.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3493008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Conectividad y energía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Diseñar alternativas ante baja conectividad o interrupciones energéticas.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493008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Alternativas offline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Recursos impresos, PDF ligeros, facilitación sin equipamiento tecnológico y logística realista.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Baja conectividad y continuidad operativa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2097633" cy="749808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72768"/>
            <a:ext cx="2006193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Preparar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materiales ligeros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801721" y="169164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0593" y="1463040"/>
            <a:ext cx="2097633" cy="749808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6313" y="1572768"/>
            <a:ext cx="2006193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Prever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alternativas impresas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5009083" y="169164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27955" y="1463040"/>
            <a:ext cx="2097633" cy="749808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3675" y="1572768"/>
            <a:ext cx="2006193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Ajustar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logística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7216444" y="169164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35316" y="1463040"/>
            <a:ext cx="2097633" cy="749808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81036" y="1572768"/>
            <a:ext cx="2006193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Facilitar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sin tecnología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9423806" y="169164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42678" y="1463040"/>
            <a:ext cx="2097633" cy="749808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88398" y="1572768"/>
            <a:ext cx="2006193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Registrar</a:t>
            </a:r>
          </a:p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Aptos"/>
              </a:defRPr>
            </a:pPr>
            <a:r>
              <a:t>evidencias simples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8892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278892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88036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Riesgos a prever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172968"/>
            <a:ext cx="499262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Intermitencia energética, acceso limitado a internet, dispositivos insuficientes y restricciones de movilidad.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8892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788920"/>
            <a:ext cx="73152" cy="100584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88036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Respuestas metodológicas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172968"/>
            <a:ext cx="499262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K10: prever kit imprimible, agenda sin proyector, canales alternativos y entrega diferida de evidencias; conservar resultados y criterios.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06240"/>
            <a:ext cx="10652760" cy="8229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206240"/>
            <a:ext cx="73152" cy="82296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297679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Sentido del enfoque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90288"/>
            <a:ext cx="10433304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Adaptar no significa bajar la calidad; significa asegurar que el aprendizaje y la réplica sean viables en condiciones reales.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600" b="0">
                <a:solidFill>
                  <a:srgbClr val="D89D2E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615184"/>
            <a:ext cx="411480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889504"/>
            <a:ext cx="73152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FFFFFF"/>
                </a:solidFill>
                <a:latin typeface="Aptos Display"/>
              </a:defRPr>
            </a:pPr>
            <a:r>
              <a:t>TRANSFERENCIA Y MODELO DE CASCADA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6400800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E1E6E3"/>
                </a:solidFill>
                <a:latin typeface="Aptos"/>
              </a:defRPr>
            </a:pPr>
            <a:r>
              <a:t>Multiplicación territorial, fidelidad metodológica y aseguramiento de calidad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8C8"/>
                </a:solidFill>
                <a:latin typeface="Aptos"/>
              </a:defRPr>
            </a:pPr>
            <a:r>
              <a:t>Actividad 2.3.2 — FdF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Tema 6 · Transferencia metodológica y modelo de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4297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B897"/>
                </a:solidFill>
                <a:latin typeface="Aptos"/>
              </a:defRPr>
            </a:pPr>
            <a:r>
              <a:t>1 h presencial + 1 h virtual sincrónica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00200"/>
            <a:ext cx="1752600" cy="749808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709928"/>
            <a:ext cx="1661160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Principios del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modelo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2365248" y="182880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484120" y="1600200"/>
            <a:ext cx="1752600" cy="749808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9840" y="1709928"/>
            <a:ext cx="1661160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Componentes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esenciales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227576" y="182880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6448" y="1600200"/>
            <a:ext cx="1752600" cy="749808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2167" y="1709928"/>
            <a:ext cx="1661160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Componentes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adaptables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6089904" y="182880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08775" y="1600200"/>
            <a:ext cx="1752600" cy="749808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4495" y="1709928"/>
            <a:ext cx="1661160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Cofacilitación y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observación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7952231" y="182880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71104" y="1600200"/>
            <a:ext cx="1752600" cy="749808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6824" y="1709928"/>
            <a:ext cx="1661160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Retroalimentación y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23" name="Right Triangle 22"/>
          <p:cNvSpPr/>
          <p:nvPr/>
        </p:nvSpPr>
        <p:spPr>
          <a:xfrm>
            <a:off x="9814560" y="1828800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933432" y="1600200"/>
            <a:ext cx="1752600" cy="749808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79152" y="1709928"/>
            <a:ext cx="1661160" cy="5852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Control de calidad y</a:t>
            </a:r>
          </a:p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comunidad de práctica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2926080"/>
            <a:ext cx="5212080" cy="9601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2926080"/>
            <a:ext cx="73152" cy="96012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01752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Principio del modelo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310128"/>
            <a:ext cx="4992624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La lógica de cascada busca multiplicación territorial coherente, no improvisaciones aisladas.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26080"/>
            <a:ext cx="5212080" cy="96012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73152" cy="96012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01752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Objetivo de transferencia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310128"/>
            <a:ext cx="4992624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Preservar competencias, principios y estándares de calidad mientras se contextualiza la metodología.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297680"/>
            <a:ext cx="10652760" cy="8229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4297680"/>
            <a:ext cx="73152" cy="82296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389120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Cierre operativo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81728"/>
            <a:ext cx="10433304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Documentar en K10 planificación, responsables, contingencias, evidencias y seguimiento. Seleccionar herramientas según el NAE y el territorio; CVI/PNUD aporta referentes complementarios al FdF-NAE.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Componentes esenciales y adaptables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280160"/>
          <a:ext cx="104241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Componente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Esencial / adaptable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Criterio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Competencias y resultados de aprendizaje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Esencial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Conservar el perfil de salida y los resultados esenciales.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Principios metodológicos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Esencial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Participación, aplicabilidad, aprendizaje experiencial, enfoques transversales y educación de personas adultas.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Herramientas y evaluación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Esencial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Preservar propósitos y pasos críticos, criterios, evidencias e instrumentos comunes de evaluación.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Ejemplos, casos y lenguaje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Adaptable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Se contextualizan al territorio y sector.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Logística y secuencia operativa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Adaptable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Justificar ajustes según recursos y conectividad, sin alterar la carga total ni los resultados esenciales.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Recursos impresos o digitales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Adaptable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Se seleccionan según condiciones reales del territorio.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Criterios mínimos de aseguramiento de calidad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Fidelidad metodológica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Mantener competencias, resultados, criterios de evaluación, principios y herramientas esenciales.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Cofacilitación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Favorecer apoyo entre formadores/as, especialmente en primeras réplicas.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523744"/>
            <a:ext cx="73152" cy="76809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Observación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Prever en K10 quién observará la facilitación y cómo usará la lista de cotejo común.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23744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523744"/>
            <a:ext cx="73152" cy="768096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615184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Retroalimentación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07791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Reconocer logros, señalar una o dos prioridades y acordar una revisión concreta.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493008"/>
            <a:ext cx="73152" cy="768096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Documentación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K10: definir responsables y conservar agenda, asistencia, productos, evaluaciones y observaciones pertinentes.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93008"/>
            <a:ext cx="5074920" cy="768096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493008"/>
            <a:ext cx="73152" cy="768096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584448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77056"/>
            <a:ext cx="48554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40" b="0">
                <a:solidFill>
                  <a:srgbClr val="4E585D"/>
                </a:solidFill>
                <a:latin typeface="Aptos"/>
              </a:defRPr>
            </a:pPr>
            <a:r>
              <a:t>Dar continuidad a la mejora de las personas multiplicadoras y de la red territorial.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K10 · Plan de Multiplicación Territorial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10652760" cy="8229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73152" cy="82296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Diseño de réplica territorial · Producto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10433304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40" b="0">
                <a:solidFill>
                  <a:srgbClr val="4E585D"/>
                </a:solidFill>
                <a:latin typeface="Aptos"/>
              </a:defRPr>
            </a:pPr>
            <a:r>
              <a:t>Cada participante documenta su diseño de réplica mediante K10, adaptado a su provincia o territorio y con fidelidad metodológica.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286000"/>
          <a:ext cx="108813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982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Sección de K10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Pregunta orientadora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1. Datos generales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¿Dónde, cuándo, quién facilita, para quiénes, con qué modalidad y duración?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2. Fidelidad metodológica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¿Qué competencias, resultados y contenidos se preservan? ¿Cómo se articulan actividad, herramienta, evidencia y tiempo?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3. Contextualización territorial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¿Qué caracteriza al grupo y a los NAE? ¿Qué recursos y apoyos existen? ¿Qué se adaptará y por qué?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4. Enfoques transversales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¿Cómo se integran género, inclusión, juventudes, sostenibilidad, innovación, ética y participación equilibrada?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5. Plan de contingencia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¿Qué riesgos y efectos se prevén? ¿Qué alternativas impresas y offline estarán preparadas?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88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6. Calidad y evidencias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¿Cómo se observará, evaluará y retroalimentará? ¿Quién será responsable y qué evidencias se conservarán?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Secuencia didáctica y práctica presencial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10652760" cy="8229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73152" cy="82296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Secuencia de la Guía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10433304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4E585D"/>
                </a:solidFill>
                <a:latin typeface="Aptos"/>
              </a:defRPr>
            </a:pPr>
            <a:r>
              <a:t>Auditoría transversal → Adaptación → Práctica presencial → Transferencia. Revisar evidencias de M2–M5, justificar ajustes y completar K10; los ejercicios se integran como prácticas, sin nuevas tareas calificables.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31720"/>
            <a:ext cx="10652760" cy="7772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73152" cy="7772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23160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Taller presencial · 60 minutos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15768"/>
            <a:ext cx="10433304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0–10: auditoría; 10–25: adaptación; 25–40: escenario territorial; 40–52: calidad; 52–60: cierre y compromisos en K10.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74720"/>
            <a:ext cx="5074920" cy="84124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474720"/>
            <a:ext cx="73152" cy="841248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Auditoría transversal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8"/>
            <a:ext cx="4855464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80" b="0">
                <a:solidFill>
                  <a:srgbClr val="4E585D"/>
                </a:solidFill>
                <a:latin typeface="Aptos"/>
              </a:defRPr>
            </a:pPr>
            <a:r>
              <a:t>Usar la lista de verificación para identificar sesgos, barreras, riesgos y vacíos.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5074920" cy="84124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474720"/>
            <a:ext cx="73152" cy="841248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56616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Adaptación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58768"/>
            <a:ext cx="4855464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80" b="0">
                <a:solidFill>
                  <a:srgbClr val="4E585D"/>
                </a:solidFill>
                <a:latin typeface="Aptos"/>
              </a:defRPr>
            </a:pPr>
            <a:r>
              <a:t>Distinguir elementos esenciales y adaptables; justificar ajustes al territorio.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72000"/>
            <a:ext cx="5074920" cy="84124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572000"/>
            <a:ext cx="73152" cy="841248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66344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Práctica presencial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56048"/>
            <a:ext cx="4855464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80" b="0">
                <a:solidFill>
                  <a:srgbClr val="4E585D"/>
                </a:solidFill>
                <a:latin typeface="Aptos"/>
              </a:defRPr>
            </a:pPr>
            <a:r>
              <a:t>Simular restricciones reales y diseñar contingencias y cofacilitación.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72000"/>
            <a:ext cx="5074920" cy="841248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572000"/>
            <a:ext cx="73152" cy="841248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4663440"/>
            <a:ext cx="487375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2D46"/>
                </a:solidFill>
                <a:latin typeface="Aptos"/>
              </a:defRPr>
            </a:pPr>
            <a:r>
              <a:t>Transferencia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956048"/>
            <a:ext cx="4855464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080" b="0">
                <a:solidFill>
                  <a:srgbClr val="4E585D"/>
                </a:solidFill>
                <a:latin typeface="Aptos"/>
              </a:defRPr>
            </a:pPr>
            <a:r>
              <a:t>Completar K10, evidencias y control de calidad; retroalimentar y ajustar el plan.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Auditoría transversal · Evidencia de práctica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2801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Evidencia revisada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Qué se verifica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Preguntas clave</a:t>
                      </a:r>
                    </a:p>
                  </a:txBody>
                  <a:tcPr marL="45720" marR="36576" marT="27432" marB="27432" anchor="ctr">
                    <a:solidFill>
                      <a:srgbClr val="00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Diagnóstico empresarial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Género, inclusión, territorio, sostenibilidad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¿Reconoce barreras diferenciadas y contexto territorial?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Plan de mejora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Sostenibilidad, innovación, viabilidad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¿Integra dimensiones económicas, sociales y ambientales?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Mentoría / seguimiento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Ética, confidencialidad, derivación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¿Respeta autonomía, límites profesionales y manejo responsable de información?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Evaluación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Indicadores desagregados y utilidad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¿Permite analizar participación, acceso, beneficios y sostenibilidad de los cambios?</a:t>
                      </a:r>
                    </a:p>
                  </a:txBody>
                  <a:tcPr marL="45720" marR="36576" marT="27432" marB="27432" anchor="ctr">
                    <a:solidFill>
                      <a:srgbClr val="EFE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Diseño de réplica · K10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Adaptación y calidad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02D46"/>
                          </a:solidFill>
                          <a:latin typeface="Aptos"/>
                        </a:defRPr>
                      </a:pPr>
                      <a:r>
                        <a:t>¿Preserva competencias, resultados y evaluación? ¿Justifica adaptaciones y contingencias?</a:t>
                      </a:r>
                    </a:p>
                  </a:txBody>
                  <a:tcPr marL="45720" marR="36576" marT="27432" marB="27432" anchor="ctr"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Fidelidad metodológica y contextualización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212080" cy="10972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73152" cy="109728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Fidelidad metodológica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9928"/>
            <a:ext cx="4992624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Mantener competencias, resultados, criterios de evaluación, secuencias críticas, principios de personas adultas y herramientas esenciales.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10972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109728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Contextualización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09928"/>
            <a:ext cx="4992624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Justificar en K10 ajustes de ejemplos, logística, recursos, lenguaje, tiempos y soportes sin alterar la carga total.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43200"/>
            <a:ext cx="521208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743200"/>
            <a:ext cx="73152" cy="105156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4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Riesgo 1: rigidez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27248"/>
            <a:ext cx="4992624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Aplicar la metodología sin considerar contexto reduce pertinencia y viabilidad.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212080" cy="105156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73152" cy="1051560"/>
          </a:xfrm>
          <a:prstGeom prst="rect">
            <a:avLst/>
          </a:prstGeom>
          <a:solidFill>
            <a:srgbClr val="C3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83464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Riesgo 2: dilución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27248"/>
            <a:ext cx="4992624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4E585D"/>
                </a:solidFill>
                <a:latin typeface="Aptos"/>
              </a:defRPr>
            </a:pPr>
            <a:r>
              <a:t>Cambiar demasiado la metodología puede hacer perder calidad y coherencia.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60520"/>
            <a:ext cx="10652760" cy="86868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160520"/>
            <a:ext cx="73152" cy="86868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51959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Selección pertinente de herramientas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44568"/>
            <a:ext cx="10433304" cy="411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4E585D"/>
                </a:solidFill>
                <a:latin typeface="Aptos"/>
              </a:defRPr>
            </a:pPr>
            <a:r>
              <a:t>K10 es central en M6. K02–K09 sirven como referencias; su uso en las réplicas responde al NAE y al territorio, sin una secuencia universal obligatoria.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475488"/>
            <a:ext cx="96012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1D584E"/>
                </a:solidFill>
                <a:latin typeface="Aptos Display"/>
              </a:defRPr>
            </a:pPr>
            <a:r>
              <a:t>Cierre del Módulo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0789920" cy="18288"/>
          </a:xfrm>
          <a:prstGeom prst="rect">
            <a:avLst/>
          </a:prstGeom>
          <a:solidFill>
            <a:srgbClr val="C7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320040"/>
            <a:ext cx="329184" cy="36576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33679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585D"/>
                </a:solidFill>
                <a:latin typeface="Aptos"/>
              </a:defRPr>
            </a:pPr>
            <a:r>
              <a:t>Actividad 2.3.2 — FdF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722120" cy="822960"/>
          </a:xfrm>
          <a:prstGeom prst="round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63068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Integrar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444496" y="1691640"/>
            <a:ext cx="164592" cy="256032"/>
          </a:xfrm>
          <a:prstGeom prst="rtTriangle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3368" y="1463040"/>
            <a:ext cx="1722120" cy="822960"/>
          </a:xfrm>
          <a:prstGeom prst="round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9088" y="1572768"/>
            <a:ext cx="163068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Contextualizar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4276344" y="1691640"/>
            <a:ext cx="164592" cy="256032"/>
          </a:xfrm>
          <a:prstGeom prst="rtTriangle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95216" y="1463040"/>
            <a:ext cx="1722120" cy="822960"/>
          </a:xfrm>
          <a:prstGeom prst="roundRect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0936" y="1572768"/>
            <a:ext cx="163068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Articular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6108192" y="1691640"/>
            <a:ext cx="164592" cy="256032"/>
          </a:xfrm>
          <a:prstGeom prst="rtTriangle">
            <a:avLst/>
          </a:prstGeom>
          <a:solidFill>
            <a:srgbClr val="49E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27064" y="1463040"/>
            <a:ext cx="1722120" cy="822960"/>
          </a:xfrm>
          <a:prstGeom prst="round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3" y="1572768"/>
            <a:ext cx="163068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Multiplicar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7940040" y="1691640"/>
            <a:ext cx="164592" cy="256032"/>
          </a:xfrm>
          <a:prstGeom prst="rtTriangle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58912" y="1463040"/>
            <a:ext cx="1722120" cy="822960"/>
          </a:xfrm>
          <a:prstGeom prst="round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04632" y="1572768"/>
            <a:ext cx="163068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Asegurar calidad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9771888" y="1691640"/>
            <a:ext cx="164592" cy="256032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90760" y="1463040"/>
            <a:ext cx="1722120" cy="822960"/>
          </a:xfrm>
          <a:prstGeom prst="roundRect">
            <a:avLst/>
          </a:prstGeom>
          <a:solidFill>
            <a:srgbClr val="77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6480" y="1572768"/>
            <a:ext cx="163068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Transferir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788920"/>
            <a:ext cx="10652760" cy="91440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2788920"/>
            <a:ext cx="73152" cy="914400"/>
          </a:xfrm>
          <a:prstGeom prst="rect">
            <a:avLst/>
          </a:prstGeom>
          <a:solidFill>
            <a:srgbClr val="00B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2880360"/>
            <a:ext cx="104515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02D46"/>
                </a:solidFill>
                <a:latin typeface="Aptos"/>
              </a:defRPr>
            </a:pPr>
            <a:r>
              <a:t>Cuatro productos integradores del Portafolio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172968"/>
            <a:ext cx="10433304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220" b="0">
                <a:solidFill>
                  <a:srgbClr val="4E585D"/>
                </a:solidFill>
                <a:latin typeface="Aptos"/>
              </a:defRPr>
            </a:pPr>
            <a:r>
              <a:t>Diagnóstico empresarial integral; Plan de Mejora; Evaluación del Plan de Mejora; Diseño de réplica territorial (K10 Plan de Multiplicación Territorial).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06908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069080"/>
            <a:ext cx="73152" cy="1005840"/>
          </a:xfrm>
          <a:prstGeom prst="rect">
            <a:avLst/>
          </a:prstGeom>
          <a:solidFill>
            <a:srgbClr val="00A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16052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Integración y transferencia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53128"/>
            <a:ext cx="499262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La auditoría, la adaptación y los escenarios de práctica sustentan K10; no son productos evaluativos adicionales.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069080"/>
            <a:ext cx="5212080" cy="1005840"/>
          </a:xfrm>
          <a:prstGeom prst="roundRect">
            <a:avLst/>
          </a:prstGeom>
          <a:solidFill>
            <a:srgbClr val="F2EFE7"/>
          </a:solidFill>
          <a:ln w="6350"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069080"/>
            <a:ext cx="73152" cy="1005840"/>
          </a:xfrm>
          <a:prstGeom prst="rect">
            <a:avLst/>
          </a:prstGeom>
          <a:solidFill>
            <a:srgbClr val="D89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4160520"/>
            <a:ext cx="501091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02D46"/>
                </a:solidFill>
                <a:latin typeface="Aptos"/>
              </a:defRPr>
            </a:pPr>
            <a:r>
              <a:t>Aprendizaje y mejora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53128"/>
            <a:ext cx="499262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0000"/>
              </a:lnSpc>
              <a:defRPr sz="1160" b="0">
                <a:solidFill>
                  <a:srgbClr val="4E585D"/>
                </a:solidFill>
                <a:latin typeface="Aptos"/>
              </a:defRPr>
            </a:pPr>
            <a:r>
              <a:t>La réplica contextualizada conserva competencias y evaluación, fortalece capacidades y comparte aprendizajes en la comunidad de práctica.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525" y="-8140"/>
            <a:ext cx="6339853" cy="62382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406258"/>
            <a:ext cx="2275844" cy="111353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6230112"/>
            <a:ext cx="12192000" cy="6461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9776851" y="827614"/>
            <a:ext cx="2224940" cy="32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A3C5ED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kumimoji="0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Text 0"/>
          <p:cNvSpPr/>
          <p:nvPr/>
        </p:nvSpPr>
        <p:spPr>
          <a:xfrm>
            <a:off x="658369" y="2539241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Gracias.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58369" y="3308861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AFCBE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Construimos juntos.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684873" y="4478721"/>
            <a:ext cx="3291840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7CBE448-6F83-B3BA-3652-8E12ED1C0AE4}"/>
              </a:ext>
            </a:extLst>
          </p:cNvPr>
          <p:cNvSpPr/>
          <p:nvPr/>
        </p:nvSpPr>
        <p:spPr>
          <a:xfrm>
            <a:off x="713231" y="4736592"/>
            <a:ext cx="73085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050" b="1" noProof="0" dirty="0">
                <a:solidFill>
                  <a:schemeClr val="bg1"/>
                </a:solidFill>
              </a:rPr>
              <a:t>Material elaborado en el marco del Proyecto NAE</a:t>
            </a:r>
            <a:br>
              <a:rPr lang="es-419" sz="1050" noProof="0" dirty="0">
                <a:solidFill>
                  <a:schemeClr val="bg1"/>
                </a:solidFill>
              </a:rPr>
            </a:br>
            <a:r>
              <a:rPr lang="es-419" sz="1050" b="1" noProof="0" dirty="0">
                <a:solidFill>
                  <a:schemeClr val="bg1"/>
                </a:solidFill>
              </a:rPr>
              <a:t>Financiado por la </a:t>
            </a:r>
            <a:r>
              <a:rPr lang="es-419" sz="1050" b="1" noProof="0" dirty="0" err="1">
                <a:solidFill>
                  <a:schemeClr val="bg1"/>
                </a:solidFill>
              </a:rPr>
              <a:t>Agence</a:t>
            </a:r>
            <a:r>
              <a:rPr lang="es-419" sz="1050" b="1" noProof="0" dirty="0">
                <a:solidFill>
                  <a:schemeClr val="bg1"/>
                </a:solidFill>
              </a:rPr>
              <a:t> </a:t>
            </a:r>
            <a:r>
              <a:rPr lang="es-419" sz="1050" b="1" noProof="0" dirty="0" err="1">
                <a:solidFill>
                  <a:schemeClr val="bg1"/>
                </a:solidFill>
              </a:rPr>
              <a:t>Française</a:t>
            </a:r>
            <a:r>
              <a:rPr lang="es-419" sz="1050" b="1" noProof="0" dirty="0">
                <a:solidFill>
                  <a:schemeClr val="bg1"/>
                </a:solidFill>
              </a:rPr>
              <a:t> de </a:t>
            </a:r>
            <a:r>
              <a:rPr lang="es-419" sz="1050" b="1" noProof="0" dirty="0" err="1">
                <a:solidFill>
                  <a:schemeClr val="bg1"/>
                </a:solidFill>
              </a:rPr>
              <a:t>Développement</a:t>
            </a:r>
            <a:r>
              <a:rPr lang="es-419" sz="1050" b="1" noProof="0" dirty="0">
                <a:solidFill>
                  <a:schemeClr val="bg1"/>
                </a:solidFill>
              </a:rPr>
              <a:t> (AFD), con cofinanciación de la Unión Europea</a:t>
            </a:r>
          </a:p>
          <a:p>
            <a:endParaRPr lang="es-419" sz="1050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s-419" sz="105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Técnica: Universidad de Alicante (UA) - Parque Científico Tecnológico de La Habana (PCTH)</a:t>
            </a:r>
            <a:endParaRPr lang="es-419" sz="10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759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4021</Words>
  <Application>Microsoft Office PowerPoint</Application>
  <PresentationFormat>Panorámica</PresentationFormat>
  <Paragraphs>401</Paragraphs>
  <Slides>27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 Theme</vt:lpstr>
      <vt:lpstr>1_Office Theme</vt:lpstr>
      <vt:lpstr>5_Office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Darío Calahorrano</dc:creator>
  <cp:keywords/>
  <dc:description>generated using python-pptx</dc:description>
  <cp:lastModifiedBy>Dario-Acer26</cp:lastModifiedBy>
  <cp:revision>6</cp:revision>
  <dcterms:created xsi:type="dcterms:W3CDTF">2013-01-27T09:14:16Z</dcterms:created>
  <dcterms:modified xsi:type="dcterms:W3CDTF">2026-09-13T01:15:46Z</dcterms:modified>
  <cp:category/>
</cp:coreProperties>
</file>