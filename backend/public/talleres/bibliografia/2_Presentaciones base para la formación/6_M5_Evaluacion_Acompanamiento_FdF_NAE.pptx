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notesSlides/notesSlide6.xml" ContentType="application/vnd.openxmlformats-officedocument.presentationml.notesSlide+xml"/>
  <Override PartName="/ppt/theme/themeOverride8.xml" ContentType="application/vnd.openxmlformats-officedocument.themeOverride+xml"/>
  <Override PartName="/ppt/theme/themeOverride9.xml" ContentType="application/vnd.openxmlformats-officedocument.themeOverride+xml"/>
  <Override PartName="/ppt/notesSlides/notesSlide7.xml" ContentType="application/vnd.openxmlformats-officedocument.presentationml.notesSlide+xml"/>
  <Override PartName="/ppt/theme/themeOverride10.xml" ContentType="application/vnd.openxmlformats-officedocument.themeOverride+xml"/>
  <Override PartName="/ppt/notesSlides/notesSlide8.xml" ContentType="application/vnd.openxmlformats-officedocument.presentationml.notesSlide+xml"/>
  <Override PartName="/ppt/theme/themeOverride11.xml" ContentType="application/vnd.openxmlformats-officedocument.themeOverride+xml"/>
  <Override PartName="/ppt/notesSlides/notesSlide9.xml" ContentType="application/vnd.openxmlformats-officedocument.presentationml.notesSlide+xml"/>
  <Override PartName="/ppt/theme/themeOverride12.xml" ContentType="application/vnd.openxmlformats-officedocument.themeOverride+xml"/>
  <Override PartName="/ppt/notesSlides/notesSlide10.xml" ContentType="application/vnd.openxmlformats-officedocument.presentationml.notesSlide+xml"/>
  <Override PartName="/ppt/theme/themeOverride13.xml" ContentType="application/vnd.openxmlformats-officedocument.themeOverride+xml"/>
  <Override PartName="/ppt/notesSlides/notesSlide11.xml" ContentType="application/vnd.openxmlformats-officedocument.presentationml.notesSlide+xml"/>
  <Override PartName="/ppt/theme/themeOverride14.xml" ContentType="application/vnd.openxmlformats-officedocument.themeOverride+xml"/>
  <Override PartName="/ppt/notesSlides/notesSlide12.xml" ContentType="application/vnd.openxmlformats-officedocument.presentationml.notesSlide+xml"/>
  <Override PartName="/ppt/theme/themeOverride15.xml" ContentType="application/vnd.openxmlformats-officedocument.themeOverride+xml"/>
  <Override PartName="/ppt/notesSlides/notesSlide13.xml" ContentType="application/vnd.openxmlformats-officedocument.presentationml.notesSlide+xml"/>
  <Override PartName="/ppt/theme/themeOverride16.xml" ContentType="application/vnd.openxmlformats-officedocument.themeOverride+xml"/>
  <Override PartName="/ppt/notesSlides/notesSlide14.xml" ContentType="application/vnd.openxmlformats-officedocument.presentationml.notesSlide+xml"/>
  <Override PartName="/ppt/theme/themeOverride17.xml" ContentType="application/vnd.openxmlformats-officedocument.themeOverride+xml"/>
  <Override PartName="/ppt/notesSlides/notesSlide15.xml" ContentType="application/vnd.openxmlformats-officedocument.presentationml.notesSlide+xml"/>
  <Override PartName="/ppt/theme/themeOverride18.xml" ContentType="application/vnd.openxmlformats-officedocument.themeOverride+xml"/>
  <Override PartName="/ppt/notesSlides/notesSlide16.xml" ContentType="application/vnd.openxmlformats-officedocument.presentationml.notesSlide+xml"/>
  <Override PartName="/ppt/theme/themeOverride19.xml" ContentType="application/vnd.openxmlformats-officedocument.themeOverride+xml"/>
  <Override PartName="/ppt/notesSlides/notesSlide17.xml" ContentType="application/vnd.openxmlformats-officedocument.presentationml.notesSlide+xml"/>
  <Override PartName="/ppt/theme/themeOverride20.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664" r:id="rId3"/>
  </p:sldMasterIdLst>
  <p:notesMasterIdLst>
    <p:notesMasterId r:id="rId32"/>
  </p:notesMasterIdLst>
  <p:sldIdLst>
    <p:sldId id="284" r:id="rId4"/>
    <p:sldId id="285"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38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8C2403-FE87-4336-9B6D-82334C0E7619}" type="datetimeFigureOut">
              <a:rPr lang="en-US" smtClean="0"/>
              <a:t>9/12/2026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6E25F7-9E67-4A4D-9FEA-82B9ECF2D52B}" type="slidenum">
              <a:rPr lang="en-US" smtClean="0"/>
              <a:t>‹Nº›</a:t>
            </a:fld>
            <a:endParaRPr lang="en-US"/>
          </a:p>
        </p:txBody>
      </p:sp>
    </p:spTree>
    <p:extLst>
      <p:ext uri="{BB962C8B-B14F-4D97-AF65-F5344CB8AC3E}">
        <p14:creationId xmlns:p14="http://schemas.microsoft.com/office/powerpoint/2010/main" val="345737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1375609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3747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FdF-NAE V2, M5 y §10.2; Guía del Facilitador/a V2, §§6, 6.5 y 9.3. M5 mantiene cinco horas: una presencial, una sincrónica y tres asincrónicas; C6 en seguimiento y evaluación. El producto integrador es Evaluación del Plan de Mejora y se documenta en K09. Las matrices, clasificaciones, semáforos y registros son evidencias de práctica o componentes de ese producto, no nuevas entregas calificables. El ciclo empresarial evalúa resultados y ajusta acciones; el pedagógico utiliza lo aprendido para evaluar, mejorar y multiplicar la formación.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M5 y §10.2; Guía V2, §§6.5 y 9.3. La competencia se observa en la formulación de indicadores, análisis de evidencias y decisiones de mejora. Conservar los criterios del Programa; no crear una calificación separada para matrices, ejercicios o registros.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distribución temática de M5; Guía V2, itinerario y §6.5. La tabla muestra carga temática, no una secuencia cronológica rígida. La preparación asincrónica se organiza según el itinerario y la sesión sincrónica profundiza el análisis y retroalimenta el producto. Preparar el caso, evidencia y consignas; ofrecer matrices y semáforos impresos, evidencias documentales offline y consolidación posterior. No aumentar horas ni tareas calificables.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M5 Tema 1; Guía V2, §6.5. En este contexto, producto significa una salida de una acción empresarial, por ejemplo un registro de ventas o un plan actualizado. No equivale a producto evaluativo adicional del Portafolio. Distinguir ejecución, aplicación, resultados y sostenibilidad de los cambios.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M5 Tema 2; Guía V2, §§6.5 y 8; K07, campos de captura; K09. Definir indicadores asociados a objetivos y problemas, línea de base, metas cuando corresponda, periodicidad, responsable y medio de verificación. Desagregar por género u otras condiciones pertinentes sin comprometer confidencialidad; analizar participación, acceso, beneficios y resultados diferenciados. K07 incluye innovación de productos o servicios, empleo, cultura organizacional, riesgos y ambiente. Examinar sostenibilidad económica, social y ambiental. Una comparación antes/después no demuestra por sí sola que todo cambio fue causado por el acompañamiento; considerar factores internos y del territorio.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§7.8; K07_Matriz de Indicadores.xlsx, hojas Instrucciones, M&amp;E_ESP_FINAL, DASHBOARD e Indicadores de Impacto. K07 es la herramienta de monitoreo y evaluación de CVI/PNUD incorporada como referente complementario. Registrar una fila por NAE y completar inicio y final con los mismos criterios. No es una matriz libre a la que se añadan columnas: conservar opciones y formato, y usar el Dashboard para lectura. La definición particular de indicadores, línea de base, metas y evidencias del plan se documenta en K03 y K09; acordar también periodicidad y responsable. Compartir y validar los datos con el NAE. La selección y el alcance responden al contexto, necesidades y territorio; las instrucciones generales de CVI no introducen nuevas obligaciones curriculares o productos FdF-NAE. La copia suministrada contiene referencias rotas #REF! en la hoja Indicadores de Impacto, de modo que sus cálculos no deben usarse como evidencia hasta su corrección y validación. Contrastar con la captura y documentos verificables; no interpretar celdas vacías o errores como ceros ni como ausencia de cambio.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§§6.5, 7.8 y 7.10; K09, §3. K04.2 y K06 son fuentes complementarias de ejecución y acuerdos, no herramientas que deban volver a aplicarse obligatoriamente en M5. Combinar registros empresariales, observación, entrevistas y documentos. Admitir evidencias en papel. Proteger datos personales y empresariales; usar únicamente información necesaria y anonimizar casos cuando corresponda.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§§6.5 y 8; K09, §§3–6. Identificar origen, fecha, período y unidad de los datos. Mantener la misma definición al comparar inicio y cierre. Explicitar limitaciones de evidencia; no transformar datos faltantes en ceros. Distinguir información real de datos de simulación. Una percepción favorable puede complementar pero no sustituir evidencia de efectividad. No exigir información sensible irrelevante para el objetivo evaluado.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§§6.5, 7.3 y 7.10; K03_Problemática jerarquizada.xlsx, hoja LineaBase; K09, §§4 y 6. Retomar las problemáticas priorizadas y sus indicadores: K03 contiene problema, línea de base e indicador y valores inicial, esperado y final. Comparar con el plan implementado y las evidencias de K04.2 y K06; no repetir un diagnóstico completo como requisito. Valorar si la problemática se redujo, qué capacidades se fortalecieron y si el cambio puede relacionarse razonablemente con las acciones. No exigir monetización de todo cambio: el Programa y K09 admiten indicadores cualitativos y cuantitativos. La satisfacción no basta para concluir efectividad.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§6.5; K09, §§5–8. Interpretar logros y desviaciones sin limitarse a repetir cifras. Considerar capacidades, recursos, mercado, abastecimiento, cuidados, conectividad, energía y condiciones territoriales. Acordar decisiones con el NAE, documentar sus resultados cuando estén disponibles y los próximos momentos de seguimiento. Explicitar qué aprendizaje es transferible a otros acompañamientos.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metodología de M5; Guía V2, §6.5; K09, §4. El semáforo es un apoyo para discutir el avance, no una escala calificable ni una obligación adicional. Acordar criterios en función de cada indicador, meta y período. Identificar el color también mediante texto. La ausencia de evidencia exige verificación; no prueba que la acción o el cambio no ocurrió. Para K09 puede utilizarse alcanzado, parcialmente alcanzado o no alcanzado, siempre con sustento y límites explícitos.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K03, hoja LineaBase; K09, §§3–4. Los ejemplos de la tabla son ilustrativos y no describen resultados verificados de La Colmena ni de otro NAE. En la práctica sustituirlos por los datos del caso o negocio y declarar los supuestos de simulación. K03 permite contrastar valores inicial, esperado y final. K09 separa indicador, situación inicial, meta, resultado, brecha y valoración; registrar allí la evidencia y la interpretación, sin omitir la meta. Un cambio cualitativo debe describirse claramente y sustentarse.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Guía V2, capítulo 7, §§7.3, 7.8 y 7.10; Programa V2, metodología M5. K03 mantiene la trazabilidad con la problemática; K07 compara mediciones de inicio y cierre; K09 integra la evaluación. K04.2 y K06 aportan evidencia complementaria. No presentar la caja como secuencia rígida de aplicación obligatoria. Seleccionar según características, desarrollo, necesidades y territorio del NAE. Las herramientas procedentes de CVI/PNUD son referentes complementarios y no sustituyen arquitectura, competencias, productos o criterios del FdF-NAE.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Guía V2, §6.5. Secuencia: Clasificación, Indicadores, Evaluación presencial y Decisión. El cierre permite retroalimentar y revisar, sin añadir un nuevo producto. Recuperar experiencias de las personas adultas y trabajar con el caso transversal o un NAE real. Facilitar clasificación de actividad/producto/resultado/impacto, construcción de indicadores verificables y pertinentes, semáforo con contraste de línea de base, meta y evidencia, y decisiones ante desviaciones. La fase presencial se mantiene en la hora prevista. Retroalimentar desde evidencias observables: reconocer logros, señalar una o dos prioridades y acordar una acción concreta de revisión. Ofrecer alternativa en papel.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§10.2, producto 3; Guía V2, §§6.5 y 7.10; K09_Informe Evaluación.docx. K09 contiene ocho secciones: 1 datos generales del NAE; 2 síntesis del Plan de Mejora; 3 indicadores y evidencias; 4 comparación inicial, meta y resultado; 5 logros, desviaciones y factores explicativos; 6 valoración de la mejora empresarial; 7 conclusiones, decisiones y próximos pasos; 8 lecciones aprendidas del acompañamiento. No repetir todo el plan en su síntesis ni completar áreas empresariales ajenas a lo evaluado. Mantener trazabilidad con K03 y acciones de K04.2; incorporar K07 y K06 cuando aporten evidencia pertinente. En decisiones distinguir las ya tomadas y sus resultados de los próximos pasos. Adjuntar evidencia según corresponda; matrices y registros son componentes, no productos calificados separados.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Programa V2, §10.2; Guía V2, §§6.5, 6.6, 7.11 y 9.3. Hay cuatro productos integradores: Diagnóstico empresarial integral; Plan de Mejora; Evaluación del Plan de Mejora; Diseño de réplica territorial, documentado mediante K10 Plan de Multiplicación Territorial. Las lecciones de M5 preparan M6, sin aplicar K10 como nueva tarea obligatoria de M5. La transferencia conserva competencias, resultados, metodologías y criterios, adaptando ejemplos y recursos a cada territorio.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extLst>
      <p:ext uri="{BB962C8B-B14F-4D97-AF65-F5344CB8AC3E}">
        <p14:creationId xmlns:p14="http://schemas.microsoft.com/office/powerpoint/2010/main" val="45287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104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8499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93964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3" name="Google Shape;13;p37"/>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4" name="Google Shape;14;p37"/>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7866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914400" y="2840568"/>
            <a:ext cx="10363200" cy="196003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828800" y="5181600"/>
            <a:ext cx="8534400" cy="2336800"/>
          </a:xfrm>
          <a:prstGeom prst="rect">
            <a:avLst/>
          </a:prstGeom>
          <a:noFill/>
          <a:ln>
            <a:noFill/>
          </a:ln>
        </p:spPr>
        <p:txBody>
          <a:bodyPr spcFirstLastPara="1" wrap="square" lIns="91425" tIns="45700" rIns="91425" bIns="45700" anchor="t" anchorCtr="0">
            <a:normAutofit/>
          </a:bodyPr>
          <a:lstStyle>
            <a:lvl1pPr lvl="0" algn="ctr">
              <a:spcBef>
                <a:spcPts val="853"/>
              </a:spcBef>
              <a:spcAft>
                <a:spcPts val="0"/>
              </a:spcAft>
              <a:buClr>
                <a:srgbClr val="888888"/>
              </a:buClr>
              <a:buSzPts val="3200"/>
              <a:buNone/>
              <a:defRPr>
                <a:solidFill>
                  <a:srgbClr val="888888"/>
                </a:solidFill>
              </a:defRPr>
            </a:lvl1pPr>
            <a:lvl2pPr lvl="1" algn="ctr">
              <a:spcBef>
                <a:spcPts val="747"/>
              </a:spcBef>
              <a:spcAft>
                <a:spcPts val="0"/>
              </a:spcAft>
              <a:buClr>
                <a:srgbClr val="888888"/>
              </a:buClr>
              <a:buSzPts val="2800"/>
              <a:buNone/>
              <a:defRPr>
                <a:solidFill>
                  <a:srgbClr val="888888"/>
                </a:solidFill>
              </a:defRPr>
            </a:lvl2pPr>
            <a:lvl3pPr lvl="2" algn="ctr">
              <a:spcBef>
                <a:spcPts val="640"/>
              </a:spcBef>
              <a:spcAft>
                <a:spcPts val="0"/>
              </a:spcAft>
              <a:buClr>
                <a:srgbClr val="888888"/>
              </a:buClr>
              <a:buSzPts val="2400"/>
              <a:buNone/>
              <a:defRPr>
                <a:solidFill>
                  <a:srgbClr val="888888"/>
                </a:solidFill>
              </a:defRPr>
            </a:lvl3pPr>
            <a:lvl4pPr lvl="3" algn="ctr">
              <a:spcBef>
                <a:spcPts val="533"/>
              </a:spcBef>
              <a:spcAft>
                <a:spcPts val="0"/>
              </a:spcAft>
              <a:buClr>
                <a:srgbClr val="888888"/>
              </a:buClr>
              <a:buSzPts val="2000"/>
              <a:buNone/>
              <a:defRPr>
                <a:solidFill>
                  <a:srgbClr val="888888"/>
                </a:solidFill>
              </a:defRPr>
            </a:lvl4pPr>
            <a:lvl5pPr lvl="4" algn="ctr">
              <a:spcBef>
                <a:spcPts val="533"/>
              </a:spcBef>
              <a:spcAft>
                <a:spcPts val="0"/>
              </a:spcAft>
              <a:buClr>
                <a:srgbClr val="888888"/>
              </a:buClr>
              <a:buSzPts val="2000"/>
              <a:buNone/>
              <a:defRPr>
                <a:solidFill>
                  <a:srgbClr val="888888"/>
                </a:solidFill>
              </a:defRPr>
            </a:lvl5pPr>
            <a:lvl6pPr lvl="5" algn="ctr">
              <a:spcBef>
                <a:spcPts val="533"/>
              </a:spcBef>
              <a:spcAft>
                <a:spcPts val="0"/>
              </a:spcAft>
              <a:buClr>
                <a:srgbClr val="888888"/>
              </a:buClr>
              <a:buSzPts val="2000"/>
              <a:buNone/>
              <a:defRPr>
                <a:solidFill>
                  <a:srgbClr val="888888"/>
                </a:solidFill>
              </a:defRPr>
            </a:lvl6pPr>
            <a:lvl7pPr lvl="6" algn="ctr">
              <a:spcBef>
                <a:spcPts val="533"/>
              </a:spcBef>
              <a:spcAft>
                <a:spcPts val="0"/>
              </a:spcAft>
              <a:buClr>
                <a:srgbClr val="888888"/>
              </a:buClr>
              <a:buSzPts val="2000"/>
              <a:buNone/>
              <a:defRPr>
                <a:solidFill>
                  <a:srgbClr val="888888"/>
                </a:solidFill>
              </a:defRPr>
            </a:lvl7pPr>
            <a:lvl8pPr lvl="7" algn="ctr">
              <a:spcBef>
                <a:spcPts val="533"/>
              </a:spcBef>
              <a:spcAft>
                <a:spcPts val="0"/>
              </a:spcAft>
              <a:buClr>
                <a:srgbClr val="888888"/>
              </a:buClr>
              <a:buSzPts val="2000"/>
              <a:buNone/>
              <a:defRPr>
                <a:solidFill>
                  <a:srgbClr val="888888"/>
                </a:solidFill>
              </a:defRPr>
            </a:lvl8pPr>
            <a:lvl9pPr lvl="8" algn="ctr">
              <a:spcBef>
                <a:spcPts val="533"/>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9" name="Google Shape;19;p38"/>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0" name="Google Shape;20;p38"/>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068579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609600" y="2133602"/>
            <a:ext cx="10972800" cy="6034617"/>
          </a:xfrm>
          <a:prstGeom prst="rect">
            <a:avLst/>
          </a:prstGeom>
          <a:noFill/>
          <a:ln>
            <a:noFill/>
          </a:ln>
        </p:spPr>
        <p:txBody>
          <a:bodyPr spcFirstLastPara="1" wrap="square" lIns="91425" tIns="45700" rIns="91425" bIns="45700" anchor="t" anchorCtr="0">
            <a:normAutofit/>
          </a:bodyPr>
          <a:lstStyle>
            <a:lvl1pPr marL="609570" lvl="0" indent="-457178" algn="l">
              <a:spcBef>
                <a:spcPts val="480"/>
              </a:spcBef>
              <a:spcAft>
                <a:spcPts val="0"/>
              </a:spcAft>
              <a:buClr>
                <a:schemeClr val="dk1"/>
              </a:buClr>
              <a:buSzPts val="1800"/>
              <a:buChar char="•"/>
              <a:defRPr/>
            </a:lvl1pPr>
            <a:lvl2pPr marL="1219139" lvl="1" indent="-457178" algn="l">
              <a:spcBef>
                <a:spcPts val="480"/>
              </a:spcBef>
              <a:spcAft>
                <a:spcPts val="0"/>
              </a:spcAft>
              <a:buClr>
                <a:schemeClr val="dk1"/>
              </a:buClr>
              <a:buSzPts val="1800"/>
              <a:buChar char="–"/>
              <a:defRPr/>
            </a:lvl2pPr>
            <a:lvl3pPr marL="1828709" lvl="2" indent="-457178" algn="l">
              <a:spcBef>
                <a:spcPts val="480"/>
              </a:spcBef>
              <a:spcAft>
                <a:spcPts val="0"/>
              </a:spcAft>
              <a:buClr>
                <a:schemeClr val="dk1"/>
              </a:buClr>
              <a:buSzPts val="1800"/>
              <a:buChar char="•"/>
              <a:defRPr/>
            </a:lvl3pPr>
            <a:lvl4pPr marL="2438278" lvl="3" indent="-457178" algn="l">
              <a:spcBef>
                <a:spcPts val="480"/>
              </a:spcBef>
              <a:spcAft>
                <a:spcPts val="0"/>
              </a:spcAft>
              <a:buClr>
                <a:schemeClr val="dk1"/>
              </a:buClr>
              <a:buSzPts val="1800"/>
              <a:buChar char="–"/>
              <a:defRPr/>
            </a:lvl4pPr>
            <a:lvl5pPr marL="3047848" lvl="4" indent="-457178" algn="l">
              <a:spcBef>
                <a:spcPts val="480"/>
              </a:spcBef>
              <a:spcAft>
                <a:spcPts val="0"/>
              </a:spcAft>
              <a:buClr>
                <a:schemeClr val="dk1"/>
              </a:buClr>
              <a:buSzPts val="1800"/>
              <a:buChar char="»"/>
              <a:defRPr/>
            </a:lvl5pPr>
            <a:lvl6pPr marL="3657418" lvl="5" indent="-457178" algn="l">
              <a:spcBef>
                <a:spcPts val="480"/>
              </a:spcBef>
              <a:spcAft>
                <a:spcPts val="0"/>
              </a:spcAft>
              <a:buClr>
                <a:schemeClr val="dk1"/>
              </a:buClr>
              <a:buSzPts val="1800"/>
              <a:buChar char="•"/>
              <a:defRPr/>
            </a:lvl6pPr>
            <a:lvl7pPr marL="4266986" lvl="6" indent="-457178" algn="l">
              <a:spcBef>
                <a:spcPts val="480"/>
              </a:spcBef>
              <a:spcAft>
                <a:spcPts val="0"/>
              </a:spcAft>
              <a:buClr>
                <a:schemeClr val="dk1"/>
              </a:buClr>
              <a:buSzPts val="1800"/>
              <a:buChar char="•"/>
              <a:defRPr/>
            </a:lvl7pPr>
            <a:lvl8pPr marL="4876556" lvl="7" indent="-457178" algn="l">
              <a:spcBef>
                <a:spcPts val="480"/>
              </a:spcBef>
              <a:spcAft>
                <a:spcPts val="0"/>
              </a:spcAft>
              <a:buClr>
                <a:schemeClr val="dk1"/>
              </a:buClr>
              <a:buSzPts val="1800"/>
              <a:buChar char="•"/>
              <a:defRPr/>
            </a:lvl8pPr>
            <a:lvl9pPr marL="5486126" lvl="8" indent="-457178" algn="l">
              <a:spcBef>
                <a:spcPts val="48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5" name="Google Shape;25;p39"/>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6" name="Google Shape;26;p39"/>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1244845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963084" y="5875867"/>
            <a:ext cx="10363200" cy="18161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533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963084" y="3875619"/>
            <a:ext cx="10363200" cy="2000249"/>
          </a:xfrm>
          <a:prstGeom prst="rect">
            <a:avLst/>
          </a:prstGeom>
          <a:noFill/>
          <a:ln>
            <a:noFill/>
          </a:ln>
        </p:spPr>
        <p:txBody>
          <a:bodyPr spcFirstLastPara="1" wrap="square" lIns="91425" tIns="45700" rIns="91425" bIns="45700" anchor="b" anchorCtr="0">
            <a:normAutofit/>
          </a:bodyPr>
          <a:lstStyle>
            <a:lvl1pPr marL="609570" lvl="0" indent="-304784" algn="l">
              <a:spcBef>
                <a:spcPts val="533"/>
              </a:spcBef>
              <a:spcAft>
                <a:spcPts val="0"/>
              </a:spcAft>
              <a:buClr>
                <a:srgbClr val="888888"/>
              </a:buClr>
              <a:buSzPts val="2000"/>
              <a:buNone/>
              <a:defRPr sz="2667">
                <a:solidFill>
                  <a:srgbClr val="888888"/>
                </a:solidFill>
              </a:defRPr>
            </a:lvl1pPr>
            <a:lvl2pPr marL="1219139" lvl="1" indent="-304784" algn="l">
              <a:spcBef>
                <a:spcPts val="480"/>
              </a:spcBef>
              <a:spcAft>
                <a:spcPts val="0"/>
              </a:spcAft>
              <a:buClr>
                <a:srgbClr val="888888"/>
              </a:buClr>
              <a:buSzPts val="1800"/>
              <a:buNone/>
              <a:defRPr sz="2400">
                <a:solidFill>
                  <a:srgbClr val="888888"/>
                </a:solidFill>
              </a:defRPr>
            </a:lvl2pPr>
            <a:lvl3pPr marL="1828709" lvl="2" indent="-304784" algn="l">
              <a:spcBef>
                <a:spcPts val="427"/>
              </a:spcBef>
              <a:spcAft>
                <a:spcPts val="0"/>
              </a:spcAft>
              <a:buClr>
                <a:srgbClr val="888888"/>
              </a:buClr>
              <a:buSzPts val="1600"/>
              <a:buNone/>
              <a:defRPr sz="2133">
                <a:solidFill>
                  <a:srgbClr val="888888"/>
                </a:solidFill>
              </a:defRPr>
            </a:lvl3pPr>
            <a:lvl4pPr marL="2438278" lvl="3" indent="-304784" algn="l">
              <a:spcBef>
                <a:spcPts val="373"/>
              </a:spcBef>
              <a:spcAft>
                <a:spcPts val="0"/>
              </a:spcAft>
              <a:buClr>
                <a:srgbClr val="888888"/>
              </a:buClr>
              <a:buSzPts val="1400"/>
              <a:buNone/>
              <a:defRPr sz="1867">
                <a:solidFill>
                  <a:srgbClr val="888888"/>
                </a:solidFill>
              </a:defRPr>
            </a:lvl4pPr>
            <a:lvl5pPr marL="3047848" lvl="4" indent="-304784" algn="l">
              <a:spcBef>
                <a:spcPts val="373"/>
              </a:spcBef>
              <a:spcAft>
                <a:spcPts val="0"/>
              </a:spcAft>
              <a:buClr>
                <a:srgbClr val="888888"/>
              </a:buClr>
              <a:buSzPts val="1400"/>
              <a:buNone/>
              <a:defRPr sz="1867">
                <a:solidFill>
                  <a:srgbClr val="888888"/>
                </a:solidFill>
              </a:defRPr>
            </a:lvl5pPr>
            <a:lvl6pPr marL="3657418" lvl="5" indent="-304784" algn="l">
              <a:spcBef>
                <a:spcPts val="373"/>
              </a:spcBef>
              <a:spcAft>
                <a:spcPts val="0"/>
              </a:spcAft>
              <a:buClr>
                <a:srgbClr val="888888"/>
              </a:buClr>
              <a:buSzPts val="1400"/>
              <a:buNone/>
              <a:defRPr sz="1867">
                <a:solidFill>
                  <a:srgbClr val="888888"/>
                </a:solidFill>
              </a:defRPr>
            </a:lvl6pPr>
            <a:lvl7pPr marL="4266986" lvl="6" indent="-304784" algn="l">
              <a:spcBef>
                <a:spcPts val="373"/>
              </a:spcBef>
              <a:spcAft>
                <a:spcPts val="0"/>
              </a:spcAft>
              <a:buClr>
                <a:srgbClr val="888888"/>
              </a:buClr>
              <a:buSzPts val="1400"/>
              <a:buNone/>
              <a:defRPr sz="1867">
                <a:solidFill>
                  <a:srgbClr val="888888"/>
                </a:solidFill>
              </a:defRPr>
            </a:lvl7pPr>
            <a:lvl8pPr marL="4876556" lvl="7" indent="-304784" algn="l">
              <a:spcBef>
                <a:spcPts val="373"/>
              </a:spcBef>
              <a:spcAft>
                <a:spcPts val="0"/>
              </a:spcAft>
              <a:buClr>
                <a:srgbClr val="888888"/>
              </a:buClr>
              <a:buSzPts val="1400"/>
              <a:buNone/>
              <a:defRPr sz="1867">
                <a:solidFill>
                  <a:srgbClr val="888888"/>
                </a:solidFill>
              </a:defRPr>
            </a:lvl8pPr>
            <a:lvl9pPr marL="5486126" lvl="8" indent="-304784" algn="l">
              <a:spcBef>
                <a:spcPts val="373"/>
              </a:spcBef>
              <a:spcAft>
                <a:spcPts val="0"/>
              </a:spcAft>
              <a:buClr>
                <a:srgbClr val="888888"/>
              </a:buClr>
              <a:buSzPts val="1400"/>
              <a:buNone/>
              <a:defRPr sz="1867">
                <a:solidFill>
                  <a:srgbClr val="888888"/>
                </a:solidFill>
              </a:defRPr>
            </a:lvl9pPr>
          </a:lstStyle>
          <a:p>
            <a:endParaRPr/>
          </a:p>
        </p:txBody>
      </p:sp>
      <p:sp>
        <p:nvSpPr>
          <p:cNvPr id="30" name="Google Shape;30;p40"/>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1" name="Google Shape;31;p40"/>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2" name="Google Shape;32;p40"/>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3367629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609600" y="2133602"/>
            <a:ext cx="5384800" cy="6034617"/>
          </a:xfrm>
          <a:prstGeom prst="rect">
            <a:avLst/>
          </a:prstGeom>
          <a:noFill/>
          <a:ln>
            <a:noFill/>
          </a:ln>
        </p:spPr>
        <p:txBody>
          <a:bodyPr spcFirstLastPara="1" wrap="square" lIns="91425" tIns="45700" rIns="91425" bIns="45700" anchor="t" anchorCtr="0">
            <a:normAutofit/>
          </a:bodyPr>
          <a:lstStyle>
            <a:lvl1pPr marL="609570" lvl="0" indent="-541840" algn="l">
              <a:spcBef>
                <a:spcPts val="747"/>
              </a:spcBef>
              <a:spcAft>
                <a:spcPts val="0"/>
              </a:spcAft>
              <a:buClr>
                <a:schemeClr val="dk1"/>
              </a:buClr>
              <a:buSzPts val="2800"/>
              <a:buChar char="•"/>
              <a:defRPr sz="3733"/>
            </a:lvl1pPr>
            <a:lvl2pPr marL="1219139" lvl="1" indent="-507974" algn="l">
              <a:spcBef>
                <a:spcPts val="640"/>
              </a:spcBef>
              <a:spcAft>
                <a:spcPts val="0"/>
              </a:spcAft>
              <a:buClr>
                <a:schemeClr val="dk1"/>
              </a:buClr>
              <a:buSzPts val="2400"/>
              <a:buChar char="–"/>
              <a:defRPr sz="3200"/>
            </a:lvl2pPr>
            <a:lvl3pPr marL="1828709" lvl="2" indent="-474110" algn="l">
              <a:spcBef>
                <a:spcPts val="533"/>
              </a:spcBef>
              <a:spcAft>
                <a:spcPts val="0"/>
              </a:spcAft>
              <a:buClr>
                <a:schemeClr val="dk1"/>
              </a:buClr>
              <a:buSzPts val="2000"/>
              <a:buChar char="•"/>
              <a:defRPr sz="2667"/>
            </a:lvl3pPr>
            <a:lvl4pPr marL="2438278" lvl="3" indent="-457178" algn="l">
              <a:spcBef>
                <a:spcPts val="480"/>
              </a:spcBef>
              <a:spcAft>
                <a:spcPts val="0"/>
              </a:spcAft>
              <a:buClr>
                <a:schemeClr val="dk1"/>
              </a:buClr>
              <a:buSzPts val="1800"/>
              <a:buChar char="–"/>
              <a:defRPr sz="2400"/>
            </a:lvl4pPr>
            <a:lvl5pPr marL="3047848" lvl="4" indent="-457178" algn="l">
              <a:spcBef>
                <a:spcPts val="480"/>
              </a:spcBef>
              <a:spcAft>
                <a:spcPts val="0"/>
              </a:spcAft>
              <a:buClr>
                <a:schemeClr val="dk1"/>
              </a:buClr>
              <a:buSzPts val="1800"/>
              <a:buChar char="»"/>
              <a:defRPr sz="2400"/>
            </a:lvl5pPr>
            <a:lvl6pPr marL="3657418" lvl="5" indent="-457178" algn="l">
              <a:spcBef>
                <a:spcPts val="480"/>
              </a:spcBef>
              <a:spcAft>
                <a:spcPts val="0"/>
              </a:spcAft>
              <a:buClr>
                <a:schemeClr val="dk1"/>
              </a:buClr>
              <a:buSzPts val="1800"/>
              <a:buChar char="•"/>
              <a:defRPr sz="2400"/>
            </a:lvl6pPr>
            <a:lvl7pPr marL="4266986" lvl="6" indent="-457178" algn="l">
              <a:spcBef>
                <a:spcPts val="480"/>
              </a:spcBef>
              <a:spcAft>
                <a:spcPts val="0"/>
              </a:spcAft>
              <a:buClr>
                <a:schemeClr val="dk1"/>
              </a:buClr>
              <a:buSzPts val="1800"/>
              <a:buChar char="•"/>
              <a:defRPr sz="2400"/>
            </a:lvl7pPr>
            <a:lvl8pPr marL="4876556" lvl="7" indent="-457178" algn="l">
              <a:spcBef>
                <a:spcPts val="480"/>
              </a:spcBef>
              <a:spcAft>
                <a:spcPts val="0"/>
              </a:spcAft>
              <a:buClr>
                <a:schemeClr val="dk1"/>
              </a:buClr>
              <a:buSzPts val="1800"/>
              <a:buChar char="•"/>
              <a:defRPr sz="2400"/>
            </a:lvl8pPr>
            <a:lvl9pPr marL="5486126" lvl="8" indent="-457178" algn="l">
              <a:spcBef>
                <a:spcPts val="480"/>
              </a:spcBef>
              <a:spcAft>
                <a:spcPts val="0"/>
              </a:spcAft>
              <a:buClr>
                <a:schemeClr val="dk1"/>
              </a:buClr>
              <a:buSzPts val="1800"/>
              <a:buChar char="•"/>
              <a:defRPr sz="2400"/>
            </a:lvl9pPr>
          </a:lstStyle>
          <a:p>
            <a:endParaRPr/>
          </a:p>
        </p:txBody>
      </p:sp>
      <p:sp>
        <p:nvSpPr>
          <p:cNvPr id="36" name="Google Shape;36;p41"/>
          <p:cNvSpPr txBox="1">
            <a:spLocks noGrp="1"/>
          </p:cNvSpPr>
          <p:nvPr>
            <p:ph type="body" idx="2"/>
          </p:nvPr>
        </p:nvSpPr>
        <p:spPr>
          <a:xfrm>
            <a:off x="6197601" y="2133602"/>
            <a:ext cx="5384800" cy="6034617"/>
          </a:xfrm>
          <a:prstGeom prst="rect">
            <a:avLst/>
          </a:prstGeom>
          <a:noFill/>
          <a:ln>
            <a:noFill/>
          </a:ln>
        </p:spPr>
        <p:txBody>
          <a:bodyPr spcFirstLastPara="1" wrap="square" lIns="91425" tIns="45700" rIns="91425" bIns="45700" anchor="t" anchorCtr="0">
            <a:normAutofit/>
          </a:bodyPr>
          <a:lstStyle>
            <a:lvl1pPr marL="609570" lvl="0" indent="-541840" algn="l">
              <a:spcBef>
                <a:spcPts val="747"/>
              </a:spcBef>
              <a:spcAft>
                <a:spcPts val="0"/>
              </a:spcAft>
              <a:buClr>
                <a:schemeClr val="dk1"/>
              </a:buClr>
              <a:buSzPts val="2800"/>
              <a:buChar char="•"/>
              <a:defRPr sz="3733"/>
            </a:lvl1pPr>
            <a:lvl2pPr marL="1219139" lvl="1" indent="-507974" algn="l">
              <a:spcBef>
                <a:spcPts val="640"/>
              </a:spcBef>
              <a:spcAft>
                <a:spcPts val="0"/>
              </a:spcAft>
              <a:buClr>
                <a:schemeClr val="dk1"/>
              </a:buClr>
              <a:buSzPts val="2400"/>
              <a:buChar char="–"/>
              <a:defRPr sz="3200"/>
            </a:lvl2pPr>
            <a:lvl3pPr marL="1828709" lvl="2" indent="-474110" algn="l">
              <a:spcBef>
                <a:spcPts val="533"/>
              </a:spcBef>
              <a:spcAft>
                <a:spcPts val="0"/>
              </a:spcAft>
              <a:buClr>
                <a:schemeClr val="dk1"/>
              </a:buClr>
              <a:buSzPts val="2000"/>
              <a:buChar char="•"/>
              <a:defRPr sz="2667"/>
            </a:lvl3pPr>
            <a:lvl4pPr marL="2438278" lvl="3" indent="-457178" algn="l">
              <a:spcBef>
                <a:spcPts val="480"/>
              </a:spcBef>
              <a:spcAft>
                <a:spcPts val="0"/>
              </a:spcAft>
              <a:buClr>
                <a:schemeClr val="dk1"/>
              </a:buClr>
              <a:buSzPts val="1800"/>
              <a:buChar char="–"/>
              <a:defRPr sz="2400"/>
            </a:lvl4pPr>
            <a:lvl5pPr marL="3047848" lvl="4" indent="-457178" algn="l">
              <a:spcBef>
                <a:spcPts val="480"/>
              </a:spcBef>
              <a:spcAft>
                <a:spcPts val="0"/>
              </a:spcAft>
              <a:buClr>
                <a:schemeClr val="dk1"/>
              </a:buClr>
              <a:buSzPts val="1800"/>
              <a:buChar char="»"/>
              <a:defRPr sz="2400"/>
            </a:lvl5pPr>
            <a:lvl6pPr marL="3657418" lvl="5" indent="-457178" algn="l">
              <a:spcBef>
                <a:spcPts val="480"/>
              </a:spcBef>
              <a:spcAft>
                <a:spcPts val="0"/>
              </a:spcAft>
              <a:buClr>
                <a:schemeClr val="dk1"/>
              </a:buClr>
              <a:buSzPts val="1800"/>
              <a:buChar char="•"/>
              <a:defRPr sz="2400"/>
            </a:lvl6pPr>
            <a:lvl7pPr marL="4266986" lvl="6" indent="-457178" algn="l">
              <a:spcBef>
                <a:spcPts val="480"/>
              </a:spcBef>
              <a:spcAft>
                <a:spcPts val="0"/>
              </a:spcAft>
              <a:buClr>
                <a:schemeClr val="dk1"/>
              </a:buClr>
              <a:buSzPts val="1800"/>
              <a:buChar char="•"/>
              <a:defRPr sz="2400"/>
            </a:lvl7pPr>
            <a:lvl8pPr marL="4876556" lvl="7" indent="-457178" algn="l">
              <a:spcBef>
                <a:spcPts val="480"/>
              </a:spcBef>
              <a:spcAft>
                <a:spcPts val="0"/>
              </a:spcAft>
              <a:buClr>
                <a:schemeClr val="dk1"/>
              </a:buClr>
              <a:buSzPts val="1800"/>
              <a:buChar char="•"/>
              <a:defRPr sz="2400"/>
            </a:lvl8pPr>
            <a:lvl9pPr marL="5486126" lvl="8" indent="-457178" algn="l">
              <a:spcBef>
                <a:spcPts val="480"/>
              </a:spcBef>
              <a:spcAft>
                <a:spcPts val="0"/>
              </a:spcAft>
              <a:buClr>
                <a:schemeClr val="dk1"/>
              </a:buClr>
              <a:buSzPts val="1800"/>
              <a:buChar char="•"/>
              <a:defRPr sz="2400"/>
            </a:lvl9pPr>
          </a:lstStyle>
          <a:p>
            <a:endParaRPr/>
          </a:p>
        </p:txBody>
      </p:sp>
      <p:sp>
        <p:nvSpPr>
          <p:cNvPr id="37" name="Google Shape;37;p41"/>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8" name="Google Shape;38;p41"/>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39" name="Google Shape;39;p41"/>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599485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609601" y="2046817"/>
            <a:ext cx="5386917" cy="853016"/>
          </a:xfrm>
          <a:prstGeom prst="rect">
            <a:avLst/>
          </a:prstGeom>
          <a:noFill/>
          <a:ln>
            <a:noFill/>
          </a:ln>
        </p:spPr>
        <p:txBody>
          <a:bodyPr spcFirstLastPara="1" wrap="square" lIns="91425" tIns="45700" rIns="91425" bIns="45700" anchor="b" anchorCtr="0">
            <a:normAutofit/>
          </a:bodyPr>
          <a:lstStyle>
            <a:lvl1pPr marL="609570" lvl="0" indent="-304784" algn="l">
              <a:spcBef>
                <a:spcPts val="640"/>
              </a:spcBef>
              <a:spcAft>
                <a:spcPts val="0"/>
              </a:spcAft>
              <a:buClr>
                <a:schemeClr val="dk1"/>
              </a:buClr>
              <a:buSzPts val="2400"/>
              <a:buNone/>
              <a:defRPr sz="3200" b="1"/>
            </a:lvl1pPr>
            <a:lvl2pPr marL="1219139" lvl="1" indent="-304784" algn="l">
              <a:spcBef>
                <a:spcPts val="533"/>
              </a:spcBef>
              <a:spcAft>
                <a:spcPts val="0"/>
              </a:spcAft>
              <a:buClr>
                <a:schemeClr val="dk1"/>
              </a:buClr>
              <a:buSzPts val="2000"/>
              <a:buNone/>
              <a:defRPr sz="2667" b="1"/>
            </a:lvl2pPr>
            <a:lvl3pPr marL="1828709" lvl="2" indent="-304784" algn="l">
              <a:spcBef>
                <a:spcPts val="480"/>
              </a:spcBef>
              <a:spcAft>
                <a:spcPts val="0"/>
              </a:spcAft>
              <a:buClr>
                <a:schemeClr val="dk1"/>
              </a:buClr>
              <a:buSzPts val="1800"/>
              <a:buNone/>
              <a:defRPr sz="2400" b="1"/>
            </a:lvl3pPr>
            <a:lvl4pPr marL="2438278" lvl="3" indent="-304784" algn="l">
              <a:spcBef>
                <a:spcPts val="427"/>
              </a:spcBef>
              <a:spcAft>
                <a:spcPts val="0"/>
              </a:spcAft>
              <a:buClr>
                <a:schemeClr val="dk1"/>
              </a:buClr>
              <a:buSzPts val="1600"/>
              <a:buNone/>
              <a:defRPr sz="2133" b="1"/>
            </a:lvl4pPr>
            <a:lvl5pPr marL="3047848" lvl="4" indent="-304784" algn="l">
              <a:spcBef>
                <a:spcPts val="427"/>
              </a:spcBef>
              <a:spcAft>
                <a:spcPts val="0"/>
              </a:spcAft>
              <a:buClr>
                <a:schemeClr val="dk1"/>
              </a:buClr>
              <a:buSzPts val="1600"/>
              <a:buNone/>
              <a:defRPr sz="2133" b="1"/>
            </a:lvl5pPr>
            <a:lvl6pPr marL="3657418" lvl="5" indent="-304784" algn="l">
              <a:spcBef>
                <a:spcPts val="427"/>
              </a:spcBef>
              <a:spcAft>
                <a:spcPts val="0"/>
              </a:spcAft>
              <a:buClr>
                <a:schemeClr val="dk1"/>
              </a:buClr>
              <a:buSzPts val="1600"/>
              <a:buNone/>
              <a:defRPr sz="2133" b="1"/>
            </a:lvl6pPr>
            <a:lvl7pPr marL="4266986" lvl="6" indent="-304784" algn="l">
              <a:spcBef>
                <a:spcPts val="427"/>
              </a:spcBef>
              <a:spcAft>
                <a:spcPts val="0"/>
              </a:spcAft>
              <a:buClr>
                <a:schemeClr val="dk1"/>
              </a:buClr>
              <a:buSzPts val="1600"/>
              <a:buNone/>
              <a:defRPr sz="2133" b="1"/>
            </a:lvl7pPr>
            <a:lvl8pPr marL="4876556" lvl="7" indent="-304784" algn="l">
              <a:spcBef>
                <a:spcPts val="427"/>
              </a:spcBef>
              <a:spcAft>
                <a:spcPts val="0"/>
              </a:spcAft>
              <a:buClr>
                <a:schemeClr val="dk1"/>
              </a:buClr>
              <a:buSzPts val="1600"/>
              <a:buNone/>
              <a:defRPr sz="2133" b="1"/>
            </a:lvl8pPr>
            <a:lvl9pPr marL="5486126" lvl="8" indent="-304784" algn="l">
              <a:spcBef>
                <a:spcPts val="427"/>
              </a:spcBef>
              <a:spcAft>
                <a:spcPts val="0"/>
              </a:spcAft>
              <a:buClr>
                <a:schemeClr val="dk1"/>
              </a:buClr>
              <a:buSzPts val="1600"/>
              <a:buNone/>
              <a:defRPr sz="2133" b="1"/>
            </a:lvl9pPr>
          </a:lstStyle>
          <a:p>
            <a:endParaRPr/>
          </a:p>
        </p:txBody>
      </p:sp>
      <p:sp>
        <p:nvSpPr>
          <p:cNvPr id="43" name="Google Shape;43;p42"/>
          <p:cNvSpPr txBox="1">
            <a:spLocks noGrp="1"/>
          </p:cNvSpPr>
          <p:nvPr>
            <p:ph type="body" idx="2"/>
          </p:nvPr>
        </p:nvSpPr>
        <p:spPr>
          <a:xfrm>
            <a:off x="609601" y="2899833"/>
            <a:ext cx="5386917" cy="5268384"/>
          </a:xfrm>
          <a:prstGeom prst="rect">
            <a:avLst/>
          </a:prstGeom>
          <a:noFill/>
          <a:ln>
            <a:noFill/>
          </a:ln>
        </p:spPr>
        <p:txBody>
          <a:bodyPr spcFirstLastPara="1" wrap="square" lIns="91425" tIns="45700" rIns="91425" bIns="45700" anchor="t" anchorCtr="0">
            <a:normAutofit/>
          </a:bodyPr>
          <a:lstStyle>
            <a:lvl1pPr marL="609570" lvl="0" indent="-507974" algn="l">
              <a:spcBef>
                <a:spcPts val="640"/>
              </a:spcBef>
              <a:spcAft>
                <a:spcPts val="0"/>
              </a:spcAft>
              <a:buClr>
                <a:schemeClr val="dk1"/>
              </a:buClr>
              <a:buSzPts val="2400"/>
              <a:buChar char="•"/>
              <a:defRPr sz="3200"/>
            </a:lvl1pPr>
            <a:lvl2pPr marL="1219139" lvl="1" indent="-474110" algn="l">
              <a:spcBef>
                <a:spcPts val="533"/>
              </a:spcBef>
              <a:spcAft>
                <a:spcPts val="0"/>
              </a:spcAft>
              <a:buClr>
                <a:schemeClr val="dk1"/>
              </a:buClr>
              <a:buSzPts val="2000"/>
              <a:buChar char="–"/>
              <a:defRPr sz="2667"/>
            </a:lvl2pPr>
            <a:lvl3pPr marL="1828709" lvl="2" indent="-457178" algn="l">
              <a:spcBef>
                <a:spcPts val="480"/>
              </a:spcBef>
              <a:spcAft>
                <a:spcPts val="0"/>
              </a:spcAft>
              <a:buClr>
                <a:schemeClr val="dk1"/>
              </a:buClr>
              <a:buSzPts val="1800"/>
              <a:buChar char="•"/>
              <a:defRPr sz="2400"/>
            </a:lvl3pPr>
            <a:lvl4pPr marL="2438278" lvl="3" indent="-440245" algn="l">
              <a:spcBef>
                <a:spcPts val="427"/>
              </a:spcBef>
              <a:spcAft>
                <a:spcPts val="0"/>
              </a:spcAft>
              <a:buClr>
                <a:schemeClr val="dk1"/>
              </a:buClr>
              <a:buSzPts val="1600"/>
              <a:buChar char="–"/>
              <a:defRPr sz="2133"/>
            </a:lvl4pPr>
            <a:lvl5pPr marL="3047848" lvl="4" indent="-440245" algn="l">
              <a:spcBef>
                <a:spcPts val="427"/>
              </a:spcBef>
              <a:spcAft>
                <a:spcPts val="0"/>
              </a:spcAft>
              <a:buClr>
                <a:schemeClr val="dk1"/>
              </a:buClr>
              <a:buSzPts val="1600"/>
              <a:buChar char="»"/>
              <a:defRPr sz="2133"/>
            </a:lvl5pPr>
            <a:lvl6pPr marL="3657418" lvl="5" indent="-440245" algn="l">
              <a:spcBef>
                <a:spcPts val="427"/>
              </a:spcBef>
              <a:spcAft>
                <a:spcPts val="0"/>
              </a:spcAft>
              <a:buClr>
                <a:schemeClr val="dk1"/>
              </a:buClr>
              <a:buSzPts val="1600"/>
              <a:buChar char="•"/>
              <a:defRPr sz="2133"/>
            </a:lvl6pPr>
            <a:lvl7pPr marL="4266986" lvl="6" indent="-440245" algn="l">
              <a:spcBef>
                <a:spcPts val="427"/>
              </a:spcBef>
              <a:spcAft>
                <a:spcPts val="0"/>
              </a:spcAft>
              <a:buClr>
                <a:schemeClr val="dk1"/>
              </a:buClr>
              <a:buSzPts val="1600"/>
              <a:buChar char="•"/>
              <a:defRPr sz="2133"/>
            </a:lvl7pPr>
            <a:lvl8pPr marL="4876556" lvl="7" indent="-440245" algn="l">
              <a:spcBef>
                <a:spcPts val="427"/>
              </a:spcBef>
              <a:spcAft>
                <a:spcPts val="0"/>
              </a:spcAft>
              <a:buClr>
                <a:schemeClr val="dk1"/>
              </a:buClr>
              <a:buSzPts val="1600"/>
              <a:buChar char="•"/>
              <a:defRPr sz="2133"/>
            </a:lvl8pPr>
            <a:lvl9pPr marL="5486126" lvl="8" indent="-440245" algn="l">
              <a:spcBef>
                <a:spcPts val="427"/>
              </a:spcBef>
              <a:spcAft>
                <a:spcPts val="0"/>
              </a:spcAft>
              <a:buClr>
                <a:schemeClr val="dk1"/>
              </a:buClr>
              <a:buSzPts val="1600"/>
              <a:buChar char="•"/>
              <a:defRPr sz="2133"/>
            </a:lvl9pPr>
          </a:lstStyle>
          <a:p>
            <a:endParaRPr/>
          </a:p>
        </p:txBody>
      </p:sp>
      <p:sp>
        <p:nvSpPr>
          <p:cNvPr id="44" name="Google Shape;44;p42"/>
          <p:cNvSpPr txBox="1">
            <a:spLocks noGrp="1"/>
          </p:cNvSpPr>
          <p:nvPr>
            <p:ph type="body" idx="3"/>
          </p:nvPr>
        </p:nvSpPr>
        <p:spPr>
          <a:xfrm>
            <a:off x="6193369" y="2046817"/>
            <a:ext cx="5389033" cy="853016"/>
          </a:xfrm>
          <a:prstGeom prst="rect">
            <a:avLst/>
          </a:prstGeom>
          <a:noFill/>
          <a:ln>
            <a:noFill/>
          </a:ln>
        </p:spPr>
        <p:txBody>
          <a:bodyPr spcFirstLastPara="1" wrap="square" lIns="91425" tIns="45700" rIns="91425" bIns="45700" anchor="b" anchorCtr="0">
            <a:normAutofit/>
          </a:bodyPr>
          <a:lstStyle>
            <a:lvl1pPr marL="609570" lvl="0" indent="-304784" algn="l">
              <a:spcBef>
                <a:spcPts val="640"/>
              </a:spcBef>
              <a:spcAft>
                <a:spcPts val="0"/>
              </a:spcAft>
              <a:buClr>
                <a:schemeClr val="dk1"/>
              </a:buClr>
              <a:buSzPts val="2400"/>
              <a:buNone/>
              <a:defRPr sz="3200" b="1"/>
            </a:lvl1pPr>
            <a:lvl2pPr marL="1219139" lvl="1" indent="-304784" algn="l">
              <a:spcBef>
                <a:spcPts val="533"/>
              </a:spcBef>
              <a:spcAft>
                <a:spcPts val="0"/>
              </a:spcAft>
              <a:buClr>
                <a:schemeClr val="dk1"/>
              </a:buClr>
              <a:buSzPts val="2000"/>
              <a:buNone/>
              <a:defRPr sz="2667" b="1"/>
            </a:lvl2pPr>
            <a:lvl3pPr marL="1828709" lvl="2" indent="-304784" algn="l">
              <a:spcBef>
                <a:spcPts val="480"/>
              </a:spcBef>
              <a:spcAft>
                <a:spcPts val="0"/>
              </a:spcAft>
              <a:buClr>
                <a:schemeClr val="dk1"/>
              </a:buClr>
              <a:buSzPts val="1800"/>
              <a:buNone/>
              <a:defRPr sz="2400" b="1"/>
            </a:lvl3pPr>
            <a:lvl4pPr marL="2438278" lvl="3" indent="-304784" algn="l">
              <a:spcBef>
                <a:spcPts val="427"/>
              </a:spcBef>
              <a:spcAft>
                <a:spcPts val="0"/>
              </a:spcAft>
              <a:buClr>
                <a:schemeClr val="dk1"/>
              </a:buClr>
              <a:buSzPts val="1600"/>
              <a:buNone/>
              <a:defRPr sz="2133" b="1"/>
            </a:lvl4pPr>
            <a:lvl5pPr marL="3047848" lvl="4" indent="-304784" algn="l">
              <a:spcBef>
                <a:spcPts val="427"/>
              </a:spcBef>
              <a:spcAft>
                <a:spcPts val="0"/>
              </a:spcAft>
              <a:buClr>
                <a:schemeClr val="dk1"/>
              </a:buClr>
              <a:buSzPts val="1600"/>
              <a:buNone/>
              <a:defRPr sz="2133" b="1"/>
            </a:lvl5pPr>
            <a:lvl6pPr marL="3657418" lvl="5" indent="-304784" algn="l">
              <a:spcBef>
                <a:spcPts val="427"/>
              </a:spcBef>
              <a:spcAft>
                <a:spcPts val="0"/>
              </a:spcAft>
              <a:buClr>
                <a:schemeClr val="dk1"/>
              </a:buClr>
              <a:buSzPts val="1600"/>
              <a:buNone/>
              <a:defRPr sz="2133" b="1"/>
            </a:lvl6pPr>
            <a:lvl7pPr marL="4266986" lvl="6" indent="-304784" algn="l">
              <a:spcBef>
                <a:spcPts val="427"/>
              </a:spcBef>
              <a:spcAft>
                <a:spcPts val="0"/>
              </a:spcAft>
              <a:buClr>
                <a:schemeClr val="dk1"/>
              </a:buClr>
              <a:buSzPts val="1600"/>
              <a:buNone/>
              <a:defRPr sz="2133" b="1"/>
            </a:lvl7pPr>
            <a:lvl8pPr marL="4876556" lvl="7" indent="-304784" algn="l">
              <a:spcBef>
                <a:spcPts val="427"/>
              </a:spcBef>
              <a:spcAft>
                <a:spcPts val="0"/>
              </a:spcAft>
              <a:buClr>
                <a:schemeClr val="dk1"/>
              </a:buClr>
              <a:buSzPts val="1600"/>
              <a:buNone/>
              <a:defRPr sz="2133" b="1"/>
            </a:lvl8pPr>
            <a:lvl9pPr marL="5486126" lvl="8" indent="-304784" algn="l">
              <a:spcBef>
                <a:spcPts val="427"/>
              </a:spcBef>
              <a:spcAft>
                <a:spcPts val="0"/>
              </a:spcAft>
              <a:buClr>
                <a:schemeClr val="dk1"/>
              </a:buClr>
              <a:buSzPts val="1600"/>
              <a:buNone/>
              <a:defRPr sz="2133" b="1"/>
            </a:lvl9pPr>
          </a:lstStyle>
          <a:p>
            <a:endParaRPr/>
          </a:p>
        </p:txBody>
      </p:sp>
      <p:sp>
        <p:nvSpPr>
          <p:cNvPr id="45" name="Google Shape;45;p42"/>
          <p:cNvSpPr txBox="1">
            <a:spLocks noGrp="1"/>
          </p:cNvSpPr>
          <p:nvPr>
            <p:ph type="body" idx="4"/>
          </p:nvPr>
        </p:nvSpPr>
        <p:spPr>
          <a:xfrm>
            <a:off x="6193369" y="2899833"/>
            <a:ext cx="5389033" cy="5268384"/>
          </a:xfrm>
          <a:prstGeom prst="rect">
            <a:avLst/>
          </a:prstGeom>
          <a:noFill/>
          <a:ln>
            <a:noFill/>
          </a:ln>
        </p:spPr>
        <p:txBody>
          <a:bodyPr spcFirstLastPara="1" wrap="square" lIns="91425" tIns="45700" rIns="91425" bIns="45700" anchor="t" anchorCtr="0">
            <a:normAutofit/>
          </a:bodyPr>
          <a:lstStyle>
            <a:lvl1pPr marL="609570" lvl="0" indent="-507974" algn="l">
              <a:spcBef>
                <a:spcPts val="640"/>
              </a:spcBef>
              <a:spcAft>
                <a:spcPts val="0"/>
              </a:spcAft>
              <a:buClr>
                <a:schemeClr val="dk1"/>
              </a:buClr>
              <a:buSzPts val="2400"/>
              <a:buChar char="•"/>
              <a:defRPr sz="3200"/>
            </a:lvl1pPr>
            <a:lvl2pPr marL="1219139" lvl="1" indent="-474110" algn="l">
              <a:spcBef>
                <a:spcPts val="533"/>
              </a:spcBef>
              <a:spcAft>
                <a:spcPts val="0"/>
              </a:spcAft>
              <a:buClr>
                <a:schemeClr val="dk1"/>
              </a:buClr>
              <a:buSzPts val="2000"/>
              <a:buChar char="–"/>
              <a:defRPr sz="2667"/>
            </a:lvl2pPr>
            <a:lvl3pPr marL="1828709" lvl="2" indent="-457178" algn="l">
              <a:spcBef>
                <a:spcPts val="480"/>
              </a:spcBef>
              <a:spcAft>
                <a:spcPts val="0"/>
              </a:spcAft>
              <a:buClr>
                <a:schemeClr val="dk1"/>
              </a:buClr>
              <a:buSzPts val="1800"/>
              <a:buChar char="•"/>
              <a:defRPr sz="2400"/>
            </a:lvl3pPr>
            <a:lvl4pPr marL="2438278" lvl="3" indent="-440245" algn="l">
              <a:spcBef>
                <a:spcPts val="427"/>
              </a:spcBef>
              <a:spcAft>
                <a:spcPts val="0"/>
              </a:spcAft>
              <a:buClr>
                <a:schemeClr val="dk1"/>
              </a:buClr>
              <a:buSzPts val="1600"/>
              <a:buChar char="–"/>
              <a:defRPr sz="2133"/>
            </a:lvl4pPr>
            <a:lvl5pPr marL="3047848" lvl="4" indent="-440245" algn="l">
              <a:spcBef>
                <a:spcPts val="427"/>
              </a:spcBef>
              <a:spcAft>
                <a:spcPts val="0"/>
              </a:spcAft>
              <a:buClr>
                <a:schemeClr val="dk1"/>
              </a:buClr>
              <a:buSzPts val="1600"/>
              <a:buChar char="»"/>
              <a:defRPr sz="2133"/>
            </a:lvl5pPr>
            <a:lvl6pPr marL="3657418" lvl="5" indent="-440245" algn="l">
              <a:spcBef>
                <a:spcPts val="427"/>
              </a:spcBef>
              <a:spcAft>
                <a:spcPts val="0"/>
              </a:spcAft>
              <a:buClr>
                <a:schemeClr val="dk1"/>
              </a:buClr>
              <a:buSzPts val="1600"/>
              <a:buChar char="•"/>
              <a:defRPr sz="2133"/>
            </a:lvl6pPr>
            <a:lvl7pPr marL="4266986" lvl="6" indent="-440245" algn="l">
              <a:spcBef>
                <a:spcPts val="427"/>
              </a:spcBef>
              <a:spcAft>
                <a:spcPts val="0"/>
              </a:spcAft>
              <a:buClr>
                <a:schemeClr val="dk1"/>
              </a:buClr>
              <a:buSzPts val="1600"/>
              <a:buChar char="•"/>
              <a:defRPr sz="2133"/>
            </a:lvl7pPr>
            <a:lvl8pPr marL="4876556" lvl="7" indent="-440245" algn="l">
              <a:spcBef>
                <a:spcPts val="427"/>
              </a:spcBef>
              <a:spcAft>
                <a:spcPts val="0"/>
              </a:spcAft>
              <a:buClr>
                <a:schemeClr val="dk1"/>
              </a:buClr>
              <a:buSzPts val="1600"/>
              <a:buChar char="•"/>
              <a:defRPr sz="2133"/>
            </a:lvl8pPr>
            <a:lvl9pPr marL="5486126" lvl="8" indent="-440245" algn="l">
              <a:spcBef>
                <a:spcPts val="427"/>
              </a:spcBef>
              <a:spcAft>
                <a:spcPts val="0"/>
              </a:spcAft>
              <a:buClr>
                <a:schemeClr val="dk1"/>
              </a:buClr>
              <a:buSzPts val="1600"/>
              <a:buChar char="•"/>
              <a:defRPr sz="2133"/>
            </a:lvl9pPr>
          </a:lstStyle>
          <a:p>
            <a:endParaRPr/>
          </a:p>
        </p:txBody>
      </p:sp>
      <p:sp>
        <p:nvSpPr>
          <p:cNvPr id="46" name="Google Shape;46;p42"/>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47" name="Google Shape;47;p42"/>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48" name="Google Shape;48;p42"/>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04580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52" name="Google Shape;52;p43"/>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53" name="Google Shape;53;p43"/>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09194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609601" y="364068"/>
            <a:ext cx="4011084" cy="1549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4766734" y="364068"/>
            <a:ext cx="6815667" cy="7804151"/>
          </a:xfrm>
          <a:prstGeom prst="rect">
            <a:avLst/>
          </a:prstGeom>
          <a:noFill/>
          <a:ln>
            <a:noFill/>
          </a:ln>
        </p:spPr>
        <p:txBody>
          <a:bodyPr spcFirstLastPara="1" wrap="square" lIns="91425" tIns="45700" rIns="91425" bIns="45700" anchor="t" anchorCtr="0">
            <a:normAutofit/>
          </a:bodyPr>
          <a:lstStyle>
            <a:lvl1pPr marL="609570" lvl="0" indent="-575705" algn="l">
              <a:spcBef>
                <a:spcPts val="853"/>
              </a:spcBef>
              <a:spcAft>
                <a:spcPts val="0"/>
              </a:spcAft>
              <a:buClr>
                <a:schemeClr val="dk1"/>
              </a:buClr>
              <a:buSzPts val="3200"/>
              <a:buChar char="•"/>
              <a:defRPr sz="4267"/>
            </a:lvl1pPr>
            <a:lvl2pPr marL="1219139" lvl="1" indent="-541840" algn="l">
              <a:spcBef>
                <a:spcPts val="747"/>
              </a:spcBef>
              <a:spcAft>
                <a:spcPts val="0"/>
              </a:spcAft>
              <a:buClr>
                <a:schemeClr val="dk1"/>
              </a:buClr>
              <a:buSzPts val="2800"/>
              <a:buChar char="–"/>
              <a:defRPr sz="3733"/>
            </a:lvl2pPr>
            <a:lvl3pPr marL="1828709" lvl="2" indent="-507974" algn="l">
              <a:spcBef>
                <a:spcPts val="640"/>
              </a:spcBef>
              <a:spcAft>
                <a:spcPts val="0"/>
              </a:spcAft>
              <a:buClr>
                <a:schemeClr val="dk1"/>
              </a:buClr>
              <a:buSzPts val="2400"/>
              <a:buChar char="•"/>
              <a:defRPr sz="3200"/>
            </a:lvl3pPr>
            <a:lvl4pPr marL="2438278" lvl="3" indent="-474110" algn="l">
              <a:spcBef>
                <a:spcPts val="533"/>
              </a:spcBef>
              <a:spcAft>
                <a:spcPts val="0"/>
              </a:spcAft>
              <a:buClr>
                <a:schemeClr val="dk1"/>
              </a:buClr>
              <a:buSzPts val="2000"/>
              <a:buChar char="–"/>
              <a:defRPr sz="2667"/>
            </a:lvl4pPr>
            <a:lvl5pPr marL="3047848" lvl="4" indent="-474110" algn="l">
              <a:spcBef>
                <a:spcPts val="533"/>
              </a:spcBef>
              <a:spcAft>
                <a:spcPts val="0"/>
              </a:spcAft>
              <a:buClr>
                <a:schemeClr val="dk1"/>
              </a:buClr>
              <a:buSzPts val="2000"/>
              <a:buChar char="»"/>
              <a:defRPr sz="2667"/>
            </a:lvl5pPr>
            <a:lvl6pPr marL="3657418" lvl="5" indent="-474110" algn="l">
              <a:spcBef>
                <a:spcPts val="533"/>
              </a:spcBef>
              <a:spcAft>
                <a:spcPts val="0"/>
              </a:spcAft>
              <a:buClr>
                <a:schemeClr val="dk1"/>
              </a:buClr>
              <a:buSzPts val="2000"/>
              <a:buChar char="•"/>
              <a:defRPr sz="2667"/>
            </a:lvl6pPr>
            <a:lvl7pPr marL="4266986" lvl="6" indent="-474110" algn="l">
              <a:spcBef>
                <a:spcPts val="533"/>
              </a:spcBef>
              <a:spcAft>
                <a:spcPts val="0"/>
              </a:spcAft>
              <a:buClr>
                <a:schemeClr val="dk1"/>
              </a:buClr>
              <a:buSzPts val="2000"/>
              <a:buChar char="•"/>
              <a:defRPr sz="2667"/>
            </a:lvl7pPr>
            <a:lvl8pPr marL="4876556" lvl="7" indent="-474110" algn="l">
              <a:spcBef>
                <a:spcPts val="533"/>
              </a:spcBef>
              <a:spcAft>
                <a:spcPts val="0"/>
              </a:spcAft>
              <a:buClr>
                <a:schemeClr val="dk1"/>
              </a:buClr>
              <a:buSzPts val="2000"/>
              <a:buChar char="•"/>
              <a:defRPr sz="2667"/>
            </a:lvl8pPr>
            <a:lvl9pPr marL="5486126" lvl="8" indent="-474110" algn="l">
              <a:spcBef>
                <a:spcPts val="533"/>
              </a:spcBef>
              <a:spcAft>
                <a:spcPts val="0"/>
              </a:spcAft>
              <a:buClr>
                <a:schemeClr val="dk1"/>
              </a:buClr>
              <a:buSzPts val="2000"/>
              <a:buChar char="•"/>
              <a:defRPr sz="2667"/>
            </a:lvl9pPr>
          </a:lstStyle>
          <a:p>
            <a:endParaRPr/>
          </a:p>
        </p:txBody>
      </p:sp>
      <p:sp>
        <p:nvSpPr>
          <p:cNvPr id="57" name="Google Shape;57;p44"/>
          <p:cNvSpPr txBox="1">
            <a:spLocks noGrp="1"/>
          </p:cNvSpPr>
          <p:nvPr>
            <p:ph type="body" idx="2"/>
          </p:nvPr>
        </p:nvSpPr>
        <p:spPr>
          <a:xfrm>
            <a:off x="609601" y="1913468"/>
            <a:ext cx="4011084" cy="6254751"/>
          </a:xfrm>
          <a:prstGeom prst="rect">
            <a:avLst/>
          </a:prstGeom>
          <a:noFill/>
          <a:ln>
            <a:noFill/>
          </a:ln>
        </p:spPr>
        <p:txBody>
          <a:bodyPr spcFirstLastPara="1" wrap="square" lIns="91425" tIns="45700" rIns="91425" bIns="45700" anchor="t" anchorCtr="0">
            <a:normAutofit/>
          </a:bodyPr>
          <a:lstStyle>
            <a:lvl1pPr marL="609570" lvl="0" indent="-304784" algn="l">
              <a:spcBef>
                <a:spcPts val="373"/>
              </a:spcBef>
              <a:spcAft>
                <a:spcPts val="0"/>
              </a:spcAft>
              <a:buClr>
                <a:schemeClr val="dk1"/>
              </a:buClr>
              <a:buSzPts val="1400"/>
              <a:buNone/>
              <a:defRPr sz="1867"/>
            </a:lvl1pPr>
            <a:lvl2pPr marL="1219139" lvl="1" indent="-304784" algn="l">
              <a:spcBef>
                <a:spcPts val="320"/>
              </a:spcBef>
              <a:spcAft>
                <a:spcPts val="0"/>
              </a:spcAft>
              <a:buClr>
                <a:schemeClr val="dk1"/>
              </a:buClr>
              <a:buSzPts val="1200"/>
              <a:buNone/>
              <a:defRPr sz="1600"/>
            </a:lvl2pPr>
            <a:lvl3pPr marL="1828709" lvl="2" indent="-304784" algn="l">
              <a:spcBef>
                <a:spcPts val="267"/>
              </a:spcBef>
              <a:spcAft>
                <a:spcPts val="0"/>
              </a:spcAft>
              <a:buClr>
                <a:schemeClr val="dk1"/>
              </a:buClr>
              <a:buSzPts val="1000"/>
              <a:buNone/>
              <a:defRPr sz="1333"/>
            </a:lvl3pPr>
            <a:lvl4pPr marL="2438278" lvl="3" indent="-304784" algn="l">
              <a:spcBef>
                <a:spcPts val="240"/>
              </a:spcBef>
              <a:spcAft>
                <a:spcPts val="0"/>
              </a:spcAft>
              <a:buClr>
                <a:schemeClr val="dk1"/>
              </a:buClr>
              <a:buSzPts val="900"/>
              <a:buNone/>
              <a:defRPr sz="1200"/>
            </a:lvl4pPr>
            <a:lvl5pPr marL="3047848" lvl="4" indent="-304784" algn="l">
              <a:spcBef>
                <a:spcPts val="240"/>
              </a:spcBef>
              <a:spcAft>
                <a:spcPts val="0"/>
              </a:spcAft>
              <a:buClr>
                <a:schemeClr val="dk1"/>
              </a:buClr>
              <a:buSzPts val="900"/>
              <a:buNone/>
              <a:defRPr sz="1200"/>
            </a:lvl5pPr>
            <a:lvl6pPr marL="3657418" lvl="5" indent="-304784" algn="l">
              <a:spcBef>
                <a:spcPts val="240"/>
              </a:spcBef>
              <a:spcAft>
                <a:spcPts val="0"/>
              </a:spcAft>
              <a:buClr>
                <a:schemeClr val="dk1"/>
              </a:buClr>
              <a:buSzPts val="900"/>
              <a:buNone/>
              <a:defRPr sz="1200"/>
            </a:lvl6pPr>
            <a:lvl7pPr marL="4266986" lvl="6" indent="-304784" algn="l">
              <a:spcBef>
                <a:spcPts val="240"/>
              </a:spcBef>
              <a:spcAft>
                <a:spcPts val="0"/>
              </a:spcAft>
              <a:buClr>
                <a:schemeClr val="dk1"/>
              </a:buClr>
              <a:buSzPts val="900"/>
              <a:buNone/>
              <a:defRPr sz="1200"/>
            </a:lvl7pPr>
            <a:lvl8pPr marL="4876556" lvl="7" indent="-304784" algn="l">
              <a:spcBef>
                <a:spcPts val="240"/>
              </a:spcBef>
              <a:spcAft>
                <a:spcPts val="0"/>
              </a:spcAft>
              <a:buClr>
                <a:schemeClr val="dk1"/>
              </a:buClr>
              <a:buSzPts val="900"/>
              <a:buNone/>
              <a:defRPr sz="1200"/>
            </a:lvl8pPr>
            <a:lvl9pPr marL="5486126" lvl="8" indent="-304784" algn="l">
              <a:spcBef>
                <a:spcPts val="240"/>
              </a:spcBef>
              <a:spcAft>
                <a:spcPts val="0"/>
              </a:spcAft>
              <a:buClr>
                <a:schemeClr val="dk1"/>
              </a:buClr>
              <a:buSzPts val="900"/>
              <a:buNone/>
              <a:defRPr sz="1200"/>
            </a:lvl9pPr>
          </a:lstStyle>
          <a:p>
            <a:endParaRPr/>
          </a:p>
        </p:txBody>
      </p:sp>
      <p:sp>
        <p:nvSpPr>
          <p:cNvPr id="58" name="Google Shape;58;p44"/>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59" name="Google Shape;59;p44"/>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60" name="Google Shape;60;p44"/>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321499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2389717" y="6400801"/>
            <a:ext cx="7315200" cy="75565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2389717" y="817033"/>
            <a:ext cx="7315200" cy="5486400"/>
          </a:xfrm>
          <a:prstGeom prst="rect">
            <a:avLst/>
          </a:prstGeom>
          <a:noFill/>
          <a:ln>
            <a:noFill/>
          </a:ln>
        </p:spPr>
        <p:txBody>
          <a:bodyPr/>
          <a:lstStyle/>
          <a:p>
            <a:endParaRPr lang="es-ES"/>
          </a:p>
        </p:txBody>
      </p:sp>
      <p:sp>
        <p:nvSpPr>
          <p:cNvPr id="64" name="Google Shape;64;p45"/>
          <p:cNvSpPr txBox="1">
            <a:spLocks noGrp="1"/>
          </p:cNvSpPr>
          <p:nvPr>
            <p:ph type="body" idx="1"/>
          </p:nvPr>
        </p:nvSpPr>
        <p:spPr>
          <a:xfrm>
            <a:off x="2389717" y="7156452"/>
            <a:ext cx="7315200" cy="1073149"/>
          </a:xfrm>
          <a:prstGeom prst="rect">
            <a:avLst/>
          </a:prstGeom>
          <a:noFill/>
          <a:ln>
            <a:noFill/>
          </a:ln>
        </p:spPr>
        <p:txBody>
          <a:bodyPr spcFirstLastPara="1" wrap="square" lIns="91425" tIns="45700" rIns="91425" bIns="45700" anchor="t" anchorCtr="0">
            <a:normAutofit/>
          </a:bodyPr>
          <a:lstStyle>
            <a:lvl1pPr marL="609570" lvl="0" indent="-304784" algn="l">
              <a:spcBef>
                <a:spcPts val="373"/>
              </a:spcBef>
              <a:spcAft>
                <a:spcPts val="0"/>
              </a:spcAft>
              <a:buClr>
                <a:schemeClr val="dk1"/>
              </a:buClr>
              <a:buSzPts val="1400"/>
              <a:buNone/>
              <a:defRPr sz="1867"/>
            </a:lvl1pPr>
            <a:lvl2pPr marL="1219139" lvl="1" indent="-304784" algn="l">
              <a:spcBef>
                <a:spcPts val="320"/>
              </a:spcBef>
              <a:spcAft>
                <a:spcPts val="0"/>
              </a:spcAft>
              <a:buClr>
                <a:schemeClr val="dk1"/>
              </a:buClr>
              <a:buSzPts val="1200"/>
              <a:buNone/>
              <a:defRPr sz="1600"/>
            </a:lvl2pPr>
            <a:lvl3pPr marL="1828709" lvl="2" indent="-304784" algn="l">
              <a:spcBef>
                <a:spcPts val="267"/>
              </a:spcBef>
              <a:spcAft>
                <a:spcPts val="0"/>
              </a:spcAft>
              <a:buClr>
                <a:schemeClr val="dk1"/>
              </a:buClr>
              <a:buSzPts val="1000"/>
              <a:buNone/>
              <a:defRPr sz="1333"/>
            </a:lvl3pPr>
            <a:lvl4pPr marL="2438278" lvl="3" indent="-304784" algn="l">
              <a:spcBef>
                <a:spcPts val="240"/>
              </a:spcBef>
              <a:spcAft>
                <a:spcPts val="0"/>
              </a:spcAft>
              <a:buClr>
                <a:schemeClr val="dk1"/>
              </a:buClr>
              <a:buSzPts val="900"/>
              <a:buNone/>
              <a:defRPr sz="1200"/>
            </a:lvl4pPr>
            <a:lvl5pPr marL="3047848" lvl="4" indent="-304784" algn="l">
              <a:spcBef>
                <a:spcPts val="240"/>
              </a:spcBef>
              <a:spcAft>
                <a:spcPts val="0"/>
              </a:spcAft>
              <a:buClr>
                <a:schemeClr val="dk1"/>
              </a:buClr>
              <a:buSzPts val="900"/>
              <a:buNone/>
              <a:defRPr sz="1200"/>
            </a:lvl5pPr>
            <a:lvl6pPr marL="3657418" lvl="5" indent="-304784" algn="l">
              <a:spcBef>
                <a:spcPts val="240"/>
              </a:spcBef>
              <a:spcAft>
                <a:spcPts val="0"/>
              </a:spcAft>
              <a:buClr>
                <a:schemeClr val="dk1"/>
              </a:buClr>
              <a:buSzPts val="900"/>
              <a:buNone/>
              <a:defRPr sz="1200"/>
            </a:lvl6pPr>
            <a:lvl7pPr marL="4266986" lvl="6" indent="-304784" algn="l">
              <a:spcBef>
                <a:spcPts val="240"/>
              </a:spcBef>
              <a:spcAft>
                <a:spcPts val="0"/>
              </a:spcAft>
              <a:buClr>
                <a:schemeClr val="dk1"/>
              </a:buClr>
              <a:buSzPts val="900"/>
              <a:buNone/>
              <a:defRPr sz="1200"/>
            </a:lvl7pPr>
            <a:lvl8pPr marL="4876556" lvl="7" indent="-304784" algn="l">
              <a:spcBef>
                <a:spcPts val="240"/>
              </a:spcBef>
              <a:spcAft>
                <a:spcPts val="0"/>
              </a:spcAft>
              <a:buClr>
                <a:schemeClr val="dk1"/>
              </a:buClr>
              <a:buSzPts val="900"/>
              <a:buNone/>
              <a:defRPr sz="1200"/>
            </a:lvl8pPr>
            <a:lvl9pPr marL="5486126" lvl="8" indent="-304784" algn="l">
              <a:spcBef>
                <a:spcPts val="240"/>
              </a:spcBef>
              <a:spcAft>
                <a:spcPts val="0"/>
              </a:spcAft>
              <a:buClr>
                <a:schemeClr val="dk1"/>
              </a:buClr>
              <a:buSzPts val="900"/>
              <a:buNone/>
              <a:defRPr sz="1200"/>
            </a:lvl9pPr>
          </a:lstStyle>
          <a:p>
            <a:endParaRPr/>
          </a:p>
        </p:txBody>
      </p:sp>
      <p:sp>
        <p:nvSpPr>
          <p:cNvPr id="65" name="Google Shape;65;p45"/>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66" name="Google Shape;66;p45"/>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67" name="Google Shape;67;p45"/>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035633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3078694" y="-335491"/>
            <a:ext cx="6034617" cy="10972800"/>
          </a:xfrm>
          <a:prstGeom prst="rect">
            <a:avLst/>
          </a:prstGeom>
          <a:noFill/>
          <a:ln>
            <a:noFill/>
          </a:ln>
        </p:spPr>
        <p:txBody>
          <a:bodyPr spcFirstLastPara="1" wrap="square" lIns="91425" tIns="45700" rIns="91425" bIns="45700" anchor="t" anchorCtr="0">
            <a:normAutofit/>
          </a:bodyPr>
          <a:lstStyle>
            <a:lvl1pPr marL="609570" lvl="0" indent="-457178" algn="l">
              <a:spcBef>
                <a:spcPts val="480"/>
              </a:spcBef>
              <a:spcAft>
                <a:spcPts val="0"/>
              </a:spcAft>
              <a:buClr>
                <a:schemeClr val="dk1"/>
              </a:buClr>
              <a:buSzPts val="1800"/>
              <a:buChar char="•"/>
              <a:defRPr/>
            </a:lvl1pPr>
            <a:lvl2pPr marL="1219139" lvl="1" indent="-457178" algn="l">
              <a:spcBef>
                <a:spcPts val="480"/>
              </a:spcBef>
              <a:spcAft>
                <a:spcPts val="0"/>
              </a:spcAft>
              <a:buClr>
                <a:schemeClr val="dk1"/>
              </a:buClr>
              <a:buSzPts val="1800"/>
              <a:buChar char="–"/>
              <a:defRPr/>
            </a:lvl2pPr>
            <a:lvl3pPr marL="1828709" lvl="2" indent="-457178" algn="l">
              <a:spcBef>
                <a:spcPts val="480"/>
              </a:spcBef>
              <a:spcAft>
                <a:spcPts val="0"/>
              </a:spcAft>
              <a:buClr>
                <a:schemeClr val="dk1"/>
              </a:buClr>
              <a:buSzPts val="1800"/>
              <a:buChar char="•"/>
              <a:defRPr/>
            </a:lvl3pPr>
            <a:lvl4pPr marL="2438278" lvl="3" indent="-457178" algn="l">
              <a:spcBef>
                <a:spcPts val="480"/>
              </a:spcBef>
              <a:spcAft>
                <a:spcPts val="0"/>
              </a:spcAft>
              <a:buClr>
                <a:schemeClr val="dk1"/>
              </a:buClr>
              <a:buSzPts val="1800"/>
              <a:buChar char="–"/>
              <a:defRPr/>
            </a:lvl4pPr>
            <a:lvl5pPr marL="3047848" lvl="4" indent="-457178" algn="l">
              <a:spcBef>
                <a:spcPts val="480"/>
              </a:spcBef>
              <a:spcAft>
                <a:spcPts val="0"/>
              </a:spcAft>
              <a:buClr>
                <a:schemeClr val="dk1"/>
              </a:buClr>
              <a:buSzPts val="1800"/>
              <a:buChar char="»"/>
              <a:defRPr/>
            </a:lvl5pPr>
            <a:lvl6pPr marL="3657418" lvl="5" indent="-457178" algn="l">
              <a:spcBef>
                <a:spcPts val="480"/>
              </a:spcBef>
              <a:spcAft>
                <a:spcPts val="0"/>
              </a:spcAft>
              <a:buClr>
                <a:schemeClr val="dk1"/>
              </a:buClr>
              <a:buSzPts val="1800"/>
              <a:buChar char="•"/>
              <a:defRPr/>
            </a:lvl6pPr>
            <a:lvl7pPr marL="4266986" lvl="6" indent="-457178" algn="l">
              <a:spcBef>
                <a:spcPts val="480"/>
              </a:spcBef>
              <a:spcAft>
                <a:spcPts val="0"/>
              </a:spcAft>
              <a:buClr>
                <a:schemeClr val="dk1"/>
              </a:buClr>
              <a:buSzPts val="1800"/>
              <a:buChar char="•"/>
              <a:defRPr/>
            </a:lvl7pPr>
            <a:lvl8pPr marL="4876556" lvl="7" indent="-457178" algn="l">
              <a:spcBef>
                <a:spcPts val="480"/>
              </a:spcBef>
              <a:spcAft>
                <a:spcPts val="0"/>
              </a:spcAft>
              <a:buClr>
                <a:schemeClr val="dk1"/>
              </a:buClr>
              <a:buSzPts val="1800"/>
              <a:buChar char="•"/>
              <a:defRPr/>
            </a:lvl8pPr>
            <a:lvl9pPr marL="5486126" lvl="8" indent="-457178" algn="l">
              <a:spcBef>
                <a:spcPts val="48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2" name="Google Shape;72;p46"/>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3" name="Google Shape;73;p46"/>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6795347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6309786" y="2895601"/>
            <a:ext cx="7802033"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721786" y="254001"/>
            <a:ext cx="7802033" cy="8026400"/>
          </a:xfrm>
          <a:prstGeom prst="rect">
            <a:avLst/>
          </a:prstGeom>
          <a:noFill/>
          <a:ln>
            <a:noFill/>
          </a:ln>
        </p:spPr>
        <p:txBody>
          <a:bodyPr spcFirstLastPara="1" wrap="square" lIns="91425" tIns="45700" rIns="91425" bIns="45700" anchor="t" anchorCtr="0">
            <a:normAutofit/>
          </a:bodyPr>
          <a:lstStyle>
            <a:lvl1pPr marL="609570" lvl="0" indent="-457178" algn="l">
              <a:spcBef>
                <a:spcPts val="480"/>
              </a:spcBef>
              <a:spcAft>
                <a:spcPts val="0"/>
              </a:spcAft>
              <a:buClr>
                <a:schemeClr val="dk1"/>
              </a:buClr>
              <a:buSzPts val="1800"/>
              <a:buChar char="•"/>
              <a:defRPr/>
            </a:lvl1pPr>
            <a:lvl2pPr marL="1219139" lvl="1" indent="-457178" algn="l">
              <a:spcBef>
                <a:spcPts val="480"/>
              </a:spcBef>
              <a:spcAft>
                <a:spcPts val="0"/>
              </a:spcAft>
              <a:buClr>
                <a:schemeClr val="dk1"/>
              </a:buClr>
              <a:buSzPts val="1800"/>
              <a:buChar char="–"/>
              <a:defRPr/>
            </a:lvl2pPr>
            <a:lvl3pPr marL="1828709" lvl="2" indent="-457178" algn="l">
              <a:spcBef>
                <a:spcPts val="480"/>
              </a:spcBef>
              <a:spcAft>
                <a:spcPts val="0"/>
              </a:spcAft>
              <a:buClr>
                <a:schemeClr val="dk1"/>
              </a:buClr>
              <a:buSzPts val="1800"/>
              <a:buChar char="•"/>
              <a:defRPr/>
            </a:lvl3pPr>
            <a:lvl4pPr marL="2438278" lvl="3" indent="-457178" algn="l">
              <a:spcBef>
                <a:spcPts val="480"/>
              </a:spcBef>
              <a:spcAft>
                <a:spcPts val="0"/>
              </a:spcAft>
              <a:buClr>
                <a:schemeClr val="dk1"/>
              </a:buClr>
              <a:buSzPts val="1800"/>
              <a:buChar char="–"/>
              <a:defRPr/>
            </a:lvl4pPr>
            <a:lvl5pPr marL="3047848" lvl="4" indent="-457178" algn="l">
              <a:spcBef>
                <a:spcPts val="480"/>
              </a:spcBef>
              <a:spcAft>
                <a:spcPts val="0"/>
              </a:spcAft>
              <a:buClr>
                <a:schemeClr val="dk1"/>
              </a:buClr>
              <a:buSzPts val="1800"/>
              <a:buChar char="»"/>
              <a:defRPr/>
            </a:lvl5pPr>
            <a:lvl6pPr marL="3657418" lvl="5" indent="-457178" algn="l">
              <a:spcBef>
                <a:spcPts val="480"/>
              </a:spcBef>
              <a:spcAft>
                <a:spcPts val="0"/>
              </a:spcAft>
              <a:buClr>
                <a:schemeClr val="dk1"/>
              </a:buClr>
              <a:buSzPts val="1800"/>
              <a:buChar char="•"/>
              <a:defRPr/>
            </a:lvl6pPr>
            <a:lvl7pPr marL="4266986" lvl="6" indent="-457178" algn="l">
              <a:spcBef>
                <a:spcPts val="480"/>
              </a:spcBef>
              <a:spcAft>
                <a:spcPts val="0"/>
              </a:spcAft>
              <a:buClr>
                <a:schemeClr val="dk1"/>
              </a:buClr>
              <a:buSzPts val="1800"/>
              <a:buChar char="•"/>
              <a:defRPr/>
            </a:lvl7pPr>
            <a:lvl8pPr marL="4876556" lvl="7" indent="-457178" algn="l">
              <a:spcBef>
                <a:spcPts val="480"/>
              </a:spcBef>
              <a:spcAft>
                <a:spcPts val="0"/>
              </a:spcAft>
              <a:buClr>
                <a:schemeClr val="dk1"/>
              </a:buClr>
              <a:buSzPts val="1800"/>
              <a:buChar char="•"/>
              <a:defRPr/>
            </a:lvl8pPr>
            <a:lvl9pPr marL="5486126" lvl="8" indent="-457178" algn="l">
              <a:spcBef>
                <a:spcPts val="48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8" name="Google Shape;78;p47"/>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79" name="Google Shape;79;p47"/>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21192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869777"/>
      </p:ext>
    </p:extLst>
  </p:cSld>
  <p:clrMap bg1="lt1" tx1="dk1" bg2="lt2" tx2="dk2" accent1="accent1" accent2="accent2" accent3="accent3" accent4="accent4" accent5="accent5" accent6="accent6" hlink="hlink" folHlink="folHlink"/>
  <p:sldLayoutIdLst>
    <p:sldLayoutId id="2147483662" r:id="rId1"/>
    <p:sldLayoutId id="2147483663"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609600" y="2133602"/>
            <a:ext cx="10972800" cy="6034617"/>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6"/>
          <p:cNvSpPr txBox="1">
            <a:spLocks noGrp="1"/>
          </p:cNvSpPr>
          <p:nvPr>
            <p:ph type="dt" idx="10"/>
          </p:nvPr>
        </p:nvSpPr>
        <p:spPr>
          <a:xfrm>
            <a:off x="609601" y="8475135"/>
            <a:ext cx="284480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pPr marL="0" marR="0" lvl="0" indent="0" algn="l"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9" name="Google Shape;9;p36"/>
          <p:cNvSpPr txBox="1">
            <a:spLocks noGrp="1"/>
          </p:cNvSpPr>
          <p:nvPr>
            <p:ph type="ftr" idx="11"/>
          </p:nvPr>
        </p:nvSpPr>
        <p:spPr>
          <a:xfrm>
            <a:off x="4165601" y="8475135"/>
            <a:ext cx="3860800"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pPr marL="0" marR="0" lvl="0" indent="0" algn="ctr" defTabSz="1219139" rtl="0" eaLnBrk="1" fontAlgn="auto" latinLnBrk="0" hangingPunct="1">
              <a:lnSpc>
                <a:spcPct val="100000"/>
              </a:lnSpc>
              <a:spcBef>
                <a:spcPts val="0"/>
              </a:spcBef>
              <a:spcAft>
                <a:spcPts val="0"/>
              </a:spcAft>
              <a:buClr>
                <a:srgbClr val="000000"/>
              </a:buClr>
              <a:buSzPts val="1400"/>
              <a:buFontTx/>
              <a:buNone/>
              <a:tabLst/>
              <a:defRPr/>
            </a:pPr>
            <a:endParaRPr kumimoji="0" lang="es-E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0" name="Google Shape;10;p36"/>
          <p:cNvSpPr txBox="1">
            <a:spLocks noGrp="1"/>
          </p:cNvSpPr>
          <p:nvPr>
            <p:ph type="sldNum" idx="12"/>
          </p:nvPr>
        </p:nvSpPr>
        <p:spPr>
          <a:xfrm>
            <a:off x="8737600" y="8475135"/>
            <a:ext cx="284480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b="0" i="0" u="none" strike="noStrike" cap="none">
                <a:solidFill>
                  <a:srgbClr val="888888"/>
                </a:solidFill>
                <a:latin typeface="Calibri"/>
                <a:ea typeface="Calibri"/>
                <a:cs typeface="Calibri"/>
                <a:sym typeface="Calibri"/>
              </a:defRPr>
            </a:lvl1pPr>
            <a:lvl2pPr marL="0" marR="0" lvl="1" indent="0" algn="r" rtl="0">
              <a:spcBef>
                <a:spcPts val="0"/>
              </a:spcBef>
              <a:buNone/>
              <a:defRPr sz="1600" b="0" i="0" u="none" strike="noStrike" cap="none">
                <a:solidFill>
                  <a:srgbClr val="888888"/>
                </a:solidFill>
                <a:latin typeface="Calibri"/>
                <a:ea typeface="Calibri"/>
                <a:cs typeface="Calibri"/>
                <a:sym typeface="Calibri"/>
              </a:defRPr>
            </a:lvl2pPr>
            <a:lvl3pPr marL="0" marR="0" lvl="2" indent="0" algn="r" rtl="0">
              <a:spcBef>
                <a:spcPts val="0"/>
              </a:spcBef>
              <a:buNone/>
              <a:defRPr sz="1600" b="0" i="0" u="none" strike="noStrike" cap="none">
                <a:solidFill>
                  <a:srgbClr val="888888"/>
                </a:solidFill>
                <a:latin typeface="Calibri"/>
                <a:ea typeface="Calibri"/>
                <a:cs typeface="Calibri"/>
                <a:sym typeface="Calibri"/>
              </a:defRPr>
            </a:lvl3pPr>
            <a:lvl4pPr marL="0" marR="0" lvl="3" indent="0" algn="r" rtl="0">
              <a:spcBef>
                <a:spcPts val="0"/>
              </a:spcBef>
              <a:buNone/>
              <a:defRPr sz="1600" b="0" i="0" u="none" strike="noStrike" cap="none">
                <a:solidFill>
                  <a:srgbClr val="888888"/>
                </a:solidFill>
                <a:latin typeface="Calibri"/>
                <a:ea typeface="Calibri"/>
                <a:cs typeface="Calibri"/>
                <a:sym typeface="Calibri"/>
              </a:defRPr>
            </a:lvl4pPr>
            <a:lvl5pPr marL="0" marR="0" lvl="4" indent="0" algn="r" rtl="0">
              <a:spcBef>
                <a:spcPts val="0"/>
              </a:spcBef>
              <a:buNone/>
              <a:defRPr sz="1600" b="0" i="0" u="none" strike="noStrike" cap="none">
                <a:solidFill>
                  <a:srgbClr val="888888"/>
                </a:solidFill>
                <a:latin typeface="Calibri"/>
                <a:ea typeface="Calibri"/>
                <a:cs typeface="Calibri"/>
                <a:sym typeface="Calibri"/>
              </a:defRPr>
            </a:lvl5pPr>
            <a:lvl6pPr marL="0" marR="0" lvl="5" indent="0" algn="r" rtl="0">
              <a:spcBef>
                <a:spcPts val="0"/>
              </a:spcBef>
              <a:buNone/>
              <a:defRPr sz="1600" b="0" i="0" u="none" strike="noStrike" cap="none">
                <a:solidFill>
                  <a:srgbClr val="888888"/>
                </a:solidFill>
                <a:latin typeface="Calibri"/>
                <a:ea typeface="Calibri"/>
                <a:cs typeface="Calibri"/>
                <a:sym typeface="Calibri"/>
              </a:defRPr>
            </a:lvl6pPr>
            <a:lvl7pPr marL="0" marR="0" lvl="6" indent="0" algn="r" rtl="0">
              <a:spcBef>
                <a:spcPts val="0"/>
              </a:spcBef>
              <a:buNone/>
              <a:defRPr sz="1600" b="0" i="0" u="none" strike="noStrike" cap="none">
                <a:solidFill>
                  <a:srgbClr val="888888"/>
                </a:solidFill>
                <a:latin typeface="Calibri"/>
                <a:ea typeface="Calibri"/>
                <a:cs typeface="Calibri"/>
                <a:sym typeface="Calibri"/>
              </a:defRPr>
            </a:lvl7pPr>
            <a:lvl8pPr marL="0" marR="0" lvl="7" indent="0" algn="r" rtl="0">
              <a:spcBef>
                <a:spcPts val="0"/>
              </a:spcBef>
              <a:buNone/>
              <a:defRPr sz="1600" b="0" i="0" u="none" strike="noStrike" cap="none">
                <a:solidFill>
                  <a:srgbClr val="888888"/>
                </a:solidFill>
                <a:latin typeface="Calibri"/>
                <a:ea typeface="Calibri"/>
                <a:cs typeface="Calibri"/>
                <a:sym typeface="Calibri"/>
              </a:defRPr>
            </a:lvl8pPr>
            <a:lvl9pPr marL="0" marR="0" lvl="8" indent="0" algn="r" rtl="0">
              <a:spcBef>
                <a:spcPts val="0"/>
              </a:spcBef>
              <a:buNone/>
              <a:defRPr sz="1600" b="0" i="0" u="none" strike="noStrike" cap="none">
                <a:solidFill>
                  <a:srgbClr val="888888"/>
                </a:solidFill>
                <a:latin typeface="Calibri"/>
                <a:ea typeface="Calibri"/>
                <a:cs typeface="Calibri"/>
                <a:sym typeface="Calibri"/>
              </a:defRPr>
            </a:lvl9pPr>
          </a:lstStyle>
          <a:p>
            <a:pPr marL="0" marR="0" lvl="0" indent="0" algn="r" defTabSz="1219139"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6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1219139" rtl="0" eaLnBrk="1" fontAlgn="auto" latinLnBrk="0" hangingPunct="1">
                <a:lnSpc>
                  <a:spcPct val="100000"/>
                </a:lnSpc>
                <a:spcBef>
                  <a:spcPts val="0"/>
                </a:spcBef>
                <a:spcAft>
                  <a:spcPts val="0"/>
                </a:spcAft>
                <a:buClr>
                  <a:srgbClr val="000000"/>
                </a:buClr>
                <a:buSzTx/>
                <a:buFontTx/>
                <a:buNone/>
                <a:tabLst/>
                <a:defRPr/>
              </a:pPr>
              <a:t>‹Nº›</a:t>
            </a:fld>
            <a:endParaRPr kumimoji="0" lang="en-US" sz="16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092858351"/>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hemeOverride" Target="../theme/themeOverride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hemeOverride" Target="../theme/themeOverride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hemeOverride" Target="../theme/themeOverride6.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hemeOverride" Target="../theme/themeOverride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hemeOverride" Target="../theme/themeOverride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hemeOverride" Target="../theme/themeOverride9.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hemeOverride" Target="../theme/themeOverride10.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hemeOverride" Target="../theme/themeOverride1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hemeOverride" Target="../theme/themeOverride1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hemeOverride" Target="../theme/themeOverride13.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hemeOverride" Target="../theme/themeOverride14.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hemeOverride" Target="../theme/themeOverride15.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hemeOverride" Target="../theme/themeOverride16.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hemeOverride" Target="../theme/themeOverride1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hemeOverride" Target="../theme/themeOverride18.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hemeOverride" Target="../theme/themeOverride19.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hemeOverride" Target="../theme/themeOverride20.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41"/>
        </a:solidFill>
        <a:effectLst/>
      </p:bgPr>
    </p:bg>
    <p:spTree>
      <p:nvGrpSpPr>
        <p:cNvPr id="1" name="Shape 83"/>
        <p:cNvGrpSpPr/>
        <p:nvPr/>
      </p:nvGrpSpPr>
      <p:grpSpPr>
        <a:xfrm>
          <a:off x="0" y="0"/>
          <a:ext cx="0" cy="0"/>
          <a:chOff x="0" y="0"/>
          <a:chExt cx="0" cy="0"/>
        </a:xfrm>
      </p:grpSpPr>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4525" y="-8140"/>
            <a:ext cx="6339853" cy="6238253"/>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69" y="406258"/>
            <a:ext cx="2275844" cy="1113539"/>
          </a:xfrm>
          <a:prstGeom prst="rect">
            <a:avLst/>
          </a:prstGeom>
        </p:spPr>
      </p:pic>
      <p:sp>
        <p:nvSpPr>
          <p:cNvPr id="86" name="Google Shape;86;p1"/>
          <p:cNvSpPr/>
          <p:nvPr/>
        </p:nvSpPr>
        <p:spPr>
          <a:xfrm>
            <a:off x="0" y="6230112"/>
            <a:ext cx="12192000" cy="646176"/>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121900" tIns="60933" rIns="121900" bIns="60933" anchor="ctr" anchorCtr="0">
            <a:noAutofit/>
          </a:bodyPr>
          <a:lstStyle/>
          <a:p>
            <a:pPr marL="0" marR="0" lvl="0" indent="0" algn="ctr" defTabSz="1219139"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87" name="Google Shape;87;p1" descr="asset_portada_6.png"/>
          <p:cNvPicPr preferRelativeResize="0"/>
          <p:nvPr/>
        </p:nvPicPr>
        <p:blipFill rotWithShape="1">
          <a:blip r:embed="rId5">
            <a:alphaModFix/>
          </a:blip>
          <a:srcRect/>
          <a:stretch/>
        </p:blipFill>
        <p:spPr>
          <a:xfrm>
            <a:off x="3974592" y="6266688"/>
            <a:ext cx="4255008" cy="560832"/>
          </a:xfrm>
          <a:prstGeom prst="rect">
            <a:avLst/>
          </a:prstGeom>
          <a:noFill/>
          <a:ln>
            <a:noFill/>
          </a:ln>
        </p:spPr>
      </p:pic>
      <p:sp>
        <p:nvSpPr>
          <p:cNvPr id="89" name="Google Shape;89;p1"/>
          <p:cNvSpPr txBox="1"/>
          <p:nvPr/>
        </p:nvSpPr>
        <p:spPr>
          <a:xfrm>
            <a:off x="515863" y="1800579"/>
            <a:ext cx="11141612" cy="400055"/>
          </a:xfrm>
          <a:prstGeom prst="rect">
            <a:avLst/>
          </a:prstGeom>
          <a:noFill/>
          <a:ln>
            <a:noFill/>
          </a:ln>
        </p:spPr>
        <p:txBody>
          <a:bodyPr spcFirstLastPara="1" wrap="square" lIns="121900" tIns="60933" rIns="121900" bIns="60933" anchor="t" anchorCtr="0">
            <a:spAutoFit/>
          </a:bodyPr>
          <a:lstStyle/>
          <a:p>
            <a:pPr marL="0" marR="0" lvl="0" indent="0" algn="l" defTabSz="1219139" rtl="0" eaLnBrk="1" fontAlgn="auto" latinLnBrk="0" hangingPunct="1">
              <a:lnSpc>
                <a:spcPct val="100000"/>
              </a:lnSpc>
              <a:spcBef>
                <a:spcPts val="0"/>
              </a:spcBef>
              <a:spcAft>
                <a:spcPts val="0"/>
              </a:spcAft>
              <a:buClr>
                <a:srgbClr val="000000"/>
              </a:buClr>
              <a:buSzTx/>
              <a:buFontTx/>
              <a:buNone/>
              <a:tabLst/>
              <a:defRPr/>
            </a:pPr>
            <a:r>
              <a:rPr kumimoji="0" lang="es-ES" sz="1800" b="0" i="0" u="none" strike="noStrike" kern="0" cap="none" spc="0" normalizeH="0" baseline="0" noProof="0" dirty="0">
                <a:ln>
                  <a:noFill/>
                </a:ln>
                <a:solidFill>
                  <a:srgbClr val="40BCFF"/>
                </a:solidFill>
                <a:effectLst/>
                <a:uLnTx/>
                <a:uFillTx/>
                <a:latin typeface="Calibri"/>
                <a:ea typeface="Aptos"/>
                <a:cs typeface="Calibri"/>
                <a:sym typeface="Calibri"/>
              </a:rPr>
              <a:t>Programa </a:t>
            </a:r>
            <a:r>
              <a:rPr kumimoji="0" lang="es-ES" sz="1800" b="0" i="0" u="none" strike="noStrike" kern="0" cap="none" spc="0" normalizeH="0" baseline="0" noProof="0" dirty="0" err="1">
                <a:ln>
                  <a:noFill/>
                </a:ln>
                <a:solidFill>
                  <a:srgbClr val="40BCFF"/>
                </a:solidFill>
                <a:effectLst/>
                <a:uLnTx/>
                <a:uFillTx/>
                <a:latin typeface="Calibri"/>
                <a:ea typeface="Aptos"/>
                <a:cs typeface="Calibri"/>
                <a:sym typeface="Calibri"/>
              </a:rPr>
              <a:t>FdF</a:t>
            </a:r>
            <a:r>
              <a:rPr kumimoji="0" lang="es-ES" sz="1800" b="0" i="0" u="none" strike="noStrike" kern="0" cap="none" spc="0" normalizeH="0" baseline="0" noProof="0" dirty="0">
                <a:ln>
                  <a:noFill/>
                </a:ln>
                <a:solidFill>
                  <a:srgbClr val="40BCFF"/>
                </a:solidFill>
                <a:effectLst/>
                <a:uLnTx/>
                <a:uFillTx/>
                <a:latin typeface="Calibri"/>
                <a:ea typeface="Aptos"/>
                <a:cs typeface="Calibri"/>
                <a:sym typeface="Calibri"/>
              </a:rPr>
              <a:t>-NAE</a:t>
            </a:r>
          </a:p>
        </p:txBody>
      </p:sp>
      <p:sp>
        <p:nvSpPr>
          <p:cNvPr id="92" name="Google Shape;92;p1"/>
          <p:cNvSpPr txBox="1"/>
          <p:nvPr/>
        </p:nvSpPr>
        <p:spPr>
          <a:xfrm>
            <a:off x="9776851" y="827614"/>
            <a:ext cx="2224940" cy="328177"/>
          </a:xfrm>
          <a:prstGeom prst="rect">
            <a:avLst/>
          </a:prstGeom>
          <a:noFill/>
          <a:ln>
            <a:noFill/>
          </a:ln>
        </p:spPr>
        <p:txBody>
          <a:bodyPr spcFirstLastPara="1" wrap="square" lIns="121900" tIns="60933" rIns="121900" bIns="60933" anchor="t" anchorCtr="0">
            <a:spAutoFit/>
          </a:bodyPr>
          <a:lstStyle/>
          <a:p>
            <a:pPr marL="0" marR="0" lvl="0" indent="0" algn="l" defTabSz="1219139"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dirty="0">
                <a:ln>
                  <a:noFill/>
                </a:ln>
                <a:solidFill>
                  <a:srgbClr val="A3C5ED"/>
                </a:solidFill>
                <a:effectLst/>
                <a:uLnTx/>
                <a:uFillTx/>
                <a:latin typeface="Calibri"/>
                <a:ea typeface="Calibri"/>
                <a:cs typeface="Calibri"/>
                <a:sym typeface="Calibri"/>
              </a:rPr>
              <a:t>La Habana, Cuba · 2026</a:t>
            </a: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Text 1"/>
          <p:cNvSpPr/>
          <p:nvPr/>
        </p:nvSpPr>
        <p:spPr>
          <a:xfrm>
            <a:off x="658369" y="2327745"/>
            <a:ext cx="7086600" cy="1051560"/>
          </a:xfrm>
          <a:prstGeom prst="rect">
            <a:avLst/>
          </a:prstGeom>
          <a:noFill/>
          <a:ln/>
        </p:spPr>
        <p:txBody>
          <a:bodyPr wrap="square" lIns="0" tIns="0" rIns="0" bIns="0" rtlCol="0" anchor="ctr">
            <a:norm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err="1">
                <a:ln>
                  <a:noFill/>
                </a:ln>
                <a:solidFill>
                  <a:srgbClr val="FFFFFF"/>
                </a:solidFill>
                <a:effectLst/>
                <a:uLnTx/>
                <a:uFillTx/>
                <a:latin typeface="Aptos Display" pitchFamily="34" charset="0"/>
                <a:ea typeface="Aptos Display" pitchFamily="34" charset="-122"/>
                <a:cs typeface="Aptos Display" pitchFamily="34" charset="-120"/>
              </a:rPr>
              <a:t>Módulo</a:t>
            </a:r>
            <a:r>
              <a:rPr kumimoji="0" lang="en-US" sz="38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 </a:t>
            </a:r>
            <a:r>
              <a:rPr lang="en-US" sz="3800" b="1" dirty="0">
                <a:solidFill>
                  <a:srgbClr val="FFFFFF"/>
                </a:solidFill>
                <a:latin typeface="Aptos Display" pitchFamily="34" charset="0"/>
                <a:ea typeface="Aptos Display" pitchFamily="34" charset="-122"/>
                <a:cs typeface="Aptos Display" pitchFamily="34" charset="-120"/>
              </a:rPr>
              <a:t>5</a:t>
            </a:r>
            <a:endParaRPr kumimoji="0" lang="en-US" sz="38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Shape 3"/>
          <p:cNvSpPr/>
          <p:nvPr/>
        </p:nvSpPr>
        <p:spPr>
          <a:xfrm>
            <a:off x="658369" y="4300235"/>
            <a:ext cx="3291840" cy="45720"/>
          </a:xfrm>
          <a:prstGeom prst="rect">
            <a:avLst/>
          </a:prstGeom>
          <a:solidFill>
            <a:srgbClr val="D89A2B"/>
          </a:solidFill>
          <a:ln w="12700">
            <a:solidFill>
              <a:srgbClr val="D89A2B"/>
            </a:solidFill>
            <a:prstDash val="solid"/>
          </a:ln>
        </p:spPr>
      </p:sp>
      <p:sp>
        <p:nvSpPr>
          <p:cNvPr id="12" name="Text 4"/>
          <p:cNvSpPr/>
          <p:nvPr/>
        </p:nvSpPr>
        <p:spPr>
          <a:xfrm>
            <a:off x="658369" y="4546176"/>
            <a:ext cx="6217920" cy="320040"/>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7D7E2"/>
                </a:solidFill>
                <a:effectLst/>
                <a:uLnTx/>
                <a:uFillTx/>
                <a:latin typeface="Aptos" pitchFamily="34" charset="0"/>
                <a:ea typeface="Aptos" pitchFamily="34" charset="-122"/>
                <a:cs typeface="Aptos" pitchFamily="34" charset="-120"/>
              </a:rPr>
              <a:t>Actividad 2.3.2 — Formación de Formadores</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4" name="Text 7"/>
          <p:cNvSpPr/>
          <p:nvPr/>
        </p:nvSpPr>
        <p:spPr>
          <a:xfrm>
            <a:off x="515862" y="6405372"/>
            <a:ext cx="2651760" cy="228600"/>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B9C7D2"/>
                </a:solidFill>
                <a:effectLst/>
                <a:uLnTx/>
                <a:uFillTx/>
                <a:latin typeface="Aptos" pitchFamily="34" charset="0"/>
                <a:ea typeface="Aptos" pitchFamily="34" charset="-122"/>
                <a:cs typeface="Aptos" pitchFamily="34" charset="-120"/>
              </a:rPr>
              <a:t>Actividad 2.3.2 — FdF</a:t>
            </a: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sp>
        <p:nvSpPr>
          <p:cNvPr id="15" name="Text 2"/>
          <p:cNvSpPr/>
          <p:nvPr/>
        </p:nvSpPr>
        <p:spPr>
          <a:xfrm>
            <a:off x="635510" y="3146853"/>
            <a:ext cx="5201394" cy="960120"/>
          </a:xfrm>
          <a:prstGeom prst="rect">
            <a:avLst/>
          </a:prstGeom>
          <a:noFill/>
          <a:ln/>
        </p:spPr>
        <p:txBody>
          <a:bodyPr wrap="square" lIns="0" tIns="0" rIns="0" bIns="0" rtlCol="0" anchor="ctr">
            <a:normAutofit/>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2500" b="0" i="0" u="none" strike="noStrike" kern="1200" cap="none" spc="0" normalizeH="0" baseline="0" noProof="0" dirty="0" err="1">
                <a:ln>
                  <a:noFill/>
                </a:ln>
                <a:solidFill>
                  <a:srgbClr val="E5EEF3"/>
                </a:solidFill>
                <a:effectLst/>
                <a:uLnTx/>
                <a:uFillTx/>
                <a:latin typeface="Aptos Display" pitchFamily="34" charset="0"/>
                <a:ea typeface="Aptos Display" pitchFamily="34" charset="-122"/>
                <a:cs typeface="+mn-cs"/>
              </a:rPr>
              <a:t>Evaluación</a:t>
            </a:r>
            <a:r>
              <a:rPr kumimoji="0" lang="en-US" sz="2500" b="0" i="0" u="none" strike="noStrike" kern="1200" cap="none" spc="0" normalizeH="0" baseline="0" noProof="0" dirty="0">
                <a:ln>
                  <a:noFill/>
                </a:ln>
                <a:solidFill>
                  <a:srgbClr val="E5EEF3"/>
                </a:solidFill>
                <a:effectLst/>
                <a:uLnTx/>
                <a:uFillTx/>
                <a:latin typeface="Aptos Display" pitchFamily="34" charset="0"/>
                <a:ea typeface="Aptos Display" pitchFamily="34" charset="-122"/>
                <a:cs typeface="+mn-cs"/>
              </a:rPr>
              <a:t> de </a:t>
            </a:r>
            <a:r>
              <a:rPr kumimoji="0" lang="en-US" sz="2500" b="0" i="0" u="none" strike="noStrike" kern="1200" cap="none" spc="0" normalizeH="0" baseline="0" noProof="0" dirty="0" err="1">
                <a:ln>
                  <a:noFill/>
                </a:ln>
                <a:solidFill>
                  <a:srgbClr val="E5EEF3"/>
                </a:solidFill>
                <a:effectLst/>
                <a:uLnTx/>
                <a:uFillTx/>
                <a:latin typeface="Aptos Display" pitchFamily="34" charset="0"/>
                <a:ea typeface="Aptos Display" pitchFamily="34" charset="-122"/>
                <a:cs typeface="+mn-cs"/>
              </a:rPr>
              <a:t>acompañamiento</a:t>
            </a:r>
            <a:r>
              <a:rPr kumimoji="0" lang="en-US" sz="2500" b="0" i="0" u="none" strike="noStrike" kern="1200" cap="none" spc="0" normalizeH="0" baseline="0" noProof="0" dirty="0">
                <a:ln>
                  <a:noFill/>
                </a:ln>
                <a:solidFill>
                  <a:srgbClr val="E5EEF3"/>
                </a:solidFill>
                <a:effectLst/>
                <a:uLnTx/>
                <a:uFillTx/>
                <a:latin typeface="Aptos Display" pitchFamily="34" charset="0"/>
                <a:ea typeface="Aptos Display" pitchFamily="34" charset="-122"/>
                <a:cs typeface="+mn-cs"/>
              </a:rPr>
              <a:t> y </a:t>
            </a:r>
            <a:r>
              <a:rPr kumimoji="0" lang="en-US" sz="2500" b="0" i="0" u="none" strike="noStrike" kern="1200" cap="none" spc="0" normalizeH="0" baseline="0" noProof="0" dirty="0" err="1">
                <a:ln>
                  <a:noFill/>
                </a:ln>
                <a:solidFill>
                  <a:srgbClr val="E5EEF3"/>
                </a:solidFill>
                <a:effectLst/>
                <a:uLnTx/>
                <a:uFillTx/>
                <a:latin typeface="Aptos Display" pitchFamily="34" charset="0"/>
                <a:ea typeface="Aptos Display" pitchFamily="34" charset="-122"/>
                <a:cs typeface="+mn-cs"/>
              </a:rPr>
              <a:t>mejora</a:t>
            </a:r>
            <a:r>
              <a:rPr kumimoji="0" lang="en-US" sz="2500" b="0" i="0" u="none" strike="noStrike" kern="1200" cap="none" spc="0" normalizeH="0" baseline="0" noProof="0" dirty="0">
                <a:ln>
                  <a:noFill/>
                </a:ln>
                <a:solidFill>
                  <a:srgbClr val="E5EEF3"/>
                </a:solidFill>
                <a:effectLst/>
                <a:uLnTx/>
                <a:uFillTx/>
                <a:latin typeface="Aptos Display" pitchFamily="34" charset="0"/>
                <a:ea typeface="Aptos Display" pitchFamily="34" charset="-122"/>
                <a:cs typeface="+mn-cs"/>
              </a:rPr>
              <a:t> continua</a:t>
            </a:r>
            <a:endParaRPr kumimoji="0" lang="en-US" sz="25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Text 5">
            <a:extLst>
              <a:ext uri="{FF2B5EF4-FFF2-40B4-BE49-F238E27FC236}">
                <a16:creationId xmlns:a16="http://schemas.microsoft.com/office/drawing/2014/main" id="{E98A5FC1-A578-D2D9-60A4-0FE5E6B6B1A1}"/>
              </a:ext>
            </a:extLst>
          </p:cNvPr>
          <p:cNvSpPr/>
          <p:nvPr/>
        </p:nvSpPr>
        <p:spPr>
          <a:xfrm>
            <a:off x="658368" y="5217022"/>
            <a:ext cx="7247035" cy="493776"/>
          </a:xfrm>
          <a:prstGeom prst="rect">
            <a:avLst/>
          </a:prstGeom>
          <a:noFill/>
          <a:ln/>
        </p:spPr>
        <p:txBody>
          <a:bodyPr wrap="square" lIns="0" tIns="0" rIns="0" bIns="0" rtlCol="0" anchor="ctr"/>
          <a:lstStyle/>
          <a:p>
            <a:r>
              <a:rPr lang="es-419" sz="1000" b="1" noProof="0" dirty="0">
                <a:solidFill>
                  <a:schemeClr val="bg1"/>
                </a:solidFill>
              </a:rPr>
              <a:t>Proyecto NAE · Financiado por la </a:t>
            </a:r>
            <a:r>
              <a:rPr lang="es-419" sz="1000" b="1" noProof="0" dirty="0" err="1">
                <a:solidFill>
                  <a:schemeClr val="bg1"/>
                </a:solidFill>
              </a:rPr>
              <a:t>Agence</a:t>
            </a:r>
            <a:r>
              <a:rPr lang="es-419" sz="1000" b="1" noProof="0" dirty="0">
                <a:solidFill>
                  <a:schemeClr val="bg1"/>
                </a:solidFill>
              </a:rPr>
              <a:t> </a:t>
            </a:r>
            <a:r>
              <a:rPr lang="es-419" sz="1000" b="1" noProof="0" dirty="0" err="1">
                <a:solidFill>
                  <a:schemeClr val="bg1"/>
                </a:solidFill>
              </a:rPr>
              <a:t>Française</a:t>
            </a:r>
            <a:r>
              <a:rPr lang="es-419" sz="1000" b="1" noProof="0" dirty="0">
                <a:solidFill>
                  <a:schemeClr val="bg1"/>
                </a:solidFill>
              </a:rPr>
              <a:t> de </a:t>
            </a:r>
            <a:r>
              <a:rPr lang="es-419" sz="1000" b="1" noProof="0" dirty="0" err="1">
                <a:solidFill>
                  <a:schemeClr val="bg1"/>
                </a:solidFill>
              </a:rPr>
              <a:t>Développement</a:t>
            </a:r>
            <a:r>
              <a:rPr lang="es-419" sz="1000" b="1" noProof="0" dirty="0">
                <a:solidFill>
                  <a:schemeClr val="bg1"/>
                </a:solidFill>
              </a:rPr>
              <a:t> (AFD), con cofinanciación de la Unión Europea</a:t>
            </a:r>
          </a:p>
          <a:p>
            <a:pPr marL="0" indent="0">
              <a:buNone/>
            </a:pPr>
            <a:endParaRPr lang="es-419" sz="1000" b="1" noProof="0" dirty="0">
              <a:solidFill>
                <a:schemeClr val="bg1"/>
              </a:solidFill>
              <a:latin typeface="Aptos" pitchFamily="34" charset="0"/>
              <a:ea typeface="Aptos" pitchFamily="34" charset="-122"/>
              <a:cs typeface="Aptos" pitchFamily="34" charset="-120"/>
            </a:endParaRPr>
          </a:p>
          <a:p>
            <a:pPr marL="0" indent="0">
              <a:buNone/>
            </a:pPr>
            <a:r>
              <a:rPr lang="es-419" sz="1000" noProof="0" dirty="0">
                <a:solidFill>
                  <a:schemeClr val="bg1"/>
                </a:solidFill>
                <a:latin typeface="Aptos" pitchFamily="34" charset="0"/>
                <a:ea typeface="Aptos" pitchFamily="34" charset="-122"/>
                <a:cs typeface="Aptos" pitchFamily="34" charset="-120"/>
              </a:rPr>
              <a:t>Implementación técnica</a:t>
            </a:r>
            <a:r>
              <a:rPr lang="es-419" sz="1000" b="1" noProof="0" dirty="0">
                <a:solidFill>
                  <a:schemeClr val="bg1"/>
                </a:solidFill>
                <a:latin typeface="Aptos" pitchFamily="34" charset="0"/>
                <a:ea typeface="Aptos" pitchFamily="34" charset="-122"/>
                <a:cs typeface="Aptos" pitchFamily="34" charset="-120"/>
              </a:rPr>
              <a:t>: </a:t>
            </a:r>
            <a:r>
              <a:rPr lang="es-419" sz="1000" noProof="0" dirty="0">
                <a:solidFill>
                  <a:schemeClr val="bg1"/>
                </a:solidFill>
                <a:latin typeface="Aptos" pitchFamily="34" charset="0"/>
                <a:ea typeface="Aptos" pitchFamily="34" charset="-122"/>
                <a:cs typeface="Aptos" pitchFamily="34" charset="-120"/>
              </a:rPr>
              <a:t>Universidad de Alicante (UA) · Parque Científico Tecnológico de La Habana (PCTH)</a:t>
            </a:r>
          </a:p>
          <a:p>
            <a:pPr marL="0" indent="0">
              <a:buNone/>
            </a:pPr>
            <a:endParaRPr lang="es-419" sz="1000" b="1" noProof="0" dirty="0">
              <a:solidFill>
                <a:schemeClr val="bg1"/>
              </a:solidFill>
              <a:latin typeface="Aptos" pitchFamily="34" charset="0"/>
              <a:ea typeface="Aptos" pitchFamily="34" charset="-122"/>
              <a:cs typeface="Aptos" pitchFamily="34" charset="-120"/>
            </a:endParaRPr>
          </a:p>
          <a:p>
            <a:pPr marL="0" indent="0">
              <a:buNone/>
            </a:pPr>
            <a:r>
              <a:rPr lang="es-419" sz="1000" noProof="0" dirty="0">
                <a:solidFill>
                  <a:srgbClr val="C7D7E2"/>
                </a:solidFill>
                <a:latin typeface="Aptos" pitchFamily="34" charset="0"/>
                <a:ea typeface="Aptos" pitchFamily="34" charset="-122"/>
                <a:cs typeface="Aptos" pitchFamily="34" charset="-120"/>
              </a:rPr>
              <a:t>La Habana, Cuba · 2026</a:t>
            </a:r>
            <a:endParaRPr lang="es-419" sz="1000" noProof="0" dirty="0"/>
          </a:p>
        </p:txBody>
      </p:sp>
    </p:spTree>
    <p:extLst>
      <p:ext uri="{BB962C8B-B14F-4D97-AF65-F5344CB8AC3E}">
        <p14:creationId xmlns:p14="http://schemas.microsoft.com/office/powerpoint/2010/main" val="1366348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1377696"/>
          </a:xfrm>
          <a:prstGeom prst="rect">
            <a:avLst/>
          </a:prstGeom>
        </p:spPr>
      </p:pic>
      <p:sp>
        <p:nvSpPr>
          <p:cNvPr id="9" name="Text 5"/>
          <p:cNvSpPr/>
          <p:nvPr/>
        </p:nvSpPr>
        <p:spPr>
          <a:xfrm>
            <a:off x="566928" y="6291072"/>
            <a:ext cx="2651760" cy="228600"/>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B7280"/>
                </a:solidFill>
                <a:effectLst/>
                <a:uLnTx/>
                <a:uFillTx/>
                <a:latin typeface="Aptos" pitchFamily="34" charset="0"/>
                <a:ea typeface="Aptos" pitchFamily="34" charset="-122"/>
                <a:cs typeface="Aptos" pitchFamily="34" charset="-120"/>
              </a:rPr>
              <a:t>Actividad 2.3.2 — FdF</a:t>
            </a: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pic>
        <p:nvPicPr>
          <p:cNvPr id="10" name="Google Shape;87;p1" descr="asset_portada_6.png"/>
          <p:cNvPicPr preferRelativeResize="0"/>
          <p:nvPr/>
        </p:nvPicPr>
        <p:blipFill rotWithShape="1">
          <a:blip r:embed="rId4">
            <a:alphaModFix/>
          </a:blip>
          <a:srcRect/>
          <a:stretch/>
        </p:blipFill>
        <p:spPr>
          <a:xfrm>
            <a:off x="3974592" y="6266688"/>
            <a:ext cx="4255008" cy="560832"/>
          </a:xfrm>
          <a:prstGeom prst="rect">
            <a:avLst/>
          </a:prstGeom>
          <a:noFill/>
          <a:ln>
            <a:noFill/>
          </a:ln>
        </p:spPr>
      </p:pic>
      <p:sp>
        <p:nvSpPr>
          <p:cNvPr id="12" name="Shape 3"/>
          <p:cNvSpPr/>
          <p:nvPr/>
        </p:nvSpPr>
        <p:spPr>
          <a:xfrm>
            <a:off x="658368" y="5049250"/>
            <a:ext cx="4218432" cy="45719"/>
          </a:xfrm>
          <a:prstGeom prst="rect">
            <a:avLst/>
          </a:prstGeom>
          <a:solidFill>
            <a:srgbClr val="D89A2B"/>
          </a:solidFill>
          <a:ln w="12700">
            <a:solidFill>
              <a:srgbClr val="D89A2B"/>
            </a:solidFill>
            <a:prstDash val="solid"/>
          </a:ln>
        </p:spPr>
      </p:sp>
      <p:sp>
        <p:nvSpPr>
          <p:cNvPr id="11" name="Text 1"/>
          <p:cNvSpPr/>
          <p:nvPr/>
        </p:nvSpPr>
        <p:spPr>
          <a:xfrm>
            <a:off x="676656" y="2176272"/>
            <a:ext cx="6252464" cy="1554480"/>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3100" b="1" dirty="0" err="1">
                <a:solidFill>
                  <a:srgbClr val="002E54"/>
                </a:solidFill>
                <a:latin typeface="Aptos Display" pitchFamily="34" charset="0"/>
                <a:ea typeface="Aptos Display" pitchFamily="34" charset="-122"/>
              </a:rPr>
              <a:t>Evaluación</a:t>
            </a:r>
            <a:r>
              <a:rPr lang="en-US" sz="3100" b="1" dirty="0">
                <a:solidFill>
                  <a:srgbClr val="002E54"/>
                </a:solidFill>
                <a:latin typeface="Aptos Display" pitchFamily="34" charset="0"/>
                <a:ea typeface="Aptos Display" pitchFamily="34" charset="-122"/>
              </a:rPr>
              <a:t> del </a:t>
            </a:r>
            <a:r>
              <a:rPr lang="en-US" sz="3100" b="1" dirty="0" err="1">
                <a:solidFill>
                  <a:srgbClr val="002E54"/>
                </a:solidFill>
                <a:latin typeface="Aptos Display" pitchFamily="34" charset="0"/>
                <a:ea typeface="Aptos Display" pitchFamily="34" charset="-122"/>
              </a:rPr>
              <a:t>acompañamiento</a:t>
            </a:r>
            <a:r>
              <a:rPr lang="en-US" sz="3100" b="1" dirty="0">
                <a:solidFill>
                  <a:srgbClr val="002E54"/>
                </a:solidFill>
                <a:latin typeface="Aptos Display" pitchFamily="34" charset="0"/>
                <a:ea typeface="Aptos Display" pitchFamily="34" charset="-122"/>
              </a:rPr>
              <a:t> y </a:t>
            </a:r>
            <a:r>
              <a:rPr lang="en-US" sz="3100" b="1" dirty="0" err="1">
                <a:solidFill>
                  <a:srgbClr val="002E54"/>
                </a:solidFill>
                <a:latin typeface="Aptos Display" pitchFamily="34" charset="0"/>
                <a:ea typeface="Aptos Display" pitchFamily="34" charset="-122"/>
              </a:rPr>
              <a:t>mejora</a:t>
            </a:r>
            <a:r>
              <a:rPr lang="en-US" sz="3100" b="1" dirty="0">
                <a:solidFill>
                  <a:srgbClr val="002E54"/>
                </a:solidFill>
                <a:latin typeface="Aptos Display" pitchFamily="34" charset="0"/>
                <a:ea typeface="Aptos Display" pitchFamily="34" charset="-122"/>
              </a:rPr>
              <a:t> continua</a:t>
            </a:r>
            <a:endParaRPr kumimoji="0" lang="en-US" sz="31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 2"/>
          <p:cNvSpPr/>
          <p:nvPr/>
        </p:nvSpPr>
        <p:spPr>
          <a:xfrm>
            <a:off x="676656" y="4155067"/>
            <a:ext cx="5510784" cy="347472"/>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s-ES" sz="1900" b="0" i="0" u="none" strike="noStrike" kern="1200" cap="none" spc="0" normalizeH="0" baseline="0" noProof="0" dirty="0">
                <a:ln>
                  <a:noFill/>
                </a:ln>
                <a:solidFill>
                  <a:srgbClr val="0A344F"/>
                </a:solidFill>
                <a:effectLst/>
                <a:uLnTx/>
                <a:uFillTx/>
                <a:latin typeface="Aptos" pitchFamily="34" charset="0"/>
                <a:ea typeface="Aptos" pitchFamily="34" charset="-122"/>
                <a:cs typeface="Aptos" pitchFamily="34" charset="-120"/>
              </a:rPr>
              <a:t>Competencia C6 · Seguimiento y evaluación para usar evidencias, ajustar</a:t>
            </a:r>
            <a:r>
              <a:rPr kumimoji="0" lang="es-ES" sz="1900" b="0" i="0" u="none" strike="noStrike" kern="1200" cap="none" spc="0" normalizeH="0" noProof="0" dirty="0">
                <a:ln>
                  <a:noFill/>
                </a:ln>
                <a:solidFill>
                  <a:srgbClr val="0A344F"/>
                </a:solidFill>
                <a:effectLst/>
                <a:uLnTx/>
                <a:uFillTx/>
                <a:latin typeface="Aptos" pitchFamily="34" charset="0"/>
                <a:ea typeface="Aptos" pitchFamily="34" charset="-122"/>
                <a:cs typeface="Aptos" pitchFamily="34" charset="-120"/>
              </a:rPr>
              <a:t> el acompañamiento y promover mejora continua</a:t>
            </a:r>
            <a:endParaRPr kumimoji="0" lang="es-ES" sz="1900" b="0" i="0" u="none" strike="noStrike" kern="1200" cap="none" spc="0" normalizeH="0" baseline="0" noProof="0" dirty="0">
              <a:ln>
                <a:noFill/>
              </a:ln>
              <a:solidFill>
                <a:srgbClr val="0A344F"/>
              </a:solidFill>
              <a:effectLst/>
              <a:uLnTx/>
              <a:uFillTx/>
              <a:latin typeface="Aptos" pitchFamily="34" charset="0"/>
              <a:ea typeface="Aptos" pitchFamily="34" charset="-122"/>
              <a:cs typeface="Aptos" pitchFamily="34" charset="-120"/>
            </a:endParaRPr>
          </a:p>
        </p:txBody>
      </p:sp>
      <p:sp>
        <p:nvSpPr>
          <p:cNvPr id="8" name="Google Shape;360;p11"/>
          <p:cNvSpPr txBox="1"/>
          <p:nvPr/>
        </p:nvSpPr>
        <p:spPr>
          <a:xfrm>
            <a:off x="545592" y="473449"/>
            <a:ext cx="6858000" cy="430847"/>
          </a:xfrm>
          <a:prstGeom prst="rect">
            <a:avLst/>
          </a:prstGeom>
          <a:noFill/>
          <a:ln>
            <a:noFill/>
          </a:ln>
        </p:spPr>
        <p:txBody>
          <a:bodyPr spcFirstLastPara="1" wrap="square" lIns="91425" tIns="45700" rIns="91425" bIns="45700" anchor="t" anchorCtr="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40BCFF"/>
                </a:solidFill>
                <a:effectLst/>
                <a:uLnTx/>
                <a:uFillTx/>
                <a:latin typeface="Calibri"/>
                <a:ea typeface="Aptos"/>
                <a:cs typeface="Calibri"/>
                <a:sym typeface="Calibri"/>
              </a:rPr>
              <a:t>PRESENTACIÓN DEL MÓDULO</a:t>
            </a:r>
          </a:p>
        </p:txBody>
      </p:sp>
    </p:spTree>
    <p:extLst>
      <p:ext uri="{BB962C8B-B14F-4D97-AF65-F5344CB8AC3E}">
        <p14:creationId xmlns:p14="http://schemas.microsoft.com/office/powerpoint/2010/main" val="2655997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2.png"/>
          <p:cNvPicPr>
            <a:picLocks noChangeAspect="1"/>
          </p:cNvPicPr>
          <p:nvPr/>
        </p:nvPicPr>
        <p:blipFill>
          <a:blip r:embed="rId2"/>
          <a:stretch>
            <a:fillRect/>
          </a:stretch>
        </p:blipFill>
        <p:spPr>
          <a:xfrm>
            <a:off x="502920" y="502920"/>
            <a:ext cx="1508760" cy="567258"/>
          </a:xfrm>
          <a:prstGeom prst="rect">
            <a:avLst/>
          </a:prstGeom>
        </p:spPr>
      </p:pic>
      <p:pic>
        <p:nvPicPr>
          <p:cNvPr id="4" name="Picture 3" descr="image1.png"/>
          <p:cNvPicPr>
            <a:picLocks noChangeAspect="1"/>
          </p:cNvPicPr>
          <p:nvPr/>
        </p:nvPicPr>
        <p:blipFill>
          <a:blip r:embed="rId3"/>
          <a:stretch>
            <a:fillRect/>
          </a:stretch>
        </p:blipFill>
        <p:spPr>
          <a:xfrm>
            <a:off x="7452360" y="777240"/>
            <a:ext cx="4667999" cy="4663440"/>
          </a:xfrm>
          <a:prstGeom prst="rect">
            <a:avLst/>
          </a:prstGeom>
        </p:spPr>
      </p:pic>
      <p:sp>
        <p:nvSpPr>
          <p:cNvPr id="5" name="TextBox 4"/>
          <p:cNvSpPr txBox="1"/>
          <p:nvPr/>
        </p:nvSpPr>
        <p:spPr>
          <a:xfrm>
            <a:off x="777240" y="1572768"/>
            <a:ext cx="5212080" cy="274320"/>
          </a:xfrm>
          <a:prstGeom prst="rect">
            <a:avLst/>
          </a:prstGeom>
          <a:noFill/>
        </p:spPr>
        <p:txBody>
          <a:bodyPr wrap="square" lIns="27432" tIns="18288" rIns="27432" bIns="18288" anchor="t">
            <a:spAutoFit/>
          </a:bodyPr>
          <a:lstStyle/>
          <a:p>
            <a:pPr algn="l">
              <a:lnSpc>
                <a:spcPct val="100000"/>
              </a:lnSpc>
              <a:defRPr sz="1400" b="1">
                <a:solidFill>
                  <a:srgbClr val="00B897"/>
                </a:solidFill>
                <a:latin typeface="Aptos"/>
              </a:defRPr>
            </a:pPr>
            <a:r>
              <a:t>PRESENTACIÓN DEL MÓDULO</a:t>
            </a:r>
          </a:p>
        </p:txBody>
      </p:sp>
      <p:sp>
        <p:nvSpPr>
          <p:cNvPr id="6" name="TextBox 5"/>
          <p:cNvSpPr txBox="1"/>
          <p:nvPr/>
        </p:nvSpPr>
        <p:spPr>
          <a:xfrm>
            <a:off x="777240" y="2057400"/>
            <a:ext cx="6035040" cy="960120"/>
          </a:xfrm>
          <a:prstGeom prst="rect">
            <a:avLst/>
          </a:prstGeom>
          <a:noFill/>
        </p:spPr>
        <p:txBody>
          <a:bodyPr wrap="square" lIns="27432" tIns="18288" rIns="27432" bIns="18288" anchor="t">
            <a:spAutoFit/>
          </a:bodyPr>
          <a:lstStyle/>
          <a:p>
            <a:pPr algn="l">
              <a:lnSpc>
                <a:spcPct val="100000"/>
              </a:lnSpc>
              <a:defRPr sz="2800" b="0">
                <a:solidFill>
                  <a:srgbClr val="002D46"/>
                </a:solidFill>
                <a:latin typeface="Aptos Display"/>
              </a:defRPr>
            </a:pPr>
            <a:r>
              <a:t>Módulo 5. Evaluación del acompañamiento</a:t>
            </a:r>
          </a:p>
          <a:p>
            <a:pPr algn="l">
              <a:lnSpc>
                <a:spcPct val="100000"/>
              </a:lnSpc>
              <a:defRPr sz="2800" b="0">
                <a:solidFill>
                  <a:srgbClr val="002D46"/>
                </a:solidFill>
                <a:latin typeface="Aptos Display"/>
              </a:defRPr>
            </a:pPr>
            <a:r>
              <a:t>y mejora continua</a:t>
            </a:r>
          </a:p>
        </p:txBody>
      </p:sp>
      <p:sp>
        <p:nvSpPr>
          <p:cNvPr id="7" name="TextBox 6"/>
          <p:cNvSpPr txBox="1"/>
          <p:nvPr/>
        </p:nvSpPr>
        <p:spPr>
          <a:xfrm>
            <a:off x="777240" y="3383280"/>
            <a:ext cx="5669280" cy="731520"/>
          </a:xfrm>
          <a:prstGeom prst="rect">
            <a:avLst/>
          </a:prstGeom>
          <a:noFill/>
        </p:spPr>
        <p:txBody>
          <a:bodyPr wrap="square" lIns="27432" tIns="18288" rIns="27432" bIns="18288" anchor="t">
            <a:spAutoFit/>
          </a:bodyPr>
          <a:lstStyle/>
          <a:p>
            <a:pPr algn="l">
              <a:lnSpc>
                <a:spcPct val="100000"/>
              </a:lnSpc>
              <a:defRPr sz="1600" b="0">
                <a:solidFill>
                  <a:srgbClr val="1C6156"/>
                </a:solidFill>
                <a:latin typeface="Aptos"/>
              </a:defRPr>
            </a:pPr>
            <a:r>
              <a:t>Competencia C6 · Seguimiento y evaluación para usar evidencias, ajustar el acompañamiento y promover mejora continua</a:t>
            </a:r>
          </a:p>
        </p:txBody>
      </p:sp>
      <p:sp>
        <p:nvSpPr>
          <p:cNvPr id="8" name="Rectangle 7"/>
          <p:cNvSpPr/>
          <p:nvPr/>
        </p:nvSpPr>
        <p:spPr>
          <a:xfrm>
            <a:off x="777240" y="4315968"/>
            <a:ext cx="3108960" cy="54864"/>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6.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965960"/>
            <a:ext cx="914400" cy="548640"/>
          </a:xfrm>
          <a:prstGeom prst="rect">
            <a:avLst/>
          </a:prstGeom>
          <a:noFill/>
        </p:spPr>
        <p:txBody>
          <a:bodyPr wrap="square" lIns="27432" tIns="18288" rIns="27432" bIns="18288" anchor="t">
            <a:spAutoFit/>
          </a:bodyPr>
          <a:lstStyle/>
          <a:p>
            <a:pPr algn="l">
              <a:lnSpc>
                <a:spcPct val="100000"/>
              </a:lnSpc>
              <a:defRPr sz="2600" b="0">
                <a:solidFill>
                  <a:srgbClr val="D89D2E"/>
                </a:solidFill>
                <a:latin typeface="Aptos Display"/>
              </a:defRPr>
            </a:pPr>
            <a:r>
              <a:t>01</a:t>
            </a:r>
          </a:p>
        </p:txBody>
      </p:sp>
      <p:sp>
        <p:nvSpPr>
          <p:cNvPr id="5" name="Rectangle 4"/>
          <p:cNvSpPr/>
          <p:nvPr/>
        </p:nvSpPr>
        <p:spPr>
          <a:xfrm>
            <a:off x="758952" y="2615184"/>
            <a:ext cx="411480"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889504"/>
            <a:ext cx="6583680" cy="512064"/>
          </a:xfrm>
          <a:prstGeom prst="rect">
            <a:avLst/>
          </a:prstGeom>
          <a:noFill/>
        </p:spPr>
        <p:txBody>
          <a:bodyPr wrap="square" lIns="27432" tIns="18288" rIns="27432" bIns="18288" anchor="t">
            <a:spAutoFit/>
          </a:bodyPr>
          <a:lstStyle/>
          <a:p>
            <a:pPr algn="l">
              <a:lnSpc>
                <a:spcPct val="100000"/>
              </a:lnSpc>
              <a:defRPr sz="3000" b="0">
                <a:solidFill>
                  <a:srgbClr val="FFFFFF"/>
                </a:solidFill>
                <a:latin typeface="Aptos Display"/>
              </a:defRPr>
            </a:pPr>
            <a:r>
              <a:t>MARCO DEL MÓDULO</a:t>
            </a:r>
          </a:p>
        </p:txBody>
      </p:sp>
      <p:sp>
        <p:nvSpPr>
          <p:cNvPr id="7" name="TextBox 6"/>
          <p:cNvSpPr txBox="1"/>
          <p:nvPr/>
        </p:nvSpPr>
        <p:spPr>
          <a:xfrm>
            <a:off x="749808" y="3566160"/>
            <a:ext cx="6217920" cy="621792"/>
          </a:xfrm>
          <a:prstGeom prst="rect">
            <a:avLst/>
          </a:prstGeom>
          <a:noFill/>
        </p:spPr>
        <p:txBody>
          <a:bodyPr wrap="square" lIns="27432" tIns="18288" rIns="27432" bIns="18288" anchor="t">
            <a:spAutoFit/>
          </a:bodyPr>
          <a:lstStyle/>
          <a:p>
            <a:pPr algn="l">
              <a:lnSpc>
                <a:spcPct val="100000"/>
              </a:lnSpc>
              <a:defRPr sz="1450" b="0">
                <a:solidFill>
                  <a:srgbClr val="E1E6E3"/>
                </a:solidFill>
                <a:latin typeface="Aptos"/>
              </a:defRPr>
            </a:pPr>
            <a:r>
              <a:t>Propósito, competencia, aprendizajes esperados y estructura metodológica</a:t>
            </a:r>
          </a:p>
        </p:txBody>
      </p:sp>
      <p:sp>
        <p:nvSpPr>
          <p:cNvPr id="8" name="TextBox 7"/>
          <p:cNvSpPr txBox="1"/>
          <p:nvPr/>
        </p:nvSpPr>
        <p:spPr>
          <a:xfrm>
            <a:off x="502920" y="6309360"/>
            <a:ext cx="2834640" cy="228600"/>
          </a:xfrm>
          <a:prstGeom prst="rect">
            <a:avLst/>
          </a:prstGeom>
          <a:noFill/>
        </p:spPr>
        <p:txBody>
          <a:bodyPr wrap="none">
            <a:spAutoFit/>
          </a:bodyPr>
          <a:lstStyle/>
          <a:p>
            <a:pPr>
              <a:defRPr sz="800">
                <a:solidFill>
                  <a:srgbClr val="BEC8C8"/>
                </a:solidFill>
                <a:latin typeface="Aptos"/>
              </a:defRPr>
            </a:pPr>
            <a:r>
              <a:t>Actividad 2.3.2 — FdF</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6" name="Rectangle 8">
            <a:extLst>
              <a:ext uri="{FF2B5EF4-FFF2-40B4-BE49-F238E27FC236}">
                <a16:creationId xmlns:a16="http://schemas.microsoft.com/office/drawing/2014/main" id="{0E6D4B74-A25D-7D6A-7B04-6FBEE6D4DD41}"/>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9" descr="image3.png">
            <a:extLst>
              <a:ext uri="{FF2B5EF4-FFF2-40B4-BE49-F238E27FC236}">
                <a16:creationId xmlns:a16="http://schemas.microsoft.com/office/drawing/2014/main" id="{228CD9D1-2CDE-598C-8C20-98B6545504C2}"/>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Ficha técnica del Módulo 5</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77240" y="1325880"/>
            <a:ext cx="1874519" cy="822960"/>
          </a:xfrm>
          <a:prstGeom prst="roundRect">
            <a:avLst/>
          </a:prstGeom>
          <a:solidFill>
            <a:srgbClr val="00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417320"/>
            <a:ext cx="1783080" cy="274320"/>
          </a:xfrm>
          <a:prstGeom prst="rect">
            <a:avLst/>
          </a:prstGeom>
          <a:noFill/>
        </p:spPr>
        <p:txBody>
          <a:bodyPr wrap="square" lIns="27432" tIns="18288" rIns="27432" bIns="18288" anchor="t">
            <a:spAutoFit/>
          </a:bodyPr>
          <a:lstStyle/>
          <a:p>
            <a:pPr algn="ctr">
              <a:lnSpc>
                <a:spcPct val="100000"/>
              </a:lnSpc>
              <a:defRPr sz="2000" b="1">
                <a:solidFill>
                  <a:srgbClr val="FFFFFF"/>
                </a:solidFill>
                <a:latin typeface="Aptos"/>
              </a:defRPr>
            </a:pPr>
            <a:r>
              <a:t>5 h</a:t>
            </a:r>
          </a:p>
        </p:txBody>
      </p:sp>
      <p:sp>
        <p:nvSpPr>
          <p:cNvPr id="10" name="TextBox 9"/>
          <p:cNvSpPr txBox="1"/>
          <p:nvPr/>
        </p:nvSpPr>
        <p:spPr>
          <a:xfrm>
            <a:off x="822960" y="1719072"/>
            <a:ext cx="1783080" cy="246888"/>
          </a:xfrm>
          <a:prstGeom prst="rect">
            <a:avLst/>
          </a:prstGeom>
          <a:noFill/>
        </p:spPr>
        <p:txBody>
          <a:bodyPr wrap="square" lIns="27432" tIns="18288" rIns="27432" bIns="18288" anchor="t">
            <a:spAutoFit/>
          </a:bodyPr>
          <a:lstStyle/>
          <a:p>
            <a:pPr algn="ctr">
              <a:lnSpc>
                <a:spcPct val="100000"/>
              </a:lnSpc>
              <a:defRPr sz="950" b="0">
                <a:solidFill>
                  <a:srgbClr val="FFFFFF"/>
                </a:solidFill>
                <a:latin typeface="Aptos"/>
              </a:defRPr>
            </a:pPr>
            <a:r>
              <a:t>Duración total</a:t>
            </a:r>
          </a:p>
        </p:txBody>
      </p:sp>
      <p:sp>
        <p:nvSpPr>
          <p:cNvPr id="11" name="Rounded Rectangle 10"/>
          <p:cNvSpPr/>
          <p:nvPr/>
        </p:nvSpPr>
        <p:spPr>
          <a:xfrm>
            <a:off x="2990088" y="1325880"/>
            <a:ext cx="1874519" cy="822960"/>
          </a:xfrm>
          <a:prstGeom prst="roundRect">
            <a:avLst/>
          </a:prstGeom>
          <a:solidFill>
            <a:srgbClr val="00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35808" y="1417320"/>
            <a:ext cx="1783080" cy="274320"/>
          </a:xfrm>
          <a:prstGeom prst="rect">
            <a:avLst/>
          </a:prstGeom>
          <a:noFill/>
        </p:spPr>
        <p:txBody>
          <a:bodyPr wrap="square" lIns="27432" tIns="18288" rIns="27432" bIns="18288" anchor="t">
            <a:spAutoFit/>
          </a:bodyPr>
          <a:lstStyle/>
          <a:p>
            <a:pPr algn="ctr">
              <a:lnSpc>
                <a:spcPct val="100000"/>
              </a:lnSpc>
              <a:defRPr sz="2000" b="1">
                <a:solidFill>
                  <a:srgbClr val="FFFFFF"/>
                </a:solidFill>
                <a:latin typeface="Aptos"/>
              </a:defRPr>
            </a:pPr>
            <a:r>
              <a:t>1 h</a:t>
            </a:r>
          </a:p>
        </p:txBody>
      </p:sp>
      <p:sp>
        <p:nvSpPr>
          <p:cNvPr id="13" name="TextBox 12"/>
          <p:cNvSpPr txBox="1"/>
          <p:nvPr/>
        </p:nvSpPr>
        <p:spPr>
          <a:xfrm>
            <a:off x="3035808" y="1719072"/>
            <a:ext cx="1783080" cy="246888"/>
          </a:xfrm>
          <a:prstGeom prst="rect">
            <a:avLst/>
          </a:prstGeom>
          <a:noFill/>
        </p:spPr>
        <p:txBody>
          <a:bodyPr wrap="square" lIns="27432" tIns="18288" rIns="27432" bIns="18288" anchor="t">
            <a:spAutoFit/>
          </a:bodyPr>
          <a:lstStyle/>
          <a:p>
            <a:pPr algn="ctr">
              <a:lnSpc>
                <a:spcPct val="100000"/>
              </a:lnSpc>
              <a:defRPr sz="950" b="0">
                <a:solidFill>
                  <a:srgbClr val="FFFFFF"/>
                </a:solidFill>
                <a:latin typeface="Aptos"/>
              </a:defRPr>
            </a:pPr>
            <a:r>
              <a:t>Presencial</a:t>
            </a:r>
          </a:p>
        </p:txBody>
      </p:sp>
      <p:sp>
        <p:nvSpPr>
          <p:cNvPr id="14" name="Rounded Rectangle 13"/>
          <p:cNvSpPr/>
          <p:nvPr/>
        </p:nvSpPr>
        <p:spPr>
          <a:xfrm>
            <a:off x="5202936" y="1325880"/>
            <a:ext cx="1874519" cy="822960"/>
          </a:xfrm>
          <a:prstGeom prst="roundRect">
            <a:avLst/>
          </a:prstGeom>
          <a:solidFill>
            <a:srgbClr val="00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48655" y="1417320"/>
            <a:ext cx="1783080" cy="274320"/>
          </a:xfrm>
          <a:prstGeom prst="rect">
            <a:avLst/>
          </a:prstGeom>
          <a:noFill/>
        </p:spPr>
        <p:txBody>
          <a:bodyPr wrap="square" lIns="27432" tIns="18288" rIns="27432" bIns="18288" anchor="t">
            <a:spAutoFit/>
          </a:bodyPr>
          <a:lstStyle/>
          <a:p>
            <a:pPr algn="ctr">
              <a:lnSpc>
                <a:spcPct val="100000"/>
              </a:lnSpc>
              <a:defRPr sz="2000" b="1">
                <a:solidFill>
                  <a:srgbClr val="FFFFFF"/>
                </a:solidFill>
                <a:latin typeface="Aptos"/>
              </a:defRPr>
            </a:pPr>
            <a:r>
              <a:t>1 h</a:t>
            </a:r>
          </a:p>
        </p:txBody>
      </p:sp>
      <p:sp>
        <p:nvSpPr>
          <p:cNvPr id="16" name="TextBox 15"/>
          <p:cNvSpPr txBox="1"/>
          <p:nvPr/>
        </p:nvSpPr>
        <p:spPr>
          <a:xfrm>
            <a:off x="5248655" y="1719072"/>
            <a:ext cx="1783080" cy="246888"/>
          </a:xfrm>
          <a:prstGeom prst="rect">
            <a:avLst/>
          </a:prstGeom>
          <a:noFill/>
        </p:spPr>
        <p:txBody>
          <a:bodyPr wrap="square" lIns="27432" tIns="18288" rIns="27432" bIns="18288" anchor="t">
            <a:spAutoFit/>
          </a:bodyPr>
          <a:lstStyle/>
          <a:p>
            <a:pPr algn="ctr">
              <a:lnSpc>
                <a:spcPct val="100000"/>
              </a:lnSpc>
              <a:defRPr sz="950" b="0">
                <a:solidFill>
                  <a:srgbClr val="FFFFFF"/>
                </a:solidFill>
                <a:latin typeface="Aptos"/>
              </a:defRPr>
            </a:pPr>
            <a:r>
              <a:t>Virtual sincrónica</a:t>
            </a:r>
          </a:p>
        </p:txBody>
      </p:sp>
      <p:sp>
        <p:nvSpPr>
          <p:cNvPr id="17" name="Rounded Rectangle 16"/>
          <p:cNvSpPr/>
          <p:nvPr/>
        </p:nvSpPr>
        <p:spPr>
          <a:xfrm>
            <a:off x="7415783" y="1325880"/>
            <a:ext cx="1874519" cy="822960"/>
          </a:xfrm>
          <a:prstGeom prst="roundRect">
            <a:avLst/>
          </a:prstGeom>
          <a:solidFill>
            <a:srgbClr val="00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61504" y="1417320"/>
            <a:ext cx="1783080" cy="274320"/>
          </a:xfrm>
          <a:prstGeom prst="rect">
            <a:avLst/>
          </a:prstGeom>
          <a:noFill/>
        </p:spPr>
        <p:txBody>
          <a:bodyPr wrap="square" lIns="27432" tIns="18288" rIns="27432" bIns="18288" anchor="t">
            <a:spAutoFit/>
          </a:bodyPr>
          <a:lstStyle/>
          <a:p>
            <a:pPr algn="ctr">
              <a:lnSpc>
                <a:spcPct val="100000"/>
              </a:lnSpc>
              <a:defRPr sz="2000" b="1">
                <a:solidFill>
                  <a:srgbClr val="FFFFFF"/>
                </a:solidFill>
                <a:latin typeface="Aptos"/>
              </a:defRPr>
            </a:pPr>
            <a:r>
              <a:t>3 h</a:t>
            </a:r>
          </a:p>
        </p:txBody>
      </p:sp>
      <p:sp>
        <p:nvSpPr>
          <p:cNvPr id="19" name="TextBox 18"/>
          <p:cNvSpPr txBox="1"/>
          <p:nvPr/>
        </p:nvSpPr>
        <p:spPr>
          <a:xfrm>
            <a:off x="7461504" y="1719072"/>
            <a:ext cx="1783080" cy="246888"/>
          </a:xfrm>
          <a:prstGeom prst="rect">
            <a:avLst/>
          </a:prstGeom>
          <a:noFill/>
        </p:spPr>
        <p:txBody>
          <a:bodyPr wrap="square" lIns="27432" tIns="18288" rIns="27432" bIns="18288" anchor="t">
            <a:spAutoFit/>
          </a:bodyPr>
          <a:lstStyle/>
          <a:p>
            <a:pPr algn="ctr">
              <a:lnSpc>
                <a:spcPct val="100000"/>
              </a:lnSpc>
              <a:defRPr sz="950" b="0">
                <a:solidFill>
                  <a:srgbClr val="FFFFFF"/>
                </a:solidFill>
                <a:latin typeface="Aptos"/>
              </a:defRPr>
            </a:pPr>
            <a:r>
              <a:t>Virtual asincrónica</a:t>
            </a:r>
          </a:p>
        </p:txBody>
      </p:sp>
      <p:sp>
        <p:nvSpPr>
          <p:cNvPr id="20" name="Rounded Rectangle 19"/>
          <p:cNvSpPr/>
          <p:nvPr/>
        </p:nvSpPr>
        <p:spPr>
          <a:xfrm>
            <a:off x="9628632" y="1325880"/>
            <a:ext cx="1874519" cy="822960"/>
          </a:xfrm>
          <a:prstGeom prst="roundRect">
            <a:avLst/>
          </a:prstGeom>
          <a:solidFill>
            <a:srgbClr val="00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74352" y="1417320"/>
            <a:ext cx="1783080" cy="274320"/>
          </a:xfrm>
          <a:prstGeom prst="rect">
            <a:avLst/>
          </a:prstGeom>
          <a:noFill/>
        </p:spPr>
        <p:txBody>
          <a:bodyPr wrap="square" lIns="27432" tIns="18288" rIns="27432" bIns="18288" anchor="t">
            <a:spAutoFit/>
          </a:bodyPr>
          <a:lstStyle/>
          <a:p>
            <a:pPr algn="ctr">
              <a:lnSpc>
                <a:spcPct val="100000"/>
              </a:lnSpc>
              <a:defRPr sz="2000" b="1">
                <a:solidFill>
                  <a:srgbClr val="FFFFFF"/>
                </a:solidFill>
                <a:latin typeface="Aptos"/>
              </a:defRPr>
            </a:pPr>
            <a:r>
              <a:t>C6</a:t>
            </a:r>
          </a:p>
        </p:txBody>
      </p:sp>
      <p:sp>
        <p:nvSpPr>
          <p:cNvPr id="22" name="TextBox 21"/>
          <p:cNvSpPr txBox="1"/>
          <p:nvPr/>
        </p:nvSpPr>
        <p:spPr>
          <a:xfrm>
            <a:off x="9674352" y="1719072"/>
            <a:ext cx="1783080" cy="246888"/>
          </a:xfrm>
          <a:prstGeom prst="rect">
            <a:avLst/>
          </a:prstGeom>
          <a:noFill/>
        </p:spPr>
        <p:txBody>
          <a:bodyPr wrap="square" lIns="27432" tIns="18288" rIns="27432" bIns="18288" anchor="t">
            <a:spAutoFit/>
          </a:bodyPr>
          <a:lstStyle/>
          <a:p>
            <a:pPr algn="ctr">
              <a:lnSpc>
                <a:spcPct val="100000"/>
              </a:lnSpc>
              <a:defRPr sz="950" b="0">
                <a:solidFill>
                  <a:srgbClr val="FFFFFF"/>
                </a:solidFill>
                <a:latin typeface="Aptos"/>
              </a:defRPr>
            </a:pPr>
            <a:r>
              <a:t>Seguimiento y evaluación</a:t>
            </a:r>
          </a:p>
        </p:txBody>
      </p:sp>
      <p:sp>
        <p:nvSpPr>
          <p:cNvPr id="23" name="Rounded Rectangle 22"/>
          <p:cNvSpPr/>
          <p:nvPr/>
        </p:nvSpPr>
        <p:spPr>
          <a:xfrm>
            <a:off x="777240" y="2423160"/>
            <a:ext cx="5212080" cy="12344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2423160"/>
            <a:ext cx="73152" cy="123444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2514600"/>
            <a:ext cx="5010912"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Objetivo de aprendizaje</a:t>
            </a:r>
          </a:p>
        </p:txBody>
      </p:sp>
      <p:sp>
        <p:nvSpPr>
          <p:cNvPr id="26" name="TextBox 25"/>
          <p:cNvSpPr txBox="1"/>
          <p:nvPr/>
        </p:nvSpPr>
        <p:spPr>
          <a:xfrm>
            <a:off x="914400" y="2834640"/>
            <a:ext cx="4992624" cy="731520"/>
          </a:xfrm>
          <a:prstGeom prst="rect">
            <a:avLst/>
          </a:prstGeom>
          <a:noFill/>
        </p:spPr>
        <p:txBody>
          <a:bodyPr wrap="square" lIns="27432" tIns="18288" rIns="27432" bIns="18288" anchor="t">
            <a:spAutoFit/>
          </a:bodyPr>
          <a:lstStyle/>
          <a:p>
            <a:pPr algn="l">
              <a:lnSpc>
                <a:spcPct val="100000"/>
              </a:lnSpc>
              <a:defRPr sz="1220" b="0">
                <a:solidFill>
                  <a:srgbClr val="4E585D"/>
                </a:solidFill>
                <a:latin typeface="Aptos"/>
              </a:defRPr>
            </a:pPr>
            <a:r>
              <a:t>Desarrollar la capacidad para monitorear y evaluar la implementación, los resultados y la utilidad del acompañamiento empresarial, utilizando evidencias para tomar decisiones y promover mejora continua.</a:t>
            </a:r>
          </a:p>
        </p:txBody>
      </p:sp>
      <p:sp>
        <p:nvSpPr>
          <p:cNvPr id="27" name="Rounded Rectangle 26"/>
          <p:cNvSpPr/>
          <p:nvPr/>
        </p:nvSpPr>
        <p:spPr>
          <a:xfrm>
            <a:off x="6199632" y="2423160"/>
            <a:ext cx="5212080" cy="12344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99632" y="2423160"/>
            <a:ext cx="73152" cy="123444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36792" y="2514600"/>
            <a:ext cx="5010912"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Producto evaluativo integrador</a:t>
            </a:r>
          </a:p>
        </p:txBody>
      </p:sp>
      <p:sp>
        <p:nvSpPr>
          <p:cNvPr id="30" name="TextBox 29"/>
          <p:cNvSpPr txBox="1"/>
          <p:nvPr/>
        </p:nvSpPr>
        <p:spPr>
          <a:xfrm>
            <a:off x="6336792" y="2834640"/>
            <a:ext cx="4992624" cy="731520"/>
          </a:xfrm>
          <a:prstGeom prst="rect">
            <a:avLst/>
          </a:prstGeom>
          <a:noFill/>
        </p:spPr>
        <p:txBody>
          <a:bodyPr wrap="square" lIns="27432" tIns="18288" rIns="27432" bIns="18288" anchor="t">
            <a:spAutoFit/>
          </a:bodyPr>
          <a:lstStyle/>
          <a:p>
            <a:pPr algn="l">
              <a:lnSpc>
                <a:spcPct val="100000"/>
              </a:lnSpc>
              <a:defRPr sz="1220" b="0">
                <a:solidFill>
                  <a:srgbClr val="4E585D"/>
                </a:solidFill>
                <a:latin typeface="Aptos"/>
              </a:defRPr>
            </a:pPr>
            <a:r>
              <a:t>Evaluación del Plan de Mejora, documentada en K09, con la problemática de K03 y los indicadores y evidencias pertinentes de K07.</a:t>
            </a:r>
          </a:p>
        </p:txBody>
      </p:sp>
      <p:sp>
        <p:nvSpPr>
          <p:cNvPr id="31" name="Rounded Rectangle 30"/>
          <p:cNvSpPr/>
          <p:nvPr/>
        </p:nvSpPr>
        <p:spPr>
          <a:xfrm>
            <a:off x="777240" y="3977639"/>
            <a:ext cx="10634472" cy="102412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77240" y="3977639"/>
            <a:ext cx="73152" cy="1024128"/>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 y="4069079"/>
            <a:ext cx="10433304"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Dos ciclos articulados</a:t>
            </a:r>
          </a:p>
        </p:txBody>
      </p:sp>
      <p:sp>
        <p:nvSpPr>
          <p:cNvPr id="34" name="TextBox 33"/>
          <p:cNvSpPr txBox="1"/>
          <p:nvPr/>
        </p:nvSpPr>
        <p:spPr>
          <a:xfrm>
            <a:off x="914400" y="4389120"/>
            <a:ext cx="10415016" cy="521208"/>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Pedagógico: Diagnosticar necesidades de aprendizaje → Diseñar → Facilitar → Evaluar → Mejorar → Multiplicar.
Empresarial: Diagnosticar el NAE → Diseñar el Plan de Mejora → Acompañar su implementación → Evaluar resultados → Ajustar → Fortalecer capacidades.</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6" name="Rectangle 8">
            <a:extLst>
              <a:ext uri="{FF2B5EF4-FFF2-40B4-BE49-F238E27FC236}">
                <a16:creationId xmlns:a16="http://schemas.microsoft.com/office/drawing/2014/main" id="{616B01FE-FB24-1B8D-83D8-C0EEBBBF1526}"/>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9" descr="image3.png">
            <a:extLst>
              <a:ext uri="{FF2B5EF4-FFF2-40B4-BE49-F238E27FC236}">
                <a16:creationId xmlns:a16="http://schemas.microsoft.com/office/drawing/2014/main" id="{F34FD3A7-7694-9B83-1F4E-23F3578217A1}"/>
              </a:ext>
            </a:extLst>
          </p:cNvPr>
          <p:cNvPicPr>
            <a:picLocks noChangeAspect="1"/>
          </p:cNvPicPr>
          <p:nvPr/>
        </p:nvPicPr>
        <p:blipFill>
          <a:blip r:embed="rId3"/>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Objetivo del módulo</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TextBox 7"/>
          <p:cNvSpPr txBox="1"/>
          <p:nvPr/>
        </p:nvSpPr>
        <p:spPr>
          <a:xfrm>
            <a:off x="777240" y="1371600"/>
            <a:ext cx="10789920" cy="777240"/>
          </a:xfrm>
          <a:prstGeom prst="rect">
            <a:avLst/>
          </a:prstGeom>
          <a:noFill/>
        </p:spPr>
        <p:txBody>
          <a:bodyPr wrap="square" lIns="27432" tIns="18288" rIns="27432" bIns="18288" anchor="t">
            <a:spAutoFit/>
          </a:bodyPr>
          <a:lstStyle/>
          <a:p>
            <a:pPr algn="l">
              <a:lnSpc>
                <a:spcPct val="100000"/>
              </a:lnSpc>
              <a:defRPr sz="1900" b="0">
                <a:solidFill>
                  <a:srgbClr val="002D46"/>
                </a:solidFill>
                <a:latin typeface="Aptos"/>
              </a:defRPr>
            </a:pPr>
            <a:r>
              <a:t>Desarrollar la capacidad para monitorear y evaluar la implementación, los resultados y la utilidad del acompañamiento empresarial, utilizando evidencias para tomar decisiones, ajustar las intervenciones y promover la mejora continua.</a:t>
            </a:r>
          </a:p>
        </p:txBody>
      </p:sp>
      <p:sp>
        <p:nvSpPr>
          <p:cNvPr id="9" name="Rounded Rectangle 8"/>
          <p:cNvSpPr/>
          <p:nvPr/>
        </p:nvSpPr>
        <p:spPr>
          <a:xfrm>
            <a:off x="777240" y="2514600"/>
            <a:ext cx="507492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2514600"/>
            <a:ext cx="73152" cy="100584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60604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Monitoreo</a:t>
            </a:r>
          </a:p>
        </p:txBody>
      </p:sp>
      <p:sp>
        <p:nvSpPr>
          <p:cNvPr id="12" name="TextBox 11"/>
          <p:cNvSpPr txBox="1"/>
          <p:nvPr/>
        </p:nvSpPr>
        <p:spPr>
          <a:xfrm>
            <a:off x="914400" y="2926080"/>
            <a:ext cx="485546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Revisar ejecución, productos, aplicación, cambios y sostenibilidad del proceso de acompañamiento.</a:t>
            </a:r>
          </a:p>
        </p:txBody>
      </p:sp>
      <p:sp>
        <p:nvSpPr>
          <p:cNvPr id="13" name="Rounded Rectangle 12"/>
          <p:cNvSpPr/>
          <p:nvPr/>
        </p:nvSpPr>
        <p:spPr>
          <a:xfrm>
            <a:off x="6217920" y="2514600"/>
            <a:ext cx="507492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2514600"/>
            <a:ext cx="73152" cy="100584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260604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Evidencias</a:t>
            </a:r>
          </a:p>
        </p:txBody>
      </p:sp>
      <p:sp>
        <p:nvSpPr>
          <p:cNvPr id="16" name="TextBox 15"/>
          <p:cNvSpPr txBox="1"/>
          <p:nvPr/>
        </p:nvSpPr>
        <p:spPr>
          <a:xfrm>
            <a:off x="6355080" y="2926080"/>
            <a:ext cx="485546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Recopilar información cuantitativa y cualitativa pertinente, verificable y útil.</a:t>
            </a:r>
          </a:p>
        </p:txBody>
      </p:sp>
      <p:sp>
        <p:nvSpPr>
          <p:cNvPr id="17" name="Rounded Rectangle 16"/>
          <p:cNvSpPr/>
          <p:nvPr/>
        </p:nvSpPr>
        <p:spPr>
          <a:xfrm>
            <a:off x="777240" y="3840480"/>
            <a:ext cx="507492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3840480"/>
            <a:ext cx="73152" cy="100584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9319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Evaluación</a:t>
            </a:r>
          </a:p>
        </p:txBody>
      </p:sp>
      <p:sp>
        <p:nvSpPr>
          <p:cNvPr id="20" name="TextBox 19"/>
          <p:cNvSpPr txBox="1"/>
          <p:nvPr/>
        </p:nvSpPr>
        <p:spPr>
          <a:xfrm>
            <a:off x="914400" y="4251960"/>
            <a:ext cx="485546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Valorar cumplimiento, utilidad, satisfacción y desarrollo de capacidades.</a:t>
            </a:r>
          </a:p>
        </p:txBody>
      </p:sp>
      <p:sp>
        <p:nvSpPr>
          <p:cNvPr id="21" name="Rounded Rectangle 20"/>
          <p:cNvSpPr/>
          <p:nvPr/>
        </p:nvSpPr>
        <p:spPr>
          <a:xfrm>
            <a:off x="6217920" y="3840480"/>
            <a:ext cx="507492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3840480"/>
            <a:ext cx="73152" cy="100584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39319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Mejora continua</a:t>
            </a:r>
          </a:p>
        </p:txBody>
      </p:sp>
      <p:sp>
        <p:nvSpPr>
          <p:cNvPr id="24" name="TextBox 23"/>
          <p:cNvSpPr txBox="1"/>
          <p:nvPr/>
        </p:nvSpPr>
        <p:spPr>
          <a:xfrm>
            <a:off x="6355080" y="4251960"/>
            <a:ext cx="485546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Usar hallazgos para ajustar decisiones, corregir desviaciones y fortalecer resultados.</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5" name="Rectangle 8">
            <a:extLst>
              <a:ext uri="{FF2B5EF4-FFF2-40B4-BE49-F238E27FC236}">
                <a16:creationId xmlns:a16="http://schemas.microsoft.com/office/drawing/2014/main" id="{1654A50A-AF84-8AC7-A76A-867D1B5C5D0C}"/>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9" descr="image3.png">
            <a:extLst>
              <a:ext uri="{FF2B5EF4-FFF2-40B4-BE49-F238E27FC236}">
                <a16:creationId xmlns:a16="http://schemas.microsoft.com/office/drawing/2014/main" id="{76E610EF-8330-1607-629E-16E9A42AC9D6}"/>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Competencia C6: seguimiento y evaluación</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77240" y="1325880"/>
            <a:ext cx="10652760" cy="10972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1325880"/>
            <a:ext cx="73152" cy="10972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417320"/>
            <a:ext cx="10451592"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Competencia del módulo</a:t>
            </a:r>
          </a:p>
        </p:txBody>
      </p:sp>
      <p:sp>
        <p:nvSpPr>
          <p:cNvPr id="11" name="TextBox 10"/>
          <p:cNvSpPr txBox="1"/>
          <p:nvPr/>
        </p:nvSpPr>
        <p:spPr>
          <a:xfrm>
            <a:off x="914400" y="1737360"/>
            <a:ext cx="10433304" cy="594359"/>
          </a:xfrm>
          <a:prstGeom prst="rect">
            <a:avLst/>
          </a:prstGeom>
          <a:noFill/>
        </p:spPr>
        <p:txBody>
          <a:bodyPr wrap="square" lIns="27432" tIns="18288" rIns="27432" bIns="18288" anchor="t">
            <a:spAutoFit/>
          </a:bodyPr>
          <a:lstStyle/>
          <a:p>
            <a:pPr algn="l">
              <a:lnSpc>
                <a:spcPct val="100000"/>
              </a:lnSpc>
              <a:defRPr sz="1300" b="0">
                <a:solidFill>
                  <a:srgbClr val="4E585D"/>
                </a:solidFill>
                <a:latin typeface="Aptos"/>
              </a:defRPr>
            </a:pPr>
            <a:r>
              <a:t>Monitorear y evaluar la implementación del plan de mejora y la utilidad del acompañamiento, usando indicadores, evidencias y análisis para la toma de decisiones y la mejora continua.</a:t>
            </a:r>
          </a:p>
        </p:txBody>
      </p:sp>
      <p:sp>
        <p:nvSpPr>
          <p:cNvPr id="12" name="Rounded Rectangle 11"/>
          <p:cNvSpPr/>
          <p:nvPr/>
        </p:nvSpPr>
        <p:spPr>
          <a:xfrm>
            <a:off x="822960" y="2880360"/>
            <a:ext cx="2015337" cy="713232"/>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990088"/>
            <a:ext cx="1923897" cy="548640"/>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Objetivos del</a:t>
            </a:r>
          </a:p>
          <a:p>
            <a:pPr algn="ctr">
              <a:lnSpc>
                <a:spcPct val="100000"/>
              </a:lnSpc>
              <a:defRPr sz="1050" b="1">
                <a:solidFill>
                  <a:srgbClr val="FFFFFF"/>
                </a:solidFill>
                <a:latin typeface="Aptos"/>
              </a:defRPr>
            </a:pPr>
            <a:r>
              <a:t>plan</a:t>
            </a:r>
          </a:p>
        </p:txBody>
      </p:sp>
      <p:sp>
        <p:nvSpPr>
          <p:cNvPr id="14" name="Right Triangle 13"/>
          <p:cNvSpPr/>
          <p:nvPr/>
        </p:nvSpPr>
        <p:spPr>
          <a:xfrm>
            <a:off x="2829153" y="3108960"/>
            <a:ext cx="164592" cy="256032"/>
          </a:xfrm>
          <a:prstGeom prst="rtTriangle">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948025" y="2880360"/>
            <a:ext cx="2015337" cy="713232"/>
          </a:xfrm>
          <a:prstGeom prst="round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93745" y="2990088"/>
            <a:ext cx="1923897" cy="548640"/>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Indicadores y</a:t>
            </a:r>
          </a:p>
          <a:p>
            <a:pPr algn="ctr">
              <a:lnSpc>
                <a:spcPct val="100000"/>
              </a:lnSpc>
              <a:defRPr sz="1050" b="1">
                <a:solidFill>
                  <a:srgbClr val="FFFFFF"/>
                </a:solidFill>
                <a:latin typeface="Aptos"/>
              </a:defRPr>
            </a:pPr>
            <a:r>
              <a:t>línea de base</a:t>
            </a:r>
          </a:p>
        </p:txBody>
      </p:sp>
      <p:sp>
        <p:nvSpPr>
          <p:cNvPr id="17" name="Right Triangle 16"/>
          <p:cNvSpPr/>
          <p:nvPr/>
        </p:nvSpPr>
        <p:spPr>
          <a:xfrm>
            <a:off x="4954219" y="3108960"/>
            <a:ext cx="164592" cy="256032"/>
          </a:xfrm>
          <a:prstGeom prst="rtTriangle">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73091" y="2880360"/>
            <a:ext cx="2015337" cy="713232"/>
          </a:xfrm>
          <a:prstGeom prst="roundRect">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18811" y="2990088"/>
            <a:ext cx="1923897" cy="548640"/>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Evidencias y</a:t>
            </a:r>
          </a:p>
          <a:p>
            <a:pPr algn="ctr">
              <a:lnSpc>
                <a:spcPct val="100000"/>
              </a:lnSpc>
              <a:defRPr sz="1050" b="1">
                <a:solidFill>
                  <a:srgbClr val="FFFFFF"/>
                </a:solidFill>
                <a:latin typeface="Aptos"/>
              </a:defRPr>
            </a:pPr>
            <a:r>
              <a:t>registros</a:t>
            </a:r>
          </a:p>
        </p:txBody>
      </p:sp>
      <p:sp>
        <p:nvSpPr>
          <p:cNvPr id="20" name="Right Triangle 19"/>
          <p:cNvSpPr/>
          <p:nvPr/>
        </p:nvSpPr>
        <p:spPr>
          <a:xfrm>
            <a:off x="7079284" y="3108960"/>
            <a:ext cx="164592" cy="256032"/>
          </a:xfrm>
          <a:prstGeom prst="rtTriangle">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198156" y="2880360"/>
            <a:ext cx="2015337" cy="713232"/>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43876" y="2990088"/>
            <a:ext cx="1923897" cy="548640"/>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Análisis de</a:t>
            </a:r>
          </a:p>
          <a:p>
            <a:pPr algn="ctr">
              <a:lnSpc>
                <a:spcPct val="100000"/>
              </a:lnSpc>
              <a:defRPr sz="1050" b="1">
                <a:solidFill>
                  <a:srgbClr val="FFFFFF"/>
                </a:solidFill>
                <a:latin typeface="Aptos"/>
              </a:defRPr>
            </a:pPr>
            <a:r>
              <a:t>resultados</a:t>
            </a:r>
          </a:p>
        </p:txBody>
      </p:sp>
      <p:sp>
        <p:nvSpPr>
          <p:cNvPr id="23" name="Right Triangle 22"/>
          <p:cNvSpPr/>
          <p:nvPr/>
        </p:nvSpPr>
        <p:spPr>
          <a:xfrm>
            <a:off x="9204350" y="3108960"/>
            <a:ext cx="164592" cy="256032"/>
          </a:xfrm>
          <a:prstGeom prst="rtTriangle">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323222" y="2880360"/>
            <a:ext cx="2015337" cy="713232"/>
          </a:xfrm>
          <a:prstGeom prst="round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68942" y="2990088"/>
            <a:ext cx="1923897" cy="548640"/>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Decisiones de</a:t>
            </a:r>
          </a:p>
          <a:p>
            <a:pPr algn="ctr">
              <a:lnSpc>
                <a:spcPct val="100000"/>
              </a:lnSpc>
              <a:defRPr sz="1050" b="1">
                <a:solidFill>
                  <a:srgbClr val="FFFFFF"/>
                </a:solidFill>
                <a:latin typeface="Aptos"/>
              </a:defRPr>
            </a:pPr>
            <a:r>
              <a:t>ajuste</a:t>
            </a:r>
          </a:p>
        </p:txBody>
      </p:sp>
      <p:sp>
        <p:nvSpPr>
          <p:cNvPr id="26" name="Rounded Rectangle 25"/>
          <p:cNvSpPr/>
          <p:nvPr/>
        </p:nvSpPr>
        <p:spPr>
          <a:xfrm>
            <a:off x="777240" y="416052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240" y="4160520"/>
            <a:ext cx="73152" cy="100584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4251959"/>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Evidencias de práctica</a:t>
            </a:r>
          </a:p>
        </p:txBody>
      </p:sp>
      <p:sp>
        <p:nvSpPr>
          <p:cNvPr id="29" name="TextBox 28"/>
          <p:cNvSpPr txBox="1"/>
          <p:nvPr/>
        </p:nvSpPr>
        <p:spPr>
          <a:xfrm>
            <a:off x="914400" y="4572000"/>
            <a:ext cx="499262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Indicadores, análisis y recomendaciones se integran en la Evaluación del Plan de Mejora; no son productos calificables adicionales.</a:t>
            </a:r>
          </a:p>
        </p:txBody>
      </p:sp>
      <p:sp>
        <p:nvSpPr>
          <p:cNvPr id="30" name="Rounded Rectangle 29"/>
          <p:cNvSpPr/>
          <p:nvPr/>
        </p:nvSpPr>
        <p:spPr>
          <a:xfrm>
            <a:off x="6217920" y="416052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4160520"/>
            <a:ext cx="73152" cy="100584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4251959"/>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Criterio de calidad</a:t>
            </a:r>
          </a:p>
        </p:txBody>
      </p:sp>
      <p:sp>
        <p:nvSpPr>
          <p:cNvPr id="33" name="TextBox 32"/>
          <p:cNvSpPr txBox="1"/>
          <p:nvPr/>
        </p:nvSpPr>
        <p:spPr>
          <a:xfrm>
            <a:off x="6355080" y="4572000"/>
            <a:ext cx="499262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La evaluación debe producir información útil para decidir: continuar, ajustar, reforzar, derivar o cerrar acciones.</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8" name="Rectangle 8">
            <a:extLst>
              <a:ext uri="{FF2B5EF4-FFF2-40B4-BE49-F238E27FC236}">
                <a16:creationId xmlns:a16="http://schemas.microsoft.com/office/drawing/2014/main" id="{F7182948-B352-6167-6358-CC82360E0D18}"/>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9" descr="image3.png">
            <a:extLst>
              <a:ext uri="{FF2B5EF4-FFF2-40B4-BE49-F238E27FC236}">
                <a16:creationId xmlns:a16="http://schemas.microsoft.com/office/drawing/2014/main" id="{AEF3BA3D-1B26-70AE-BE72-86016FB52744}"/>
              </a:ext>
            </a:extLst>
          </p:cNvPr>
          <p:cNvPicPr>
            <a:picLocks noChangeAspect="1"/>
          </p:cNvPicPr>
          <p:nvPr/>
        </p:nvPicPr>
        <p:blipFill>
          <a:blip r:embed="rId3"/>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Resultados esperados de aprendizaje I</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822960" y="1325880"/>
            <a:ext cx="411480" cy="310896"/>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380744"/>
            <a:ext cx="32004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1</a:t>
            </a:r>
          </a:p>
        </p:txBody>
      </p:sp>
      <p:sp>
        <p:nvSpPr>
          <p:cNvPr id="10" name="TextBox 9"/>
          <p:cNvSpPr txBox="1"/>
          <p:nvPr/>
        </p:nvSpPr>
        <p:spPr>
          <a:xfrm>
            <a:off x="1371600" y="1344168"/>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Diferenciar actividades, productos, resultados y cambios.</a:t>
            </a:r>
          </a:p>
        </p:txBody>
      </p:sp>
      <p:sp>
        <p:nvSpPr>
          <p:cNvPr id="11" name="Rounded Rectangle 10"/>
          <p:cNvSpPr/>
          <p:nvPr/>
        </p:nvSpPr>
        <p:spPr>
          <a:xfrm>
            <a:off x="822960" y="2103120"/>
            <a:ext cx="411480" cy="310896"/>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157984"/>
            <a:ext cx="32004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2</a:t>
            </a:r>
          </a:p>
        </p:txBody>
      </p:sp>
      <p:sp>
        <p:nvSpPr>
          <p:cNvPr id="13" name="TextBox 12"/>
          <p:cNvSpPr txBox="1"/>
          <p:nvPr/>
        </p:nvSpPr>
        <p:spPr>
          <a:xfrm>
            <a:off x="1371600" y="2121408"/>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Formular indicadores vinculados con los objetivos del plan de mejora.</a:t>
            </a:r>
          </a:p>
        </p:txBody>
      </p:sp>
      <p:sp>
        <p:nvSpPr>
          <p:cNvPr id="14" name="Rounded Rectangle 13"/>
          <p:cNvSpPr/>
          <p:nvPr/>
        </p:nvSpPr>
        <p:spPr>
          <a:xfrm>
            <a:off x="822960" y="2880360"/>
            <a:ext cx="411480" cy="310896"/>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935224"/>
            <a:ext cx="32004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3</a:t>
            </a:r>
          </a:p>
        </p:txBody>
      </p:sp>
      <p:sp>
        <p:nvSpPr>
          <p:cNvPr id="16" name="TextBox 15"/>
          <p:cNvSpPr txBox="1"/>
          <p:nvPr/>
        </p:nvSpPr>
        <p:spPr>
          <a:xfrm>
            <a:off x="1371600" y="2898648"/>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Definir líneas de base y metas cuando corresponda.</a:t>
            </a:r>
          </a:p>
        </p:txBody>
      </p:sp>
      <p:sp>
        <p:nvSpPr>
          <p:cNvPr id="17" name="Rounded Rectangle 16"/>
          <p:cNvSpPr/>
          <p:nvPr/>
        </p:nvSpPr>
        <p:spPr>
          <a:xfrm>
            <a:off x="822960" y="3657600"/>
            <a:ext cx="411480" cy="310896"/>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712463"/>
            <a:ext cx="32004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4</a:t>
            </a:r>
          </a:p>
        </p:txBody>
      </p:sp>
      <p:sp>
        <p:nvSpPr>
          <p:cNvPr id="19" name="TextBox 18"/>
          <p:cNvSpPr txBox="1"/>
          <p:nvPr/>
        </p:nvSpPr>
        <p:spPr>
          <a:xfrm>
            <a:off x="1371600" y="3675887"/>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Identificar medios de verificación pertinentes.</a:t>
            </a:r>
          </a:p>
        </p:txBody>
      </p:sp>
      <p:sp>
        <p:nvSpPr>
          <p:cNvPr id="20" name="Rounded Rectangle 19"/>
          <p:cNvSpPr/>
          <p:nvPr/>
        </p:nvSpPr>
        <p:spPr>
          <a:xfrm>
            <a:off x="822960" y="4434840"/>
            <a:ext cx="411480" cy="310896"/>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489703"/>
            <a:ext cx="32004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5</a:t>
            </a:r>
          </a:p>
        </p:txBody>
      </p:sp>
      <p:sp>
        <p:nvSpPr>
          <p:cNvPr id="22" name="TextBox 21"/>
          <p:cNvSpPr txBox="1"/>
          <p:nvPr/>
        </p:nvSpPr>
        <p:spPr>
          <a:xfrm>
            <a:off x="1371600" y="4453127"/>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Recopilar evidencias cuantitativas y cualitativas.</a:t>
            </a:r>
          </a:p>
        </p:txBody>
      </p:sp>
      <p:sp>
        <p:nvSpPr>
          <p:cNvPr id="23" name="Rounded Rectangle 22"/>
          <p:cNvSpPr/>
          <p:nvPr/>
        </p:nvSpPr>
        <p:spPr>
          <a:xfrm>
            <a:off x="777240" y="5440680"/>
            <a:ext cx="10652760" cy="5029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5440680"/>
            <a:ext cx="73152" cy="50292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32120"/>
            <a:ext cx="104515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Lógica evaluativa</a:t>
            </a:r>
          </a:p>
        </p:txBody>
      </p:sp>
      <p:sp>
        <p:nvSpPr>
          <p:cNvPr id="26" name="TextBox 25"/>
          <p:cNvSpPr txBox="1"/>
          <p:nvPr/>
        </p:nvSpPr>
        <p:spPr>
          <a:xfrm>
            <a:off x="914400" y="5756361"/>
            <a:ext cx="10433304" cy="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rPr dirty="0" err="1"/>
              <a:t>Evaluar</a:t>
            </a:r>
            <a:r>
              <a:rPr dirty="0"/>
              <a:t> no es solo </a:t>
            </a:r>
            <a:r>
              <a:rPr dirty="0" err="1"/>
              <a:t>medir</a:t>
            </a:r>
            <a:r>
              <a:rPr dirty="0"/>
              <a:t> </a:t>
            </a:r>
            <a:r>
              <a:rPr dirty="0" err="1"/>
              <a:t>actividades</a:t>
            </a:r>
            <a:r>
              <a:rPr dirty="0"/>
              <a:t>; es </a:t>
            </a:r>
            <a:r>
              <a:rPr dirty="0" err="1"/>
              <a:t>comprobar</a:t>
            </a:r>
            <a:r>
              <a:rPr dirty="0"/>
              <a:t> </a:t>
            </a:r>
            <a:r>
              <a:rPr dirty="0" err="1"/>
              <a:t>aplicación</a:t>
            </a:r>
            <a:r>
              <a:rPr dirty="0"/>
              <a:t>, </a:t>
            </a:r>
            <a:r>
              <a:rPr dirty="0" err="1"/>
              <a:t>cambios</a:t>
            </a:r>
            <a:r>
              <a:rPr dirty="0"/>
              <a:t> y </a:t>
            </a:r>
            <a:r>
              <a:rPr dirty="0" err="1"/>
              <a:t>utilidad</a:t>
            </a:r>
            <a:r>
              <a:rPr dirty="0"/>
              <a:t> del </a:t>
            </a:r>
            <a:r>
              <a:rPr dirty="0" err="1"/>
              <a:t>acompañamiento</a:t>
            </a:r>
            <a:r>
              <a:rPr dirty="0"/>
              <a:t>.</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8" name="Rectangle 8">
            <a:extLst>
              <a:ext uri="{FF2B5EF4-FFF2-40B4-BE49-F238E27FC236}">
                <a16:creationId xmlns:a16="http://schemas.microsoft.com/office/drawing/2014/main" id="{245F19E9-9854-1CB8-4F1E-9EB1F360C0B4}"/>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9" descr="image3.png">
            <a:extLst>
              <a:ext uri="{FF2B5EF4-FFF2-40B4-BE49-F238E27FC236}">
                <a16:creationId xmlns:a16="http://schemas.microsoft.com/office/drawing/2014/main" id="{9C29D720-FA9B-28A1-CB35-A1BCF9817FFA}"/>
              </a:ext>
            </a:extLst>
          </p:cNvPr>
          <p:cNvPicPr>
            <a:picLocks noChangeAspect="1"/>
          </p:cNvPicPr>
          <p:nvPr/>
        </p:nvPicPr>
        <p:blipFill>
          <a:blip r:embed="rId3"/>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Resultados esperados de aprendizaje II</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822960" y="1325880"/>
            <a:ext cx="502920" cy="310896"/>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380744"/>
            <a:ext cx="41148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6</a:t>
            </a:r>
          </a:p>
        </p:txBody>
      </p:sp>
      <p:sp>
        <p:nvSpPr>
          <p:cNvPr id="10" name="TextBox 9"/>
          <p:cNvSpPr txBox="1"/>
          <p:nvPr/>
        </p:nvSpPr>
        <p:spPr>
          <a:xfrm>
            <a:off x="1463040" y="1344168"/>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Analizar el grado de implementación de las acciones.</a:t>
            </a:r>
          </a:p>
        </p:txBody>
      </p:sp>
      <p:sp>
        <p:nvSpPr>
          <p:cNvPr id="11" name="Rounded Rectangle 10"/>
          <p:cNvSpPr/>
          <p:nvPr/>
        </p:nvSpPr>
        <p:spPr>
          <a:xfrm>
            <a:off x="822960" y="2103120"/>
            <a:ext cx="502920" cy="310896"/>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2157984"/>
            <a:ext cx="41148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7</a:t>
            </a:r>
          </a:p>
        </p:txBody>
      </p:sp>
      <p:sp>
        <p:nvSpPr>
          <p:cNvPr id="13" name="TextBox 12"/>
          <p:cNvSpPr txBox="1"/>
          <p:nvPr/>
        </p:nvSpPr>
        <p:spPr>
          <a:xfrm>
            <a:off x="1463040" y="2121408"/>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Identificar cambios en las prácticas empresariales.</a:t>
            </a:r>
          </a:p>
        </p:txBody>
      </p:sp>
      <p:sp>
        <p:nvSpPr>
          <p:cNvPr id="14" name="Rounded Rectangle 13"/>
          <p:cNvSpPr/>
          <p:nvPr/>
        </p:nvSpPr>
        <p:spPr>
          <a:xfrm>
            <a:off x="822960" y="2880360"/>
            <a:ext cx="502920" cy="310896"/>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935224"/>
            <a:ext cx="41148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8</a:t>
            </a:r>
          </a:p>
        </p:txBody>
      </p:sp>
      <p:sp>
        <p:nvSpPr>
          <p:cNvPr id="16" name="TextBox 15"/>
          <p:cNvSpPr txBox="1"/>
          <p:nvPr/>
        </p:nvSpPr>
        <p:spPr>
          <a:xfrm>
            <a:off x="1463040" y="2898648"/>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Valorar la utilidad y aplicabilidad del acompañamiento.</a:t>
            </a:r>
          </a:p>
        </p:txBody>
      </p:sp>
      <p:sp>
        <p:nvSpPr>
          <p:cNvPr id="17" name="Rounded Rectangle 16"/>
          <p:cNvSpPr/>
          <p:nvPr/>
        </p:nvSpPr>
        <p:spPr>
          <a:xfrm>
            <a:off x="822960" y="3657600"/>
            <a:ext cx="502920" cy="310896"/>
          </a:xfrm>
          <a:prstGeom prst="round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712463"/>
            <a:ext cx="41148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9</a:t>
            </a:r>
          </a:p>
        </p:txBody>
      </p:sp>
      <p:sp>
        <p:nvSpPr>
          <p:cNvPr id="19" name="TextBox 18"/>
          <p:cNvSpPr txBox="1"/>
          <p:nvPr/>
        </p:nvSpPr>
        <p:spPr>
          <a:xfrm>
            <a:off x="1463040" y="3675887"/>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Identificar factores facilitadores y limitantes.</a:t>
            </a:r>
          </a:p>
        </p:txBody>
      </p:sp>
      <p:sp>
        <p:nvSpPr>
          <p:cNvPr id="20" name="Rounded Rectangle 19"/>
          <p:cNvSpPr/>
          <p:nvPr/>
        </p:nvSpPr>
        <p:spPr>
          <a:xfrm>
            <a:off x="822960" y="4434840"/>
            <a:ext cx="502920" cy="310896"/>
          </a:xfrm>
          <a:prstGeom prst="round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489703"/>
            <a:ext cx="411480" cy="201168"/>
          </a:xfrm>
          <a:prstGeom prst="rect">
            <a:avLst/>
          </a:prstGeom>
          <a:noFill/>
        </p:spPr>
        <p:txBody>
          <a:bodyPr wrap="square" lIns="27432" tIns="18288" rIns="27432" bIns="18288" anchor="t">
            <a:spAutoFit/>
          </a:bodyPr>
          <a:lstStyle/>
          <a:p>
            <a:pPr algn="ctr">
              <a:lnSpc>
                <a:spcPct val="100000"/>
              </a:lnSpc>
              <a:defRPr sz="1050" b="1">
                <a:solidFill>
                  <a:srgbClr val="FFFFFF"/>
                </a:solidFill>
                <a:latin typeface="Aptos"/>
              </a:defRPr>
            </a:pPr>
            <a:r>
              <a:t>10</a:t>
            </a:r>
          </a:p>
        </p:txBody>
      </p:sp>
      <p:sp>
        <p:nvSpPr>
          <p:cNvPr id="22" name="TextBox 21"/>
          <p:cNvSpPr txBox="1"/>
          <p:nvPr/>
        </p:nvSpPr>
        <p:spPr>
          <a:xfrm>
            <a:off x="1463040" y="4453127"/>
            <a:ext cx="9875520" cy="320040"/>
          </a:xfrm>
          <a:prstGeom prst="rect">
            <a:avLst/>
          </a:prstGeom>
          <a:noFill/>
        </p:spPr>
        <p:txBody>
          <a:bodyPr wrap="square" lIns="27432" tIns="18288" rIns="27432" bIns="18288" anchor="t">
            <a:spAutoFit/>
          </a:bodyPr>
          <a:lstStyle/>
          <a:p>
            <a:pPr algn="l">
              <a:lnSpc>
                <a:spcPct val="100000"/>
              </a:lnSpc>
              <a:defRPr sz="1400" b="0">
                <a:solidFill>
                  <a:srgbClr val="002D46"/>
                </a:solidFill>
                <a:latin typeface="Aptos"/>
              </a:defRPr>
            </a:pPr>
            <a:r>
              <a:t>Formular recomendaciones y decisiones de mejora.</a:t>
            </a:r>
          </a:p>
        </p:txBody>
      </p:sp>
      <p:sp>
        <p:nvSpPr>
          <p:cNvPr id="23" name="Rounded Rectangle 22"/>
          <p:cNvSpPr/>
          <p:nvPr/>
        </p:nvSpPr>
        <p:spPr>
          <a:xfrm>
            <a:off x="777240" y="5440680"/>
            <a:ext cx="10652760" cy="5029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77240" y="5440680"/>
            <a:ext cx="73152" cy="50292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32120"/>
            <a:ext cx="104515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Resultado integrador</a:t>
            </a:r>
          </a:p>
        </p:txBody>
      </p:sp>
      <p:sp>
        <p:nvSpPr>
          <p:cNvPr id="26" name="TextBox 25"/>
          <p:cNvSpPr txBox="1"/>
          <p:nvPr/>
        </p:nvSpPr>
        <p:spPr>
          <a:xfrm>
            <a:off x="914400" y="5773779"/>
            <a:ext cx="10433304" cy="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rPr dirty="0"/>
              <a:t>Eval</a:t>
            </a:r>
            <a:r>
              <a:rPr dirty="0" err="1"/>
              <a:t>uación de</a:t>
            </a:r>
            <a:r>
              <a:rPr dirty="0"/>
              <a:t>l</a:t>
            </a:r>
            <a:r>
              <a:rPr dirty="0" err="1"/>
              <a:t> Plan de M</a:t>
            </a:r>
            <a:r>
              <a:rPr dirty="0"/>
              <a:t>ejora e</a:t>
            </a:r>
            <a:r>
              <a:rPr dirty="0" err="1"/>
              <a:t>n K09: lec</a:t>
            </a:r>
            <a:r>
              <a:rPr dirty="0"/>
              <a:t>tu</a:t>
            </a:r>
            <a:r>
              <a:rPr dirty="0" err="1"/>
              <a:t>ra crítica</a:t>
            </a:r>
            <a:r>
              <a:rPr dirty="0"/>
              <a:t> de e</a:t>
            </a:r>
            <a:r>
              <a:rPr dirty="0" err="1"/>
              <a:t>videncias, camb</a:t>
            </a:r>
            <a:r>
              <a:rPr dirty="0"/>
              <a:t>ios </a:t>
            </a:r>
            <a:r>
              <a:rPr dirty="0" err="1"/>
              <a:t>alcanzados y d</a:t>
            </a:r>
            <a:r>
              <a:rPr dirty="0"/>
              <a:t>ecisio</a:t>
            </a:r>
            <a:r>
              <a:rPr dirty="0" err="1"/>
              <a:t>nes de m</a:t>
            </a:r>
            <a:r>
              <a:rPr dirty="0"/>
              <a:t>ej</a:t>
            </a:r>
            <a:r>
              <a:rPr dirty="0" err="1"/>
              <a:t>ora razonadas</a:t>
            </a:r>
            <a:r>
              <a:rPr dirty="0"/>
              <a:t>.</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0CDA12D5-43D4-127B-D6F4-A683BE15D0E5}"/>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9" descr="image3.png">
            <a:extLst>
              <a:ext uri="{FF2B5EF4-FFF2-40B4-BE49-F238E27FC236}">
                <a16:creationId xmlns:a16="http://schemas.microsoft.com/office/drawing/2014/main" id="{850B3EF2-CD24-CE1D-2256-46F55C54D270}"/>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Ruta del Módulo 5 por modalidad</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graphicFrame>
        <p:nvGraphicFramePr>
          <p:cNvPr id="8" name="Table 7"/>
          <p:cNvGraphicFramePr>
            <a:graphicFrameLocks noGrp="1"/>
          </p:cNvGraphicFramePr>
          <p:nvPr/>
        </p:nvGraphicFramePr>
        <p:xfrm>
          <a:off x="640080" y="1234440"/>
          <a:ext cx="10927080" cy="3977639"/>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4800600">
                  <a:extLst>
                    <a:ext uri="{9D8B030D-6E8A-4147-A177-3AD203B41FA5}">
                      <a16:colId xmlns:a16="http://schemas.microsoft.com/office/drawing/2014/main" val="20003"/>
                    </a:ext>
                  </a:extLst>
                </a:gridCol>
              </a:tblGrid>
              <a:tr h="662939">
                <a:tc>
                  <a:txBody>
                    <a:bodyPr/>
                    <a:lstStyle/>
                    <a:p>
                      <a:pPr>
                        <a:defRPr sz="800" b="1">
                          <a:solidFill>
                            <a:srgbClr val="FFFFFF"/>
                          </a:solidFill>
                          <a:latin typeface="Aptos"/>
                        </a:defRPr>
                      </a:pPr>
                      <a:r>
                        <a:t>Tema</a:t>
                      </a:r>
                    </a:p>
                  </a:txBody>
                  <a:tcPr marL="45720" marR="36576" marT="27432" marB="27432" anchor="ctr">
                    <a:solidFill>
                      <a:srgbClr val="002D46"/>
                    </a:solidFill>
                  </a:tcPr>
                </a:tc>
                <a:tc>
                  <a:txBody>
                    <a:bodyPr/>
                    <a:lstStyle/>
                    <a:p>
                      <a:pPr>
                        <a:defRPr sz="800" b="1">
                          <a:solidFill>
                            <a:srgbClr val="FFFFFF"/>
                          </a:solidFill>
                          <a:latin typeface="Aptos"/>
                        </a:defRPr>
                      </a:pPr>
                      <a:r>
                        <a:t>Carga</a:t>
                      </a:r>
                    </a:p>
                  </a:txBody>
                  <a:tcPr marL="45720" marR="36576" marT="27432" marB="27432" anchor="ctr">
                    <a:solidFill>
                      <a:srgbClr val="002D46"/>
                    </a:solidFill>
                  </a:tcPr>
                </a:tc>
                <a:tc>
                  <a:txBody>
                    <a:bodyPr/>
                    <a:lstStyle/>
                    <a:p>
                      <a:pPr>
                        <a:defRPr sz="800" b="1">
                          <a:solidFill>
                            <a:srgbClr val="FFFFFF"/>
                          </a:solidFill>
                          <a:latin typeface="Aptos"/>
                        </a:defRPr>
                      </a:pPr>
                      <a:r>
                        <a:t>Modalidad</a:t>
                      </a:r>
                    </a:p>
                  </a:txBody>
                  <a:tcPr marL="45720" marR="36576" marT="27432" marB="27432" anchor="ctr">
                    <a:solidFill>
                      <a:srgbClr val="002D46"/>
                    </a:solidFill>
                  </a:tcPr>
                </a:tc>
                <a:tc>
                  <a:txBody>
                    <a:bodyPr/>
                    <a:lstStyle/>
                    <a:p>
                      <a:pPr>
                        <a:defRPr sz="800" b="1">
                          <a:solidFill>
                            <a:srgbClr val="FFFFFF"/>
                          </a:solidFill>
                          <a:latin typeface="Aptos"/>
                        </a:defRPr>
                      </a:pPr>
                      <a:r>
                        <a:t>Foco operativo</a:t>
                      </a:r>
                    </a:p>
                  </a:txBody>
                  <a:tcPr marL="45720" marR="36576" marT="27432" marB="27432" anchor="ctr">
                    <a:solidFill>
                      <a:srgbClr val="002D46"/>
                    </a:solidFill>
                  </a:tcPr>
                </a:tc>
                <a:extLst>
                  <a:ext uri="{0D108BD9-81ED-4DB2-BD59-A6C34878D82A}">
                    <a16:rowId xmlns:a16="http://schemas.microsoft.com/office/drawing/2014/main" val="10000"/>
                  </a:ext>
                </a:extLst>
              </a:tr>
              <a:tr h="662939">
                <a:tc>
                  <a:txBody>
                    <a:bodyPr/>
                    <a:lstStyle/>
                    <a:p>
                      <a:pPr>
                        <a:defRPr sz="800">
                          <a:solidFill>
                            <a:srgbClr val="002D46"/>
                          </a:solidFill>
                          <a:latin typeface="Aptos"/>
                        </a:defRPr>
                      </a:pPr>
                      <a:r>
                        <a:t>1. Qué evaluar durante el acompañamiento</a:t>
                      </a:r>
                    </a:p>
                  </a:txBody>
                  <a:tcPr marL="45720" marR="36576" marT="27432" marB="27432" anchor="ctr">
                    <a:solidFill>
                      <a:srgbClr val="FAF8F2"/>
                    </a:solidFill>
                  </a:tcPr>
                </a:tc>
                <a:tc>
                  <a:txBody>
                    <a:bodyPr/>
                    <a:lstStyle/>
                    <a:p>
                      <a:pPr>
                        <a:defRPr sz="800">
                          <a:solidFill>
                            <a:srgbClr val="002D46"/>
                          </a:solidFill>
                          <a:latin typeface="Aptos"/>
                        </a:defRPr>
                      </a:pPr>
                      <a:r>
                        <a:t>0,5 h</a:t>
                      </a:r>
                    </a:p>
                  </a:txBody>
                  <a:tcPr marL="45720" marR="36576" marT="27432" marB="27432" anchor="ctr">
                    <a:solidFill>
                      <a:srgbClr val="FAF8F2"/>
                    </a:solidFill>
                  </a:tcPr>
                </a:tc>
                <a:tc>
                  <a:txBody>
                    <a:bodyPr/>
                    <a:lstStyle/>
                    <a:p>
                      <a:pPr>
                        <a:defRPr sz="800">
                          <a:solidFill>
                            <a:srgbClr val="002D46"/>
                          </a:solidFill>
                          <a:latin typeface="Aptos"/>
                        </a:defRPr>
                      </a:pPr>
                      <a:r>
                        <a:t>Virtual asincrónica</a:t>
                      </a:r>
                    </a:p>
                  </a:txBody>
                  <a:tcPr marL="45720" marR="36576" marT="27432" marB="27432" anchor="ctr">
                    <a:solidFill>
                      <a:srgbClr val="FAF8F2"/>
                    </a:solidFill>
                  </a:tcPr>
                </a:tc>
                <a:tc>
                  <a:txBody>
                    <a:bodyPr/>
                    <a:lstStyle/>
                    <a:p>
                      <a:pPr>
                        <a:defRPr sz="800">
                          <a:solidFill>
                            <a:srgbClr val="002D46"/>
                          </a:solidFill>
                          <a:latin typeface="Aptos"/>
                        </a:defRPr>
                      </a:pPr>
                      <a:r>
                        <a:t>Ejecución, productos, aplicación, cambios, resultados y sostenibilidad.</a:t>
                      </a:r>
                    </a:p>
                  </a:txBody>
                  <a:tcPr marL="45720" marR="36576" marT="27432" marB="27432" anchor="ctr">
                    <a:solidFill>
                      <a:srgbClr val="FAF8F2"/>
                    </a:solidFill>
                  </a:tcPr>
                </a:tc>
                <a:extLst>
                  <a:ext uri="{0D108BD9-81ED-4DB2-BD59-A6C34878D82A}">
                    <a16:rowId xmlns:a16="http://schemas.microsoft.com/office/drawing/2014/main" val="10001"/>
                  </a:ext>
                </a:extLst>
              </a:tr>
              <a:tr h="662939">
                <a:tc>
                  <a:txBody>
                    <a:bodyPr/>
                    <a:lstStyle/>
                    <a:p>
                      <a:pPr>
                        <a:defRPr sz="800">
                          <a:solidFill>
                            <a:srgbClr val="002D46"/>
                          </a:solidFill>
                          <a:latin typeface="Aptos"/>
                        </a:defRPr>
                      </a:pPr>
                      <a:r>
                        <a:t>2. Indicadores</a:t>
                      </a:r>
                    </a:p>
                  </a:txBody>
                  <a:tcPr marL="45720" marR="36576" marT="27432" marB="27432" anchor="ctr">
                    <a:solidFill>
                      <a:srgbClr val="EFECE2"/>
                    </a:solidFill>
                  </a:tcPr>
                </a:tc>
                <a:tc>
                  <a:txBody>
                    <a:bodyPr/>
                    <a:lstStyle/>
                    <a:p>
                      <a:pPr>
                        <a:defRPr sz="800">
                          <a:solidFill>
                            <a:srgbClr val="002D46"/>
                          </a:solidFill>
                          <a:latin typeface="Aptos"/>
                        </a:defRPr>
                      </a:pPr>
                      <a:r>
                        <a:t>1 h</a:t>
                      </a:r>
                    </a:p>
                  </a:txBody>
                  <a:tcPr marL="45720" marR="36576" marT="27432" marB="27432" anchor="ctr">
                    <a:solidFill>
                      <a:srgbClr val="EFECE2"/>
                    </a:solidFill>
                  </a:tcPr>
                </a:tc>
                <a:tc>
                  <a:txBody>
                    <a:bodyPr/>
                    <a:lstStyle/>
                    <a:p>
                      <a:pPr>
                        <a:defRPr sz="800">
                          <a:solidFill>
                            <a:srgbClr val="002D46"/>
                          </a:solidFill>
                          <a:latin typeface="Aptos"/>
                        </a:defRPr>
                      </a:pPr>
                      <a:r>
                        <a:t>Virtual asincrónica</a:t>
                      </a:r>
                    </a:p>
                  </a:txBody>
                  <a:tcPr marL="45720" marR="36576" marT="27432" marB="27432" anchor="ctr">
                    <a:solidFill>
                      <a:srgbClr val="EFECE2"/>
                    </a:solidFill>
                  </a:tcPr>
                </a:tc>
                <a:tc>
                  <a:txBody>
                    <a:bodyPr/>
                    <a:lstStyle/>
                    <a:p>
                      <a:pPr>
                        <a:defRPr sz="800">
                          <a:solidFill>
                            <a:srgbClr val="002D46"/>
                          </a:solidFill>
                          <a:latin typeface="Aptos"/>
                        </a:defRPr>
                      </a:pPr>
                      <a:r>
                        <a:t>Proceso, resultados, impacto, línea de base, metas, periodicidad, responsable y verificación.</a:t>
                      </a:r>
                    </a:p>
                  </a:txBody>
                  <a:tcPr marL="45720" marR="36576" marT="27432" marB="27432" anchor="ctr">
                    <a:solidFill>
                      <a:srgbClr val="EFECE2"/>
                    </a:solidFill>
                  </a:tcPr>
                </a:tc>
                <a:extLst>
                  <a:ext uri="{0D108BD9-81ED-4DB2-BD59-A6C34878D82A}">
                    <a16:rowId xmlns:a16="http://schemas.microsoft.com/office/drawing/2014/main" val="10002"/>
                  </a:ext>
                </a:extLst>
              </a:tr>
              <a:tr h="662939">
                <a:tc>
                  <a:txBody>
                    <a:bodyPr/>
                    <a:lstStyle/>
                    <a:p>
                      <a:pPr>
                        <a:defRPr sz="800">
                          <a:solidFill>
                            <a:srgbClr val="002D46"/>
                          </a:solidFill>
                          <a:latin typeface="Aptos"/>
                        </a:defRPr>
                      </a:pPr>
                      <a:r>
                        <a:t>3. Evidencias</a:t>
                      </a:r>
                    </a:p>
                  </a:txBody>
                  <a:tcPr marL="45720" marR="36576" marT="27432" marB="27432" anchor="ctr">
                    <a:solidFill>
                      <a:srgbClr val="FAF8F2"/>
                    </a:solidFill>
                  </a:tcPr>
                </a:tc>
                <a:tc>
                  <a:txBody>
                    <a:bodyPr/>
                    <a:lstStyle/>
                    <a:p>
                      <a:pPr>
                        <a:defRPr sz="800">
                          <a:solidFill>
                            <a:srgbClr val="002D46"/>
                          </a:solidFill>
                          <a:latin typeface="Aptos"/>
                        </a:defRPr>
                      </a:pPr>
                      <a:r>
                        <a:t>0,5 h</a:t>
                      </a:r>
                    </a:p>
                  </a:txBody>
                  <a:tcPr marL="45720" marR="36576" marT="27432" marB="27432" anchor="ctr">
                    <a:solidFill>
                      <a:srgbClr val="FAF8F2"/>
                    </a:solidFill>
                  </a:tcPr>
                </a:tc>
                <a:tc>
                  <a:txBody>
                    <a:bodyPr/>
                    <a:lstStyle/>
                    <a:p>
                      <a:pPr>
                        <a:defRPr sz="800">
                          <a:solidFill>
                            <a:srgbClr val="002D46"/>
                          </a:solidFill>
                          <a:latin typeface="Aptos"/>
                        </a:defRPr>
                      </a:pPr>
                      <a:r>
                        <a:t>Virtual asincrónica</a:t>
                      </a:r>
                    </a:p>
                  </a:txBody>
                  <a:tcPr marL="45720" marR="36576" marT="27432" marB="27432" anchor="ctr">
                    <a:solidFill>
                      <a:srgbClr val="FAF8F2"/>
                    </a:solidFill>
                  </a:tcPr>
                </a:tc>
                <a:tc>
                  <a:txBody>
                    <a:bodyPr/>
                    <a:lstStyle/>
                    <a:p>
                      <a:pPr>
                        <a:defRPr sz="800">
                          <a:solidFill>
                            <a:srgbClr val="002D46"/>
                          </a:solidFill>
                          <a:latin typeface="Aptos"/>
                        </a:defRPr>
                      </a:pPr>
                      <a:r>
                        <a:rPr dirty="0" err="1"/>
                        <a:t>Registros</a:t>
                      </a:r>
                      <a:r>
                        <a:rPr dirty="0"/>
                        <a:t>, </a:t>
                      </a:r>
                      <a:r>
                        <a:rPr dirty="0" err="1"/>
                        <a:t>observación</a:t>
                      </a:r>
                      <a:r>
                        <a:rPr dirty="0"/>
                        <a:t>, </a:t>
                      </a:r>
                      <a:r>
                        <a:rPr dirty="0" err="1"/>
                        <a:t>información</a:t>
                      </a:r>
                      <a:r>
                        <a:rPr dirty="0"/>
                        <a:t> </a:t>
                      </a:r>
                      <a:r>
                        <a:rPr dirty="0" err="1"/>
                        <a:t>empresarial</a:t>
                      </a:r>
                      <a:r>
                        <a:rPr dirty="0"/>
                        <a:t>, </a:t>
                      </a:r>
                      <a:r>
                        <a:rPr dirty="0" err="1"/>
                        <a:t>entrevistas</a:t>
                      </a:r>
                      <a:r>
                        <a:rPr dirty="0"/>
                        <a:t>, </a:t>
                      </a:r>
                      <a:r>
                        <a:rPr dirty="0" err="1"/>
                        <a:t>encuestas</a:t>
                      </a:r>
                      <a:r>
                        <a:rPr dirty="0"/>
                        <a:t> y testimonios.</a:t>
                      </a:r>
                    </a:p>
                  </a:txBody>
                  <a:tcPr marL="45720" marR="36576" marT="27432" marB="27432" anchor="ctr">
                    <a:solidFill>
                      <a:srgbClr val="FAF8F2"/>
                    </a:solidFill>
                  </a:tcPr>
                </a:tc>
                <a:extLst>
                  <a:ext uri="{0D108BD9-81ED-4DB2-BD59-A6C34878D82A}">
                    <a16:rowId xmlns:a16="http://schemas.microsoft.com/office/drawing/2014/main" val="10003"/>
                  </a:ext>
                </a:extLst>
              </a:tr>
              <a:tr h="662939">
                <a:tc>
                  <a:txBody>
                    <a:bodyPr/>
                    <a:lstStyle/>
                    <a:p>
                      <a:pPr>
                        <a:defRPr sz="800">
                          <a:solidFill>
                            <a:srgbClr val="002D46"/>
                          </a:solidFill>
                          <a:latin typeface="Aptos"/>
                        </a:defRPr>
                      </a:pPr>
                      <a:r>
                        <a:t>4. Evaluación del acompañamiento</a:t>
                      </a:r>
                    </a:p>
                  </a:txBody>
                  <a:tcPr marL="45720" marR="36576" marT="27432" marB="27432" anchor="ctr">
                    <a:solidFill>
                      <a:srgbClr val="EFECE2"/>
                    </a:solidFill>
                  </a:tcPr>
                </a:tc>
                <a:tc>
                  <a:txBody>
                    <a:bodyPr/>
                    <a:lstStyle/>
                    <a:p>
                      <a:pPr>
                        <a:defRPr sz="800">
                          <a:solidFill>
                            <a:srgbClr val="002D46"/>
                          </a:solidFill>
                          <a:latin typeface="Aptos"/>
                        </a:defRPr>
                      </a:pPr>
                      <a:r>
                        <a:t>1 h</a:t>
                      </a:r>
                    </a:p>
                  </a:txBody>
                  <a:tcPr marL="45720" marR="36576" marT="27432" marB="27432" anchor="ctr">
                    <a:solidFill>
                      <a:srgbClr val="EFECE2"/>
                    </a:solidFill>
                  </a:tcPr>
                </a:tc>
                <a:tc>
                  <a:txBody>
                    <a:bodyPr/>
                    <a:lstStyle/>
                    <a:p>
                      <a:pPr>
                        <a:defRPr sz="800">
                          <a:solidFill>
                            <a:srgbClr val="002D46"/>
                          </a:solidFill>
                          <a:latin typeface="Aptos"/>
                        </a:defRPr>
                      </a:pPr>
                      <a:r>
                        <a:t>Presencial</a:t>
                      </a:r>
                    </a:p>
                  </a:txBody>
                  <a:tcPr marL="45720" marR="36576" marT="27432" marB="27432" anchor="ctr">
                    <a:solidFill>
                      <a:srgbClr val="EFECE2"/>
                    </a:solidFill>
                  </a:tcPr>
                </a:tc>
                <a:tc>
                  <a:txBody>
                    <a:bodyPr/>
                    <a:lstStyle/>
                    <a:p>
                      <a:pPr>
                        <a:defRPr sz="800">
                          <a:solidFill>
                            <a:srgbClr val="002D46"/>
                          </a:solidFill>
                          <a:latin typeface="Aptos"/>
                        </a:defRPr>
                      </a:pPr>
                      <a:r>
                        <a:t>Cumplimiento de acciones, cambios, utilidad, satisfacción y desarrollo de capacidades.</a:t>
                      </a:r>
                    </a:p>
                  </a:txBody>
                  <a:tcPr marL="45720" marR="36576" marT="27432" marB="27432" anchor="ctr">
                    <a:solidFill>
                      <a:srgbClr val="EFECE2"/>
                    </a:solidFill>
                  </a:tcPr>
                </a:tc>
                <a:extLst>
                  <a:ext uri="{0D108BD9-81ED-4DB2-BD59-A6C34878D82A}">
                    <a16:rowId xmlns:a16="http://schemas.microsoft.com/office/drawing/2014/main" val="10004"/>
                  </a:ext>
                </a:extLst>
              </a:tr>
              <a:tr h="662944">
                <a:tc>
                  <a:txBody>
                    <a:bodyPr/>
                    <a:lstStyle/>
                    <a:p>
                      <a:pPr>
                        <a:defRPr sz="800">
                          <a:solidFill>
                            <a:srgbClr val="002D46"/>
                          </a:solidFill>
                          <a:latin typeface="Aptos"/>
                        </a:defRPr>
                      </a:pPr>
                      <a:r>
                        <a:t>5. Análisis y mejora continua</a:t>
                      </a:r>
                    </a:p>
                  </a:txBody>
                  <a:tcPr marL="45720" marR="36576" marT="27432" marB="27432" anchor="ctr">
                    <a:solidFill>
                      <a:srgbClr val="FAF8F2"/>
                    </a:solidFill>
                  </a:tcPr>
                </a:tc>
                <a:tc>
                  <a:txBody>
                    <a:bodyPr/>
                    <a:lstStyle/>
                    <a:p>
                      <a:pPr>
                        <a:defRPr sz="800">
                          <a:solidFill>
                            <a:srgbClr val="002D46"/>
                          </a:solidFill>
                          <a:latin typeface="Aptos"/>
                        </a:defRPr>
                      </a:pPr>
                      <a:r>
                        <a:t>1 h + 1 h</a:t>
                      </a:r>
                    </a:p>
                  </a:txBody>
                  <a:tcPr marL="45720" marR="36576" marT="27432" marB="27432" anchor="ctr">
                    <a:solidFill>
                      <a:srgbClr val="FAF8F2"/>
                    </a:solidFill>
                  </a:tcPr>
                </a:tc>
                <a:tc>
                  <a:txBody>
                    <a:bodyPr/>
                    <a:lstStyle/>
                    <a:p>
                      <a:pPr>
                        <a:defRPr sz="800">
                          <a:solidFill>
                            <a:srgbClr val="002D46"/>
                          </a:solidFill>
                          <a:latin typeface="Aptos"/>
                        </a:defRPr>
                      </a:pPr>
                      <a:r>
                        <a:t>Virtual asincrónica + sincrónica</a:t>
                      </a:r>
                    </a:p>
                  </a:txBody>
                  <a:tcPr marL="45720" marR="36576" marT="27432" marB="27432" anchor="ctr">
                    <a:solidFill>
                      <a:srgbClr val="FAF8F2"/>
                    </a:solidFill>
                  </a:tcPr>
                </a:tc>
                <a:tc>
                  <a:txBody>
                    <a:bodyPr/>
                    <a:lstStyle/>
                    <a:p>
                      <a:pPr>
                        <a:defRPr sz="800">
                          <a:solidFill>
                            <a:srgbClr val="002D46"/>
                          </a:solidFill>
                          <a:latin typeface="Aptos"/>
                        </a:defRPr>
                      </a:pPr>
                      <a:r>
                        <a:rPr dirty="0" err="1"/>
                        <a:t>Logros</a:t>
                      </a:r>
                      <a:r>
                        <a:rPr dirty="0"/>
                        <a:t>, </a:t>
                      </a:r>
                      <a:r>
                        <a:rPr dirty="0" err="1"/>
                        <a:t>desviaciones</a:t>
                      </a:r>
                      <a:r>
                        <a:rPr dirty="0"/>
                        <a:t>, </a:t>
                      </a:r>
                      <a:r>
                        <a:rPr dirty="0" err="1"/>
                        <a:t>causas</a:t>
                      </a:r>
                      <a:r>
                        <a:rPr dirty="0"/>
                        <a:t>, </a:t>
                      </a:r>
                      <a:r>
                        <a:rPr dirty="0" err="1"/>
                        <a:t>lecciones</a:t>
                      </a:r>
                      <a:r>
                        <a:rPr dirty="0"/>
                        <a:t> </a:t>
                      </a:r>
                      <a:r>
                        <a:rPr dirty="0" err="1"/>
                        <a:t>aprendidas</a:t>
                      </a:r>
                      <a:r>
                        <a:rPr dirty="0"/>
                        <a:t>, </a:t>
                      </a:r>
                      <a:r>
                        <a:rPr dirty="0" err="1"/>
                        <a:t>decisiones</a:t>
                      </a:r>
                      <a:r>
                        <a:rPr dirty="0"/>
                        <a:t> </a:t>
                      </a:r>
                      <a:r>
                        <a:rPr dirty="0" err="1"/>
                        <a:t>correctivas</a:t>
                      </a:r>
                      <a:r>
                        <a:rPr dirty="0"/>
                        <a:t> y </a:t>
                      </a:r>
                      <a:r>
                        <a:rPr dirty="0" err="1"/>
                        <a:t>recomendaciones</a:t>
                      </a:r>
                      <a:r>
                        <a:rPr dirty="0"/>
                        <a:t>.</a:t>
                      </a:r>
                    </a:p>
                  </a:txBody>
                  <a:tcPr marL="45720" marR="36576" marT="27432" marB="27432" anchor="ctr">
                    <a:solidFill>
                      <a:srgbClr val="FAF8F2"/>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777240" y="5440680"/>
            <a:ext cx="10652760" cy="5029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5440680"/>
            <a:ext cx="73152" cy="50292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532120"/>
            <a:ext cx="104515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Alternativa sin conexión</a:t>
            </a:r>
          </a:p>
        </p:txBody>
      </p:sp>
      <p:sp>
        <p:nvSpPr>
          <p:cNvPr id="12" name="TextBox 11"/>
          <p:cNvSpPr txBox="1"/>
          <p:nvPr/>
        </p:nvSpPr>
        <p:spPr>
          <a:xfrm>
            <a:off x="914400" y="5782488"/>
            <a:ext cx="10433304" cy="0"/>
          </a:xfrm>
          <a:prstGeom prst="rect">
            <a:avLst/>
          </a:prstGeom>
          <a:noFill/>
        </p:spPr>
        <p:txBody>
          <a:bodyPr wrap="square" lIns="27432" tIns="18288" rIns="27432" bIns="18288" anchor="t">
            <a:spAutoFit/>
          </a:bodyPr>
          <a:lstStyle/>
          <a:p>
            <a:pPr algn="l">
              <a:lnSpc>
                <a:spcPct val="100000"/>
              </a:lnSpc>
              <a:defRPr sz="1100" b="0">
                <a:solidFill>
                  <a:srgbClr val="4E585D"/>
                </a:solidFill>
                <a:latin typeface="Aptos"/>
              </a:defRPr>
            </a:pPr>
            <a:r>
              <a:rPr dirty="0"/>
              <a:t>Usar matrices y se</a:t>
            </a:r>
            <a:r>
              <a:rPr dirty="0" err="1"/>
              <a:t>máforos impr</a:t>
            </a:r>
            <a:r>
              <a:rPr dirty="0"/>
              <a:t>esos</a:t>
            </a:r>
            <a:r>
              <a:rPr dirty="0" err="1"/>
              <a:t>, aceptar e</a:t>
            </a:r>
            <a:r>
              <a:rPr dirty="0"/>
              <a:t>vi</a:t>
            </a:r>
            <a:r>
              <a:rPr dirty="0" err="1"/>
              <a:t>dencias </a:t>
            </a:r>
            <a:r>
              <a:rPr dirty="0"/>
              <a:t>docu</a:t>
            </a:r>
            <a:r>
              <a:rPr dirty="0" err="1"/>
              <a:t>mentales o</a:t>
            </a:r>
            <a:r>
              <a:rPr dirty="0"/>
              <a:t>ff</a:t>
            </a:r>
            <a:r>
              <a:rPr dirty="0" err="1"/>
              <a:t>line y c</a:t>
            </a:r>
            <a:r>
              <a:rPr dirty="0"/>
              <a:t>ons</a:t>
            </a:r>
            <a:r>
              <a:rPr dirty="0" err="1"/>
              <a:t>olidar</a:t>
            </a:r>
            <a:r>
              <a:rPr dirty="0"/>
              <a:t> d</a:t>
            </a:r>
            <a:r>
              <a:rPr dirty="0" err="1"/>
              <a:t>atos poster</a:t>
            </a:r>
            <a:r>
              <a:rPr dirty="0"/>
              <a:t>iorm</a:t>
            </a:r>
            <a:r>
              <a:rPr dirty="0" err="1"/>
              <a:t>ente. Man</a:t>
            </a:r>
            <a:r>
              <a:rPr dirty="0"/>
              <a:t>t</a:t>
            </a:r>
            <a:r>
              <a:rPr dirty="0" err="1"/>
              <a:t>ener re</a:t>
            </a:r>
            <a:r>
              <a:rPr dirty="0"/>
              <a:t>sul</a:t>
            </a:r>
            <a:r>
              <a:rPr dirty="0" err="1"/>
              <a:t>tados de </a:t>
            </a:r>
            <a:r>
              <a:rPr dirty="0"/>
              <a:t>apr</a:t>
            </a:r>
            <a:r>
              <a:rPr dirty="0" err="1"/>
              <a:t>endizaje</a:t>
            </a:r>
            <a:r>
              <a:rPr dirty="0"/>
              <a:t> y criterios.</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4.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965960"/>
            <a:ext cx="914400" cy="548640"/>
          </a:xfrm>
          <a:prstGeom prst="rect">
            <a:avLst/>
          </a:prstGeom>
          <a:noFill/>
        </p:spPr>
        <p:txBody>
          <a:bodyPr wrap="square" lIns="27432" tIns="18288" rIns="27432" bIns="18288" anchor="t">
            <a:spAutoFit/>
          </a:bodyPr>
          <a:lstStyle/>
          <a:p>
            <a:pPr algn="l">
              <a:lnSpc>
                <a:spcPct val="100000"/>
              </a:lnSpc>
              <a:defRPr sz="2600" b="0">
                <a:solidFill>
                  <a:srgbClr val="D89D2E"/>
                </a:solidFill>
                <a:latin typeface="Aptos Display"/>
              </a:defRPr>
            </a:pPr>
            <a:r>
              <a:t>02</a:t>
            </a:r>
          </a:p>
        </p:txBody>
      </p:sp>
      <p:sp>
        <p:nvSpPr>
          <p:cNvPr id="5" name="Rectangle 4"/>
          <p:cNvSpPr/>
          <p:nvPr/>
        </p:nvSpPr>
        <p:spPr>
          <a:xfrm>
            <a:off x="758952" y="2615184"/>
            <a:ext cx="411480"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889504"/>
            <a:ext cx="6583680" cy="512064"/>
          </a:xfrm>
          <a:prstGeom prst="rect">
            <a:avLst/>
          </a:prstGeom>
          <a:noFill/>
        </p:spPr>
        <p:txBody>
          <a:bodyPr wrap="square" lIns="27432" tIns="18288" rIns="27432" bIns="18288" anchor="t">
            <a:spAutoFit/>
          </a:bodyPr>
          <a:lstStyle/>
          <a:p>
            <a:pPr algn="l">
              <a:lnSpc>
                <a:spcPct val="100000"/>
              </a:lnSpc>
              <a:defRPr sz="3000" b="0">
                <a:solidFill>
                  <a:srgbClr val="FFFFFF"/>
                </a:solidFill>
                <a:latin typeface="Aptos Display"/>
              </a:defRPr>
            </a:pPr>
            <a:r>
              <a:t>MONITOREO Y EVIDENCIAS</a:t>
            </a:r>
          </a:p>
        </p:txBody>
      </p:sp>
      <p:sp>
        <p:nvSpPr>
          <p:cNvPr id="7" name="TextBox 6"/>
          <p:cNvSpPr txBox="1"/>
          <p:nvPr/>
        </p:nvSpPr>
        <p:spPr>
          <a:xfrm>
            <a:off x="749808" y="3566160"/>
            <a:ext cx="6217920" cy="621792"/>
          </a:xfrm>
          <a:prstGeom prst="rect">
            <a:avLst/>
          </a:prstGeom>
          <a:noFill/>
        </p:spPr>
        <p:txBody>
          <a:bodyPr wrap="square" lIns="27432" tIns="18288" rIns="27432" bIns="18288" anchor="t">
            <a:spAutoFit/>
          </a:bodyPr>
          <a:lstStyle/>
          <a:p>
            <a:pPr algn="l">
              <a:lnSpc>
                <a:spcPct val="100000"/>
              </a:lnSpc>
              <a:defRPr sz="1450" b="0">
                <a:solidFill>
                  <a:srgbClr val="E1E6E3"/>
                </a:solidFill>
                <a:latin typeface="Aptos"/>
              </a:defRPr>
            </a:pPr>
            <a:r>
              <a:t>Qué evaluar, cómo medirlo y cómo documentarlo con utilidad práctica</a:t>
            </a:r>
          </a:p>
        </p:txBody>
      </p:sp>
      <p:sp>
        <p:nvSpPr>
          <p:cNvPr id="8" name="TextBox 7"/>
          <p:cNvSpPr txBox="1"/>
          <p:nvPr/>
        </p:nvSpPr>
        <p:spPr>
          <a:xfrm>
            <a:off x="502920" y="6309360"/>
            <a:ext cx="2834640" cy="228600"/>
          </a:xfrm>
          <a:prstGeom prst="rect">
            <a:avLst/>
          </a:prstGeom>
          <a:noFill/>
        </p:spPr>
        <p:txBody>
          <a:bodyPr wrap="none">
            <a:spAutoFit/>
          </a:bodyPr>
          <a:lstStyle/>
          <a:p>
            <a:pPr>
              <a:defRPr sz="800">
                <a:solidFill>
                  <a:srgbClr val="BEC8C8"/>
                </a:solidFill>
                <a:latin typeface="Aptos"/>
              </a:defRPr>
            </a:pPr>
            <a:r>
              <a:t>Actividad 2.3.2 — FdF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4" name="Rectangle 8">
            <a:extLst>
              <a:ext uri="{FF2B5EF4-FFF2-40B4-BE49-F238E27FC236}">
                <a16:creationId xmlns:a16="http://schemas.microsoft.com/office/drawing/2014/main" id="{F63E946E-7BA6-3847-6859-D2FE6A919EA7}"/>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9" descr="image3.png">
            <a:extLst>
              <a:ext uri="{FF2B5EF4-FFF2-40B4-BE49-F238E27FC236}">
                <a16:creationId xmlns:a16="http://schemas.microsoft.com/office/drawing/2014/main" id="{99261152-6A6A-7279-589A-1918CB470918}"/>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Qué evaluar durante el acompañamiento</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TextBox 7"/>
          <p:cNvSpPr txBox="1"/>
          <p:nvPr/>
        </p:nvSpPr>
        <p:spPr>
          <a:xfrm>
            <a:off x="777240" y="1097280"/>
            <a:ext cx="4114800" cy="274320"/>
          </a:xfrm>
          <a:prstGeom prst="rect">
            <a:avLst/>
          </a:prstGeom>
          <a:noFill/>
        </p:spPr>
        <p:txBody>
          <a:bodyPr wrap="square" lIns="27432" tIns="18288" rIns="27432" bIns="18288" anchor="t">
            <a:spAutoFit/>
          </a:bodyPr>
          <a:lstStyle/>
          <a:p>
            <a:pPr algn="l">
              <a:lnSpc>
                <a:spcPct val="100000"/>
              </a:lnSpc>
              <a:defRPr sz="1300" b="1">
                <a:solidFill>
                  <a:srgbClr val="00B897"/>
                </a:solidFill>
                <a:latin typeface="Aptos"/>
              </a:defRPr>
            </a:pPr>
            <a:r>
              <a:t>Tema 1 · 0,5 h virtual asincrónica</a:t>
            </a:r>
          </a:p>
        </p:txBody>
      </p:sp>
      <p:sp>
        <p:nvSpPr>
          <p:cNvPr id="9" name="Rounded Rectangle 8"/>
          <p:cNvSpPr/>
          <p:nvPr/>
        </p:nvSpPr>
        <p:spPr>
          <a:xfrm>
            <a:off x="777240" y="160020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600200"/>
            <a:ext cx="73152" cy="8686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69164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Ejecución</a:t>
            </a:r>
          </a:p>
        </p:txBody>
      </p:sp>
      <p:sp>
        <p:nvSpPr>
          <p:cNvPr id="12" name="TextBox 11"/>
          <p:cNvSpPr txBox="1"/>
          <p:nvPr/>
        </p:nvSpPr>
        <p:spPr>
          <a:xfrm>
            <a:off x="914400" y="201168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Qué acciones del plan se realizaron y con qué nivel de cumplimiento.</a:t>
            </a:r>
          </a:p>
        </p:txBody>
      </p:sp>
      <p:sp>
        <p:nvSpPr>
          <p:cNvPr id="13" name="Rounded Rectangle 12"/>
          <p:cNvSpPr/>
          <p:nvPr/>
        </p:nvSpPr>
        <p:spPr>
          <a:xfrm>
            <a:off x="6217920" y="160020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600200"/>
            <a:ext cx="73152" cy="86868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169164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Productos</a:t>
            </a:r>
          </a:p>
        </p:txBody>
      </p:sp>
      <p:sp>
        <p:nvSpPr>
          <p:cNvPr id="16" name="TextBox 15"/>
          <p:cNvSpPr txBox="1"/>
          <p:nvPr/>
        </p:nvSpPr>
        <p:spPr>
          <a:xfrm>
            <a:off x="6355080" y="201168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Qué salidas concretas generaron las acciones del plan, sin confundirlas con productos evaluativos del Portafolio.</a:t>
            </a:r>
          </a:p>
        </p:txBody>
      </p:sp>
      <p:sp>
        <p:nvSpPr>
          <p:cNvPr id="17" name="Rounded Rectangle 16"/>
          <p:cNvSpPr/>
          <p:nvPr/>
        </p:nvSpPr>
        <p:spPr>
          <a:xfrm>
            <a:off x="777240" y="269748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2697480"/>
            <a:ext cx="73152" cy="86868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27889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Aplicación</a:t>
            </a:r>
          </a:p>
        </p:txBody>
      </p:sp>
      <p:sp>
        <p:nvSpPr>
          <p:cNvPr id="20" name="TextBox 19"/>
          <p:cNvSpPr txBox="1"/>
          <p:nvPr/>
        </p:nvSpPr>
        <p:spPr>
          <a:xfrm>
            <a:off x="914400" y="310896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Cómo se están usando las herramientas o decisiones en la práctica empresarial.</a:t>
            </a:r>
          </a:p>
        </p:txBody>
      </p:sp>
      <p:sp>
        <p:nvSpPr>
          <p:cNvPr id="21" name="Rounded Rectangle 20"/>
          <p:cNvSpPr/>
          <p:nvPr/>
        </p:nvSpPr>
        <p:spPr>
          <a:xfrm>
            <a:off x="6217920" y="269748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2697480"/>
            <a:ext cx="73152" cy="86868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27889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Cambios</a:t>
            </a:r>
          </a:p>
        </p:txBody>
      </p:sp>
      <p:sp>
        <p:nvSpPr>
          <p:cNvPr id="24" name="TextBox 23"/>
          <p:cNvSpPr txBox="1"/>
          <p:nvPr/>
        </p:nvSpPr>
        <p:spPr>
          <a:xfrm>
            <a:off x="6355080" y="310896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Qué mejoras se observan en prácticas, organización o desempeño.</a:t>
            </a:r>
          </a:p>
        </p:txBody>
      </p:sp>
      <p:sp>
        <p:nvSpPr>
          <p:cNvPr id="25" name="Rounded Rectangle 24"/>
          <p:cNvSpPr/>
          <p:nvPr/>
        </p:nvSpPr>
        <p:spPr>
          <a:xfrm>
            <a:off x="777240" y="379476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77240" y="3794760"/>
            <a:ext cx="73152" cy="8686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388620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Resultados</a:t>
            </a:r>
          </a:p>
        </p:txBody>
      </p:sp>
      <p:sp>
        <p:nvSpPr>
          <p:cNvPr id="28" name="TextBox 27"/>
          <p:cNvSpPr txBox="1"/>
          <p:nvPr/>
        </p:nvSpPr>
        <p:spPr>
          <a:xfrm>
            <a:off x="914400" y="420624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Qué efectos relevantes se alcanzaron respecto al objetivo del plan.</a:t>
            </a:r>
          </a:p>
        </p:txBody>
      </p:sp>
      <p:sp>
        <p:nvSpPr>
          <p:cNvPr id="29" name="Rounded Rectangle 28"/>
          <p:cNvSpPr/>
          <p:nvPr/>
        </p:nvSpPr>
        <p:spPr>
          <a:xfrm>
            <a:off x="6217920" y="379476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17920" y="3794760"/>
            <a:ext cx="73152" cy="86868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388620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Sostenibilidad</a:t>
            </a:r>
          </a:p>
        </p:txBody>
      </p:sp>
      <p:sp>
        <p:nvSpPr>
          <p:cNvPr id="32" name="TextBox 31"/>
          <p:cNvSpPr txBox="1"/>
          <p:nvPr/>
        </p:nvSpPr>
        <p:spPr>
          <a:xfrm>
            <a:off x="6355080" y="420624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Qué tan probable es que los cambios se mantengan en el tiempo.</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06238E0-F79E-209E-5C4A-D2279025F788}"/>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9" descr="image3.png">
            <a:extLst>
              <a:ext uri="{FF2B5EF4-FFF2-40B4-BE49-F238E27FC236}">
                <a16:creationId xmlns:a16="http://schemas.microsoft.com/office/drawing/2014/main" id="{08FB53AC-C9BB-F470-0ECD-8946D2F4B9F2}"/>
              </a:ext>
            </a:extLst>
          </p:cNvPr>
          <p:cNvPicPr>
            <a:picLocks noChangeAspect="1"/>
          </p:cNvPicPr>
          <p:nvPr/>
        </p:nvPicPr>
        <p:blipFill>
          <a:blip r:embed="rId3"/>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Diferenciar niveles de evaluación</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graphicFrame>
        <p:nvGraphicFramePr>
          <p:cNvPr id="8" name="Table 7"/>
          <p:cNvGraphicFramePr>
            <a:graphicFrameLocks noGrp="1"/>
          </p:cNvGraphicFramePr>
          <p:nvPr/>
        </p:nvGraphicFramePr>
        <p:xfrm>
          <a:off x="914400" y="1417320"/>
          <a:ext cx="10332720" cy="329184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58368">
                <a:tc>
                  <a:txBody>
                    <a:bodyPr/>
                    <a:lstStyle/>
                    <a:p>
                      <a:pPr>
                        <a:defRPr sz="1050" b="1">
                          <a:solidFill>
                            <a:srgbClr val="FFFFFF"/>
                          </a:solidFill>
                          <a:latin typeface="Aptos"/>
                        </a:defRPr>
                      </a:pPr>
                      <a:r>
                        <a:t>Nivel</a:t>
                      </a:r>
                    </a:p>
                  </a:txBody>
                  <a:tcPr marL="45720" marR="36576" marT="27432" marB="27432" anchor="ctr">
                    <a:solidFill>
                      <a:srgbClr val="002D46"/>
                    </a:solidFill>
                  </a:tcPr>
                </a:tc>
                <a:tc>
                  <a:txBody>
                    <a:bodyPr/>
                    <a:lstStyle/>
                    <a:p>
                      <a:pPr>
                        <a:defRPr sz="1050" b="1">
                          <a:solidFill>
                            <a:srgbClr val="FFFFFF"/>
                          </a:solidFill>
                          <a:latin typeface="Aptos"/>
                        </a:defRPr>
                      </a:pPr>
                      <a:r>
                        <a:t>Pregunta clave</a:t>
                      </a:r>
                    </a:p>
                  </a:txBody>
                  <a:tcPr marL="45720" marR="36576" marT="27432" marB="27432" anchor="ctr">
                    <a:solidFill>
                      <a:srgbClr val="002D46"/>
                    </a:solidFill>
                  </a:tcPr>
                </a:tc>
                <a:tc>
                  <a:txBody>
                    <a:bodyPr/>
                    <a:lstStyle/>
                    <a:p>
                      <a:pPr>
                        <a:defRPr sz="1050" b="1">
                          <a:solidFill>
                            <a:srgbClr val="FFFFFF"/>
                          </a:solidFill>
                          <a:latin typeface="Aptos"/>
                        </a:defRPr>
                      </a:pPr>
                      <a:r>
                        <a:t>Ejemplo</a:t>
                      </a:r>
                    </a:p>
                  </a:txBody>
                  <a:tcPr marL="45720" marR="36576" marT="27432" marB="27432" anchor="ctr">
                    <a:solidFill>
                      <a:srgbClr val="002D46"/>
                    </a:solidFill>
                  </a:tcPr>
                </a:tc>
                <a:extLst>
                  <a:ext uri="{0D108BD9-81ED-4DB2-BD59-A6C34878D82A}">
                    <a16:rowId xmlns:a16="http://schemas.microsoft.com/office/drawing/2014/main" val="10000"/>
                  </a:ext>
                </a:extLst>
              </a:tr>
              <a:tr h="658368">
                <a:tc>
                  <a:txBody>
                    <a:bodyPr/>
                    <a:lstStyle/>
                    <a:p>
                      <a:pPr>
                        <a:defRPr sz="1050">
                          <a:solidFill>
                            <a:srgbClr val="002D46"/>
                          </a:solidFill>
                          <a:latin typeface="Aptos"/>
                        </a:defRPr>
                      </a:pPr>
                      <a:r>
                        <a:t>Actividad</a:t>
                      </a:r>
                    </a:p>
                  </a:txBody>
                  <a:tcPr marL="45720" marR="36576" marT="27432" marB="27432" anchor="ctr">
                    <a:solidFill>
                      <a:srgbClr val="FAF8F2"/>
                    </a:solidFill>
                  </a:tcPr>
                </a:tc>
                <a:tc>
                  <a:txBody>
                    <a:bodyPr/>
                    <a:lstStyle/>
                    <a:p>
                      <a:pPr>
                        <a:defRPr sz="1050">
                          <a:solidFill>
                            <a:srgbClr val="002D46"/>
                          </a:solidFill>
                          <a:latin typeface="Aptos"/>
                        </a:defRPr>
                      </a:pPr>
                      <a:r>
                        <a:t>¿Qué se hizo?</a:t>
                      </a:r>
                    </a:p>
                  </a:txBody>
                  <a:tcPr marL="45720" marR="36576" marT="27432" marB="27432" anchor="ctr">
                    <a:solidFill>
                      <a:srgbClr val="FAF8F2"/>
                    </a:solidFill>
                  </a:tcPr>
                </a:tc>
                <a:tc>
                  <a:txBody>
                    <a:bodyPr/>
                    <a:lstStyle/>
                    <a:p>
                      <a:pPr>
                        <a:defRPr sz="1050">
                          <a:solidFill>
                            <a:srgbClr val="002D46"/>
                          </a:solidFill>
                          <a:latin typeface="Aptos"/>
                        </a:defRPr>
                      </a:pPr>
                      <a:r>
                        <a:t>Sesión de mentoría realizada.</a:t>
                      </a:r>
                    </a:p>
                  </a:txBody>
                  <a:tcPr marL="45720" marR="36576" marT="27432" marB="27432" anchor="ctr">
                    <a:solidFill>
                      <a:srgbClr val="FAF8F2"/>
                    </a:solidFill>
                  </a:tcPr>
                </a:tc>
                <a:extLst>
                  <a:ext uri="{0D108BD9-81ED-4DB2-BD59-A6C34878D82A}">
                    <a16:rowId xmlns:a16="http://schemas.microsoft.com/office/drawing/2014/main" val="10001"/>
                  </a:ext>
                </a:extLst>
              </a:tr>
              <a:tr h="658368">
                <a:tc>
                  <a:txBody>
                    <a:bodyPr/>
                    <a:lstStyle/>
                    <a:p>
                      <a:pPr>
                        <a:defRPr sz="1050">
                          <a:solidFill>
                            <a:srgbClr val="002D46"/>
                          </a:solidFill>
                          <a:latin typeface="Aptos"/>
                        </a:defRPr>
                      </a:pPr>
                      <a:r>
                        <a:t>Producto</a:t>
                      </a:r>
                    </a:p>
                  </a:txBody>
                  <a:tcPr marL="45720" marR="36576" marT="27432" marB="27432" anchor="ctr">
                    <a:solidFill>
                      <a:srgbClr val="EFECE2"/>
                    </a:solidFill>
                  </a:tcPr>
                </a:tc>
                <a:tc>
                  <a:txBody>
                    <a:bodyPr/>
                    <a:lstStyle/>
                    <a:p>
                      <a:pPr>
                        <a:defRPr sz="1050">
                          <a:solidFill>
                            <a:srgbClr val="002D46"/>
                          </a:solidFill>
                          <a:latin typeface="Aptos"/>
                        </a:defRPr>
                      </a:pPr>
                      <a:r>
                        <a:t>¿Qué se generó?</a:t>
                      </a:r>
                    </a:p>
                  </a:txBody>
                  <a:tcPr marL="45720" marR="36576" marT="27432" marB="27432" anchor="ctr">
                    <a:solidFill>
                      <a:srgbClr val="EFECE2"/>
                    </a:solidFill>
                  </a:tcPr>
                </a:tc>
                <a:tc>
                  <a:txBody>
                    <a:bodyPr/>
                    <a:lstStyle/>
                    <a:p>
                      <a:pPr>
                        <a:defRPr sz="1050">
                          <a:solidFill>
                            <a:srgbClr val="002D46"/>
                          </a:solidFill>
                          <a:latin typeface="Aptos"/>
                        </a:defRPr>
                      </a:pPr>
                      <a:r>
                        <a:t>Minuta, plan actualizado, registro de ventas.</a:t>
                      </a:r>
                    </a:p>
                  </a:txBody>
                  <a:tcPr marL="45720" marR="36576" marT="27432" marB="27432" anchor="ctr">
                    <a:solidFill>
                      <a:srgbClr val="EFECE2"/>
                    </a:solidFill>
                  </a:tcPr>
                </a:tc>
                <a:extLst>
                  <a:ext uri="{0D108BD9-81ED-4DB2-BD59-A6C34878D82A}">
                    <a16:rowId xmlns:a16="http://schemas.microsoft.com/office/drawing/2014/main" val="10002"/>
                  </a:ext>
                </a:extLst>
              </a:tr>
              <a:tr h="658368">
                <a:tc>
                  <a:txBody>
                    <a:bodyPr/>
                    <a:lstStyle/>
                    <a:p>
                      <a:pPr>
                        <a:defRPr sz="1050">
                          <a:solidFill>
                            <a:srgbClr val="002D46"/>
                          </a:solidFill>
                          <a:latin typeface="Aptos"/>
                        </a:defRPr>
                      </a:pPr>
                      <a:r>
                        <a:t>Resultado</a:t>
                      </a:r>
                    </a:p>
                  </a:txBody>
                  <a:tcPr marL="45720" marR="36576" marT="27432" marB="27432" anchor="ctr">
                    <a:solidFill>
                      <a:srgbClr val="FAF8F2"/>
                    </a:solidFill>
                  </a:tcPr>
                </a:tc>
                <a:tc>
                  <a:txBody>
                    <a:bodyPr/>
                    <a:lstStyle/>
                    <a:p>
                      <a:pPr>
                        <a:defRPr sz="1050">
                          <a:solidFill>
                            <a:srgbClr val="002D46"/>
                          </a:solidFill>
                          <a:latin typeface="Aptos"/>
                        </a:defRPr>
                      </a:pPr>
                      <a:r>
                        <a:t>¿Qué mejoró?</a:t>
                      </a:r>
                    </a:p>
                  </a:txBody>
                  <a:tcPr marL="45720" marR="36576" marT="27432" marB="27432" anchor="ctr">
                    <a:solidFill>
                      <a:srgbClr val="FAF8F2"/>
                    </a:solidFill>
                  </a:tcPr>
                </a:tc>
                <a:tc>
                  <a:txBody>
                    <a:bodyPr/>
                    <a:lstStyle/>
                    <a:p>
                      <a:pPr>
                        <a:defRPr sz="1050">
                          <a:solidFill>
                            <a:srgbClr val="002D46"/>
                          </a:solidFill>
                          <a:latin typeface="Aptos"/>
                        </a:defRPr>
                      </a:pPr>
                      <a:r>
                        <a:t>Mayor control de inventario o claridad financiera.</a:t>
                      </a:r>
                    </a:p>
                  </a:txBody>
                  <a:tcPr marL="45720" marR="36576" marT="27432" marB="27432" anchor="ctr">
                    <a:solidFill>
                      <a:srgbClr val="FAF8F2"/>
                    </a:solidFill>
                  </a:tcPr>
                </a:tc>
                <a:extLst>
                  <a:ext uri="{0D108BD9-81ED-4DB2-BD59-A6C34878D82A}">
                    <a16:rowId xmlns:a16="http://schemas.microsoft.com/office/drawing/2014/main" val="10003"/>
                  </a:ext>
                </a:extLst>
              </a:tr>
              <a:tr h="658368">
                <a:tc>
                  <a:txBody>
                    <a:bodyPr/>
                    <a:lstStyle/>
                    <a:p>
                      <a:pPr>
                        <a:defRPr sz="1050">
                          <a:solidFill>
                            <a:srgbClr val="002D46"/>
                          </a:solidFill>
                          <a:latin typeface="Aptos"/>
                        </a:defRPr>
                      </a:pPr>
                      <a:r>
                        <a:t>Cambio</a:t>
                      </a:r>
                    </a:p>
                  </a:txBody>
                  <a:tcPr marL="45720" marR="36576" marT="27432" marB="27432" anchor="ctr">
                    <a:solidFill>
                      <a:srgbClr val="EFECE2"/>
                    </a:solidFill>
                  </a:tcPr>
                </a:tc>
                <a:tc>
                  <a:txBody>
                    <a:bodyPr/>
                    <a:lstStyle/>
                    <a:p>
                      <a:pPr>
                        <a:defRPr sz="1050">
                          <a:solidFill>
                            <a:srgbClr val="002D46"/>
                          </a:solidFill>
                          <a:latin typeface="Aptos"/>
                        </a:defRPr>
                      </a:pPr>
                      <a:r>
                        <a:t>¿Qué práctica se transformó?</a:t>
                      </a:r>
                    </a:p>
                  </a:txBody>
                  <a:tcPr marL="45720" marR="36576" marT="27432" marB="27432" anchor="ctr">
                    <a:solidFill>
                      <a:srgbClr val="EFECE2"/>
                    </a:solidFill>
                  </a:tcPr>
                </a:tc>
                <a:tc>
                  <a:txBody>
                    <a:bodyPr/>
                    <a:lstStyle/>
                    <a:p>
                      <a:pPr>
                        <a:defRPr sz="1050">
                          <a:solidFill>
                            <a:srgbClr val="002D46"/>
                          </a:solidFill>
                          <a:latin typeface="Aptos"/>
                        </a:defRPr>
                      </a:pPr>
                      <a:r>
                        <a:t>Uso sistemático de registros y toma de decisiones con datos.</a:t>
                      </a:r>
                    </a:p>
                  </a:txBody>
                  <a:tcPr marL="45720" marR="36576" marT="27432" marB="27432" anchor="ctr">
                    <a:solidFill>
                      <a:srgbClr val="EFECE2"/>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868680" y="4983480"/>
            <a:ext cx="10424160" cy="68580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4983480"/>
            <a:ext cx="73152" cy="68580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39" y="5074920"/>
            <a:ext cx="102229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Advertencia metodológica</a:t>
            </a:r>
          </a:p>
        </p:txBody>
      </p:sp>
      <p:sp>
        <p:nvSpPr>
          <p:cNvPr id="12" name="TextBox 11"/>
          <p:cNvSpPr txBox="1"/>
          <p:nvPr/>
        </p:nvSpPr>
        <p:spPr>
          <a:xfrm>
            <a:off x="1005839" y="5394960"/>
            <a:ext cx="10204704" cy="182879"/>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No confundir “hacer actividades” con lograr resultados; la evaluación debe conectar lo realizado con los cambios observables.</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43" name="Rectangle 8">
            <a:extLst>
              <a:ext uri="{FF2B5EF4-FFF2-40B4-BE49-F238E27FC236}">
                <a16:creationId xmlns:a16="http://schemas.microsoft.com/office/drawing/2014/main" id="{153BA71E-92AB-A4B5-B72E-CCC117051C40}"/>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9" descr="image3.png">
            <a:extLst>
              <a:ext uri="{FF2B5EF4-FFF2-40B4-BE49-F238E27FC236}">
                <a16:creationId xmlns:a16="http://schemas.microsoft.com/office/drawing/2014/main" id="{501E37D4-3F78-12E9-CC3C-978171821EF6}"/>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Tema 2 · Indicadores</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TextBox 7"/>
          <p:cNvSpPr txBox="1"/>
          <p:nvPr/>
        </p:nvSpPr>
        <p:spPr>
          <a:xfrm>
            <a:off x="777240" y="1097280"/>
            <a:ext cx="3200400" cy="274320"/>
          </a:xfrm>
          <a:prstGeom prst="rect">
            <a:avLst/>
          </a:prstGeom>
          <a:noFill/>
        </p:spPr>
        <p:txBody>
          <a:bodyPr wrap="square" lIns="27432" tIns="18288" rIns="27432" bIns="18288" anchor="t">
            <a:spAutoFit/>
          </a:bodyPr>
          <a:lstStyle/>
          <a:p>
            <a:pPr algn="l">
              <a:lnSpc>
                <a:spcPct val="100000"/>
              </a:lnSpc>
              <a:defRPr sz="1300" b="1">
                <a:solidFill>
                  <a:srgbClr val="00B897"/>
                </a:solidFill>
                <a:latin typeface="Aptos"/>
              </a:defRPr>
            </a:pPr>
            <a:r>
              <a:t>1 h virtual asincrónica</a:t>
            </a:r>
          </a:p>
        </p:txBody>
      </p:sp>
      <p:sp>
        <p:nvSpPr>
          <p:cNvPr id="9" name="Rounded Rectangle 8"/>
          <p:cNvSpPr/>
          <p:nvPr/>
        </p:nvSpPr>
        <p:spPr>
          <a:xfrm>
            <a:off x="731520" y="1554480"/>
            <a:ext cx="1706880" cy="749808"/>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664207"/>
            <a:ext cx="1615440" cy="585215"/>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Objetivo</a:t>
            </a:r>
          </a:p>
        </p:txBody>
      </p:sp>
      <p:sp>
        <p:nvSpPr>
          <p:cNvPr id="11" name="Right Triangle 10"/>
          <p:cNvSpPr/>
          <p:nvPr/>
        </p:nvSpPr>
        <p:spPr>
          <a:xfrm>
            <a:off x="2429256" y="1783080"/>
            <a:ext cx="164592" cy="256032"/>
          </a:xfrm>
          <a:prstGeom prst="rtTriangle">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48128" y="1554480"/>
            <a:ext cx="1706880" cy="749808"/>
          </a:xfrm>
          <a:prstGeom prst="round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93848" y="1664207"/>
            <a:ext cx="1615440" cy="585215"/>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Indicador</a:t>
            </a:r>
          </a:p>
        </p:txBody>
      </p:sp>
      <p:sp>
        <p:nvSpPr>
          <p:cNvPr id="14" name="Right Triangle 13"/>
          <p:cNvSpPr/>
          <p:nvPr/>
        </p:nvSpPr>
        <p:spPr>
          <a:xfrm>
            <a:off x="4245864" y="1783080"/>
            <a:ext cx="164592" cy="256032"/>
          </a:xfrm>
          <a:prstGeom prst="rtTriangle">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64736" y="1554480"/>
            <a:ext cx="1706880" cy="749808"/>
          </a:xfrm>
          <a:prstGeom prst="roundRect">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0456" y="1664207"/>
            <a:ext cx="1615440" cy="585215"/>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Línea de base</a:t>
            </a:r>
          </a:p>
        </p:txBody>
      </p:sp>
      <p:sp>
        <p:nvSpPr>
          <p:cNvPr id="17" name="Right Triangle 16"/>
          <p:cNvSpPr/>
          <p:nvPr/>
        </p:nvSpPr>
        <p:spPr>
          <a:xfrm>
            <a:off x="6062472" y="1783080"/>
            <a:ext cx="164592" cy="256032"/>
          </a:xfrm>
          <a:prstGeom prst="rtTriangle">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81344" y="1554480"/>
            <a:ext cx="1706880" cy="749808"/>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27064" y="1664207"/>
            <a:ext cx="1615440" cy="585215"/>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Meta</a:t>
            </a:r>
          </a:p>
        </p:txBody>
      </p:sp>
      <p:sp>
        <p:nvSpPr>
          <p:cNvPr id="20" name="Right Triangle 19"/>
          <p:cNvSpPr/>
          <p:nvPr/>
        </p:nvSpPr>
        <p:spPr>
          <a:xfrm>
            <a:off x="7879080" y="1783080"/>
            <a:ext cx="164592" cy="256032"/>
          </a:xfrm>
          <a:prstGeom prst="rtTriangle">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997952" y="1554480"/>
            <a:ext cx="1706880" cy="749808"/>
          </a:xfrm>
          <a:prstGeom prst="round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3672" y="1664207"/>
            <a:ext cx="1615440" cy="585215"/>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Periodicidad y responsable</a:t>
            </a:r>
          </a:p>
        </p:txBody>
      </p:sp>
      <p:sp>
        <p:nvSpPr>
          <p:cNvPr id="23" name="Right Triangle 22"/>
          <p:cNvSpPr/>
          <p:nvPr/>
        </p:nvSpPr>
        <p:spPr>
          <a:xfrm>
            <a:off x="9695688" y="1783080"/>
            <a:ext cx="164592" cy="256032"/>
          </a:xfrm>
          <a:prstGeom prst="rtTriangle">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814560" y="1554480"/>
            <a:ext cx="1706880" cy="749808"/>
          </a:xfrm>
          <a:prstGeom prst="roundRect">
            <a:avLst/>
          </a:prstGeom>
          <a:solidFill>
            <a:srgbClr val="77A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60280" y="1664207"/>
            <a:ext cx="1615440" cy="585215"/>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Medio de verificación</a:t>
            </a:r>
          </a:p>
        </p:txBody>
      </p:sp>
      <p:sp>
        <p:nvSpPr>
          <p:cNvPr id="26" name="Rounded Rectangle 25"/>
          <p:cNvSpPr/>
          <p:nvPr/>
        </p:nvSpPr>
        <p:spPr>
          <a:xfrm>
            <a:off x="777240" y="274320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240" y="2743200"/>
            <a:ext cx="73152" cy="100584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2834640"/>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Indicadores de proceso</a:t>
            </a:r>
          </a:p>
        </p:txBody>
      </p:sp>
      <p:sp>
        <p:nvSpPr>
          <p:cNvPr id="29" name="TextBox 28"/>
          <p:cNvSpPr txBox="1"/>
          <p:nvPr/>
        </p:nvSpPr>
        <p:spPr>
          <a:xfrm>
            <a:off x="914400" y="3154680"/>
            <a:ext cx="4992624" cy="50292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Miden implementación: cumplimiento de acciones, frecuencia, participación o uso de herramientas.</a:t>
            </a:r>
          </a:p>
        </p:txBody>
      </p:sp>
      <p:sp>
        <p:nvSpPr>
          <p:cNvPr id="30" name="Rounded Rectangle 29"/>
          <p:cNvSpPr/>
          <p:nvPr/>
        </p:nvSpPr>
        <p:spPr>
          <a:xfrm>
            <a:off x="6217920" y="274320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2743200"/>
            <a:ext cx="73152" cy="100584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2834640"/>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Indicadores de resultados</a:t>
            </a:r>
          </a:p>
        </p:txBody>
      </p:sp>
      <p:sp>
        <p:nvSpPr>
          <p:cNvPr id="33" name="TextBox 32"/>
          <p:cNvSpPr txBox="1"/>
          <p:nvPr/>
        </p:nvSpPr>
        <p:spPr>
          <a:xfrm>
            <a:off x="6355080" y="3154680"/>
            <a:ext cx="4992624" cy="50292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Miden mejoras observables: organización, prácticas, desempeño o resolución de problemas.</a:t>
            </a:r>
          </a:p>
        </p:txBody>
      </p:sp>
      <p:sp>
        <p:nvSpPr>
          <p:cNvPr id="34" name="Rounded Rectangle 33"/>
          <p:cNvSpPr/>
          <p:nvPr/>
        </p:nvSpPr>
        <p:spPr>
          <a:xfrm>
            <a:off x="777240" y="416052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77240" y="4160520"/>
            <a:ext cx="73152" cy="100584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4251959"/>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Indicadores de impacto</a:t>
            </a:r>
          </a:p>
        </p:txBody>
      </p:sp>
      <p:sp>
        <p:nvSpPr>
          <p:cNvPr id="37" name="TextBox 36"/>
          <p:cNvSpPr txBox="1"/>
          <p:nvPr/>
        </p:nvSpPr>
        <p:spPr>
          <a:xfrm>
            <a:off x="914400" y="4572000"/>
            <a:ext cx="4992624" cy="50292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Observan efectos más amplios o sostenidos cuando corresponde; una variación por sí sola no demuestra causalidad.</a:t>
            </a:r>
          </a:p>
        </p:txBody>
      </p:sp>
      <p:sp>
        <p:nvSpPr>
          <p:cNvPr id="38" name="Rounded Rectangle 37"/>
          <p:cNvSpPr/>
          <p:nvPr/>
        </p:nvSpPr>
        <p:spPr>
          <a:xfrm>
            <a:off x="6217920" y="416052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217920" y="4160520"/>
            <a:ext cx="73152" cy="100584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55080" y="4251959"/>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Enfoque inclusivo</a:t>
            </a:r>
          </a:p>
        </p:txBody>
      </p:sp>
      <p:sp>
        <p:nvSpPr>
          <p:cNvPr id="41" name="TextBox 40"/>
          <p:cNvSpPr txBox="1"/>
          <p:nvPr/>
        </p:nvSpPr>
        <p:spPr>
          <a:xfrm>
            <a:off x="6355080" y="4572000"/>
            <a:ext cx="4992624" cy="502920"/>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Analizar género, participación, acceso y beneficios diferenciados, así como sostenibilidad e innovación, cuando corresponda.</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4449F12A-4C4B-FE93-5A00-21317CCC1432}"/>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9" descr="image3.png">
            <a:extLst>
              <a:ext uri="{FF2B5EF4-FFF2-40B4-BE49-F238E27FC236}">
                <a16:creationId xmlns:a16="http://schemas.microsoft.com/office/drawing/2014/main" id="{244FAD59-E5AB-5F6F-CBF2-28220B2A8175}"/>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K07 · Matriz de Indicadores: uso en M5</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graphicFrame>
        <p:nvGraphicFramePr>
          <p:cNvPr id="8" name="Table 7"/>
          <p:cNvGraphicFramePr>
            <a:graphicFrameLocks noGrp="1"/>
          </p:cNvGraphicFramePr>
          <p:nvPr/>
        </p:nvGraphicFramePr>
        <p:xfrm>
          <a:off x="731520" y="1280160"/>
          <a:ext cx="10789920" cy="42062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600891">
                <a:tc>
                  <a:txBody>
                    <a:bodyPr/>
                    <a:lstStyle/>
                    <a:p>
                      <a:pPr>
                        <a:defRPr sz="950" b="1">
                          <a:solidFill>
                            <a:srgbClr val="FFFFFF"/>
                          </a:solidFill>
                          <a:latin typeface="Aptos"/>
                        </a:defRPr>
                      </a:pPr>
                      <a:r>
                        <a:t>Componente</a:t>
                      </a:r>
                    </a:p>
                  </a:txBody>
                  <a:tcPr marL="45720" marR="36576" marT="27432" marB="27432" anchor="ctr">
                    <a:solidFill>
                      <a:srgbClr val="002D46"/>
                    </a:solidFill>
                  </a:tcPr>
                </a:tc>
                <a:tc>
                  <a:txBody>
                    <a:bodyPr/>
                    <a:lstStyle/>
                    <a:p>
                      <a:pPr>
                        <a:defRPr sz="950" b="1">
                          <a:solidFill>
                            <a:srgbClr val="FFFFFF"/>
                          </a:solidFill>
                          <a:latin typeface="Aptos"/>
                        </a:defRPr>
                      </a:pPr>
                      <a:r>
                        <a:t>Uso de la herramienta</a:t>
                      </a:r>
                    </a:p>
                  </a:txBody>
                  <a:tcPr marL="45720" marR="36576" marT="27432" marB="27432" anchor="ctr">
                    <a:solidFill>
                      <a:srgbClr val="002D46"/>
                    </a:solidFill>
                  </a:tcPr>
                </a:tc>
                <a:tc>
                  <a:txBody>
                    <a:bodyPr/>
                    <a:lstStyle/>
                    <a:p>
                      <a:pPr>
                        <a:defRPr sz="950" b="1">
                          <a:solidFill>
                            <a:srgbClr val="FFFFFF"/>
                          </a:solidFill>
                          <a:latin typeface="Aptos"/>
                        </a:defRPr>
                      </a:pPr>
                      <a:r>
                        <a:t>Criterio de aplicación</a:t>
                      </a:r>
                    </a:p>
                  </a:txBody>
                  <a:tcPr marL="45720" marR="36576" marT="27432" marB="27432" anchor="ctr">
                    <a:solidFill>
                      <a:srgbClr val="002D46"/>
                    </a:solidFill>
                  </a:tcPr>
                </a:tc>
                <a:extLst>
                  <a:ext uri="{0D108BD9-81ED-4DB2-BD59-A6C34878D82A}">
                    <a16:rowId xmlns:a16="http://schemas.microsoft.com/office/drawing/2014/main" val="10000"/>
                  </a:ext>
                </a:extLst>
              </a:tr>
              <a:tr h="600891">
                <a:tc>
                  <a:txBody>
                    <a:bodyPr/>
                    <a:lstStyle/>
                    <a:p>
                      <a:pPr>
                        <a:defRPr sz="950">
                          <a:solidFill>
                            <a:srgbClr val="002D46"/>
                          </a:solidFill>
                          <a:latin typeface="Aptos"/>
                        </a:defRPr>
                      </a:pPr>
                      <a:r>
                        <a:t>Captura</a:t>
                      </a:r>
                    </a:p>
                  </a:txBody>
                  <a:tcPr marL="45720" marR="36576" marT="27432" marB="27432" anchor="ctr">
                    <a:solidFill>
                      <a:srgbClr val="FAF8F2"/>
                    </a:solidFill>
                  </a:tcPr>
                </a:tc>
                <a:tc>
                  <a:txBody>
                    <a:bodyPr/>
                    <a:lstStyle/>
                    <a:p>
                      <a:pPr>
                        <a:defRPr sz="950">
                          <a:solidFill>
                            <a:srgbClr val="002D46"/>
                          </a:solidFill>
                          <a:latin typeface="Aptos"/>
                        </a:defRPr>
                      </a:pPr>
                      <a:r>
                        <a:t>Hoja M&amp;E_ESP_FINAL: una fila por NAE.</a:t>
                      </a:r>
                    </a:p>
                  </a:txBody>
                  <a:tcPr marL="45720" marR="36576" marT="27432" marB="27432" anchor="ctr">
                    <a:solidFill>
                      <a:srgbClr val="FAF8F2"/>
                    </a:solidFill>
                  </a:tcPr>
                </a:tc>
                <a:tc>
                  <a:txBody>
                    <a:bodyPr/>
                    <a:lstStyle/>
                    <a:p>
                      <a:pPr>
                        <a:defRPr sz="950">
                          <a:solidFill>
                            <a:srgbClr val="002D46"/>
                          </a:solidFill>
                          <a:latin typeface="Aptos"/>
                        </a:defRPr>
                      </a:pPr>
                      <a:r>
                        <a:t>Registrar datos verificables del negocio.</a:t>
                      </a:r>
                    </a:p>
                  </a:txBody>
                  <a:tcPr marL="45720" marR="36576" marT="27432" marB="27432" anchor="ctr">
                    <a:solidFill>
                      <a:srgbClr val="FAF8F2"/>
                    </a:solidFill>
                  </a:tcPr>
                </a:tc>
                <a:extLst>
                  <a:ext uri="{0D108BD9-81ED-4DB2-BD59-A6C34878D82A}">
                    <a16:rowId xmlns:a16="http://schemas.microsoft.com/office/drawing/2014/main" val="10001"/>
                  </a:ext>
                </a:extLst>
              </a:tr>
              <a:tr h="600891">
                <a:tc>
                  <a:txBody>
                    <a:bodyPr/>
                    <a:lstStyle/>
                    <a:p>
                      <a:pPr>
                        <a:defRPr sz="950">
                          <a:solidFill>
                            <a:srgbClr val="002D46"/>
                          </a:solidFill>
                          <a:latin typeface="Aptos"/>
                        </a:defRPr>
                      </a:pPr>
                      <a:r>
                        <a:t>Inicio y cierre</a:t>
                      </a:r>
                    </a:p>
                  </a:txBody>
                  <a:tcPr marL="45720" marR="36576" marT="27432" marB="27432" anchor="ctr">
                    <a:solidFill>
                      <a:srgbClr val="EFECE2"/>
                    </a:solidFill>
                  </a:tcPr>
                </a:tc>
                <a:tc>
                  <a:txBody>
                    <a:bodyPr/>
                    <a:lstStyle/>
                    <a:p>
                      <a:pPr>
                        <a:defRPr sz="950">
                          <a:solidFill>
                            <a:srgbClr val="002D46"/>
                          </a:solidFill>
                          <a:latin typeface="Aptos"/>
                        </a:defRPr>
                      </a:pPr>
                      <a:r>
                        <a:t>Completar los campos iniciales y finales.</a:t>
                      </a:r>
                    </a:p>
                  </a:txBody>
                  <a:tcPr marL="45720" marR="36576" marT="27432" marB="27432" anchor="ctr">
                    <a:solidFill>
                      <a:srgbClr val="EFECE2"/>
                    </a:solidFill>
                  </a:tcPr>
                </a:tc>
                <a:tc>
                  <a:txBody>
                    <a:bodyPr/>
                    <a:lstStyle/>
                    <a:p>
                      <a:pPr>
                        <a:defRPr sz="950">
                          <a:solidFill>
                            <a:srgbClr val="002D46"/>
                          </a:solidFill>
                          <a:latin typeface="Aptos"/>
                        </a:defRPr>
                      </a:pPr>
                      <a:r>
                        <a:t>Mantener iguales criterios, unidades y períodos comparables.</a:t>
                      </a:r>
                    </a:p>
                  </a:txBody>
                  <a:tcPr marL="45720" marR="36576" marT="27432" marB="27432" anchor="ctr">
                    <a:solidFill>
                      <a:srgbClr val="EFECE2"/>
                    </a:solidFill>
                  </a:tcPr>
                </a:tc>
                <a:extLst>
                  <a:ext uri="{0D108BD9-81ED-4DB2-BD59-A6C34878D82A}">
                    <a16:rowId xmlns:a16="http://schemas.microsoft.com/office/drawing/2014/main" val="10002"/>
                  </a:ext>
                </a:extLst>
              </a:tr>
              <a:tr h="600891">
                <a:tc>
                  <a:txBody>
                    <a:bodyPr/>
                    <a:lstStyle/>
                    <a:p>
                      <a:pPr>
                        <a:defRPr sz="950">
                          <a:solidFill>
                            <a:srgbClr val="002D46"/>
                          </a:solidFill>
                          <a:latin typeface="Aptos"/>
                        </a:defRPr>
                      </a:pPr>
                      <a:r>
                        <a:t>Pertinencia</a:t>
                      </a:r>
                    </a:p>
                  </a:txBody>
                  <a:tcPr marL="45720" marR="36576" marT="27432" marB="27432" anchor="ctr">
                    <a:solidFill>
                      <a:srgbClr val="FAF8F2"/>
                    </a:solidFill>
                  </a:tcPr>
                </a:tc>
                <a:tc>
                  <a:txBody>
                    <a:bodyPr/>
                    <a:lstStyle/>
                    <a:p>
                      <a:pPr>
                        <a:defRPr sz="950">
                          <a:solidFill>
                            <a:srgbClr val="002D46"/>
                          </a:solidFill>
                          <a:latin typeface="Aptos"/>
                        </a:defRPr>
                      </a:pPr>
                      <a:r>
                        <a:t>Seleccionar su uso según necesidades y territorio.</a:t>
                      </a:r>
                    </a:p>
                  </a:txBody>
                  <a:tcPr marL="45720" marR="36576" marT="27432" marB="27432" anchor="ctr">
                    <a:solidFill>
                      <a:srgbClr val="FAF8F2"/>
                    </a:solidFill>
                  </a:tcPr>
                </a:tc>
                <a:tc>
                  <a:txBody>
                    <a:bodyPr/>
                    <a:lstStyle/>
                    <a:p>
                      <a:pPr>
                        <a:defRPr sz="950">
                          <a:solidFill>
                            <a:srgbClr val="002D46"/>
                          </a:solidFill>
                          <a:latin typeface="Aptos"/>
                        </a:defRPr>
                      </a:pPr>
                      <a:r>
                        <a:t>Conservar campos, opciones y formato; no añadir columnas.</a:t>
                      </a:r>
                    </a:p>
                  </a:txBody>
                  <a:tcPr marL="45720" marR="36576" marT="27432" marB="27432" anchor="ctr">
                    <a:solidFill>
                      <a:srgbClr val="FAF8F2"/>
                    </a:solidFill>
                  </a:tcPr>
                </a:tc>
                <a:extLst>
                  <a:ext uri="{0D108BD9-81ED-4DB2-BD59-A6C34878D82A}">
                    <a16:rowId xmlns:a16="http://schemas.microsoft.com/office/drawing/2014/main" val="10003"/>
                  </a:ext>
                </a:extLst>
              </a:tr>
              <a:tr h="600891">
                <a:tc>
                  <a:txBody>
                    <a:bodyPr/>
                    <a:lstStyle/>
                    <a:p>
                      <a:pPr>
                        <a:defRPr sz="950">
                          <a:solidFill>
                            <a:srgbClr val="002D46"/>
                          </a:solidFill>
                          <a:latin typeface="Aptos"/>
                        </a:defRPr>
                      </a:pPr>
                      <a:r>
                        <a:t>Indicadores del plan</a:t>
                      </a:r>
                    </a:p>
                  </a:txBody>
                  <a:tcPr marL="45720" marR="36576" marT="27432" marB="27432" anchor="ctr">
                    <a:solidFill>
                      <a:srgbClr val="EFECE2"/>
                    </a:solidFill>
                  </a:tcPr>
                </a:tc>
                <a:tc>
                  <a:txBody>
                    <a:bodyPr/>
                    <a:lstStyle/>
                    <a:p>
                      <a:pPr>
                        <a:defRPr sz="950">
                          <a:solidFill>
                            <a:srgbClr val="002D46"/>
                          </a:solidFill>
                          <a:latin typeface="Aptos"/>
                        </a:defRPr>
                      </a:pPr>
                      <a:r>
                        <a:t>Vincular con la problemática de K03 y registrar en K09.</a:t>
                      </a:r>
                    </a:p>
                  </a:txBody>
                  <a:tcPr marL="45720" marR="36576" marT="27432" marB="27432" anchor="ctr">
                    <a:solidFill>
                      <a:srgbClr val="EFECE2"/>
                    </a:solidFill>
                  </a:tcPr>
                </a:tc>
                <a:tc>
                  <a:txBody>
                    <a:bodyPr/>
                    <a:lstStyle/>
                    <a:p>
                      <a:pPr>
                        <a:defRPr sz="950">
                          <a:solidFill>
                            <a:srgbClr val="002D46"/>
                          </a:solidFill>
                          <a:latin typeface="Aptos"/>
                        </a:defRPr>
                      </a:pPr>
                      <a:r>
                        <a:t>Definir línea de base, meta, fuente, periodicidad y responsable.</a:t>
                      </a:r>
                    </a:p>
                  </a:txBody>
                  <a:tcPr marL="45720" marR="36576" marT="27432" marB="27432" anchor="ctr">
                    <a:solidFill>
                      <a:srgbClr val="EFECE2"/>
                    </a:solidFill>
                  </a:tcPr>
                </a:tc>
                <a:extLst>
                  <a:ext uri="{0D108BD9-81ED-4DB2-BD59-A6C34878D82A}">
                    <a16:rowId xmlns:a16="http://schemas.microsoft.com/office/drawing/2014/main" val="10004"/>
                  </a:ext>
                </a:extLst>
              </a:tr>
              <a:tr h="600891">
                <a:tc>
                  <a:txBody>
                    <a:bodyPr/>
                    <a:lstStyle/>
                    <a:p>
                      <a:pPr>
                        <a:defRPr sz="950">
                          <a:solidFill>
                            <a:srgbClr val="002D46"/>
                          </a:solidFill>
                          <a:latin typeface="Aptos"/>
                        </a:defRPr>
                      </a:pPr>
                      <a:r>
                        <a:t>Dashboard</a:t>
                      </a:r>
                    </a:p>
                  </a:txBody>
                  <a:tcPr marL="45720" marR="36576" marT="27432" marB="27432" anchor="ctr">
                    <a:solidFill>
                      <a:srgbClr val="FAF8F2"/>
                    </a:solidFill>
                  </a:tcPr>
                </a:tc>
                <a:tc>
                  <a:txBody>
                    <a:bodyPr/>
                    <a:lstStyle/>
                    <a:p>
                      <a:pPr>
                        <a:defRPr sz="950">
                          <a:solidFill>
                            <a:srgbClr val="002D46"/>
                          </a:solidFill>
                          <a:latin typeface="Aptos"/>
                        </a:defRPr>
                      </a:pPr>
                      <a:r>
                        <a:t>Visualizar y analizar; no modificar esta hoja.</a:t>
                      </a:r>
                    </a:p>
                  </a:txBody>
                  <a:tcPr marL="45720" marR="36576" marT="27432" marB="27432" anchor="ctr">
                    <a:solidFill>
                      <a:srgbClr val="FAF8F2"/>
                    </a:solidFill>
                  </a:tcPr>
                </a:tc>
                <a:tc>
                  <a:txBody>
                    <a:bodyPr/>
                    <a:lstStyle/>
                    <a:p>
                      <a:pPr>
                        <a:defRPr sz="950">
                          <a:solidFill>
                            <a:srgbClr val="002D46"/>
                          </a:solidFill>
                          <a:latin typeface="Aptos"/>
                        </a:defRPr>
                      </a:pPr>
                      <a:r>
                        <a:t>Validar con el NAE y contrastar con otras evidencias.</a:t>
                      </a:r>
                    </a:p>
                  </a:txBody>
                  <a:tcPr marL="45720" marR="36576" marT="27432" marB="27432" anchor="ctr">
                    <a:solidFill>
                      <a:srgbClr val="FAF8F2"/>
                    </a:solidFill>
                  </a:tcPr>
                </a:tc>
                <a:extLst>
                  <a:ext uri="{0D108BD9-81ED-4DB2-BD59-A6C34878D82A}">
                    <a16:rowId xmlns:a16="http://schemas.microsoft.com/office/drawing/2014/main" val="10005"/>
                  </a:ext>
                </a:extLst>
              </a:tr>
              <a:tr h="600894">
                <a:tc>
                  <a:txBody>
                    <a:bodyPr/>
                    <a:lstStyle/>
                    <a:p>
                      <a:pPr>
                        <a:defRPr sz="950">
                          <a:solidFill>
                            <a:srgbClr val="002D46"/>
                          </a:solidFill>
                          <a:latin typeface="Aptos"/>
                        </a:defRPr>
                      </a:pPr>
                      <a:r>
                        <a:t>Verificación técnica</a:t>
                      </a:r>
                    </a:p>
                  </a:txBody>
                  <a:tcPr marL="45720" marR="36576" marT="27432" marB="27432" anchor="ctr">
                    <a:solidFill>
                      <a:srgbClr val="EFECE2"/>
                    </a:solidFill>
                  </a:tcPr>
                </a:tc>
                <a:tc>
                  <a:txBody>
                    <a:bodyPr/>
                    <a:lstStyle/>
                    <a:p>
                      <a:pPr>
                        <a:defRPr sz="950">
                          <a:solidFill>
                            <a:srgbClr val="002D46"/>
                          </a:solidFill>
                          <a:latin typeface="Aptos"/>
                        </a:defRPr>
                      </a:pPr>
                      <a:r>
                        <a:t>La hoja «Indicadores de Impacto» contiene #REF!.</a:t>
                      </a:r>
                    </a:p>
                  </a:txBody>
                  <a:tcPr marL="45720" marR="36576" marT="27432" marB="27432" anchor="ctr">
                    <a:solidFill>
                      <a:srgbClr val="EFECE2"/>
                    </a:solidFill>
                  </a:tcPr>
                </a:tc>
                <a:tc>
                  <a:txBody>
                    <a:bodyPr/>
                    <a:lstStyle/>
                    <a:p>
                      <a:pPr>
                        <a:defRPr sz="950">
                          <a:solidFill>
                            <a:srgbClr val="002D46"/>
                          </a:solidFill>
                          <a:latin typeface="Aptos"/>
                        </a:defRPr>
                      </a:pPr>
                      <a:r>
                        <a:t>No usar cálculos con errores; contrastar los datos de captura.</a:t>
                      </a:r>
                    </a:p>
                  </a:txBody>
                  <a:tcPr marL="45720" marR="36576" marT="27432" marB="27432" anchor="ctr">
                    <a:solidFill>
                      <a:srgbClr val="EFECE2"/>
                    </a:solidFill>
                  </a:tcPr>
                </a:tc>
                <a:extLst>
                  <a:ext uri="{0D108BD9-81ED-4DB2-BD59-A6C34878D82A}">
                    <a16:rowId xmlns:a16="http://schemas.microsoft.com/office/drawing/2014/main" val="10006"/>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4" name="Rectangle 8">
            <a:extLst>
              <a:ext uri="{FF2B5EF4-FFF2-40B4-BE49-F238E27FC236}">
                <a16:creationId xmlns:a16="http://schemas.microsoft.com/office/drawing/2014/main" id="{D0853CB0-5F77-7AE5-0A2E-E310E8CB2B52}"/>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9" descr="image3.png">
            <a:extLst>
              <a:ext uri="{FF2B5EF4-FFF2-40B4-BE49-F238E27FC236}">
                <a16:creationId xmlns:a16="http://schemas.microsoft.com/office/drawing/2014/main" id="{C8460887-173C-3EDC-22ED-815A2C52393E}"/>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Tema 3 · Evidencias</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TextBox 7"/>
          <p:cNvSpPr txBox="1"/>
          <p:nvPr/>
        </p:nvSpPr>
        <p:spPr>
          <a:xfrm>
            <a:off x="777240" y="1097280"/>
            <a:ext cx="3657600" cy="274320"/>
          </a:xfrm>
          <a:prstGeom prst="rect">
            <a:avLst/>
          </a:prstGeom>
          <a:noFill/>
        </p:spPr>
        <p:txBody>
          <a:bodyPr wrap="square" lIns="27432" tIns="18288" rIns="27432" bIns="18288" anchor="t">
            <a:spAutoFit/>
          </a:bodyPr>
          <a:lstStyle/>
          <a:p>
            <a:pPr algn="l">
              <a:lnSpc>
                <a:spcPct val="100000"/>
              </a:lnSpc>
              <a:defRPr sz="1300" b="1">
                <a:solidFill>
                  <a:srgbClr val="00B897"/>
                </a:solidFill>
                <a:latin typeface="Aptos"/>
              </a:defRPr>
            </a:pPr>
            <a:r>
              <a:t>0,5 h virtual asincrónica</a:t>
            </a:r>
          </a:p>
        </p:txBody>
      </p:sp>
      <p:sp>
        <p:nvSpPr>
          <p:cNvPr id="9" name="Rounded Rectangle 8"/>
          <p:cNvSpPr/>
          <p:nvPr/>
        </p:nvSpPr>
        <p:spPr>
          <a:xfrm>
            <a:off x="777240" y="160020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600200"/>
            <a:ext cx="73152" cy="8686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69164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Registros</a:t>
            </a:r>
          </a:p>
        </p:txBody>
      </p:sp>
      <p:sp>
        <p:nvSpPr>
          <p:cNvPr id="12" name="TextBox 11"/>
          <p:cNvSpPr txBox="1"/>
          <p:nvPr/>
        </p:nvSpPr>
        <p:spPr>
          <a:xfrm>
            <a:off x="914400" y="2011680"/>
            <a:ext cx="4855464" cy="365759"/>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K04.2 Plan de Mejora y K06 minutas como fuentes complementarias, junto con registros de gestión.</a:t>
            </a:r>
          </a:p>
        </p:txBody>
      </p:sp>
      <p:sp>
        <p:nvSpPr>
          <p:cNvPr id="13" name="Rounded Rectangle 12"/>
          <p:cNvSpPr/>
          <p:nvPr/>
        </p:nvSpPr>
        <p:spPr>
          <a:xfrm>
            <a:off x="6217920" y="160020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600200"/>
            <a:ext cx="73152" cy="86868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169164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Observación</a:t>
            </a:r>
          </a:p>
        </p:txBody>
      </p:sp>
      <p:sp>
        <p:nvSpPr>
          <p:cNvPr id="16" name="TextBox 15"/>
          <p:cNvSpPr txBox="1"/>
          <p:nvPr/>
        </p:nvSpPr>
        <p:spPr>
          <a:xfrm>
            <a:off x="6355080" y="2011680"/>
            <a:ext cx="4855464" cy="365759"/>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Cambios visibles en prácticas, organización o uso de herramientas.</a:t>
            </a:r>
          </a:p>
        </p:txBody>
      </p:sp>
      <p:sp>
        <p:nvSpPr>
          <p:cNvPr id="17" name="Rounded Rectangle 16"/>
          <p:cNvSpPr/>
          <p:nvPr/>
        </p:nvSpPr>
        <p:spPr>
          <a:xfrm>
            <a:off x="777240" y="2679191"/>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2679191"/>
            <a:ext cx="73152" cy="86868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2770632"/>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Información empresarial</a:t>
            </a:r>
          </a:p>
        </p:txBody>
      </p:sp>
      <p:sp>
        <p:nvSpPr>
          <p:cNvPr id="20" name="TextBox 19"/>
          <p:cNvSpPr txBox="1"/>
          <p:nvPr/>
        </p:nvSpPr>
        <p:spPr>
          <a:xfrm>
            <a:off x="914400" y="3090672"/>
            <a:ext cx="4855464" cy="365759"/>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Datos administrativos, comerciales, financieros o productivos.</a:t>
            </a:r>
          </a:p>
        </p:txBody>
      </p:sp>
      <p:sp>
        <p:nvSpPr>
          <p:cNvPr id="21" name="Rounded Rectangle 20"/>
          <p:cNvSpPr/>
          <p:nvPr/>
        </p:nvSpPr>
        <p:spPr>
          <a:xfrm>
            <a:off x="6217920" y="2679191"/>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2679191"/>
            <a:ext cx="73152" cy="86868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2770632"/>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Entrevistas y encuestas</a:t>
            </a:r>
          </a:p>
        </p:txBody>
      </p:sp>
      <p:sp>
        <p:nvSpPr>
          <p:cNvPr id="24" name="TextBox 23"/>
          <p:cNvSpPr txBox="1"/>
          <p:nvPr/>
        </p:nvSpPr>
        <p:spPr>
          <a:xfrm>
            <a:off x="6355080" y="3090672"/>
            <a:ext cx="4855464" cy="365759"/>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Percepciones, utilidad, satisfacción y aprendizaje.</a:t>
            </a:r>
          </a:p>
        </p:txBody>
      </p:sp>
      <p:sp>
        <p:nvSpPr>
          <p:cNvPr id="25" name="Rounded Rectangle 24"/>
          <p:cNvSpPr/>
          <p:nvPr/>
        </p:nvSpPr>
        <p:spPr>
          <a:xfrm>
            <a:off x="777240" y="3758183"/>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77240" y="3758183"/>
            <a:ext cx="73152" cy="8686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3849623"/>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Testimonios</a:t>
            </a:r>
          </a:p>
        </p:txBody>
      </p:sp>
      <p:sp>
        <p:nvSpPr>
          <p:cNvPr id="28" name="TextBox 27"/>
          <p:cNvSpPr txBox="1"/>
          <p:nvPr/>
        </p:nvSpPr>
        <p:spPr>
          <a:xfrm>
            <a:off x="914400" y="4169663"/>
            <a:ext cx="4855464" cy="365759"/>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Narrativas breves que ilustren cambios relevantes.</a:t>
            </a:r>
          </a:p>
        </p:txBody>
      </p:sp>
      <p:sp>
        <p:nvSpPr>
          <p:cNvPr id="29" name="Rounded Rectangle 28"/>
          <p:cNvSpPr/>
          <p:nvPr/>
        </p:nvSpPr>
        <p:spPr>
          <a:xfrm>
            <a:off x="6217920" y="3758183"/>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17920" y="3758183"/>
            <a:ext cx="73152" cy="86868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3849623"/>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Evidencias documentales</a:t>
            </a:r>
          </a:p>
        </p:txBody>
      </p:sp>
      <p:sp>
        <p:nvSpPr>
          <p:cNvPr id="32" name="TextBox 31"/>
          <p:cNvSpPr txBox="1"/>
          <p:nvPr/>
        </p:nvSpPr>
        <p:spPr>
          <a:xfrm>
            <a:off x="6355080" y="4169663"/>
            <a:ext cx="4855464" cy="365759"/>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Fotos, documentos y registros offline, protegiendo confidencialidad y datos personales.</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9" name="Rectangle 8">
            <a:extLst>
              <a:ext uri="{FF2B5EF4-FFF2-40B4-BE49-F238E27FC236}">
                <a16:creationId xmlns:a16="http://schemas.microsoft.com/office/drawing/2014/main" id="{26CF74DF-D233-BC90-DD09-7DC6E36D214C}"/>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9" descr="image3.png">
            <a:extLst>
              <a:ext uri="{FF2B5EF4-FFF2-40B4-BE49-F238E27FC236}">
                <a16:creationId xmlns:a16="http://schemas.microsoft.com/office/drawing/2014/main" id="{B2961901-B65E-81BF-6B31-73EE4D492393}"/>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Criterios para seleccionar evidencias</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77240" y="1554480"/>
            <a:ext cx="5074920" cy="10515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1554480"/>
            <a:ext cx="73152" cy="105156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6459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Pertinencia</a:t>
            </a:r>
          </a:p>
        </p:txBody>
      </p:sp>
      <p:sp>
        <p:nvSpPr>
          <p:cNvPr id="11" name="TextBox 10"/>
          <p:cNvSpPr txBox="1"/>
          <p:nvPr/>
        </p:nvSpPr>
        <p:spPr>
          <a:xfrm>
            <a:off x="914400" y="1965960"/>
            <a:ext cx="4855464" cy="548639"/>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La evidencia debe corresponder al indicador u objetivo evaluado.</a:t>
            </a:r>
          </a:p>
        </p:txBody>
      </p:sp>
      <p:sp>
        <p:nvSpPr>
          <p:cNvPr id="12" name="Rounded Rectangle 11"/>
          <p:cNvSpPr/>
          <p:nvPr/>
        </p:nvSpPr>
        <p:spPr>
          <a:xfrm>
            <a:off x="6217920" y="1554480"/>
            <a:ext cx="5074920" cy="10515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554480"/>
            <a:ext cx="73152" cy="105156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6459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Confiabilidad</a:t>
            </a:r>
          </a:p>
        </p:txBody>
      </p:sp>
      <p:sp>
        <p:nvSpPr>
          <p:cNvPr id="15" name="TextBox 14"/>
          <p:cNvSpPr txBox="1"/>
          <p:nvPr/>
        </p:nvSpPr>
        <p:spPr>
          <a:xfrm>
            <a:off x="6355080" y="1965960"/>
            <a:ext cx="4855464" cy="548639"/>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Debe ser verificable y consistente.</a:t>
            </a:r>
          </a:p>
        </p:txBody>
      </p:sp>
      <p:sp>
        <p:nvSpPr>
          <p:cNvPr id="16" name="Rounded Rectangle 15"/>
          <p:cNvSpPr/>
          <p:nvPr/>
        </p:nvSpPr>
        <p:spPr>
          <a:xfrm>
            <a:off x="777240" y="2926080"/>
            <a:ext cx="5074920" cy="10515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2926080"/>
            <a:ext cx="73152" cy="105156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0175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Suficiencia</a:t>
            </a:r>
          </a:p>
        </p:txBody>
      </p:sp>
      <p:sp>
        <p:nvSpPr>
          <p:cNvPr id="19" name="TextBox 18"/>
          <p:cNvSpPr txBox="1"/>
          <p:nvPr/>
        </p:nvSpPr>
        <p:spPr>
          <a:xfrm>
            <a:off x="914400" y="3337560"/>
            <a:ext cx="4855464" cy="548639"/>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Debe permitir sustentar una conclusión razonable.</a:t>
            </a:r>
          </a:p>
        </p:txBody>
      </p:sp>
      <p:sp>
        <p:nvSpPr>
          <p:cNvPr id="20" name="Rounded Rectangle 19"/>
          <p:cNvSpPr/>
          <p:nvPr/>
        </p:nvSpPr>
        <p:spPr>
          <a:xfrm>
            <a:off x="6217920" y="2926080"/>
            <a:ext cx="5074920" cy="10515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2926080"/>
            <a:ext cx="73152" cy="105156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3017520"/>
            <a:ext cx="4873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Utilidad</a:t>
            </a:r>
          </a:p>
        </p:txBody>
      </p:sp>
      <p:sp>
        <p:nvSpPr>
          <p:cNvPr id="23" name="TextBox 22"/>
          <p:cNvSpPr txBox="1"/>
          <p:nvPr/>
        </p:nvSpPr>
        <p:spPr>
          <a:xfrm>
            <a:off x="6355080" y="3337560"/>
            <a:ext cx="4855464" cy="548639"/>
          </a:xfrm>
          <a:prstGeom prst="rect">
            <a:avLst/>
          </a:prstGeom>
          <a:noFill/>
        </p:spPr>
        <p:txBody>
          <a:bodyPr wrap="square" lIns="27432" tIns="18288" rIns="27432" bIns="18288" anchor="t">
            <a:spAutoFit/>
          </a:bodyPr>
          <a:lstStyle/>
          <a:p>
            <a:pPr algn="l">
              <a:lnSpc>
                <a:spcPct val="100000"/>
              </a:lnSpc>
              <a:defRPr sz="1150" b="0">
                <a:solidFill>
                  <a:srgbClr val="4E585D"/>
                </a:solidFill>
                <a:latin typeface="Aptos"/>
              </a:defRPr>
            </a:pPr>
            <a:r>
              <a:t>Debe servir para decidir y mejorar.</a:t>
            </a:r>
          </a:p>
        </p:txBody>
      </p:sp>
      <p:sp>
        <p:nvSpPr>
          <p:cNvPr id="24" name="Rounded Rectangle 23"/>
          <p:cNvSpPr/>
          <p:nvPr/>
        </p:nvSpPr>
        <p:spPr>
          <a:xfrm>
            <a:off x="777240" y="4526280"/>
            <a:ext cx="10652760" cy="7315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7240" y="4526280"/>
            <a:ext cx="73152" cy="73152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617720"/>
            <a:ext cx="104515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Ética y calidad de los datos</a:t>
            </a:r>
          </a:p>
        </p:txBody>
      </p:sp>
      <p:sp>
        <p:nvSpPr>
          <p:cNvPr id="27" name="TextBox 26"/>
          <p:cNvSpPr txBox="1"/>
          <p:nvPr/>
        </p:nvSpPr>
        <p:spPr>
          <a:xfrm>
            <a:off x="914400" y="4937760"/>
            <a:ext cx="10433304" cy="22860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Combinar evidencias cuantitativas y cualitativas. Identificar vacíos y datos simulados; no inventar resultados ni divulgar información sensible.</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6.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2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965960"/>
            <a:ext cx="914400" cy="548640"/>
          </a:xfrm>
          <a:prstGeom prst="rect">
            <a:avLst/>
          </a:prstGeom>
          <a:noFill/>
        </p:spPr>
        <p:txBody>
          <a:bodyPr wrap="square" lIns="27432" tIns="18288" rIns="27432" bIns="18288" anchor="t">
            <a:spAutoFit/>
          </a:bodyPr>
          <a:lstStyle/>
          <a:p>
            <a:pPr algn="l">
              <a:lnSpc>
                <a:spcPct val="100000"/>
              </a:lnSpc>
              <a:defRPr sz="2600" b="0">
                <a:solidFill>
                  <a:srgbClr val="D89D2E"/>
                </a:solidFill>
                <a:latin typeface="Aptos Display"/>
              </a:defRPr>
            </a:pPr>
            <a:r>
              <a:t>03</a:t>
            </a:r>
          </a:p>
        </p:txBody>
      </p:sp>
      <p:sp>
        <p:nvSpPr>
          <p:cNvPr id="5" name="Rectangle 4"/>
          <p:cNvSpPr/>
          <p:nvPr/>
        </p:nvSpPr>
        <p:spPr>
          <a:xfrm>
            <a:off x="758952" y="2615184"/>
            <a:ext cx="411480"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889504"/>
            <a:ext cx="6583680" cy="512064"/>
          </a:xfrm>
          <a:prstGeom prst="rect">
            <a:avLst/>
          </a:prstGeom>
          <a:noFill/>
        </p:spPr>
        <p:txBody>
          <a:bodyPr wrap="square" lIns="27432" tIns="18288" rIns="27432" bIns="18288" anchor="t">
            <a:spAutoFit/>
          </a:bodyPr>
          <a:lstStyle/>
          <a:p>
            <a:pPr algn="l">
              <a:lnSpc>
                <a:spcPct val="100000"/>
              </a:lnSpc>
              <a:defRPr sz="3000" b="0">
                <a:solidFill>
                  <a:srgbClr val="FFFFFF"/>
                </a:solidFill>
                <a:latin typeface="Aptos Display"/>
              </a:defRPr>
            </a:pPr>
            <a:r>
              <a:t>EVALUACIÓN Y MEJORA CONTINUA</a:t>
            </a:r>
          </a:p>
        </p:txBody>
      </p:sp>
      <p:sp>
        <p:nvSpPr>
          <p:cNvPr id="7" name="TextBox 6"/>
          <p:cNvSpPr txBox="1"/>
          <p:nvPr/>
        </p:nvSpPr>
        <p:spPr>
          <a:xfrm>
            <a:off x="749808" y="3566160"/>
            <a:ext cx="6217920" cy="621792"/>
          </a:xfrm>
          <a:prstGeom prst="rect">
            <a:avLst/>
          </a:prstGeom>
          <a:noFill/>
        </p:spPr>
        <p:txBody>
          <a:bodyPr wrap="square" lIns="27432" tIns="18288" rIns="27432" bIns="18288" anchor="t">
            <a:spAutoFit/>
          </a:bodyPr>
          <a:lstStyle/>
          <a:p>
            <a:pPr algn="l">
              <a:lnSpc>
                <a:spcPct val="100000"/>
              </a:lnSpc>
              <a:defRPr sz="1450" b="0">
                <a:solidFill>
                  <a:srgbClr val="E1E6E3"/>
                </a:solidFill>
                <a:latin typeface="Aptos"/>
              </a:defRPr>
            </a:pPr>
            <a:r>
              <a:t>Valorar el acompañamiento, analizar desviaciones y decidir ajustes</a:t>
            </a:r>
          </a:p>
        </p:txBody>
      </p:sp>
      <p:sp>
        <p:nvSpPr>
          <p:cNvPr id="8" name="TextBox 7"/>
          <p:cNvSpPr txBox="1"/>
          <p:nvPr/>
        </p:nvSpPr>
        <p:spPr>
          <a:xfrm>
            <a:off x="502920" y="6309360"/>
            <a:ext cx="2834640" cy="228600"/>
          </a:xfrm>
          <a:prstGeom prst="rect">
            <a:avLst/>
          </a:prstGeom>
          <a:noFill/>
        </p:spPr>
        <p:txBody>
          <a:bodyPr wrap="none">
            <a:spAutoFit/>
          </a:bodyPr>
          <a:lstStyle/>
          <a:p>
            <a:pPr>
              <a:defRPr sz="800">
                <a:solidFill>
                  <a:srgbClr val="BEC8C8"/>
                </a:solidFill>
                <a:latin typeface="Aptos"/>
              </a:defRPr>
            </a:pPr>
            <a:r>
              <a:t>Actividad 2.3.2 — FdF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4" name="Rectangle 8">
            <a:extLst>
              <a:ext uri="{FF2B5EF4-FFF2-40B4-BE49-F238E27FC236}">
                <a16:creationId xmlns:a16="http://schemas.microsoft.com/office/drawing/2014/main" id="{6B2F1B42-1536-540A-F4B3-4A0D9ADA20AD}"/>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9" descr="image3.png">
            <a:extLst>
              <a:ext uri="{FF2B5EF4-FFF2-40B4-BE49-F238E27FC236}">
                <a16:creationId xmlns:a16="http://schemas.microsoft.com/office/drawing/2014/main" id="{1DB26077-C846-CEEF-60FC-CD6FCD3237E8}"/>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Tema 4 · Evaluación del acompañamiento</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TextBox 7"/>
          <p:cNvSpPr txBox="1"/>
          <p:nvPr/>
        </p:nvSpPr>
        <p:spPr>
          <a:xfrm>
            <a:off x="777240" y="1097280"/>
            <a:ext cx="2743200" cy="274320"/>
          </a:xfrm>
          <a:prstGeom prst="rect">
            <a:avLst/>
          </a:prstGeom>
          <a:noFill/>
        </p:spPr>
        <p:txBody>
          <a:bodyPr wrap="square" lIns="27432" tIns="18288" rIns="27432" bIns="18288" anchor="t">
            <a:spAutoFit/>
          </a:bodyPr>
          <a:lstStyle/>
          <a:p>
            <a:pPr algn="l">
              <a:lnSpc>
                <a:spcPct val="100000"/>
              </a:lnSpc>
              <a:defRPr sz="1300" b="1">
                <a:solidFill>
                  <a:srgbClr val="00B897"/>
                </a:solidFill>
                <a:latin typeface="Aptos"/>
              </a:defRPr>
            </a:pPr>
            <a:r>
              <a:t>1 h presencial</a:t>
            </a:r>
          </a:p>
        </p:txBody>
      </p:sp>
      <p:sp>
        <p:nvSpPr>
          <p:cNvPr id="9" name="Rounded Rectangle 8"/>
          <p:cNvSpPr/>
          <p:nvPr/>
        </p:nvSpPr>
        <p:spPr>
          <a:xfrm>
            <a:off x="777240" y="1600200"/>
            <a:ext cx="5074920" cy="84124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600200"/>
            <a:ext cx="73152" cy="841248"/>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69164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Cumplimiento de acciones</a:t>
            </a:r>
          </a:p>
        </p:txBody>
      </p:sp>
      <p:sp>
        <p:nvSpPr>
          <p:cNvPr id="12" name="TextBox 11"/>
          <p:cNvSpPr txBox="1"/>
          <p:nvPr/>
        </p:nvSpPr>
        <p:spPr>
          <a:xfrm>
            <a:off x="914400" y="2011680"/>
            <a:ext cx="4855464" cy="338328"/>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Contrastar acciones y compromisos con K04.2 y K06 como fuentes complementarias.</a:t>
            </a:r>
          </a:p>
        </p:txBody>
      </p:sp>
      <p:sp>
        <p:nvSpPr>
          <p:cNvPr id="13" name="Rounded Rectangle 12"/>
          <p:cNvSpPr/>
          <p:nvPr/>
        </p:nvSpPr>
        <p:spPr>
          <a:xfrm>
            <a:off x="6217920" y="1600200"/>
            <a:ext cx="5074920" cy="84124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600200"/>
            <a:ext cx="73152" cy="841248"/>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169164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Grado de aplicación</a:t>
            </a:r>
          </a:p>
        </p:txBody>
      </p:sp>
      <p:sp>
        <p:nvSpPr>
          <p:cNvPr id="16" name="TextBox 15"/>
          <p:cNvSpPr txBox="1"/>
          <p:nvPr/>
        </p:nvSpPr>
        <p:spPr>
          <a:xfrm>
            <a:off x="6355080" y="2011680"/>
            <a:ext cx="4855464" cy="338328"/>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Valorar si lo trabajado se está usando efectivamente en la empresa.</a:t>
            </a:r>
          </a:p>
        </p:txBody>
      </p:sp>
      <p:sp>
        <p:nvSpPr>
          <p:cNvPr id="17" name="Rounded Rectangle 16"/>
          <p:cNvSpPr/>
          <p:nvPr/>
        </p:nvSpPr>
        <p:spPr>
          <a:xfrm>
            <a:off x="777240" y="2651760"/>
            <a:ext cx="5074920" cy="84124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2651760"/>
            <a:ext cx="73152" cy="841248"/>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274320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Cambios empresariales</a:t>
            </a:r>
          </a:p>
        </p:txBody>
      </p:sp>
      <p:sp>
        <p:nvSpPr>
          <p:cNvPr id="20" name="TextBox 19"/>
          <p:cNvSpPr txBox="1"/>
          <p:nvPr/>
        </p:nvSpPr>
        <p:spPr>
          <a:xfrm>
            <a:off x="914400" y="3063240"/>
            <a:ext cx="4855464" cy="338328"/>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Observar mejoras en prácticas, organización o toma de decisiones.</a:t>
            </a:r>
          </a:p>
        </p:txBody>
      </p:sp>
      <p:sp>
        <p:nvSpPr>
          <p:cNvPr id="21" name="Rounded Rectangle 20"/>
          <p:cNvSpPr/>
          <p:nvPr/>
        </p:nvSpPr>
        <p:spPr>
          <a:xfrm>
            <a:off x="6217920" y="2651760"/>
            <a:ext cx="5074920" cy="84124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2651760"/>
            <a:ext cx="73152" cy="841248"/>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274320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Resolución de problemas</a:t>
            </a:r>
          </a:p>
        </p:txBody>
      </p:sp>
      <p:sp>
        <p:nvSpPr>
          <p:cNvPr id="24" name="TextBox 23"/>
          <p:cNvSpPr txBox="1"/>
          <p:nvPr/>
        </p:nvSpPr>
        <p:spPr>
          <a:xfrm>
            <a:off x="6355080" y="3063240"/>
            <a:ext cx="4855464" cy="338328"/>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Retomar K03: contrastar problemática, línea de base y valores inicial, esperado y final.</a:t>
            </a:r>
          </a:p>
        </p:txBody>
      </p:sp>
      <p:sp>
        <p:nvSpPr>
          <p:cNvPr id="25" name="Rounded Rectangle 24"/>
          <p:cNvSpPr/>
          <p:nvPr/>
        </p:nvSpPr>
        <p:spPr>
          <a:xfrm>
            <a:off x="777240" y="3703320"/>
            <a:ext cx="5074920" cy="84124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77240" y="3703320"/>
            <a:ext cx="73152" cy="841248"/>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3794759"/>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Utilidad y satisfacción</a:t>
            </a:r>
          </a:p>
        </p:txBody>
      </p:sp>
      <p:sp>
        <p:nvSpPr>
          <p:cNvPr id="28" name="TextBox 27"/>
          <p:cNvSpPr txBox="1"/>
          <p:nvPr/>
        </p:nvSpPr>
        <p:spPr>
          <a:xfrm>
            <a:off x="914400" y="4114800"/>
            <a:ext cx="4855464" cy="338328"/>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Explorar pertinencia y aprovechamiento; la satisfacción no es evidencia suficiente de efectividad.</a:t>
            </a:r>
          </a:p>
        </p:txBody>
      </p:sp>
      <p:sp>
        <p:nvSpPr>
          <p:cNvPr id="29" name="Rounded Rectangle 28"/>
          <p:cNvSpPr/>
          <p:nvPr/>
        </p:nvSpPr>
        <p:spPr>
          <a:xfrm>
            <a:off x="6217920" y="3703320"/>
            <a:ext cx="5074920" cy="841248"/>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17920" y="3703320"/>
            <a:ext cx="73152" cy="841248"/>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3794759"/>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Desarrollo de capacidades</a:t>
            </a:r>
          </a:p>
        </p:txBody>
      </p:sp>
      <p:sp>
        <p:nvSpPr>
          <p:cNvPr id="32" name="TextBox 31"/>
          <p:cNvSpPr txBox="1"/>
          <p:nvPr/>
        </p:nvSpPr>
        <p:spPr>
          <a:xfrm>
            <a:off x="6355080" y="4114800"/>
            <a:ext cx="4855464" cy="338328"/>
          </a:xfrm>
          <a:prstGeom prst="rect">
            <a:avLst/>
          </a:prstGeom>
          <a:noFill/>
        </p:spPr>
        <p:txBody>
          <a:bodyPr wrap="square" lIns="27432" tIns="18288" rIns="27432" bIns="18288" anchor="t">
            <a:spAutoFit/>
          </a:bodyPr>
          <a:lstStyle/>
          <a:p>
            <a:pPr algn="l">
              <a:lnSpc>
                <a:spcPct val="100000"/>
              </a:lnSpc>
              <a:defRPr sz="1060" b="0">
                <a:solidFill>
                  <a:srgbClr val="4E585D"/>
                </a:solidFill>
                <a:latin typeface="Aptos"/>
              </a:defRPr>
            </a:pPr>
            <a:r>
              <a:t>Determinar si aumentó la autonomía y capacidad de gestión.</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43" name="Rectangle 8">
            <a:extLst>
              <a:ext uri="{FF2B5EF4-FFF2-40B4-BE49-F238E27FC236}">
                <a16:creationId xmlns:a16="http://schemas.microsoft.com/office/drawing/2014/main" id="{BD8999B6-A146-A734-74A1-D1EC20DA042F}"/>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9" descr="image3.png">
            <a:extLst>
              <a:ext uri="{FF2B5EF4-FFF2-40B4-BE49-F238E27FC236}">
                <a16:creationId xmlns:a16="http://schemas.microsoft.com/office/drawing/2014/main" id="{B7F4815C-A039-6DBD-A7FC-DFA5D6FD5644}"/>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Tema 5 · Análisis y mejora continua</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TextBox 7"/>
          <p:cNvSpPr txBox="1"/>
          <p:nvPr/>
        </p:nvSpPr>
        <p:spPr>
          <a:xfrm>
            <a:off x="777240" y="1097280"/>
            <a:ext cx="4754880" cy="274320"/>
          </a:xfrm>
          <a:prstGeom prst="rect">
            <a:avLst/>
          </a:prstGeom>
          <a:noFill/>
        </p:spPr>
        <p:txBody>
          <a:bodyPr wrap="square" lIns="27432" tIns="18288" rIns="27432" bIns="18288" anchor="t">
            <a:spAutoFit/>
          </a:bodyPr>
          <a:lstStyle/>
          <a:p>
            <a:pPr algn="l">
              <a:lnSpc>
                <a:spcPct val="100000"/>
              </a:lnSpc>
              <a:defRPr sz="1300" b="1">
                <a:solidFill>
                  <a:srgbClr val="00B897"/>
                </a:solidFill>
                <a:latin typeface="Aptos"/>
              </a:defRPr>
            </a:pPr>
            <a:r>
              <a:t>1 h virtual asincrónica + 1 h virtual sincrónica</a:t>
            </a:r>
          </a:p>
        </p:txBody>
      </p:sp>
      <p:sp>
        <p:nvSpPr>
          <p:cNvPr id="9" name="Rounded Rectangle 8"/>
          <p:cNvSpPr/>
          <p:nvPr/>
        </p:nvSpPr>
        <p:spPr>
          <a:xfrm>
            <a:off x="713232" y="1600200"/>
            <a:ext cx="1722120" cy="768096"/>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709928"/>
            <a:ext cx="1630680" cy="603503"/>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Logros</a:t>
            </a:r>
          </a:p>
        </p:txBody>
      </p:sp>
      <p:sp>
        <p:nvSpPr>
          <p:cNvPr id="11" name="Right Triangle 10"/>
          <p:cNvSpPr/>
          <p:nvPr/>
        </p:nvSpPr>
        <p:spPr>
          <a:xfrm>
            <a:off x="2426208" y="1828800"/>
            <a:ext cx="164592" cy="256032"/>
          </a:xfrm>
          <a:prstGeom prst="rtTriangle">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45080" y="1600200"/>
            <a:ext cx="1722120" cy="768096"/>
          </a:xfrm>
          <a:prstGeom prst="round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90799" y="1709928"/>
            <a:ext cx="1630680" cy="603503"/>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Desviaciones</a:t>
            </a:r>
          </a:p>
        </p:txBody>
      </p:sp>
      <p:sp>
        <p:nvSpPr>
          <p:cNvPr id="14" name="Right Triangle 13"/>
          <p:cNvSpPr/>
          <p:nvPr/>
        </p:nvSpPr>
        <p:spPr>
          <a:xfrm>
            <a:off x="4258056" y="1828800"/>
            <a:ext cx="164592" cy="256032"/>
          </a:xfrm>
          <a:prstGeom prst="rtTriangle">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76928" y="1600200"/>
            <a:ext cx="1722120" cy="768096"/>
          </a:xfrm>
          <a:prstGeom prst="roundRect">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22648" y="1709928"/>
            <a:ext cx="1630680" cy="603503"/>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Causas</a:t>
            </a:r>
          </a:p>
        </p:txBody>
      </p:sp>
      <p:sp>
        <p:nvSpPr>
          <p:cNvPr id="17" name="Right Triangle 16"/>
          <p:cNvSpPr/>
          <p:nvPr/>
        </p:nvSpPr>
        <p:spPr>
          <a:xfrm>
            <a:off x="6089904" y="1828800"/>
            <a:ext cx="164592" cy="256032"/>
          </a:xfrm>
          <a:prstGeom prst="rtTriangle">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08776" y="1600200"/>
            <a:ext cx="1722120" cy="768096"/>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54496" y="1709928"/>
            <a:ext cx="1630680" cy="603503"/>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Lecciones</a:t>
            </a:r>
          </a:p>
        </p:txBody>
      </p:sp>
      <p:sp>
        <p:nvSpPr>
          <p:cNvPr id="20" name="Right Triangle 19"/>
          <p:cNvSpPr/>
          <p:nvPr/>
        </p:nvSpPr>
        <p:spPr>
          <a:xfrm>
            <a:off x="7921752" y="1828800"/>
            <a:ext cx="164592" cy="256032"/>
          </a:xfrm>
          <a:prstGeom prst="rtTriangle">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040624" y="1600200"/>
            <a:ext cx="1722120" cy="768096"/>
          </a:xfrm>
          <a:prstGeom prst="round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86344" y="1709928"/>
            <a:ext cx="1630680" cy="603503"/>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Decisiones correctivas</a:t>
            </a:r>
          </a:p>
        </p:txBody>
      </p:sp>
      <p:sp>
        <p:nvSpPr>
          <p:cNvPr id="23" name="Right Triangle 22"/>
          <p:cNvSpPr/>
          <p:nvPr/>
        </p:nvSpPr>
        <p:spPr>
          <a:xfrm>
            <a:off x="9753600" y="1828800"/>
            <a:ext cx="164592" cy="256032"/>
          </a:xfrm>
          <a:prstGeom prst="rtTriangle">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872472" y="1600200"/>
            <a:ext cx="1722120" cy="768096"/>
          </a:xfrm>
          <a:prstGeom prst="roundRect">
            <a:avLst/>
          </a:prstGeom>
          <a:solidFill>
            <a:srgbClr val="77A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918192" y="1709928"/>
            <a:ext cx="1630680" cy="603503"/>
          </a:xfrm>
          <a:prstGeom prst="rect">
            <a:avLst/>
          </a:prstGeom>
          <a:noFill/>
        </p:spPr>
        <p:txBody>
          <a:bodyPr wrap="square" lIns="27432" tIns="18288" rIns="27432" bIns="18288" anchor="ctr">
            <a:spAutoFit/>
          </a:bodyPr>
          <a:lstStyle/>
          <a:p>
            <a:pPr algn="ctr">
              <a:lnSpc>
                <a:spcPct val="100000"/>
              </a:lnSpc>
              <a:defRPr sz="1050" b="1">
                <a:solidFill>
                  <a:srgbClr val="FFFFFF"/>
                </a:solidFill>
                <a:latin typeface="Aptos"/>
              </a:defRPr>
            </a:pPr>
            <a:r>
              <a:t>Recomendaciones</a:t>
            </a:r>
          </a:p>
        </p:txBody>
      </p:sp>
      <p:sp>
        <p:nvSpPr>
          <p:cNvPr id="26" name="Rounded Rectangle 25"/>
          <p:cNvSpPr/>
          <p:nvPr/>
        </p:nvSpPr>
        <p:spPr>
          <a:xfrm>
            <a:off x="777240" y="288036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240" y="2880360"/>
            <a:ext cx="73152" cy="100584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2971800"/>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Análisis de desviaciones</a:t>
            </a:r>
          </a:p>
        </p:txBody>
      </p:sp>
      <p:sp>
        <p:nvSpPr>
          <p:cNvPr id="29" name="TextBox 28"/>
          <p:cNvSpPr txBox="1"/>
          <p:nvPr/>
        </p:nvSpPr>
        <p:spPr>
          <a:xfrm>
            <a:off x="914400" y="3291840"/>
            <a:ext cx="4992624" cy="502920"/>
          </a:xfrm>
          <a:prstGeom prst="rect">
            <a:avLst/>
          </a:prstGeom>
          <a:noFill/>
        </p:spPr>
        <p:txBody>
          <a:bodyPr wrap="square" lIns="27432" tIns="18288" rIns="27432" bIns="18288" anchor="t">
            <a:spAutoFit/>
          </a:bodyPr>
          <a:lstStyle/>
          <a:p>
            <a:pPr algn="l">
              <a:lnSpc>
                <a:spcPct val="100000"/>
              </a:lnSpc>
              <a:defRPr sz="1180" b="0">
                <a:solidFill>
                  <a:srgbClr val="4E585D"/>
                </a:solidFill>
                <a:latin typeface="Aptos"/>
              </a:defRPr>
            </a:pPr>
            <a:r>
              <a:t>Comparar en K09 línea de base, meta y resultado alcanzado; explicar logros, brechas y factores del contexto.</a:t>
            </a:r>
          </a:p>
        </p:txBody>
      </p:sp>
      <p:sp>
        <p:nvSpPr>
          <p:cNvPr id="30" name="Rounded Rectangle 29"/>
          <p:cNvSpPr/>
          <p:nvPr/>
        </p:nvSpPr>
        <p:spPr>
          <a:xfrm>
            <a:off x="6217920" y="288036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2880360"/>
            <a:ext cx="73152" cy="100584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2971800"/>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Lecciones aprendidas</a:t>
            </a:r>
          </a:p>
        </p:txBody>
      </p:sp>
      <p:sp>
        <p:nvSpPr>
          <p:cNvPr id="33" name="TextBox 32"/>
          <p:cNvSpPr txBox="1"/>
          <p:nvPr/>
        </p:nvSpPr>
        <p:spPr>
          <a:xfrm>
            <a:off x="6355080" y="3291840"/>
            <a:ext cx="4992624" cy="502920"/>
          </a:xfrm>
          <a:prstGeom prst="rect">
            <a:avLst/>
          </a:prstGeom>
          <a:noFill/>
        </p:spPr>
        <p:txBody>
          <a:bodyPr wrap="square" lIns="27432" tIns="18288" rIns="27432" bIns="18288" anchor="t">
            <a:spAutoFit/>
          </a:bodyPr>
          <a:lstStyle/>
          <a:p>
            <a:pPr algn="l">
              <a:lnSpc>
                <a:spcPct val="100000"/>
              </a:lnSpc>
              <a:defRPr sz="1180" b="0">
                <a:solidFill>
                  <a:srgbClr val="4E585D"/>
                </a:solidFill>
                <a:latin typeface="Aptos"/>
              </a:defRPr>
            </a:pPr>
            <a:r>
              <a:t>Identificar qué funcionó, qué cambiaríamos y qué puede transferirse a otros NAE y territorios.</a:t>
            </a:r>
          </a:p>
        </p:txBody>
      </p:sp>
      <p:sp>
        <p:nvSpPr>
          <p:cNvPr id="34" name="Rounded Rectangle 33"/>
          <p:cNvSpPr/>
          <p:nvPr/>
        </p:nvSpPr>
        <p:spPr>
          <a:xfrm>
            <a:off x="777240" y="429768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77240" y="4297680"/>
            <a:ext cx="73152" cy="100584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4389120"/>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Decisiones correctivas</a:t>
            </a:r>
          </a:p>
        </p:txBody>
      </p:sp>
      <p:sp>
        <p:nvSpPr>
          <p:cNvPr id="37" name="TextBox 36"/>
          <p:cNvSpPr txBox="1"/>
          <p:nvPr/>
        </p:nvSpPr>
        <p:spPr>
          <a:xfrm>
            <a:off x="914400" y="4709160"/>
            <a:ext cx="4992624" cy="502920"/>
          </a:xfrm>
          <a:prstGeom prst="rect">
            <a:avLst/>
          </a:prstGeom>
          <a:noFill/>
        </p:spPr>
        <p:txBody>
          <a:bodyPr wrap="square" lIns="27432" tIns="18288" rIns="27432" bIns="18288" anchor="t">
            <a:spAutoFit/>
          </a:bodyPr>
          <a:lstStyle/>
          <a:p>
            <a:pPr algn="l">
              <a:lnSpc>
                <a:spcPct val="100000"/>
              </a:lnSpc>
              <a:defRPr sz="1180" b="0">
                <a:solidFill>
                  <a:srgbClr val="4E585D"/>
                </a:solidFill>
                <a:latin typeface="Aptos"/>
              </a:defRPr>
            </a:pPr>
            <a:r>
              <a:t>Ajustar con el NAE acciones, apoyos o prioridades; considerar inclusión, sostenibilidad e innovación viable.</a:t>
            </a:r>
          </a:p>
        </p:txBody>
      </p:sp>
      <p:sp>
        <p:nvSpPr>
          <p:cNvPr id="38" name="Rounded Rectangle 37"/>
          <p:cNvSpPr/>
          <p:nvPr/>
        </p:nvSpPr>
        <p:spPr>
          <a:xfrm>
            <a:off x="6217920" y="429768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217920" y="4297680"/>
            <a:ext cx="73152" cy="100584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55080" y="4389120"/>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Recomendaciones</a:t>
            </a:r>
          </a:p>
        </p:txBody>
      </p:sp>
      <p:sp>
        <p:nvSpPr>
          <p:cNvPr id="41" name="TextBox 40"/>
          <p:cNvSpPr txBox="1"/>
          <p:nvPr/>
        </p:nvSpPr>
        <p:spPr>
          <a:xfrm>
            <a:off x="6355080" y="4709160"/>
            <a:ext cx="4992624" cy="502920"/>
          </a:xfrm>
          <a:prstGeom prst="rect">
            <a:avLst/>
          </a:prstGeom>
          <a:noFill/>
        </p:spPr>
        <p:txBody>
          <a:bodyPr wrap="square" lIns="27432" tIns="18288" rIns="27432" bIns="18288" anchor="t">
            <a:spAutoFit/>
          </a:bodyPr>
          <a:lstStyle/>
          <a:p>
            <a:pPr algn="l">
              <a:lnSpc>
                <a:spcPct val="100000"/>
              </a:lnSpc>
              <a:defRPr sz="1180" b="0">
                <a:solidFill>
                  <a:srgbClr val="4E585D"/>
                </a:solidFill>
                <a:latin typeface="Aptos"/>
              </a:defRPr>
            </a:pPr>
            <a:r>
              <a:t>Proponer mejoras concretas, viables y verificables para el siguiente ciclo.</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9" name="Rectangle 8">
            <a:extLst>
              <a:ext uri="{FF2B5EF4-FFF2-40B4-BE49-F238E27FC236}">
                <a16:creationId xmlns:a16="http://schemas.microsoft.com/office/drawing/2014/main" id="{AA8F2BA5-1A5F-E3F8-CC6C-DB6D99A6D102}"/>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9" descr="image3.png">
            <a:extLst>
              <a:ext uri="{FF2B5EF4-FFF2-40B4-BE49-F238E27FC236}">
                <a16:creationId xmlns:a16="http://schemas.microsoft.com/office/drawing/2014/main" id="{1B48BEAD-1A66-B800-8596-F2BD16AF196D}"/>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Semáforo de avance para la toma de decisiones</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1051560" y="1508760"/>
            <a:ext cx="3188207" cy="868680"/>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618488"/>
            <a:ext cx="3096767" cy="704088"/>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Verde</a:t>
            </a:r>
          </a:p>
          <a:p>
            <a:pPr algn="ctr">
              <a:lnSpc>
                <a:spcPct val="100000"/>
              </a:lnSpc>
              <a:defRPr sz="1200" b="1">
                <a:solidFill>
                  <a:srgbClr val="FFFFFF"/>
                </a:solidFill>
                <a:latin typeface="Aptos"/>
              </a:defRPr>
            </a:pPr>
            <a:r>
              <a:t>Avance adecuado</a:t>
            </a:r>
          </a:p>
        </p:txBody>
      </p:sp>
      <p:sp>
        <p:nvSpPr>
          <p:cNvPr id="10" name="Right Triangle 9"/>
          <p:cNvSpPr/>
          <p:nvPr/>
        </p:nvSpPr>
        <p:spPr>
          <a:xfrm>
            <a:off x="4230624" y="1737360"/>
            <a:ext cx="164592" cy="256032"/>
          </a:xfrm>
          <a:prstGeom prst="rtTriangle">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9495" y="1508760"/>
            <a:ext cx="3188207" cy="868680"/>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5215" y="1618488"/>
            <a:ext cx="3096767" cy="704088"/>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Amarillo</a:t>
            </a:r>
          </a:p>
          <a:p>
            <a:pPr algn="ctr">
              <a:lnSpc>
                <a:spcPct val="100000"/>
              </a:lnSpc>
              <a:defRPr sz="1200" b="1">
                <a:solidFill>
                  <a:srgbClr val="FFFFFF"/>
                </a:solidFill>
                <a:latin typeface="Aptos"/>
              </a:defRPr>
            </a:pPr>
            <a:r>
              <a:t>Riesgo o retraso</a:t>
            </a:r>
          </a:p>
        </p:txBody>
      </p:sp>
      <p:sp>
        <p:nvSpPr>
          <p:cNvPr id="13" name="Right Triangle 12"/>
          <p:cNvSpPr/>
          <p:nvPr/>
        </p:nvSpPr>
        <p:spPr>
          <a:xfrm>
            <a:off x="7528559" y="1737360"/>
            <a:ext cx="164592" cy="256032"/>
          </a:xfrm>
          <a:prstGeom prst="rtTriangle">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647432" y="1508760"/>
            <a:ext cx="3188207" cy="868680"/>
          </a:xfrm>
          <a:prstGeom prst="roundRect">
            <a:avLst/>
          </a:prstGeom>
          <a:solidFill>
            <a:srgbClr val="C34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3152" y="1618488"/>
            <a:ext cx="3096767" cy="704088"/>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Rojo</a:t>
            </a:r>
          </a:p>
          <a:p>
            <a:pPr algn="ctr">
              <a:lnSpc>
                <a:spcPct val="100000"/>
              </a:lnSpc>
              <a:defRPr sz="1200" b="1">
                <a:solidFill>
                  <a:srgbClr val="FFFFFF"/>
                </a:solidFill>
                <a:latin typeface="Aptos"/>
              </a:defRPr>
            </a:pPr>
            <a:r>
              <a:t>Desviación crítica</a:t>
            </a:r>
          </a:p>
        </p:txBody>
      </p:sp>
      <p:sp>
        <p:nvSpPr>
          <p:cNvPr id="16" name="Rounded Rectangle 15"/>
          <p:cNvSpPr/>
          <p:nvPr/>
        </p:nvSpPr>
        <p:spPr>
          <a:xfrm>
            <a:off x="868680" y="2926080"/>
            <a:ext cx="3291840" cy="15087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8680" y="2926080"/>
            <a:ext cx="73152" cy="150876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39" y="3017520"/>
            <a:ext cx="309067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Verde</a:t>
            </a:r>
          </a:p>
        </p:txBody>
      </p:sp>
      <p:sp>
        <p:nvSpPr>
          <p:cNvPr id="19" name="TextBox 18"/>
          <p:cNvSpPr txBox="1"/>
          <p:nvPr/>
        </p:nvSpPr>
        <p:spPr>
          <a:xfrm>
            <a:off x="1005839" y="3337560"/>
            <a:ext cx="3072384" cy="1005839"/>
          </a:xfrm>
          <a:prstGeom prst="rect">
            <a:avLst/>
          </a:prstGeom>
          <a:noFill/>
        </p:spPr>
        <p:txBody>
          <a:bodyPr wrap="square" lIns="27432" tIns="18288" rIns="27432" bIns="18288" anchor="t">
            <a:spAutoFit/>
          </a:bodyPr>
          <a:lstStyle/>
          <a:p>
            <a:pPr algn="l">
              <a:lnSpc>
                <a:spcPct val="100000"/>
              </a:lnSpc>
              <a:defRPr sz="1120" b="0">
                <a:solidFill>
                  <a:srgbClr val="4E585D"/>
                </a:solidFill>
                <a:latin typeface="Aptos"/>
              </a:defRPr>
            </a:pPr>
            <a:r>
              <a:t>Avance acorde con la meta y sustentado en evidencia. Mantener y consolidar.</a:t>
            </a:r>
          </a:p>
        </p:txBody>
      </p:sp>
      <p:sp>
        <p:nvSpPr>
          <p:cNvPr id="20" name="Rounded Rectangle 19"/>
          <p:cNvSpPr/>
          <p:nvPr/>
        </p:nvSpPr>
        <p:spPr>
          <a:xfrm>
            <a:off x="4572000" y="2926080"/>
            <a:ext cx="3291840" cy="15087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2926080"/>
            <a:ext cx="73152" cy="150876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9160" y="3017520"/>
            <a:ext cx="309067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Amarillo</a:t>
            </a:r>
          </a:p>
        </p:txBody>
      </p:sp>
      <p:sp>
        <p:nvSpPr>
          <p:cNvPr id="23" name="TextBox 22"/>
          <p:cNvSpPr txBox="1"/>
          <p:nvPr/>
        </p:nvSpPr>
        <p:spPr>
          <a:xfrm>
            <a:off x="4709160" y="3337560"/>
            <a:ext cx="3072384" cy="1005839"/>
          </a:xfrm>
          <a:prstGeom prst="rect">
            <a:avLst/>
          </a:prstGeom>
          <a:noFill/>
        </p:spPr>
        <p:txBody>
          <a:bodyPr wrap="square" lIns="27432" tIns="18288" rIns="27432" bIns="18288" anchor="t">
            <a:spAutoFit/>
          </a:bodyPr>
          <a:lstStyle/>
          <a:p>
            <a:pPr algn="l">
              <a:lnSpc>
                <a:spcPct val="100000"/>
              </a:lnSpc>
              <a:defRPr sz="1120" b="0">
                <a:solidFill>
                  <a:srgbClr val="4E585D"/>
                </a:solidFill>
                <a:latin typeface="Aptos"/>
              </a:defRPr>
            </a:pPr>
            <a:r>
              <a:t>Avance parcial, evidencia limitada o barreras manejables. Verificar y ajustar.</a:t>
            </a:r>
          </a:p>
        </p:txBody>
      </p:sp>
      <p:sp>
        <p:nvSpPr>
          <p:cNvPr id="24" name="Rounded Rectangle 23"/>
          <p:cNvSpPr/>
          <p:nvPr/>
        </p:nvSpPr>
        <p:spPr>
          <a:xfrm>
            <a:off x="8275319" y="2926080"/>
            <a:ext cx="3291840" cy="15087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275319" y="2926080"/>
            <a:ext cx="73152" cy="1508760"/>
          </a:xfrm>
          <a:prstGeom prst="rect">
            <a:avLst/>
          </a:prstGeom>
          <a:solidFill>
            <a:srgbClr val="C34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3017520"/>
            <a:ext cx="309067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Rojo</a:t>
            </a:r>
          </a:p>
        </p:txBody>
      </p:sp>
      <p:sp>
        <p:nvSpPr>
          <p:cNvPr id="27" name="TextBox 26"/>
          <p:cNvSpPr txBox="1"/>
          <p:nvPr/>
        </p:nvSpPr>
        <p:spPr>
          <a:xfrm>
            <a:off x="8412480" y="3337560"/>
            <a:ext cx="3072384" cy="1005839"/>
          </a:xfrm>
          <a:prstGeom prst="rect">
            <a:avLst/>
          </a:prstGeom>
          <a:noFill/>
        </p:spPr>
        <p:txBody>
          <a:bodyPr wrap="square" lIns="27432" tIns="18288" rIns="27432" bIns="18288" anchor="t">
            <a:spAutoFit/>
          </a:bodyPr>
          <a:lstStyle/>
          <a:p>
            <a:pPr algn="l">
              <a:lnSpc>
                <a:spcPct val="100000"/>
              </a:lnSpc>
              <a:defRPr sz="1120" b="0">
                <a:solidFill>
                  <a:srgbClr val="4E585D"/>
                </a:solidFill>
                <a:latin typeface="Aptos"/>
              </a:defRPr>
            </a:pPr>
            <a:r>
              <a:t>Desviación crítica sustentada en evidencia. Replantear o derivar; sin datos, no concluir incumplimiento.</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F044E0BC-ED67-A759-2F9B-75E33C0982B1}"/>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9" descr="image3.png">
            <a:extLst>
              <a:ext uri="{FF2B5EF4-FFF2-40B4-BE49-F238E27FC236}">
                <a16:creationId xmlns:a16="http://schemas.microsoft.com/office/drawing/2014/main" id="{575FE1B5-EA70-7E31-ACD7-9980B1FA6DDC}"/>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K03 y K09 · Comparación inicial, meta y resultado</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graphicFrame>
        <p:nvGraphicFramePr>
          <p:cNvPr id="8" name="Table 7"/>
          <p:cNvGraphicFramePr>
            <a:graphicFrameLocks noGrp="1"/>
          </p:cNvGraphicFramePr>
          <p:nvPr/>
        </p:nvGraphicFramePr>
        <p:xfrm>
          <a:off x="658368" y="1325880"/>
          <a:ext cx="10972800" cy="36576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731520">
                <a:tc>
                  <a:txBody>
                    <a:bodyPr/>
                    <a:lstStyle/>
                    <a:p>
                      <a:pPr>
                        <a:defRPr sz="900" b="1">
                          <a:solidFill>
                            <a:srgbClr val="FFFFFF"/>
                          </a:solidFill>
                          <a:latin typeface="Aptos"/>
                        </a:defRPr>
                      </a:pPr>
                      <a:r>
                        <a:t>Aspecto evaluado</a:t>
                      </a:r>
                    </a:p>
                  </a:txBody>
                  <a:tcPr marL="45720" marR="36576" marT="27432" marB="27432" anchor="ctr">
                    <a:solidFill>
                      <a:srgbClr val="002D46"/>
                    </a:solidFill>
                  </a:tcPr>
                </a:tc>
                <a:tc>
                  <a:txBody>
                    <a:bodyPr/>
                    <a:lstStyle/>
                    <a:p>
                      <a:pPr>
                        <a:defRPr sz="900" b="1">
                          <a:solidFill>
                            <a:srgbClr val="FFFFFF"/>
                          </a:solidFill>
                          <a:latin typeface="Aptos"/>
                        </a:defRPr>
                      </a:pPr>
                      <a:r>
                        <a:t>Situación inicial / meta</a:t>
                      </a:r>
                    </a:p>
                  </a:txBody>
                  <a:tcPr marL="45720" marR="36576" marT="27432" marB="27432" anchor="ctr">
                    <a:solidFill>
                      <a:srgbClr val="002D46"/>
                    </a:solidFill>
                  </a:tcPr>
                </a:tc>
                <a:tc>
                  <a:txBody>
                    <a:bodyPr/>
                    <a:lstStyle/>
                    <a:p>
                      <a:pPr>
                        <a:defRPr sz="900" b="1">
                          <a:solidFill>
                            <a:srgbClr val="FFFFFF"/>
                          </a:solidFill>
                          <a:latin typeface="Aptos"/>
                        </a:defRPr>
                      </a:pPr>
                      <a:r>
                        <a:t>Situación alcanzada</a:t>
                      </a:r>
                    </a:p>
                  </a:txBody>
                  <a:tcPr marL="45720" marR="36576" marT="27432" marB="27432" anchor="ctr">
                    <a:solidFill>
                      <a:srgbClr val="002D46"/>
                    </a:solidFill>
                  </a:tcPr>
                </a:tc>
                <a:tc>
                  <a:txBody>
                    <a:bodyPr/>
                    <a:lstStyle/>
                    <a:p>
                      <a:pPr>
                        <a:defRPr sz="900" b="1">
                          <a:solidFill>
                            <a:srgbClr val="FFFFFF"/>
                          </a:solidFill>
                          <a:latin typeface="Aptos"/>
                        </a:defRPr>
                      </a:pPr>
                      <a:r>
                        <a:t>Juicio / siguiente decisión</a:t>
                      </a:r>
                    </a:p>
                  </a:txBody>
                  <a:tcPr marL="45720" marR="36576" marT="27432" marB="27432" anchor="ctr">
                    <a:solidFill>
                      <a:srgbClr val="002D46"/>
                    </a:solidFill>
                  </a:tcPr>
                </a:tc>
                <a:extLst>
                  <a:ext uri="{0D108BD9-81ED-4DB2-BD59-A6C34878D82A}">
                    <a16:rowId xmlns:a16="http://schemas.microsoft.com/office/drawing/2014/main" val="10000"/>
                  </a:ext>
                </a:extLst>
              </a:tr>
              <a:tr h="731520">
                <a:tc>
                  <a:txBody>
                    <a:bodyPr/>
                    <a:lstStyle/>
                    <a:p>
                      <a:pPr>
                        <a:defRPr sz="900">
                          <a:solidFill>
                            <a:srgbClr val="002D46"/>
                          </a:solidFill>
                          <a:latin typeface="Aptos"/>
                        </a:defRPr>
                      </a:pPr>
                      <a:r>
                        <a:t>Gestión de registros</a:t>
                      </a:r>
                    </a:p>
                  </a:txBody>
                  <a:tcPr marL="45720" marR="36576" marT="27432" marB="27432" anchor="ctr">
                    <a:solidFill>
                      <a:srgbClr val="FAF8F2"/>
                    </a:solidFill>
                  </a:tcPr>
                </a:tc>
                <a:tc>
                  <a:txBody>
                    <a:bodyPr/>
                    <a:lstStyle/>
                    <a:p>
                      <a:pPr>
                        <a:defRPr sz="900">
                          <a:solidFill>
                            <a:srgbClr val="002D46"/>
                          </a:solidFill>
                          <a:latin typeface="Aptos"/>
                        </a:defRPr>
                      </a:pPr>
                      <a:r>
                        <a:t>Inicial: registros incompletos. Meta: registro semanal.</a:t>
                      </a:r>
                    </a:p>
                  </a:txBody>
                  <a:tcPr marL="45720" marR="36576" marT="27432" marB="27432" anchor="ctr">
                    <a:solidFill>
                      <a:srgbClr val="FAF8F2"/>
                    </a:solidFill>
                  </a:tcPr>
                </a:tc>
                <a:tc>
                  <a:txBody>
                    <a:bodyPr/>
                    <a:lstStyle/>
                    <a:p>
                      <a:pPr>
                        <a:defRPr sz="900">
                          <a:solidFill>
                            <a:srgbClr val="002D46"/>
                          </a:solidFill>
                          <a:latin typeface="Aptos"/>
                        </a:defRPr>
                      </a:pPr>
                      <a:r>
                        <a:t>Registros semanales implementados</a:t>
                      </a:r>
                    </a:p>
                  </a:txBody>
                  <a:tcPr marL="45720" marR="36576" marT="27432" marB="27432" anchor="ctr">
                    <a:solidFill>
                      <a:srgbClr val="FAF8F2"/>
                    </a:solidFill>
                  </a:tcPr>
                </a:tc>
                <a:tc>
                  <a:txBody>
                    <a:bodyPr/>
                    <a:lstStyle/>
                    <a:p>
                      <a:pPr>
                        <a:defRPr sz="900">
                          <a:solidFill>
                            <a:srgbClr val="002D46"/>
                          </a:solidFill>
                          <a:latin typeface="Aptos"/>
                        </a:defRPr>
                      </a:pPr>
                      <a:r>
                        <a:t>Consolidar y revisar calidad</a:t>
                      </a:r>
                    </a:p>
                  </a:txBody>
                  <a:tcPr marL="45720" marR="36576" marT="27432" marB="27432" anchor="ctr">
                    <a:solidFill>
                      <a:srgbClr val="FAF8F2"/>
                    </a:solidFill>
                  </a:tcPr>
                </a:tc>
                <a:extLst>
                  <a:ext uri="{0D108BD9-81ED-4DB2-BD59-A6C34878D82A}">
                    <a16:rowId xmlns:a16="http://schemas.microsoft.com/office/drawing/2014/main" val="10001"/>
                  </a:ext>
                </a:extLst>
              </a:tr>
              <a:tr h="731520">
                <a:tc>
                  <a:txBody>
                    <a:bodyPr/>
                    <a:lstStyle/>
                    <a:p>
                      <a:pPr>
                        <a:defRPr sz="900">
                          <a:solidFill>
                            <a:srgbClr val="002D46"/>
                          </a:solidFill>
                          <a:latin typeface="Aptos"/>
                        </a:defRPr>
                      </a:pPr>
                      <a:r>
                        <a:t>Seguimiento comercial</a:t>
                      </a:r>
                    </a:p>
                  </a:txBody>
                  <a:tcPr marL="45720" marR="36576" marT="27432" marB="27432" anchor="ctr">
                    <a:solidFill>
                      <a:srgbClr val="EFECE2"/>
                    </a:solidFill>
                  </a:tcPr>
                </a:tc>
                <a:tc>
                  <a:txBody>
                    <a:bodyPr/>
                    <a:lstStyle/>
                    <a:p>
                      <a:pPr>
                        <a:defRPr sz="900">
                          <a:solidFill>
                            <a:srgbClr val="002D46"/>
                          </a:solidFill>
                          <a:latin typeface="Aptos"/>
                        </a:defRPr>
                      </a:pPr>
                      <a:r>
                        <a:t>Inicial: sin análisis. Meta: revisión quincenal de ventas.</a:t>
                      </a:r>
                    </a:p>
                  </a:txBody>
                  <a:tcPr marL="45720" marR="36576" marT="27432" marB="27432" anchor="ctr">
                    <a:solidFill>
                      <a:srgbClr val="EFECE2"/>
                    </a:solidFill>
                  </a:tcPr>
                </a:tc>
                <a:tc>
                  <a:txBody>
                    <a:bodyPr/>
                    <a:lstStyle/>
                    <a:p>
                      <a:pPr>
                        <a:defRPr sz="900">
                          <a:solidFill>
                            <a:srgbClr val="002D46"/>
                          </a:solidFill>
                          <a:latin typeface="Aptos"/>
                        </a:defRPr>
                      </a:pPr>
                      <a:r>
                        <a:t>Revisión quincenal de ventas</a:t>
                      </a:r>
                    </a:p>
                  </a:txBody>
                  <a:tcPr marL="45720" marR="36576" marT="27432" marB="27432" anchor="ctr">
                    <a:solidFill>
                      <a:srgbClr val="EFECE2"/>
                    </a:solidFill>
                  </a:tcPr>
                </a:tc>
                <a:tc>
                  <a:txBody>
                    <a:bodyPr/>
                    <a:lstStyle/>
                    <a:p>
                      <a:pPr>
                        <a:defRPr sz="900">
                          <a:solidFill>
                            <a:srgbClr val="002D46"/>
                          </a:solidFill>
                          <a:latin typeface="Aptos"/>
                        </a:defRPr>
                      </a:pPr>
                      <a:r>
                        <a:t>Mantener y mejorar interpretación</a:t>
                      </a:r>
                    </a:p>
                  </a:txBody>
                  <a:tcPr marL="45720" marR="36576" marT="27432" marB="27432" anchor="ctr">
                    <a:solidFill>
                      <a:srgbClr val="EFECE2"/>
                    </a:solidFill>
                  </a:tcPr>
                </a:tc>
                <a:extLst>
                  <a:ext uri="{0D108BD9-81ED-4DB2-BD59-A6C34878D82A}">
                    <a16:rowId xmlns:a16="http://schemas.microsoft.com/office/drawing/2014/main" val="10002"/>
                  </a:ext>
                </a:extLst>
              </a:tr>
              <a:tr h="731520">
                <a:tc>
                  <a:txBody>
                    <a:bodyPr/>
                    <a:lstStyle/>
                    <a:p>
                      <a:pPr>
                        <a:defRPr sz="900">
                          <a:solidFill>
                            <a:srgbClr val="002D46"/>
                          </a:solidFill>
                          <a:latin typeface="Aptos"/>
                        </a:defRPr>
                      </a:pPr>
                      <a:r>
                        <a:t>Organización de tareas</a:t>
                      </a:r>
                    </a:p>
                  </a:txBody>
                  <a:tcPr marL="45720" marR="36576" marT="27432" marB="27432" anchor="ctr">
                    <a:solidFill>
                      <a:srgbClr val="FAF8F2"/>
                    </a:solidFill>
                  </a:tcPr>
                </a:tc>
                <a:tc>
                  <a:txBody>
                    <a:bodyPr/>
                    <a:lstStyle/>
                    <a:p>
                      <a:pPr>
                        <a:defRPr sz="900">
                          <a:solidFill>
                            <a:srgbClr val="002D46"/>
                          </a:solidFill>
                          <a:latin typeface="Aptos"/>
                        </a:defRPr>
                      </a:pPr>
                      <a:r>
                        <a:t>Inicial: roles difusos. Meta: responsables y plazos claros.</a:t>
                      </a:r>
                    </a:p>
                  </a:txBody>
                  <a:tcPr marL="45720" marR="36576" marT="27432" marB="27432" anchor="ctr">
                    <a:solidFill>
                      <a:srgbClr val="FAF8F2"/>
                    </a:solidFill>
                  </a:tcPr>
                </a:tc>
                <a:tc>
                  <a:txBody>
                    <a:bodyPr/>
                    <a:lstStyle/>
                    <a:p>
                      <a:pPr>
                        <a:defRPr sz="900">
                          <a:solidFill>
                            <a:srgbClr val="002D46"/>
                          </a:solidFill>
                          <a:latin typeface="Aptos"/>
                        </a:defRPr>
                      </a:pPr>
                      <a:r>
                        <a:t>Responsables y plazos definidos</a:t>
                      </a:r>
                    </a:p>
                  </a:txBody>
                  <a:tcPr marL="45720" marR="36576" marT="27432" marB="27432" anchor="ctr">
                    <a:solidFill>
                      <a:srgbClr val="FAF8F2"/>
                    </a:solidFill>
                  </a:tcPr>
                </a:tc>
                <a:tc>
                  <a:txBody>
                    <a:bodyPr/>
                    <a:lstStyle/>
                    <a:p>
                      <a:pPr>
                        <a:defRPr sz="900">
                          <a:solidFill>
                            <a:srgbClr val="002D46"/>
                          </a:solidFill>
                          <a:latin typeface="Aptos"/>
                        </a:defRPr>
                      </a:pPr>
                      <a:r>
                        <a:t>Monitorear cumplimiento</a:t>
                      </a:r>
                    </a:p>
                  </a:txBody>
                  <a:tcPr marL="45720" marR="36576" marT="27432" marB="27432" anchor="ctr">
                    <a:solidFill>
                      <a:srgbClr val="FAF8F2"/>
                    </a:solidFill>
                  </a:tcPr>
                </a:tc>
                <a:extLst>
                  <a:ext uri="{0D108BD9-81ED-4DB2-BD59-A6C34878D82A}">
                    <a16:rowId xmlns:a16="http://schemas.microsoft.com/office/drawing/2014/main" val="10003"/>
                  </a:ext>
                </a:extLst>
              </a:tr>
              <a:tr h="731520">
                <a:tc>
                  <a:txBody>
                    <a:bodyPr/>
                    <a:lstStyle/>
                    <a:p>
                      <a:pPr>
                        <a:defRPr sz="900">
                          <a:solidFill>
                            <a:srgbClr val="002D46"/>
                          </a:solidFill>
                          <a:latin typeface="Aptos"/>
                        </a:defRPr>
                      </a:pPr>
                      <a:r>
                        <a:t>Uso de herramientas</a:t>
                      </a:r>
                    </a:p>
                  </a:txBody>
                  <a:tcPr marL="45720" marR="36576" marT="27432" marB="27432" anchor="ctr">
                    <a:solidFill>
                      <a:srgbClr val="EFECE2"/>
                    </a:solidFill>
                  </a:tcPr>
                </a:tc>
                <a:tc>
                  <a:txBody>
                    <a:bodyPr/>
                    <a:lstStyle/>
                    <a:p>
                      <a:pPr>
                        <a:defRPr sz="900">
                          <a:solidFill>
                            <a:srgbClr val="002D46"/>
                          </a:solidFill>
                          <a:latin typeface="Aptos"/>
                        </a:defRPr>
                      </a:pPr>
                      <a:r>
                        <a:t>Inicial: uso bajo. Meta: uso sistemático acordado.</a:t>
                      </a:r>
                    </a:p>
                  </a:txBody>
                  <a:tcPr marL="45720" marR="36576" marT="27432" marB="27432" anchor="ctr">
                    <a:solidFill>
                      <a:srgbClr val="EFECE2"/>
                    </a:solidFill>
                  </a:tcPr>
                </a:tc>
                <a:tc>
                  <a:txBody>
                    <a:bodyPr/>
                    <a:lstStyle/>
                    <a:p>
                      <a:pPr>
                        <a:defRPr sz="900">
                          <a:solidFill>
                            <a:srgbClr val="002D46"/>
                          </a:solidFill>
                          <a:latin typeface="Aptos"/>
                        </a:defRPr>
                      </a:pPr>
                      <a:r>
                        <a:t>Uso parcial</a:t>
                      </a:r>
                    </a:p>
                  </a:txBody>
                  <a:tcPr marL="45720" marR="36576" marT="27432" marB="27432" anchor="ctr">
                    <a:solidFill>
                      <a:srgbClr val="EFECE2"/>
                    </a:solidFill>
                  </a:tcPr>
                </a:tc>
                <a:tc>
                  <a:txBody>
                    <a:bodyPr/>
                    <a:lstStyle/>
                    <a:p>
                      <a:pPr>
                        <a:defRPr sz="900">
                          <a:solidFill>
                            <a:srgbClr val="002D46"/>
                          </a:solidFill>
                          <a:latin typeface="Aptos"/>
                        </a:defRPr>
                      </a:pPr>
                      <a:r>
                        <a:t>Brecha pendiente: reforzar apropiación y verificar uso.</a:t>
                      </a:r>
                    </a:p>
                  </a:txBody>
                  <a:tcPr marL="45720" marR="36576" marT="27432" marB="27432" anchor="ctr">
                    <a:solidFill>
                      <a:srgbClr val="EFECE2"/>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749808" y="5257800"/>
            <a:ext cx="10789920" cy="5029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9808" y="5257800"/>
            <a:ext cx="73152" cy="50292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5349240"/>
            <a:ext cx="1058875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Ejemplo ilustrativo</a:t>
            </a:r>
          </a:p>
        </p:txBody>
      </p:sp>
      <p:sp>
        <p:nvSpPr>
          <p:cNvPr id="12" name="TextBox 11"/>
          <p:cNvSpPr txBox="1"/>
          <p:nvPr/>
        </p:nvSpPr>
        <p:spPr>
          <a:xfrm>
            <a:off x="886968" y="5573485"/>
            <a:ext cx="10570464" cy="0"/>
          </a:xfrm>
          <a:prstGeom prst="rect">
            <a:avLst/>
          </a:prstGeom>
          <a:noFill/>
        </p:spPr>
        <p:txBody>
          <a:bodyPr wrap="square" lIns="27432" tIns="18288" rIns="27432" bIns="18288" anchor="t">
            <a:spAutoFit/>
          </a:bodyPr>
          <a:lstStyle/>
          <a:p>
            <a:pPr algn="l">
              <a:lnSpc>
                <a:spcPct val="100000"/>
              </a:lnSpc>
              <a:defRPr sz="1100" b="0">
                <a:solidFill>
                  <a:srgbClr val="4E585D"/>
                </a:solidFill>
                <a:latin typeface="Aptos"/>
              </a:defRPr>
            </a:pPr>
            <a:r>
              <a:rPr dirty="0"/>
              <a:t>Estos datos no </a:t>
            </a:r>
            <a:r>
              <a:rPr dirty="0" err="1"/>
              <a:t>son resultados </a:t>
            </a:r>
            <a:r>
              <a:rPr dirty="0"/>
              <a:t>de</a:t>
            </a:r>
            <a:r>
              <a:rPr dirty="0" err="1"/>
              <a:t> La Colmena.</a:t>
            </a:r>
            <a:r>
              <a:rPr dirty="0"/>
              <a:t> En K09 re</a:t>
            </a:r>
            <a:r>
              <a:rPr dirty="0" err="1"/>
              <a:t>gistr</a:t>
            </a:r>
            <a:r>
              <a:rPr dirty="0"/>
              <a:t>ar</a:t>
            </a:r>
            <a:r>
              <a:rPr dirty="0" err="1"/>
              <a:t> evidencia, bre</a:t>
            </a:r>
            <a:r>
              <a:rPr dirty="0"/>
              <a:t>cha y </a:t>
            </a:r>
            <a:r>
              <a:rPr dirty="0" err="1"/>
              <a:t>valoración: alcanza</a:t>
            </a:r>
            <a:r>
              <a:rPr dirty="0"/>
              <a:t>do</a:t>
            </a:r>
            <a:r>
              <a:rPr dirty="0" err="1"/>
              <a:t>, p</a:t>
            </a:r>
            <a:r>
              <a:rPr dirty="0"/>
              <a:t>ar</a:t>
            </a:r>
            <a:r>
              <a:rPr dirty="0" err="1"/>
              <a:t>cialmente alcanz</a:t>
            </a:r>
            <a:r>
              <a:rPr dirty="0"/>
              <a:t>ado o n</a:t>
            </a:r>
            <a:r>
              <a:rPr dirty="0" err="1"/>
              <a:t>o alcanzad</a:t>
            </a:r>
            <a:r>
              <a:rPr dirty="0"/>
              <a:t>o.</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3" name="Rectangle 8">
            <a:extLst>
              <a:ext uri="{FF2B5EF4-FFF2-40B4-BE49-F238E27FC236}">
                <a16:creationId xmlns:a16="http://schemas.microsoft.com/office/drawing/2014/main" id="{8F6E0275-94AD-1DF5-51A3-F1FB23D6B4BF}"/>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9" descr="image3.png">
            <a:extLst>
              <a:ext uri="{FF2B5EF4-FFF2-40B4-BE49-F238E27FC236}">
                <a16:creationId xmlns:a16="http://schemas.microsoft.com/office/drawing/2014/main" id="{E4EABF92-05F5-A3EE-B9F9-73DD1E458429}"/>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Metodología del módulo</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77240" y="150876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1508760"/>
            <a:ext cx="73152" cy="8686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60020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K03 · Problemática Jerarquizada</a:t>
            </a:r>
          </a:p>
        </p:txBody>
      </p:sp>
      <p:sp>
        <p:nvSpPr>
          <p:cNvPr id="11" name="TextBox 10"/>
          <p:cNvSpPr txBox="1"/>
          <p:nvPr/>
        </p:nvSpPr>
        <p:spPr>
          <a:xfrm>
            <a:off x="914400" y="192024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Retomar las prioridades y la línea de base del NAE real o simulado.</a:t>
            </a:r>
          </a:p>
        </p:txBody>
      </p:sp>
      <p:sp>
        <p:nvSpPr>
          <p:cNvPr id="12" name="Rounded Rectangle 11"/>
          <p:cNvSpPr/>
          <p:nvPr/>
        </p:nvSpPr>
        <p:spPr>
          <a:xfrm>
            <a:off x="6217920" y="1508760"/>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508760"/>
            <a:ext cx="73152" cy="86868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600200"/>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K07 · Matriz de Indicadores</a:t>
            </a:r>
          </a:p>
        </p:txBody>
      </p:sp>
      <p:sp>
        <p:nvSpPr>
          <p:cNvPr id="15" name="TextBox 14"/>
          <p:cNvSpPr txBox="1"/>
          <p:nvPr/>
        </p:nvSpPr>
        <p:spPr>
          <a:xfrm>
            <a:off x="6355080" y="1920240"/>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Comparar datos de inicio y cierre; contrastarlos con otras evidencias.</a:t>
            </a:r>
          </a:p>
        </p:txBody>
      </p:sp>
      <p:sp>
        <p:nvSpPr>
          <p:cNvPr id="16" name="Rounded Rectangle 15"/>
          <p:cNvSpPr/>
          <p:nvPr/>
        </p:nvSpPr>
        <p:spPr>
          <a:xfrm>
            <a:off x="777240" y="2587752"/>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2587752"/>
            <a:ext cx="73152" cy="86868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2679192"/>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Fuentes complementarias</a:t>
            </a:r>
          </a:p>
        </p:txBody>
      </p:sp>
      <p:sp>
        <p:nvSpPr>
          <p:cNvPr id="19" name="TextBox 18"/>
          <p:cNvSpPr txBox="1"/>
          <p:nvPr/>
        </p:nvSpPr>
        <p:spPr>
          <a:xfrm>
            <a:off x="914400" y="2999232"/>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Revisar K04.2 y K06, registros y observaciones pertinentes.</a:t>
            </a:r>
          </a:p>
        </p:txBody>
      </p:sp>
      <p:sp>
        <p:nvSpPr>
          <p:cNvPr id="20" name="Rounded Rectangle 19"/>
          <p:cNvSpPr/>
          <p:nvPr/>
        </p:nvSpPr>
        <p:spPr>
          <a:xfrm>
            <a:off x="6217920" y="2587752"/>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2587752"/>
            <a:ext cx="73152" cy="86868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2679192"/>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Semáforo de avance</a:t>
            </a:r>
          </a:p>
        </p:txBody>
      </p:sp>
      <p:sp>
        <p:nvSpPr>
          <p:cNvPr id="23" name="TextBox 22"/>
          <p:cNvSpPr txBox="1"/>
          <p:nvPr/>
        </p:nvSpPr>
        <p:spPr>
          <a:xfrm>
            <a:off x="6355080" y="2999232"/>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Valorar avances respecto a metas, con evidencia suficiente.</a:t>
            </a:r>
          </a:p>
        </p:txBody>
      </p:sp>
      <p:sp>
        <p:nvSpPr>
          <p:cNvPr id="24" name="Rounded Rectangle 23"/>
          <p:cNvSpPr/>
          <p:nvPr/>
        </p:nvSpPr>
        <p:spPr>
          <a:xfrm>
            <a:off x="777240" y="3666744"/>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7240" y="3666744"/>
            <a:ext cx="73152" cy="86868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758183"/>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K09 · Informe de Evaluación</a:t>
            </a:r>
          </a:p>
        </p:txBody>
      </p:sp>
      <p:sp>
        <p:nvSpPr>
          <p:cNvPr id="27" name="TextBox 26"/>
          <p:cNvSpPr txBox="1"/>
          <p:nvPr/>
        </p:nvSpPr>
        <p:spPr>
          <a:xfrm>
            <a:off x="914400" y="4078224"/>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Interpretar cambios, brechas y decisiones de mejora.</a:t>
            </a:r>
          </a:p>
        </p:txBody>
      </p:sp>
      <p:sp>
        <p:nvSpPr>
          <p:cNvPr id="28" name="Rounded Rectangle 27"/>
          <p:cNvSpPr/>
          <p:nvPr/>
        </p:nvSpPr>
        <p:spPr>
          <a:xfrm>
            <a:off x="6217920" y="3666744"/>
            <a:ext cx="5074920" cy="86868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3666744"/>
            <a:ext cx="73152" cy="86868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5080" y="3758183"/>
            <a:ext cx="4873752"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Uso contextualizado</a:t>
            </a:r>
          </a:p>
        </p:txBody>
      </p:sp>
      <p:sp>
        <p:nvSpPr>
          <p:cNvPr id="31" name="TextBox 30"/>
          <p:cNvSpPr txBox="1"/>
          <p:nvPr/>
        </p:nvSpPr>
        <p:spPr>
          <a:xfrm>
            <a:off x="6355080" y="4078224"/>
            <a:ext cx="4855464" cy="36575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Seleccionar según el NAE. CVI/PNUD aporta referentes complementarios, sin sustituir el Programa FdF-NAE.</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217CFD5E-7791-A691-28EF-15CB247E6C3B}"/>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9" descr="image3.png">
            <a:extLst>
              <a:ext uri="{FF2B5EF4-FFF2-40B4-BE49-F238E27FC236}">
                <a16:creationId xmlns:a16="http://schemas.microsoft.com/office/drawing/2014/main" id="{EC95107B-630D-086B-9E52-DAE666F17092}"/>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Secuencia didáctica del Módulo 5</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graphicFrame>
        <p:nvGraphicFramePr>
          <p:cNvPr id="8" name="Table 7"/>
          <p:cNvGraphicFramePr>
            <a:graphicFrameLocks noGrp="1"/>
          </p:cNvGraphicFramePr>
          <p:nvPr/>
        </p:nvGraphicFramePr>
        <p:xfrm>
          <a:off x="658368" y="1234440"/>
          <a:ext cx="10972799" cy="44348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tblGrid>
              <a:tr h="739140">
                <a:tc>
                  <a:txBody>
                    <a:bodyPr/>
                    <a:lstStyle/>
                    <a:p>
                      <a:pPr>
                        <a:defRPr sz="869" b="1">
                          <a:solidFill>
                            <a:srgbClr val="FFFFFF"/>
                          </a:solidFill>
                          <a:latin typeface="Aptos"/>
                        </a:defRPr>
                      </a:pPr>
                      <a:r>
                        <a:t>Momento</a:t>
                      </a:r>
                    </a:p>
                  </a:txBody>
                  <a:tcPr marL="45720" marR="36576" marT="27432" marB="27432" anchor="ctr">
                    <a:solidFill>
                      <a:srgbClr val="002D46"/>
                    </a:solidFill>
                  </a:tcPr>
                </a:tc>
                <a:tc>
                  <a:txBody>
                    <a:bodyPr/>
                    <a:lstStyle/>
                    <a:p>
                      <a:pPr>
                        <a:defRPr sz="869" b="1">
                          <a:solidFill>
                            <a:srgbClr val="FFFFFF"/>
                          </a:solidFill>
                          <a:latin typeface="Aptos"/>
                        </a:defRPr>
                      </a:pPr>
                      <a:r>
                        <a:t>Acción del facilitador/a</a:t>
                      </a:r>
                    </a:p>
                  </a:txBody>
                  <a:tcPr marL="45720" marR="36576" marT="27432" marB="27432" anchor="ctr">
                    <a:solidFill>
                      <a:srgbClr val="002D46"/>
                    </a:solidFill>
                  </a:tcPr>
                </a:tc>
                <a:tc>
                  <a:txBody>
                    <a:bodyPr/>
                    <a:lstStyle/>
                    <a:p>
                      <a:pPr>
                        <a:defRPr sz="869" b="1">
                          <a:solidFill>
                            <a:srgbClr val="FFFFFF"/>
                          </a:solidFill>
                          <a:latin typeface="Aptos"/>
                        </a:defRPr>
                      </a:pPr>
                      <a:r>
                        <a:t>Acción de participantes</a:t>
                      </a:r>
                    </a:p>
                  </a:txBody>
                  <a:tcPr marL="45720" marR="36576" marT="27432" marB="27432" anchor="ctr">
                    <a:solidFill>
                      <a:srgbClr val="002D46"/>
                    </a:solidFill>
                  </a:tcPr>
                </a:tc>
                <a:tc>
                  <a:txBody>
                    <a:bodyPr/>
                    <a:lstStyle/>
                    <a:p>
                      <a:pPr>
                        <a:defRPr sz="869" b="1">
                          <a:solidFill>
                            <a:srgbClr val="FFFFFF"/>
                          </a:solidFill>
                          <a:latin typeface="Aptos"/>
                        </a:defRPr>
                      </a:pPr>
                      <a:r>
                        <a:t>Evidencia de práctica / integración</a:t>
                      </a:r>
                    </a:p>
                  </a:txBody>
                  <a:tcPr marL="45720" marR="36576" marT="27432" marB="27432" anchor="ctr">
                    <a:solidFill>
                      <a:srgbClr val="002D46"/>
                    </a:solidFill>
                  </a:tcPr>
                </a:tc>
                <a:extLst>
                  <a:ext uri="{0D108BD9-81ED-4DB2-BD59-A6C34878D82A}">
                    <a16:rowId xmlns:a16="http://schemas.microsoft.com/office/drawing/2014/main" val="10000"/>
                  </a:ext>
                </a:extLst>
              </a:tr>
              <a:tr h="739140">
                <a:tc>
                  <a:txBody>
                    <a:bodyPr/>
                    <a:lstStyle/>
                    <a:p>
                      <a:pPr>
                        <a:defRPr sz="869">
                          <a:solidFill>
                            <a:srgbClr val="002D46"/>
                          </a:solidFill>
                          <a:latin typeface="Aptos"/>
                        </a:defRPr>
                      </a:pPr>
                      <a:r>
                        <a:t>Clasificación</a:t>
                      </a:r>
                    </a:p>
                  </a:txBody>
                  <a:tcPr marL="45720" marR="36576" marT="27432" marB="27432" anchor="ctr">
                    <a:solidFill>
                      <a:srgbClr val="FAF8F2"/>
                    </a:solidFill>
                  </a:tcPr>
                </a:tc>
                <a:tc>
                  <a:txBody>
                    <a:bodyPr/>
                    <a:lstStyle/>
                    <a:p>
                      <a:pPr>
                        <a:defRPr sz="869">
                          <a:solidFill>
                            <a:srgbClr val="002D46"/>
                          </a:solidFill>
                          <a:latin typeface="Aptos"/>
                        </a:defRPr>
                      </a:pPr>
                      <a:r>
                        <a:t>Presentar ejemplos de actividad, producto, resultado e impacto.</a:t>
                      </a:r>
                    </a:p>
                  </a:txBody>
                  <a:tcPr marL="45720" marR="36576" marT="27432" marB="27432" anchor="ctr">
                    <a:solidFill>
                      <a:srgbClr val="FAF8F2"/>
                    </a:solidFill>
                  </a:tcPr>
                </a:tc>
                <a:tc>
                  <a:txBody>
                    <a:bodyPr/>
                    <a:lstStyle/>
                    <a:p>
                      <a:pPr>
                        <a:defRPr sz="869">
                          <a:solidFill>
                            <a:srgbClr val="002D46"/>
                          </a:solidFill>
                          <a:latin typeface="Aptos"/>
                        </a:defRPr>
                      </a:pPr>
                      <a:r>
                        <a:t>Clasificar y justificar desde la experiencia.</a:t>
                      </a:r>
                    </a:p>
                  </a:txBody>
                  <a:tcPr marL="45720" marR="36576" marT="27432" marB="27432" anchor="ctr">
                    <a:solidFill>
                      <a:srgbClr val="FAF8F2"/>
                    </a:solidFill>
                  </a:tcPr>
                </a:tc>
                <a:tc>
                  <a:txBody>
                    <a:bodyPr/>
                    <a:lstStyle/>
                    <a:p>
                      <a:pPr>
                        <a:defRPr sz="869">
                          <a:solidFill>
                            <a:srgbClr val="002D46"/>
                          </a:solidFill>
                          <a:latin typeface="Aptos"/>
                        </a:defRPr>
                      </a:pPr>
                      <a:r>
                        <a:t>Mapa de resultado.</a:t>
                      </a:r>
                    </a:p>
                  </a:txBody>
                  <a:tcPr marL="45720" marR="36576" marT="27432" marB="27432" anchor="ctr">
                    <a:solidFill>
                      <a:srgbClr val="FAF8F2"/>
                    </a:solidFill>
                  </a:tcPr>
                </a:tc>
                <a:extLst>
                  <a:ext uri="{0D108BD9-81ED-4DB2-BD59-A6C34878D82A}">
                    <a16:rowId xmlns:a16="http://schemas.microsoft.com/office/drawing/2014/main" val="10001"/>
                  </a:ext>
                </a:extLst>
              </a:tr>
              <a:tr h="739140">
                <a:tc>
                  <a:txBody>
                    <a:bodyPr/>
                    <a:lstStyle/>
                    <a:p>
                      <a:pPr>
                        <a:defRPr sz="869">
                          <a:solidFill>
                            <a:srgbClr val="002D46"/>
                          </a:solidFill>
                          <a:latin typeface="Aptos"/>
                        </a:defRPr>
                      </a:pPr>
                      <a:r>
                        <a:t>Indicadores</a:t>
                      </a:r>
                    </a:p>
                  </a:txBody>
                  <a:tcPr marL="45720" marR="36576" marT="27432" marB="27432" anchor="ctr">
                    <a:solidFill>
                      <a:srgbClr val="EFECE2"/>
                    </a:solidFill>
                  </a:tcPr>
                </a:tc>
                <a:tc>
                  <a:txBody>
                    <a:bodyPr/>
                    <a:lstStyle/>
                    <a:p>
                      <a:pPr>
                        <a:defRPr sz="869">
                          <a:solidFill>
                            <a:srgbClr val="002D46"/>
                          </a:solidFill>
                          <a:latin typeface="Aptos"/>
                        </a:defRPr>
                      </a:pPr>
                      <a:r>
                        <a:t>Modelar indicadores verificables y desagregados cuando corresponda.</a:t>
                      </a:r>
                    </a:p>
                  </a:txBody>
                  <a:tcPr marL="45720" marR="36576" marT="27432" marB="27432" anchor="ctr">
                    <a:solidFill>
                      <a:srgbClr val="EFECE2"/>
                    </a:solidFill>
                  </a:tcPr>
                </a:tc>
                <a:tc>
                  <a:txBody>
                    <a:bodyPr/>
                    <a:lstStyle/>
                    <a:p>
                      <a:pPr>
                        <a:defRPr sz="869">
                          <a:solidFill>
                            <a:srgbClr val="002D46"/>
                          </a:solidFill>
                          <a:latin typeface="Aptos"/>
                        </a:defRPr>
                      </a:pPr>
                      <a:r>
                        <a:t>Construir indicadores del plan; revisar acceso, beneficios y sostenibilidad.</a:t>
                      </a:r>
                    </a:p>
                  </a:txBody>
                  <a:tcPr marL="45720" marR="36576" marT="27432" marB="27432" anchor="ctr">
                    <a:solidFill>
                      <a:srgbClr val="EFECE2"/>
                    </a:solidFill>
                  </a:tcPr>
                </a:tc>
                <a:tc>
                  <a:txBody>
                    <a:bodyPr/>
                    <a:lstStyle/>
                    <a:p>
                      <a:pPr>
                        <a:defRPr sz="869">
                          <a:solidFill>
                            <a:srgbClr val="002D46"/>
                          </a:solidFill>
                          <a:latin typeface="Aptos"/>
                        </a:defRPr>
                      </a:pPr>
                      <a:r>
                        <a:t>Indicadores vinculados con K03, K07 y K09.</a:t>
                      </a:r>
                    </a:p>
                  </a:txBody>
                  <a:tcPr marL="45720" marR="36576" marT="27432" marB="27432" anchor="ctr">
                    <a:solidFill>
                      <a:srgbClr val="EFECE2"/>
                    </a:solidFill>
                  </a:tcPr>
                </a:tc>
                <a:extLst>
                  <a:ext uri="{0D108BD9-81ED-4DB2-BD59-A6C34878D82A}">
                    <a16:rowId xmlns:a16="http://schemas.microsoft.com/office/drawing/2014/main" val="10002"/>
                  </a:ext>
                </a:extLst>
              </a:tr>
              <a:tr h="739140">
                <a:tc>
                  <a:txBody>
                    <a:bodyPr/>
                    <a:lstStyle/>
                    <a:p>
                      <a:pPr>
                        <a:defRPr sz="869">
                          <a:solidFill>
                            <a:srgbClr val="002D46"/>
                          </a:solidFill>
                          <a:latin typeface="Aptos"/>
                        </a:defRPr>
                      </a:pPr>
                      <a:r>
                        <a:t>Evaluación presencial</a:t>
                      </a:r>
                    </a:p>
                  </a:txBody>
                  <a:tcPr marL="45720" marR="36576" marT="27432" marB="27432" anchor="ctr">
                    <a:solidFill>
                      <a:srgbClr val="FAF8F2"/>
                    </a:solidFill>
                  </a:tcPr>
                </a:tc>
                <a:tc>
                  <a:txBody>
                    <a:bodyPr/>
                    <a:lstStyle/>
                    <a:p>
                      <a:pPr>
                        <a:defRPr sz="869">
                          <a:solidFill>
                            <a:srgbClr val="002D46"/>
                          </a:solidFill>
                          <a:latin typeface="Aptos"/>
                        </a:defRPr>
                      </a:pPr>
                      <a:r>
                        <a:t>Aplicar el semáforo al caso y revisar las fuentes.</a:t>
                      </a:r>
                    </a:p>
                  </a:txBody>
                  <a:tcPr marL="45720" marR="36576" marT="27432" marB="27432" anchor="ctr">
                    <a:solidFill>
                      <a:srgbClr val="FAF8F2"/>
                    </a:solidFill>
                  </a:tcPr>
                </a:tc>
                <a:tc>
                  <a:txBody>
                    <a:bodyPr/>
                    <a:lstStyle/>
                    <a:p>
                      <a:pPr>
                        <a:defRPr sz="869">
                          <a:solidFill>
                            <a:srgbClr val="002D46"/>
                          </a:solidFill>
                          <a:latin typeface="Aptos"/>
                        </a:defRPr>
                      </a:pPr>
                      <a:r>
                        <a:t>Contrastar línea de base, meta y evidencia.</a:t>
                      </a:r>
                    </a:p>
                  </a:txBody>
                  <a:tcPr marL="45720" marR="36576" marT="27432" marB="27432" anchor="ctr">
                    <a:solidFill>
                      <a:srgbClr val="FAF8F2"/>
                    </a:solidFill>
                  </a:tcPr>
                </a:tc>
                <a:tc>
                  <a:txBody>
                    <a:bodyPr/>
                    <a:lstStyle/>
                    <a:p>
                      <a:pPr>
                        <a:defRPr sz="869">
                          <a:solidFill>
                            <a:srgbClr val="002D46"/>
                          </a:solidFill>
                          <a:latin typeface="Aptos"/>
                        </a:defRPr>
                      </a:pPr>
                      <a:r>
                        <a:t>Valoración de avance.</a:t>
                      </a:r>
                    </a:p>
                  </a:txBody>
                  <a:tcPr marL="45720" marR="36576" marT="27432" marB="27432" anchor="ctr">
                    <a:solidFill>
                      <a:srgbClr val="FAF8F2"/>
                    </a:solidFill>
                  </a:tcPr>
                </a:tc>
                <a:extLst>
                  <a:ext uri="{0D108BD9-81ED-4DB2-BD59-A6C34878D82A}">
                    <a16:rowId xmlns:a16="http://schemas.microsoft.com/office/drawing/2014/main" val="10003"/>
                  </a:ext>
                </a:extLst>
              </a:tr>
              <a:tr h="739140">
                <a:tc>
                  <a:txBody>
                    <a:bodyPr/>
                    <a:lstStyle/>
                    <a:p>
                      <a:pPr>
                        <a:defRPr sz="869">
                          <a:solidFill>
                            <a:srgbClr val="002D46"/>
                          </a:solidFill>
                          <a:latin typeface="Aptos"/>
                        </a:defRPr>
                      </a:pPr>
                      <a:r>
                        <a:t>Decisión</a:t>
                      </a:r>
                    </a:p>
                  </a:txBody>
                  <a:tcPr marL="45720" marR="36576" marT="27432" marB="27432" anchor="ctr">
                    <a:solidFill>
                      <a:srgbClr val="EFECE2"/>
                    </a:solidFill>
                  </a:tcPr>
                </a:tc>
                <a:tc>
                  <a:txBody>
                    <a:bodyPr/>
                    <a:lstStyle/>
                    <a:p>
                      <a:pPr>
                        <a:defRPr sz="869">
                          <a:solidFill>
                            <a:srgbClr val="002D46"/>
                          </a:solidFill>
                          <a:latin typeface="Aptos"/>
                        </a:defRPr>
                      </a:pPr>
                      <a:r>
                        <a:t>Guiar análisis de desviaciones y retroalimentación entre pares.</a:t>
                      </a:r>
                    </a:p>
                  </a:txBody>
                  <a:tcPr marL="45720" marR="36576" marT="27432" marB="27432" anchor="ctr">
                    <a:solidFill>
                      <a:srgbClr val="EFECE2"/>
                    </a:solidFill>
                  </a:tcPr>
                </a:tc>
                <a:tc>
                  <a:txBody>
                    <a:bodyPr/>
                    <a:lstStyle/>
                    <a:p>
                      <a:pPr>
                        <a:defRPr sz="869">
                          <a:solidFill>
                            <a:srgbClr val="002D46"/>
                          </a:solidFill>
                          <a:latin typeface="Aptos"/>
                        </a:defRPr>
                      </a:pPr>
                      <a:r>
                        <a:t>Proponer ajustes y recomendaciones sustentados.</a:t>
                      </a:r>
                    </a:p>
                  </a:txBody>
                  <a:tcPr marL="45720" marR="36576" marT="27432" marB="27432" anchor="ctr">
                    <a:solidFill>
                      <a:srgbClr val="EFECE2"/>
                    </a:solidFill>
                  </a:tcPr>
                </a:tc>
                <a:tc>
                  <a:txBody>
                    <a:bodyPr/>
                    <a:lstStyle/>
                    <a:p>
                      <a:pPr>
                        <a:defRPr sz="869">
                          <a:solidFill>
                            <a:srgbClr val="002D46"/>
                          </a:solidFill>
                          <a:latin typeface="Aptos"/>
                        </a:defRPr>
                      </a:pPr>
                      <a:r>
                        <a:t>Integración en la Evaluación del Plan (K09).</a:t>
                      </a:r>
                    </a:p>
                  </a:txBody>
                  <a:tcPr marL="45720" marR="36576" marT="27432" marB="27432" anchor="ctr">
                    <a:solidFill>
                      <a:srgbClr val="EFECE2"/>
                    </a:solidFill>
                  </a:tcPr>
                </a:tc>
                <a:extLst>
                  <a:ext uri="{0D108BD9-81ED-4DB2-BD59-A6C34878D82A}">
                    <a16:rowId xmlns:a16="http://schemas.microsoft.com/office/drawing/2014/main" val="10004"/>
                  </a:ext>
                </a:extLst>
              </a:tr>
              <a:tr h="739140">
                <a:tc>
                  <a:txBody>
                    <a:bodyPr/>
                    <a:lstStyle/>
                    <a:p>
                      <a:pPr>
                        <a:defRPr sz="869">
                          <a:solidFill>
                            <a:srgbClr val="002D46"/>
                          </a:solidFill>
                          <a:latin typeface="Aptos"/>
                        </a:defRPr>
                      </a:pPr>
                      <a:r>
                        <a:t>Cierre</a:t>
                      </a:r>
                    </a:p>
                  </a:txBody>
                  <a:tcPr marL="45720" marR="36576" marT="27432" marB="27432" anchor="ctr">
                    <a:solidFill>
                      <a:srgbClr val="FAF8F2"/>
                    </a:solidFill>
                  </a:tcPr>
                </a:tc>
                <a:tc>
                  <a:txBody>
                    <a:bodyPr/>
                    <a:lstStyle/>
                    <a:p>
                      <a:pPr>
                        <a:defRPr sz="869">
                          <a:solidFill>
                            <a:srgbClr val="002D46"/>
                          </a:solidFill>
                          <a:latin typeface="Aptos"/>
                        </a:defRPr>
                      </a:pPr>
                      <a:r>
                        <a:t>Reconocer logros y una o dos prioridades de mejora.</a:t>
                      </a:r>
                    </a:p>
                  </a:txBody>
                  <a:tcPr marL="45720" marR="36576" marT="27432" marB="27432" anchor="ctr">
                    <a:solidFill>
                      <a:srgbClr val="FAF8F2"/>
                    </a:solidFill>
                  </a:tcPr>
                </a:tc>
                <a:tc>
                  <a:txBody>
                    <a:bodyPr/>
                    <a:lstStyle/>
                    <a:p>
                      <a:pPr>
                        <a:defRPr sz="869">
                          <a:solidFill>
                            <a:srgbClr val="002D46"/>
                          </a:solidFill>
                          <a:latin typeface="Aptos"/>
                        </a:defRPr>
                      </a:pPr>
                      <a:r>
                        <a:t>Acordar una revisión concreta y ajustar el producto.</a:t>
                      </a:r>
                    </a:p>
                  </a:txBody>
                  <a:tcPr marL="45720" marR="36576" marT="27432" marB="27432" anchor="ctr">
                    <a:solidFill>
                      <a:srgbClr val="FAF8F2"/>
                    </a:solidFill>
                  </a:tcPr>
                </a:tc>
                <a:tc>
                  <a:txBody>
                    <a:bodyPr/>
                    <a:lstStyle/>
                    <a:p>
                      <a:pPr>
                        <a:defRPr sz="869">
                          <a:solidFill>
                            <a:srgbClr val="002D46"/>
                          </a:solidFill>
                          <a:latin typeface="Aptos"/>
                        </a:defRPr>
                      </a:pPr>
                      <a:r>
                        <a:t>Versión ajustada; sin otra tarea calificable.</a:t>
                      </a:r>
                    </a:p>
                  </a:txBody>
                  <a:tcPr marL="45720" marR="36576" marT="27432" marB="27432" anchor="ctr">
                    <a:solidFill>
                      <a:srgbClr val="FAF8F2"/>
                    </a:solidFill>
                  </a:tcPr>
                </a:tc>
                <a:extLst>
                  <a:ext uri="{0D108BD9-81ED-4DB2-BD59-A6C34878D82A}">
                    <a16:rowId xmlns:a16="http://schemas.microsoft.com/office/drawing/2014/main" val="10005"/>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29" name="Rectangle 8">
            <a:extLst>
              <a:ext uri="{FF2B5EF4-FFF2-40B4-BE49-F238E27FC236}">
                <a16:creationId xmlns:a16="http://schemas.microsoft.com/office/drawing/2014/main" id="{9B4E31FC-4D08-DDC3-254A-1D26088F9C7A}"/>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K09 · Evaluación del Plan de Mejora</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77240" y="1325880"/>
            <a:ext cx="10652760" cy="9601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1325880"/>
            <a:ext cx="73152" cy="96012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417320"/>
            <a:ext cx="10451592"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Producto evaluativo integrador</a:t>
            </a:r>
          </a:p>
        </p:txBody>
      </p:sp>
      <p:sp>
        <p:nvSpPr>
          <p:cNvPr id="11" name="TextBox 10"/>
          <p:cNvSpPr txBox="1"/>
          <p:nvPr/>
        </p:nvSpPr>
        <p:spPr>
          <a:xfrm>
            <a:off x="914400" y="1737360"/>
            <a:ext cx="10433304" cy="457200"/>
          </a:xfrm>
          <a:prstGeom prst="rect">
            <a:avLst/>
          </a:prstGeom>
          <a:noFill/>
        </p:spPr>
        <p:txBody>
          <a:bodyPr wrap="square" lIns="27432" tIns="18288" rIns="27432" bIns="18288" anchor="t">
            <a:spAutoFit/>
          </a:bodyPr>
          <a:lstStyle/>
          <a:p>
            <a:pPr algn="l">
              <a:lnSpc>
                <a:spcPct val="100000"/>
              </a:lnSpc>
              <a:defRPr sz="1250" b="0">
                <a:solidFill>
                  <a:srgbClr val="4E585D"/>
                </a:solidFill>
                <a:latin typeface="Aptos"/>
              </a:defRPr>
            </a:pPr>
            <a:r>
              <a:t>Documentar la Evaluación del Plan de Mejora: indicadores, evidencias, avances, dificultades, desviaciones y decisiones de ajuste.</a:t>
            </a:r>
          </a:p>
        </p:txBody>
      </p:sp>
      <p:sp>
        <p:nvSpPr>
          <p:cNvPr id="12" name="Rounded Rectangle 11"/>
          <p:cNvSpPr/>
          <p:nvPr/>
        </p:nvSpPr>
        <p:spPr>
          <a:xfrm>
            <a:off x="777240" y="2743200"/>
            <a:ext cx="3337560" cy="15087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2743200"/>
            <a:ext cx="73152" cy="150876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2834640"/>
            <a:ext cx="3136391"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Contexto e indicadores</a:t>
            </a:r>
          </a:p>
        </p:txBody>
      </p:sp>
      <p:sp>
        <p:nvSpPr>
          <p:cNvPr id="15" name="TextBox 14"/>
          <p:cNvSpPr txBox="1"/>
          <p:nvPr/>
        </p:nvSpPr>
        <p:spPr>
          <a:xfrm>
            <a:off x="914400" y="3154680"/>
            <a:ext cx="3118104" cy="100583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Datos del NAE y síntesis del plan. Vincular K03, indicadores de K07 y evidencias pertinentes.</a:t>
            </a:r>
          </a:p>
        </p:txBody>
      </p:sp>
      <p:sp>
        <p:nvSpPr>
          <p:cNvPr id="16" name="Rounded Rectangle 15"/>
          <p:cNvSpPr/>
          <p:nvPr/>
        </p:nvSpPr>
        <p:spPr>
          <a:xfrm>
            <a:off x="4389120" y="2743200"/>
            <a:ext cx="3337560" cy="15087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89120" y="2743200"/>
            <a:ext cx="73152" cy="150876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26280" y="2834640"/>
            <a:ext cx="3136391"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Comparación y análisis</a:t>
            </a:r>
          </a:p>
        </p:txBody>
      </p:sp>
      <p:sp>
        <p:nvSpPr>
          <p:cNvPr id="19" name="TextBox 18"/>
          <p:cNvSpPr txBox="1"/>
          <p:nvPr/>
        </p:nvSpPr>
        <p:spPr>
          <a:xfrm>
            <a:off x="4526280" y="3154680"/>
            <a:ext cx="3118104" cy="100583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Inicial, meta y resultado; brechas, logros, factores explicativos y mejora empresarial alcanzada.</a:t>
            </a:r>
          </a:p>
        </p:txBody>
      </p:sp>
      <p:sp>
        <p:nvSpPr>
          <p:cNvPr id="20" name="Rounded Rectangle 19"/>
          <p:cNvSpPr/>
          <p:nvPr/>
        </p:nvSpPr>
        <p:spPr>
          <a:xfrm>
            <a:off x="8001000" y="2743200"/>
            <a:ext cx="3337560" cy="15087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01000" y="2743200"/>
            <a:ext cx="73152" cy="150876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0" y="2834640"/>
            <a:ext cx="3136391" cy="274320"/>
          </a:xfrm>
          <a:prstGeom prst="rect">
            <a:avLst/>
          </a:prstGeom>
          <a:noFill/>
        </p:spPr>
        <p:txBody>
          <a:bodyPr wrap="square" lIns="27432" tIns="18288" rIns="27432" bIns="18288" anchor="t">
            <a:spAutoFit/>
          </a:bodyPr>
          <a:lstStyle/>
          <a:p>
            <a:pPr algn="l">
              <a:lnSpc>
                <a:spcPct val="100000"/>
              </a:lnSpc>
              <a:defRPr sz="1300" b="1">
                <a:solidFill>
                  <a:srgbClr val="002D46"/>
                </a:solidFill>
                <a:latin typeface="Aptos"/>
              </a:defRPr>
            </a:pPr>
            <a:r>
              <a:t>Conclusiones y decisiones</a:t>
            </a:r>
          </a:p>
        </p:txBody>
      </p:sp>
      <p:sp>
        <p:nvSpPr>
          <p:cNvPr id="23" name="TextBox 22"/>
          <p:cNvSpPr txBox="1"/>
          <p:nvPr/>
        </p:nvSpPr>
        <p:spPr>
          <a:xfrm>
            <a:off x="8138160" y="3154680"/>
            <a:ext cx="3118104" cy="1005839"/>
          </a:xfrm>
          <a:prstGeom prst="rect">
            <a:avLst/>
          </a:prstGeom>
          <a:noFill/>
        </p:spPr>
        <p:txBody>
          <a:bodyPr wrap="square" lIns="27432" tIns="18288" rIns="27432" bIns="18288" anchor="t">
            <a:spAutoFit/>
          </a:bodyPr>
          <a:lstStyle/>
          <a:p>
            <a:pPr algn="l">
              <a:lnSpc>
                <a:spcPct val="100000"/>
              </a:lnSpc>
              <a:defRPr sz="1080" b="0">
                <a:solidFill>
                  <a:srgbClr val="4E585D"/>
                </a:solidFill>
                <a:latin typeface="Aptos"/>
              </a:defRPr>
            </a:pPr>
            <a:r>
              <a:t>Decisiones y sus resultados, próximos pasos y lecciones para futuros acompañamientos.</a:t>
            </a:r>
          </a:p>
        </p:txBody>
      </p:sp>
      <p:sp>
        <p:nvSpPr>
          <p:cNvPr id="24" name="Rounded Rectangle 23"/>
          <p:cNvSpPr/>
          <p:nvPr/>
        </p:nvSpPr>
        <p:spPr>
          <a:xfrm>
            <a:off x="777240" y="4709160"/>
            <a:ext cx="10652760" cy="8229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7240" y="4709160"/>
            <a:ext cx="73152" cy="82296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800600"/>
            <a:ext cx="104515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Criterio de logro</a:t>
            </a:r>
          </a:p>
        </p:txBody>
      </p:sp>
      <p:sp>
        <p:nvSpPr>
          <p:cNvPr id="27" name="TextBox 26"/>
          <p:cNvSpPr txBox="1"/>
          <p:nvPr/>
        </p:nvSpPr>
        <p:spPr>
          <a:xfrm>
            <a:off x="914400" y="5120640"/>
            <a:ext cx="10433304" cy="32004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Trazabilidad entre problemática, objetivos, acciones, indicadores, evidencia y decisiones. Las matrices y registros se integran en K09, sin productos adicionales.</a:t>
            </a:r>
          </a:p>
        </p:txBody>
      </p:sp>
      <p:pic>
        <p:nvPicPr>
          <p:cNvPr id="31" name="Picture 9" descr="image3.png">
            <a:extLst>
              <a:ext uri="{FF2B5EF4-FFF2-40B4-BE49-F238E27FC236}">
                <a16:creationId xmlns:a16="http://schemas.microsoft.com/office/drawing/2014/main" id="{05F4FDDF-33B1-E065-C021-F2B5D813362A}"/>
              </a:ext>
            </a:extLst>
          </p:cNvPr>
          <p:cNvPicPr>
            <a:picLocks noChangeAspect="1"/>
          </p:cNvPicPr>
          <p:nvPr/>
        </p:nvPicPr>
        <p:blipFill>
          <a:blip r:embed="rId4"/>
          <a:stretch>
            <a:fillRect/>
          </a:stretch>
        </p:blipFill>
        <p:spPr>
          <a:xfrm>
            <a:off x="4289907" y="6301166"/>
            <a:ext cx="3611880" cy="49187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8">
            <a:extLst>
              <a:ext uri="{FF2B5EF4-FFF2-40B4-BE49-F238E27FC236}">
                <a16:creationId xmlns:a16="http://schemas.microsoft.com/office/drawing/2014/main" id="{8441E5EA-ACD5-0DDB-5037-94886C48C1B5}"/>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9" descr="image3.png">
            <a:extLst>
              <a:ext uri="{FF2B5EF4-FFF2-40B4-BE49-F238E27FC236}">
                <a16:creationId xmlns:a16="http://schemas.microsoft.com/office/drawing/2014/main" id="{0E7C4826-0898-48CD-8EF6-8DEC4B6F946A}"/>
              </a:ext>
            </a:extLst>
          </p:cNvPr>
          <p:cNvPicPr>
            <a:picLocks noChangeAspect="1"/>
          </p:cNvPicPr>
          <p:nvPr/>
        </p:nvPicPr>
        <p:blipFill>
          <a:blip r:embed="rId2"/>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Referencia conceptual del módulo</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77240" y="1417320"/>
            <a:ext cx="10652760" cy="141732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1417320"/>
            <a:ext cx="73152" cy="1417320"/>
          </a:xfrm>
          <a:prstGeom prst="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508760"/>
            <a:ext cx="10451592"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Base conceptual utilizada</a:t>
            </a:r>
          </a:p>
        </p:txBody>
      </p:sp>
      <p:sp>
        <p:nvSpPr>
          <p:cNvPr id="11" name="TextBox 10"/>
          <p:cNvSpPr txBox="1"/>
          <p:nvPr/>
        </p:nvSpPr>
        <p:spPr>
          <a:xfrm>
            <a:off x="914400" y="1828800"/>
            <a:ext cx="10433304" cy="91440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La evaluación debe generar evidencias útiles para la toma de decisiones. El marco de la OECD para la evaluación de políticas y programas dirigidos a PYMES enfatiza la necesidad de objetivos explícitos, indicadores, datos y sistemas de evaluación capaces de retroalimentar el diseño y la implementación de las intervenciones (OECD, 2023).</a:t>
            </a:r>
          </a:p>
        </p:txBody>
      </p:sp>
      <p:sp>
        <p:nvSpPr>
          <p:cNvPr id="12" name="Rounded Rectangle 11"/>
          <p:cNvSpPr/>
          <p:nvPr/>
        </p:nvSpPr>
        <p:spPr>
          <a:xfrm>
            <a:off x="777240" y="3246120"/>
            <a:ext cx="10652760" cy="114300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3246120"/>
            <a:ext cx="73152" cy="114300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337560"/>
            <a:ext cx="1045159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Lectura pedagógica para el FdF</a:t>
            </a:r>
          </a:p>
        </p:txBody>
      </p:sp>
      <p:sp>
        <p:nvSpPr>
          <p:cNvPr id="15" name="TextBox 14"/>
          <p:cNvSpPr txBox="1"/>
          <p:nvPr/>
        </p:nvSpPr>
        <p:spPr>
          <a:xfrm>
            <a:off x="914400" y="3657600"/>
            <a:ext cx="10433304" cy="640080"/>
          </a:xfrm>
          <a:prstGeom prst="rect">
            <a:avLst/>
          </a:prstGeom>
          <a:noFill/>
        </p:spPr>
        <p:txBody>
          <a:bodyPr wrap="square" lIns="27432" tIns="18288" rIns="27432" bIns="18288" anchor="t">
            <a:spAutoFit/>
          </a:bodyPr>
          <a:lstStyle/>
          <a:p>
            <a:pPr algn="l">
              <a:lnSpc>
                <a:spcPct val="100000"/>
              </a:lnSpc>
              <a:defRPr sz="1200" b="0">
                <a:solidFill>
                  <a:srgbClr val="4E585D"/>
                </a:solidFill>
                <a:latin typeface="Aptos"/>
              </a:defRPr>
            </a:pPr>
            <a:r>
              <a:t>En este módulo la evaluación no se presenta como un cierre administrativo, sino como un componente de aprendizaje, ajuste y mejora continua del acompañamiento a los NAE.</a:t>
            </a:r>
          </a:p>
        </p:txBody>
      </p:sp>
      <p:sp>
        <p:nvSpPr>
          <p:cNvPr id="16" name="Rounded Rectangle 15"/>
          <p:cNvSpPr/>
          <p:nvPr/>
        </p:nvSpPr>
        <p:spPr>
          <a:xfrm>
            <a:off x="777240" y="4754880"/>
            <a:ext cx="10652760" cy="82296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4754880"/>
            <a:ext cx="73152" cy="82296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846320"/>
            <a:ext cx="10451592" cy="274320"/>
          </a:xfrm>
          <a:prstGeom prst="rect">
            <a:avLst/>
          </a:prstGeom>
          <a:noFill/>
        </p:spPr>
        <p:txBody>
          <a:bodyPr wrap="square" lIns="27432" tIns="18288" rIns="27432" bIns="18288" anchor="t">
            <a:spAutoFit/>
          </a:bodyPr>
          <a:lstStyle/>
          <a:p>
            <a:pPr algn="l">
              <a:lnSpc>
                <a:spcPct val="100000"/>
              </a:lnSpc>
              <a:defRPr sz="1600" b="1">
                <a:solidFill>
                  <a:srgbClr val="002D46"/>
                </a:solidFill>
                <a:latin typeface="Aptos"/>
              </a:defRPr>
            </a:pPr>
            <a:r>
              <a:t>Idea fuerza para la facilitación</a:t>
            </a:r>
          </a:p>
        </p:txBody>
      </p:sp>
      <p:sp>
        <p:nvSpPr>
          <p:cNvPr id="19" name="TextBox 18"/>
          <p:cNvSpPr txBox="1"/>
          <p:nvPr/>
        </p:nvSpPr>
        <p:spPr>
          <a:xfrm>
            <a:off x="914400" y="5166360"/>
            <a:ext cx="10433304" cy="320040"/>
          </a:xfrm>
          <a:prstGeom prst="rect">
            <a:avLst/>
          </a:prstGeom>
          <a:noFill/>
        </p:spPr>
        <p:txBody>
          <a:bodyPr wrap="square" lIns="27432" tIns="18288" rIns="27432" bIns="18288" anchor="t">
            <a:spAutoFit/>
          </a:bodyPr>
          <a:lstStyle/>
          <a:p>
            <a:pPr algn="l">
              <a:lnSpc>
                <a:spcPct val="100000"/>
              </a:lnSpc>
              <a:defRPr sz="1300" b="0">
                <a:solidFill>
                  <a:srgbClr val="4E585D"/>
                </a:solidFill>
                <a:latin typeface="Aptos"/>
              </a:defRPr>
            </a:pPr>
            <a:r>
              <a:t>Evaluar es producir evidencia que ayude a decidir mejor.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0E8"/>
        </a:solidFill>
        <a:effectLst/>
      </p:bgPr>
    </p:bg>
    <p:spTree>
      <p:nvGrpSpPr>
        <p:cNvPr id="1" name=""/>
        <p:cNvGrpSpPr/>
        <p:nvPr/>
      </p:nvGrpSpPr>
      <p:grpSpPr>
        <a:xfrm>
          <a:off x="0" y="0"/>
          <a:ext cx="0" cy="0"/>
          <a:chOff x="0" y="0"/>
          <a:chExt cx="0" cy="0"/>
        </a:xfrm>
      </p:grpSpPr>
      <p:sp>
        <p:nvSpPr>
          <p:cNvPr id="38" name="Rectangle 8">
            <a:extLst>
              <a:ext uri="{FF2B5EF4-FFF2-40B4-BE49-F238E27FC236}">
                <a16:creationId xmlns:a16="http://schemas.microsoft.com/office/drawing/2014/main" id="{8F57AADD-1C42-69DD-674A-1A9BCE072418}"/>
              </a:ext>
            </a:extLst>
          </p:cNvPr>
          <p:cNvSpPr/>
          <p:nvPr/>
        </p:nvSpPr>
        <p:spPr>
          <a:xfrm>
            <a:off x="0" y="6236208"/>
            <a:ext cx="12191695" cy="62179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9" descr="image3.png">
            <a:extLst>
              <a:ext uri="{FF2B5EF4-FFF2-40B4-BE49-F238E27FC236}">
                <a16:creationId xmlns:a16="http://schemas.microsoft.com/office/drawing/2014/main" id="{A3D09ABE-97A6-E60F-3084-8BC1ED3EAB73}"/>
              </a:ext>
            </a:extLst>
          </p:cNvPr>
          <p:cNvPicPr>
            <a:picLocks noChangeAspect="1"/>
          </p:cNvPicPr>
          <p:nvPr/>
        </p:nvPicPr>
        <p:blipFill>
          <a:blip r:embed="rId4"/>
          <a:stretch>
            <a:fillRect/>
          </a:stretch>
        </p:blipFill>
        <p:spPr>
          <a:xfrm>
            <a:off x="4289907" y="6301166"/>
            <a:ext cx="3611880" cy="491876"/>
          </a:xfrm>
          <a:prstGeom prst="rect">
            <a:avLst/>
          </a:prstGeom>
        </p:spPr>
      </p:pic>
      <p:sp>
        <p:nvSpPr>
          <p:cNvPr id="3" name="TextBox 2"/>
          <p:cNvSpPr txBox="1"/>
          <p:nvPr/>
        </p:nvSpPr>
        <p:spPr>
          <a:xfrm>
            <a:off x="566928" y="475488"/>
            <a:ext cx="9235440" cy="438912"/>
          </a:xfrm>
          <a:prstGeom prst="rect">
            <a:avLst/>
          </a:prstGeom>
          <a:noFill/>
        </p:spPr>
        <p:txBody>
          <a:bodyPr wrap="square" lIns="27432" tIns="18288" rIns="27432" bIns="18288" anchor="t">
            <a:spAutoFit/>
          </a:bodyPr>
          <a:lstStyle/>
          <a:p>
            <a:pPr algn="l">
              <a:lnSpc>
                <a:spcPct val="100000"/>
              </a:lnSpc>
              <a:defRPr sz="2600" b="0">
                <a:solidFill>
                  <a:srgbClr val="1D584E"/>
                </a:solidFill>
                <a:latin typeface="Aptos Display"/>
              </a:defRPr>
            </a:pPr>
            <a:r>
              <a:t>Cierre del Módulo 5</a:t>
            </a:r>
          </a:p>
        </p:txBody>
      </p:sp>
      <p:sp>
        <p:nvSpPr>
          <p:cNvPr id="4" name="Rectangle 3"/>
          <p:cNvSpPr/>
          <p:nvPr/>
        </p:nvSpPr>
        <p:spPr>
          <a:xfrm>
            <a:off x="566928" y="987552"/>
            <a:ext cx="10789920" cy="18288"/>
          </a:xfrm>
          <a:prstGeom prst="rect">
            <a:avLst/>
          </a:prstGeom>
          <a:solidFill>
            <a:srgbClr val="C7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320040"/>
            <a:ext cx="329184" cy="36576"/>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336792"/>
            <a:ext cx="2834640" cy="228600"/>
          </a:xfrm>
          <a:prstGeom prst="rect">
            <a:avLst/>
          </a:prstGeom>
          <a:noFill/>
        </p:spPr>
        <p:txBody>
          <a:bodyPr wrap="none">
            <a:spAutoFit/>
          </a:bodyPr>
          <a:lstStyle/>
          <a:p>
            <a:pPr>
              <a:defRPr sz="800">
                <a:solidFill>
                  <a:srgbClr val="4E585D"/>
                </a:solidFill>
                <a:latin typeface="Aptos"/>
              </a:defRPr>
            </a:pPr>
            <a:r>
              <a:t>Actividad 2.3.2 — FdF</a:t>
            </a:r>
          </a:p>
        </p:txBody>
      </p:sp>
      <p:sp>
        <p:nvSpPr>
          <p:cNvPr id="8" name="Rounded Rectangle 7"/>
          <p:cNvSpPr/>
          <p:nvPr/>
        </p:nvSpPr>
        <p:spPr>
          <a:xfrm>
            <a:off x="749808" y="1463040"/>
            <a:ext cx="1714500" cy="841248"/>
          </a:xfrm>
          <a:prstGeom prst="round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1572768"/>
            <a:ext cx="1623060" cy="676656"/>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Monitorear</a:t>
            </a:r>
          </a:p>
        </p:txBody>
      </p:sp>
      <p:sp>
        <p:nvSpPr>
          <p:cNvPr id="10" name="Right Triangle 9"/>
          <p:cNvSpPr/>
          <p:nvPr/>
        </p:nvSpPr>
        <p:spPr>
          <a:xfrm>
            <a:off x="2455164" y="1691640"/>
            <a:ext cx="164592" cy="256032"/>
          </a:xfrm>
          <a:prstGeom prst="rtTriangle">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574036" y="1463040"/>
            <a:ext cx="1714500" cy="841248"/>
          </a:xfrm>
          <a:prstGeom prst="round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19756" y="1572768"/>
            <a:ext cx="1623060" cy="676656"/>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Medir</a:t>
            </a:r>
          </a:p>
        </p:txBody>
      </p:sp>
      <p:sp>
        <p:nvSpPr>
          <p:cNvPr id="13" name="Right Triangle 12"/>
          <p:cNvSpPr/>
          <p:nvPr/>
        </p:nvSpPr>
        <p:spPr>
          <a:xfrm>
            <a:off x="4279392" y="1691640"/>
            <a:ext cx="164592" cy="256032"/>
          </a:xfrm>
          <a:prstGeom prst="rtTriangle">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98264" y="1463040"/>
            <a:ext cx="1714500" cy="841248"/>
          </a:xfrm>
          <a:prstGeom prst="roundRect">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43984" y="1572768"/>
            <a:ext cx="1623060" cy="676656"/>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Evidenciar</a:t>
            </a:r>
          </a:p>
        </p:txBody>
      </p:sp>
      <p:sp>
        <p:nvSpPr>
          <p:cNvPr id="16" name="Right Triangle 15"/>
          <p:cNvSpPr/>
          <p:nvPr/>
        </p:nvSpPr>
        <p:spPr>
          <a:xfrm>
            <a:off x="6103620" y="1691640"/>
            <a:ext cx="164592" cy="256032"/>
          </a:xfrm>
          <a:prstGeom prst="rtTriangle">
            <a:avLst/>
          </a:prstGeom>
          <a:solidFill>
            <a:srgbClr val="49E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222492" y="1463040"/>
            <a:ext cx="1714500" cy="841248"/>
          </a:xfrm>
          <a:prstGeom prst="round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8212" y="1572768"/>
            <a:ext cx="1623060" cy="676656"/>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Valorar</a:t>
            </a:r>
          </a:p>
        </p:txBody>
      </p:sp>
      <p:sp>
        <p:nvSpPr>
          <p:cNvPr id="19" name="Right Triangle 18"/>
          <p:cNvSpPr/>
          <p:nvPr/>
        </p:nvSpPr>
        <p:spPr>
          <a:xfrm>
            <a:off x="7927848" y="1691640"/>
            <a:ext cx="164592" cy="256032"/>
          </a:xfrm>
          <a:prstGeom prst="rtTriangle">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46720" y="1463040"/>
            <a:ext cx="1714500" cy="841248"/>
          </a:xfrm>
          <a:prstGeom prst="roundRect">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92440" y="1572768"/>
            <a:ext cx="1623060" cy="676656"/>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Ajustar</a:t>
            </a:r>
          </a:p>
        </p:txBody>
      </p:sp>
      <p:sp>
        <p:nvSpPr>
          <p:cNvPr id="22" name="Right Triangle 21"/>
          <p:cNvSpPr/>
          <p:nvPr/>
        </p:nvSpPr>
        <p:spPr>
          <a:xfrm>
            <a:off x="9752076" y="1691640"/>
            <a:ext cx="164592" cy="256032"/>
          </a:xfrm>
          <a:prstGeom prst="rtTriangle">
            <a:avLst/>
          </a:prstGeom>
          <a:solidFill>
            <a:srgbClr val="00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870948" y="1463040"/>
            <a:ext cx="1714500" cy="841248"/>
          </a:xfrm>
          <a:prstGeom prst="roundRect">
            <a:avLst/>
          </a:prstGeom>
          <a:solidFill>
            <a:srgbClr val="77A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16668" y="1572768"/>
            <a:ext cx="1623060" cy="676656"/>
          </a:xfrm>
          <a:prstGeom prst="rect">
            <a:avLst/>
          </a:prstGeom>
          <a:noFill/>
        </p:spPr>
        <p:txBody>
          <a:bodyPr wrap="square" lIns="27432" tIns="18288" rIns="27432" bIns="18288" anchor="ctr">
            <a:spAutoFit/>
          </a:bodyPr>
          <a:lstStyle/>
          <a:p>
            <a:pPr algn="ctr">
              <a:lnSpc>
                <a:spcPct val="100000"/>
              </a:lnSpc>
              <a:defRPr sz="1200" b="1">
                <a:solidFill>
                  <a:srgbClr val="FFFFFF"/>
                </a:solidFill>
                <a:latin typeface="Aptos"/>
              </a:defRPr>
            </a:pPr>
            <a:r>
              <a:t>Mejorar</a:t>
            </a:r>
          </a:p>
        </p:txBody>
      </p:sp>
      <p:sp>
        <p:nvSpPr>
          <p:cNvPr id="25" name="Rounded Rectangle 24"/>
          <p:cNvSpPr/>
          <p:nvPr/>
        </p:nvSpPr>
        <p:spPr>
          <a:xfrm>
            <a:off x="777240" y="2743200"/>
            <a:ext cx="1065276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77240" y="2743200"/>
            <a:ext cx="73152" cy="1005840"/>
          </a:xfrm>
          <a:prstGeom prst="rect">
            <a:avLst/>
          </a:prstGeom>
          <a:solidFill>
            <a:srgbClr val="00B8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2834640"/>
            <a:ext cx="10451592" cy="274320"/>
          </a:xfrm>
          <a:prstGeom prst="rect">
            <a:avLst/>
          </a:prstGeom>
          <a:noFill/>
        </p:spPr>
        <p:txBody>
          <a:bodyPr wrap="square" lIns="27432" tIns="18288" rIns="27432" bIns="18288" anchor="t">
            <a:spAutoFit/>
          </a:bodyPr>
          <a:lstStyle/>
          <a:p>
            <a:pPr algn="l">
              <a:lnSpc>
                <a:spcPct val="100000"/>
              </a:lnSpc>
              <a:defRPr sz="1500" b="1">
                <a:solidFill>
                  <a:srgbClr val="002D46"/>
                </a:solidFill>
                <a:latin typeface="Aptos"/>
              </a:defRPr>
            </a:pPr>
            <a:r>
              <a:t>Cuatro productos integradores del Portafolio</a:t>
            </a:r>
          </a:p>
        </p:txBody>
      </p:sp>
      <p:sp>
        <p:nvSpPr>
          <p:cNvPr id="28" name="TextBox 27"/>
          <p:cNvSpPr txBox="1"/>
          <p:nvPr/>
        </p:nvSpPr>
        <p:spPr>
          <a:xfrm>
            <a:off x="914400" y="3154680"/>
            <a:ext cx="10433304" cy="502920"/>
          </a:xfrm>
          <a:prstGeom prst="rect">
            <a:avLst/>
          </a:prstGeom>
          <a:noFill/>
        </p:spPr>
        <p:txBody>
          <a:bodyPr wrap="square" lIns="27432" tIns="18288" rIns="27432" bIns="18288" anchor="t">
            <a:spAutoFit/>
          </a:bodyPr>
          <a:lstStyle/>
          <a:p>
            <a:pPr algn="l">
              <a:lnSpc>
                <a:spcPct val="100000"/>
              </a:lnSpc>
              <a:defRPr sz="1220" b="0">
                <a:solidFill>
                  <a:srgbClr val="4E585D"/>
                </a:solidFill>
                <a:latin typeface="Aptos"/>
              </a:defRPr>
            </a:pPr>
            <a:r>
              <a:t>Diagnóstico empresarial integral; Plan de Mejora; Evaluación del Plan de Mejora; Diseño de réplica territorial (K10 Plan de Multiplicación Territorial).</a:t>
            </a:r>
          </a:p>
        </p:txBody>
      </p:sp>
      <p:sp>
        <p:nvSpPr>
          <p:cNvPr id="29" name="Rounded Rectangle 28"/>
          <p:cNvSpPr/>
          <p:nvPr/>
        </p:nvSpPr>
        <p:spPr>
          <a:xfrm>
            <a:off x="777240" y="416052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77240" y="4160520"/>
            <a:ext cx="73152" cy="1005840"/>
          </a:xfrm>
          <a:prstGeom prst="rect">
            <a:avLst/>
          </a:prstGeom>
          <a:solidFill>
            <a:srgbClr val="00A3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4251959"/>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Aprendizaje y mejora</a:t>
            </a:r>
          </a:p>
        </p:txBody>
      </p:sp>
      <p:sp>
        <p:nvSpPr>
          <p:cNvPr id="32" name="TextBox 31"/>
          <p:cNvSpPr txBox="1"/>
          <p:nvPr/>
        </p:nvSpPr>
        <p:spPr>
          <a:xfrm>
            <a:off x="914400" y="4572000"/>
            <a:ext cx="4992624" cy="502920"/>
          </a:xfrm>
          <a:prstGeom prst="rect">
            <a:avLst/>
          </a:prstGeom>
          <a:noFill/>
        </p:spPr>
        <p:txBody>
          <a:bodyPr wrap="square" lIns="27432" tIns="18288" rIns="27432" bIns="18288" anchor="t">
            <a:spAutoFit/>
          </a:bodyPr>
          <a:lstStyle/>
          <a:p>
            <a:pPr algn="l">
              <a:lnSpc>
                <a:spcPct val="100000"/>
              </a:lnSpc>
              <a:defRPr sz="1180" b="0">
                <a:solidFill>
                  <a:srgbClr val="4E585D"/>
                </a:solidFill>
                <a:latin typeface="Aptos"/>
              </a:defRPr>
            </a:pPr>
            <a:r>
              <a:t>Evaluar resultados y la utilidad del acompañamiento permite ajustar la facilitación y fortalecer capacidades.</a:t>
            </a:r>
          </a:p>
        </p:txBody>
      </p:sp>
      <p:sp>
        <p:nvSpPr>
          <p:cNvPr id="33" name="Rounded Rectangle 32"/>
          <p:cNvSpPr/>
          <p:nvPr/>
        </p:nvSpPr>
        <p:spPr>
          <a:xfrm>
            <a:off x="6217920" y="4160520"/>
            <a:ext cx="5212080" cy="1005840"/>
          </a:xfrm>
          <a:prstGeom prst="roundRect">
            <a:avLst/>
          </a:prstGeom>
          <a:solidFill>
            <a:srgbClr val="F2EFE7"/>
          </a:solidFill>
          <a:ln w="6350">
            <a:solidFill>
              <a:srgbClr val="D2D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17920" y="4160520"/>
            <a:ext cx="73152" cy="1005840"/>
          </a:xfrm>
          <a:prstGeom prst="rect">
            <a:avLst/>
          </a:prstGeom>
          <a:solidFill>
            <a:srgbClr val="D89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5080" y="4251959"/>
            <a:ext cx="5010912" cy="274320"/>
          </a:xfrm>
          <a:prstGeom prst="rect">
            <a:avLst/>
          </a:prstGeom>
          <a:noFill/>
        </p:spPr>
        <p:txBody>
          <a:bodyPr wrap="square" lIns="27432" tIns="18288" rIns="27432" bIns="18288" anchor="t">
            <a:spAutoFit/>
          </a:bodyPr>
          <a:lstStyle/>
          <a:p>
            <a:pPr algn="l">
              <a:lnSpc>
                <a:spcPct val="100000"/>
              </a:lnSpc>
              <a:defRPr sz="1400" b="1">
                <a:solidFill>
                  <a:srgbClr val="002D46"/>
                </a:solidFill>
                <a:latin typeface="Aptos"/>
              </a:defRPr>
            </a:pPr>
            <a:r>
              <a:t>Transferencia territorial</a:t>
            </a:r>
          </a:p>
        </p:txBody>
      </p:sp>
      <p:sp>
        <p:nvSpPr>
          <p:cNvPr id="36" name="TextBox 35"/>
          <p:cNvSpPr txBox="1"/>
          <p:nvPr/>
        </p:nvSpPr>
        <p:spPr>
          <a:xfrm>
            <a:off x="6355080" y="4572000"/>
            <a:ext cx="4992624" cy="502920"/>
          </a:xfrm>
          <a:prstGeom prst="rect">
            <a:avLst/>
          </a:prstGeom>
          <a:noFill/>
        </p:spPr>
        <p:txBody>
          <a:bodyPr wrap="square" lIns="27432" tIns="18288" rIns="27432" bIns="18288" anchor="t">
            <a:spAutoFit/>
          </a:bodyPr>
          <a:lstStyle/>
          <a:p>
            <a:pPr algn="l">
              <a:lnSpc>
                <a:spcPct val="100000"/>
              </a:lnSpc>
              <a:defRPr sz="1180" b="0">
                <a:solidFill>
                  <a:srgbClr val="4E585D"/>
                </a:solidFill>
                <a:latin typeface="Aptos"/>
              </a:defRPr>
            </a:pPr>
            <a:r>
              <a:t>Las lecciones de M5 preparan M6 y el diseño de réplica mediante K10, con adaptación al territorio y fidelidad metodológica.</a:t>
            </a: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B41"/>
        </a:solidFill>
        <a:effectLst/>
      </p:bgPr>
    </p:bg>
    <p:spTree>
      <p:nvGrpSpPr>
        <p:cNvPr id="1" name="Shape 83"/>
        <p:cNvGrpSpPr/>
        <p:nvPr/>
      </p:nvGrpSpPr>
      <p:grpSpPr>
        <a:xfrm>
          <a:off x="0" y="0"/>
          <a:ext cx="0" cy="0"/>
          <a:chOff x="0" y="0"/>
          <a:chExt cx="0" cy="0"/>
        </a:xfrm>
      </p:grpSpPr>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4525" y="-8140"/>
            <a:ext cx="6339853" cy="6238253"/>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69" y="406258"/>
            <a:ext cx="2275844" cy="1113539"/>
          </a:xfrm>
          <a:prstGeom prst="rect">
            <a:avLst/>
          </a:prstGeom>
        </p:spPr>
      </p:pic>
      <p:sp>
        <p:nvSpPr>
          <p:cNvPr id="86" name="Google Shape;86;p1"/>
          <p:cNvSpPr/>
          <p:nvPr/>
        </p:nvSpPr>
        <p:spPr>
          <a:xfrm>
            <a:off x="0" y="6230112"/>
            <a:ext cx="12192000" cy="646176"/>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121900" tIns="60933" rIns="121900" bIns="60933" anchor="ctr" anchorCtr="0">
            <a:noAutofit/>
          </a:bodyPr>
          <a:lstStyle/>
          <a:p>
            <a:pPr marL="0" marR="0" lvl="0" indent="0" algn="ctr" defTabSz="1219139"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87" name="Google Shape;87;p1" descr="asset_portada_6.png"/>
          <p:cNvPicPr preferRelativeResize="0"/>
          <p:nvPr/>
        </p:nvPicPr>
        <p:blipFill rotWithShape="1">
          <a:blip r:embed="rId5">
            <a:alphaModFix/>
          </a:blip>
          <a:srcRect/>
          <a:stretch/>
        </p:blipFill>
        <p:spPr>
          <a:xfrm>
            <a:off x="3974592" y="6266688"/>
            <a:ext cx="4255008" cy="560832"/>
          </a:xfrm>
          <a:prstGeom prst="rect">
            <a:avLst/>
          </a:prstGeom>
          <a:noFill/>
          <a:ln>
            <a:noFill/>
          </a:ln>
        </p:spPr>
      </p:pic>
      <p:sp>
        <p:nvSpPr>
          <p:cNvPr id="92" name="Google Shape;92;p1"/>
          <p:cNvSpPr txBox="1"/>
          <p:nvPr/>
        </p:nvSpPr>
        <p:spPr>
          <a:xfrm>
            <a:off x="9776851" y="827614"/>
            <a:ext cx="2224940" cy="328177"/>
          </a:xfrm>
          <a:prstGeom prst="rect">
            <a:avLst/>
          </a:prstGeom>
          <a:noFill/>
          <a:ln>
            <a:noFill/>
          </a:ln>
        </p:spPr>
        <p:txBody>
          <a:bodyPr spcFirstLastPara="1" wrap="square" lIns="121900" tIns="60933" rIns="121900" bIns="60933" anchor="t" anchorCtr="0">
            <a:spAutoFit/>
          </a:bodyPr>
          <a:lstStyle/>
          <a:p>
            <a:pPr marL="0" marR="0" lvl="0" indent="0" algn="l" defTabSz="1219139" rtl="0" eaLnBrk="1" fontAlgn="auto" latinLnBrk="0" hangingPunct="1">
              <a:lnSpc>
                <a:spcPct val="100000"/>
              </a:lnSpc>
              <a:spcBef>
                <a:spcPts val="0"/>
              </a:spcBef>
              <a:spcAft>
                <a:spcPts val="0"/>
              </a:spcAft>
              <a:buClr>
                <a:srgbClr val="000000"/>
              </a:buClr>
              <a:buSzTx/>
              <a:buFontTx/>
              <a:buNone/>
              <a:tabLst/>
              <a:defRPr/>
            </a:pPr>
            <a:r>
              <a:rPr kumimoji="0" lang="en-US" sz="1333" b="0" i="0" u="none" strike="noStrike" kern="0" cap="none" spc="0" normalizeH="0" baseline="0" noProof="0" dirty="0">
                <a:ln>
                  <a:noFill/>
                </a:ln>
                <a:solidFill>
                  <a:srgbClr val="A3C5ED"/>
                </a:solidFill>
                <a:effectLst/>
                <a:uLnTx/>
                <a:uFillTx/>
                <a:latin typeface="Calibri"/>
                <a:ea typeface="Calibri"/>
                <a:cs typeface="Calibri"/>
                <a:sym typeface="Calibri"/>
              </a:rPr>
              <a:t>La Habana, Cuba · 2026</a:t>
            </a:r>
            <a:endParaRPr kumimoji="0" sz="1867"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 name="Text 0"/>
          <p:cNvSpPr/>
          <p:nvPr/>
        </p:nvSpPr>
        <p:spPr>
          <a:xfrm>
            <a:off x="658369" y="2539241"/>
            <a:ext cx="5303520" cy="640080"/>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Gracias.</a:t>
            </a:r>
            <a:endParaRPr kumimoji="0" lang="en-US" sz="38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Text 1"/>
          <p:cNvSpPr/>
          <p:nvPr/>
        </p:nvSpPr>
        <p:spPr>
          <a:xfrm>
            <a:off x="658369" y="3308861"/>
            <a:ext cx="5669280" cy="594360"/>
          </a:xfrm>
          <a:prstGeom prst="rect">
            <a:avLst/>
          </a:prstGeom>
          <a:noFill/>
          <a:ln/>
        </p:spPr>
        <p:txBody>
          <a:bodyPr wrap="square" lIns="0" tIns="0" rIns="0" bIns="0" rtlCol="0" anchor="ct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AFCBE1"/>
                </a:solidFill>
                <a:effectLst/>
                <a:uLnTx/>
                <a:uFillTx/>
                <a:latin typeface="Aptos Display" pitchFamily="34" charset="0"/>
                <a:ea typeface="Aptos Display" pitchFamily="34" charset="-122"/>
                <a:cs typeface="Aptos Display" pitchFamily="34" charset="-120"/>
              </a:rPr>
              <a:t>Construimos juntos.</a:t>
            </a:r>
            <a:endParaRPr kumimoji="0" lang="en-US" sz="30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Shape 2"/>
          <p:cNvSpPr/>
          <p:nvPr/>
        </p:nvSpPr>
        <p:spPr>
          <a:xfrm>
            <a:off x="684873" y="4478721"/>
            <a:ext cx="3291840" cy="45720"/>
          </a:xfrm>
          <a:prstGeom prst="rect">
            <a:avLst/>
          </a:prstGeom>
          <a:solidFill>
            <a:srgbClr val="D89A2B"/>
          </a:solidFill>
          <a:ln w="12700">
            <a:solidFill>
              <a:srgbClr val="D89A2B"/>
            </a:solidFill>
            <a:prstDash val="solid"/>
          </a:ln>
        </p:spPr>
      </p:sp>
      <p:sp>
        <p:nvSpPr>
          <p:cNvPr id="3" name="Text 3">
            <a:extLst>
              <a:ext uri="{FF2B5EF4-FFF2-40B4-BE49-F238E27FC236}">
                <a16:creationId xmlns:a16="http://schemas.microsoft.com/office/drawing/2014/main" id="{4F2C02A9-EE61-60F0-6980-38F0FDEE9702}"/>
              </a:ext>
            </a:extLst>
          </p:cNvPr>
          <p:cNvSpPr/>
          <p:nvPr/>
        </p:nvSpPr>
        <p:spPr>
          <a:xfrm>
            <a:off x="713231" y="4736592"/>
            <a:ext cx="7308551" cy="594360"/>
          </a:xfrm>
          <a:prstGeom prst="rect">
            <a:avLst/>
          </a:prstGeom>
          <a:noFill/>
          <a:ln/>
        </p:spPr>
        <p:txBody>
          <a:bodyPr wrap="square" lIns="0" tIns="0" rIns="0" bIns="0" rtlCol="0" anchor="ctr"/>
          <a:lstStyle/>
          <a:p>
            <a:r>
              <a:rPr lang="es-419" sz="1050" b="1" noProof="0" dirty="0">
                <a:solidFill>
                  <a:schemeClr val="bg1"/>
                </a:solidFill>
              </a:rPr>
              <a:t>Material elaborado en el marco del Proyecto NAE</a:t>
            </a:r>
            <a:br>
              <a:rPr lang="es-419" sz="1050" noProof="0" dirty="0">
                <a:solidFill>
                  <a:schemeClr val="bg1"/>
                </a:solidFill>
              </a:rPr>
            </a:br>
            <a:r>
              <a:rPr lang="es-419" sz="1050" b="1" noProof="0" dirty="0">
                <a:solidFill>
                  <a:schemeClr val="bg1"/>
                </a:solidFill>
              </a:rPr>
              <a:t>Financiado por la </a:t>
            </a:r>
            <a:r>
              <a:rPr lang="es-419" sz="1050" b="1" noProof="0" dirty="0" err="1">
                <a:solidFill>
                  <a:schemeClr val="bg1"/>
                </a:solidFill>
              </a:rPr>
              <a:t>Agence</a:t>
            </a:r>
            <a:r>
              <a:rPr lang="es-419" sz="1050" b="1" noProof="0" dirty="0">
                <a:solidFill>
                  <a:schemeClr val="bg1"/>
                </a:solidFill>
              </a:rPr>
              <a:t> </a:t>
            </a:r>
            <a:r>
              <a:rPr lang="es-419" sz="1050" b="1" noProof="0" dirty="0" err="1">
                <a:solidFill>
                  <a:schemeClr val="bg1"/>
                </a:solidFill>
              </a:rPr>
              <a:t>Française</a:t>
            </a:r>
            <a:r>
              <a:rPr lang="es-419" sz="1050" b="1" noProof="0" dirty="0">
                <a:solidFill>
                  <a:schemeClr val="bg1"/>
                </a:solidFill>
              </a:rPr>
              <a:t> de </a:t>
            </a:r>
            <a:r>
              <a:rPr lang="es-419" sz="1050" b="1" noProof="0" dirty="0" err="1">
                <a:solidFill>
                  <a:schemeClr val="bg1"/>
                </a:solidFill>
              </a:rPr>
              <a:t>Développement</a:t>
            </a:r>
            <a:r>
              <a:rPr lang="es-419" sz="1050" b="1" noProof="0" dirty="0">
                <a:solidFill>
                  <a:schemeClr val="bg1"/>
                </a:solidFill>
              </a:rPr>
              <a:t> (AFD), con cofinanciación de la Unión Europea</a:t>
            </a:r>
          </a:p>
          <a:p>
            <a:endParaRPr lang="es-419" sz="1050" noProof="0" dirty="0">
              <a:solidFill>
                <a:schemeClr val="bg1"/>
              </a:solidFill>
              <a:latin typeface="Aptos" pitchFamily="34" charset="0"/>
              <a:ea typeface="Aptos" pitchFamily="34" charset="-122"/>
              <a:cs typeface="Aptos" pitchFamily="34" charset="-120"/>
            </a:endParaRPr>
          </a:p>
          <a:p>
            <a:r>
              <a:rPr lang="es-419" sz="1050" noProof="0" dirty="0">
                <a:solidFill>
                  <a:schemeClr val="bg1"/>
                </a:solidFill>
                <a:latin typeface="Aptos" pitchFamily="34" charset="0"/>
                <a:ea typeface="Aptos" pitchFamily="34" charset="-122"/>
                <a:cs typeface="Aptos" pitchFamily="34" charset="-120"/>
              </a:rPr>
              <a:t>Implementación Técnica: Universidad de Alicante (UA) - Parque Científico Tecnológico de La Habana (PCTH)</a:t>
            </a:r>
            <a:endParaRPr lang="es-419" sz="1050" noProof="0" dirty="0">
              <a:solidFill>
                <a:schemeClr val="bg1"/>
              </a:solidFill>
            </a:endParaRPr>
          </a:p>
        </p:txBody>
      </p:sp>
    </p:spTree>
    <p:extLst>
      <p:ext uri="{BB962C8B-B14F-4D97-AF65-F5344CB8AC3E}">
        <p14:creationId xmlns:p14="http://schemas.microsoft.com/office/powerpoint/2010/main" val="2240973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73</TotalTime>
  <Words>4110</Words>
  <Application>Microsoft Office PowerPoint</Application>
  <PresentationFormat>Panorámica</PresentationFormat>
  <Paragraphs>417</Paragraphs>
  <Slides>28</Slides>
  <Notes>19</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28</vt:i4>
      </vt:variant>
    </vt:vector>
  </HeadingPairs>
  <TitlesOfParts>
    <vt:vector size="35" baseType="lpstr">
      <vt:lpstr>Aptos</vt:lpstr>
      <vt:lpstr>Aptos Display</vt:lpstr>
      <vt:lpstr>Arial</vt:lpstr>
      <vt:lpstr>Calibri</vt:lpstr>
      <vt:lpstr>Office Theme</vt:lpstr>
      <vt:lpstr>1_Office Theme</vt:lpstr>
      <vt:lpstr>5_Office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Darío Calahorrano</dc:creator>
  <cp:keywords/>
  <dc:description>generated using python-pptx</dc:description>
  <cp:lastModifiedBy>Dario-Acer26</cp:lastModifiedBy>
  <cp:revision>7</cp:revision>
  <dcterms:created xsi:type="dcterms:W3CDTF">2013-01-27T09:14:16Z</dcterms:created>
  <dcterms:modified xsi:type="dcterms:W3CDTF">2026-09-13T01:15:49Z</dcterms:modified>
  <cp:category/>
</cp:coreProperties>
</file>