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62" r:id="rId3"/>
  </p:sldMasterIdLst>
  <p:notesMasterIdLst>
    <p:notesMasterId r:id="rId29"/>
  </p:notesMasterIdLst>
  <p:sldIdLst>
    <p:sldId id="281" r:id="rId4"/>
    <p:sldId id="282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3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310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8593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5726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general tomado del Programa FdF-NAE.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Ficha técnica del Programa FdF-NAE.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programa articula dos ciclos complementarios: el ciclo pedagógico de la persona formadora y el ciclo de acompañamiento empresarial.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Dimensiones del perfil de salida y competencia general de salida.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curricular: 40 horas totales; 8 horas presenciales, 8 horas virtuales sincrónicas y 24 horas virtuales asincrónicas.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Ruta formativa y cronograma general según Programa FdF-NAE.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Matriz de correspondencia entre competencias y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Principios metodológicos generales y caso NAE transversal.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Módulos 1 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Módulos 3 y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Módulos 5 y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Incorporación de herramientas del Programa CVI del PNUD como referentes metodológicos complementarios.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Evaluación diagnóstica, formativa y teórica. Método de certificación: 30 % teórica y 70 % formativa, con requisito académico de 70/100.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Productos del portafolio de evaluación formativa.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Condiciones para la certificación conjunta UA–MES.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Multiplicación territorial, elementos esenciales y adaptables.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Formación: guía del facilitador/a, PPT base, caja de herramientas e instrumentos de evaluación.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Calidad y sostenibilidad del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0604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275730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914400" y="2840567"/>
            <a:ext cx="10363200" cy="1960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1828800" y="5181600"/>
            <a:ext cx="853440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972176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609600" y="2133601"/>
            <a:ext cx="10972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4004306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963084" y="5875867"/>
            <a:ext cx="10363200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533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963084" y="3875618"/>
            <a:ext cx="10363200" cy="2000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85" lvl="0" indent="-304792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667">
                <a:solidFill>
                  <a:srgbClr val="888888"/>
                </a:solidFill>
              </a:defRPr>
            </a:lvl1pPr>
            <a:lvl2pPr marL="1219170" lvl="1" indent="-304792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400">
                <a:solidFill>
                  <a:srgbClr val="888888"/>
                </a:solidFill>
              </a:defRPr>
            </a:lvl2pPr>
            <a:lvl3pPr marL="1828754" lvl="2" indent="-304792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133">
                <a:solidFill>
                  <a:srgbClr val="888888"/>
                </a:solidFill>
              </a:defRPr>
            </a:lvl3pPr>
            <a:lvl4pPr marL="2438339" lvl="3" indent="-304792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4pPr>
            <a:lvl5pPr marL="3047924" lvl="4" indent="-304792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5pPr>
            <a:lvl6pPr marL="3657509" lvl="5" indent="-304792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6pPr>
            <a:lvl7pPr marL="4267093" lvl="6" indent="-304792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7pPr>
            <a:lvl8pPr marL="4876678" lvl="7" indent="-304792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8pPr>
            <a:lvl9pPr marL="5486263" lvl="8" indent="-304792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403167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609600" y="2133601"/>
            <a:ext cx="5384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41853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33"/>
            </a:lvl1pPr>
            <a:lvl2pPr marL="1219170" lvl="1" indent="-507987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3200"/>
            </a:lvl2pPr>
            <a:lvl3pPr marL="1828754" lvl="2" indent="-47412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339" lvl="3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924" lvl="4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6197600" y="2133601"/>
            <a:ext cx="5384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41853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33"/>
            </a:lvl1pPr>
            <a:lvl2pPr marL="1219170" lvl="1" indent="-507987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3200"/>
            </a:lvl2pPr>
            <a:lvl3pPr marL="1828754" lvl="2" indent="-47412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339" lvl="3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924" lvl="4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941224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609600" y="2046817"/>
            <a:ext cx="5386917" cy="85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85" lvl="0" indent="-304792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609600" y="2899833"/>
            <a:ext cx="5386917" cy="526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07987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7412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54" lvl="2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924" lvl="4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509" lvl="5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7093" lvl="6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678" lvl="7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263" lvl="8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6193368" y="2046817"/>
            <a:ext cx="5389033" cy="85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85" lvl="0" indent="-304792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6193368" y="2899833"/>
            <a:ext cx="5389033" cy="526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07987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7412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54" lvl="2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924" lvl="4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509" lvl="5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7093" lvl="6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678" lvl="7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263" lvl="8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751066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32683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609601" y="364067"/>
            <a:ext cx="4011084" cy="1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667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body" idx="1"/>
          </p:nvPr>
        </p:nvSpPr>
        <p:spPr>
          <a:xfrm>
            <a:off x="4766733" y="364067"/>
            <a:ext cx="6815667" cy="7804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7571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4267"/>
            </a:lvl1pPr>
            <a:lvl2pPr marL="1219170" lvl="1" indent="-541853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3733"/>
            </a:lvl2pPr>
            <a:lvl3pPr marL="1828754" lvl="2" indent="-507987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3pPr>
            <a:lvl4pPr marL="2438339" lvl="3" indent="-47412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4pPr>
            <a:lvl5pPr marL="3047924" lvl="4" indent="-47412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667"/>
            </a:lvl5pPr>
            <a:lvl6pPr marL="3657509" lvl="5" indent="-47412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6pPr>
            <a:lvl7pPr marL="4267093" lvl="6" indent="-47412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7pPr>
            <a:lvl8pPr marL="4876678" lvl="7" indent="-47412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8pPr>
            <a:lvl9pPr marL="5486263" lvl="8" indent="-47412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body" idx="2"/>
          </p:nvPr>
        </p:nvSpPr>
        <p:spPr>
          <a:xfrm>
            <a:off x="609601" y="1913467"/>
            <a:ext cx="4011084" cy="6254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marL="1219170" lvl="1" indent="-3047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2pPr>
            <a:lvl3pPr marL="1828754" lvl="2" indent="-304792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3pPr>
            <a:lvl4pPr marL="2438339" lvl="3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6pPr>
            <a:lvl7pPr marL="4267093" lvl="6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7pPr>
            <a:lvl8pPr marL="4876678" lvl="7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8pPr>
            <a:lvl9pPr marL="5486263" lvl="8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369806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2389717" y="6400800"/>
            <a:ext cx="7315200" cy="75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667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>
            <a:spLocks noGrp="1"/>
          </p:cNvSpPr>
          <p:nvPr>
            <p:ph type="pic" idx="2"/>
          </p:nvPr>
        </p:nvSpPr>
        <p:spPr>
          <a:xfrm>
            <a:off x="2389717" y="817033"/>
            <a:ext cx="73152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Google Shape;64;p45"/>
          <p:cNvSpPr txBox="1">
            <a:spLocks noGrp="1"/>
          </p:cNvSpPr>
          <p:nvPr>
            <p:ph type="body" idx="1"/>
          </p:nvPr>
        </p:nvSpPr>
        <p:spPr>
          <a:xfrm>
            <a:off x="2389717" y="7156451"/>
            <a:ext cx="7315200" cy="107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marL="1219170" lvl="1" indent="-3047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2pPr>
            <a:lvl3pPr marL="1828754" lvl="2" indent="-304792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3pPr>
            <a:lvl4pPr marL="2438339" lvl="3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6pPr>
            <a:lvl7pPr marL="4267093" lvl="6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7pPr>
            <a:lvl8pPr marL="4876678" lvl="7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8pPr>
            <a:lvl9pPr marL="5486263" lvl="8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66" name="Google Shape;66;p45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67" name="Google Shape;67;p45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293244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 rot="5400000">
            <a:off x="3078693" y="-335491"/>
            <a:ext cx="603461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250607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>
            <a:spLocks noGrp="1"/>
          </p:cNvSpPr>
          <p:nvPr>
            <p:ph type="title"/>
          </p:nvPr>
        </p:nvSpPr>
        <p:spPr>
          <a:xfrm rot="5400000">
            <a:off x="6309785" y="2895601"/>
            <a:ext cx="780203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1"/>
          </p:nvPr>
        </p:nvSpPr>
        <p:spPr>
          <a:xfrm rot="5400000">
            <a:off x="721785" y="254000"/>
            <a:ext cx="780203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78" name="Google Shape;78;p47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79" name="Google Shape;79;p47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04661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853063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914400" y="2840567"/>
            <a:ext cx="10363200" cy="1960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1828800" y="5181600"/>
            <a:ext cx="853440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225467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609600" y="2133601"/>
            <a:ext cx="10972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071639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963084" y="5875867"/>
            <a:ext cx="10363200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533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963084" y="3875618"/>
            <a:ext cx="10363200" cy="2000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85" lvl="0" indent="-304792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667">
                <a:solidFill>
                  <a:srgbClr val="888888"/>
                </a:solidFill>
              </a:defRPr>
            </a:lvl1pPr>
            <a:lvl2pPr marL="1219170" lvl="1" indent="-304792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400">
                <a:solidFill>
                  <a:srgbClr val="888888"/>
                </a:solidFill>
              </a:defRPr>
            </a:lvl2pPr>
            <a:lvl3pPr marL="1828754" lvl="2" indent="-304792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133">
                <a:solidFill>
                  <a:srgbClr val="888888"/>
                </a:solidFill>
              </a:defRPr>
            </a:lvl3pPr>
            <a:lvl4pPr marL="2438339" lvl="3" indent="-304792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4pPr>
            <a:lvl5pPr marL="3047924" lvl="4" indent="-304792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5pPr>
            <a:lvl6pPr marL="3657509" lvl="5" indent="-304792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6pPr>
            <a:lvl7pPr marL="4267093" lvl="6" indent="-304792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7pPr>
            <a:lvl8pPr marL="4876678" lvl="7" indent="-304792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8pPr>
            <a:lvl9pPr marL="5486263" lvl="8" indent="-304792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4900722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609600" y="2133601"/>
            <a:ext cx="5384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41853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33"/>
            </a:lvl1pPr>
            <a:lvl2pPr marL="1219170" lvl="1" indent="-507987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3200"/>
            </a:lvl2pPr>
            <a:lvl3pPr marL="1828754" lvl="2" indent="-47412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339" lvl="3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924" lvl="4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6197600" y="2133601"/>
            <a:ext cx="5384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41853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33"/>
            </a:lvl1pPr>
            <a:lvl2pPr marL="1219170" lvl="1" indent="-507987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3200"/>
            </a:lvl2pPr>
            <a:lvl3pPr marL="1828754" lvl="2" indent="-47412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339" lvl="3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924" lvl="4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2066720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609600" y="2046817"/>
            <a:ext cx="5386917" cy="85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85" lvl="0" indent="-304792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609600" y="2899833"/>
            <a:ext cx="5386917" cy="526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07987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7412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54" lvl="2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924" lvl="4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509" lvl="5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7093" lvl="6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678" lvl="7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263" lvl="8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6193368" y="2046817"/>
            <a:ext cx="5389033" cy="85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85" lvl="0" indent="-304792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6193368" y="2899833"/>
            <a:ext cx="5389033" cy="526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07987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7412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54" lvl="2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924" lvl="4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509" lvl="5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7093" lvl="6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678" lvl="7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263" lvl="8" indent="-440256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9999759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4244600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609601" y="364067"/>
            <a:ext cx="4011084" cy="1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667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body" idx="1"/>
          </p:nvPr>
        </p:nvSpPr>
        <p:spPr>
          <a:xfrm>
            <a:off x="4766733" y="364067"/>
            <a:ext cx="6815667" cy="7804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75719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4267"/>
            </a:lvl1pPr>
            <a:lvl2pPr marL="1219170" lvl="1" indent="-541853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3733"/>
            </a:lvl2pPr>
            <a:lvl3pPr marL="1828754" lvl="2" indent="-507987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3pPr>
            <a:lvl4pPr marL="2438339" lvl="3" indent="-47412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4pPr>
            <a:lvl5pPr marL="3047924" lvl="4" indent="-47412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667"/>
            </a:lvl5pPr>
            <a:lvl6pPr marL="3657509" lvl="5" indent="-47412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6pPr>
            <a:lvl7pPr marL="4267093" lvl="6" indent="-47412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7pPr>
            <a:lvl8pPr marL="4876678" lvl="7" indent="-47412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8pPr>
            <a:lvl9pPr marL="5486263" lvl="8" indent="-47412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body" idx="2"/>
          </p:nvPr>
        </p:nvSpPr>
        <p:spPr>
          <a:xfrm>
            <a:off x="609601" y="1913467"/>
            <a:ext cx="4011084" cy="6254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marL="1219170" lvl="1" indent="-3047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2pPr>
            <a:lvl3pPr marL="1828754" lvl="2" indent="-304792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3pPr>
            <a:lvl4pPr marL="2438339" lvl="3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6pPr>
            <a:lvl7pPr marL="4267093" lvl="6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7pPr>
            <a:lvl8pPr marL="4876678" lvl="7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8pPr>
            <a:lvl9pPr marL="5486263" lvl="8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012224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2389717" y="6400800"/>
            <a:ext cx="7315200" cy="75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667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>
            <a:spLocks noGrp="1"/>
          </p:cNvSpPr>
          <p:nvPr>
            <p:ph type="pic" idx="2"/>
          </p:nvPr>
        </p:nvSpPr>
        <p:spPr>
          <a:xfrm>
            <a:off x="2389717" y="817033"/>
            <a:ext cx="7315200" cy="548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4" name="Google Shape;64;p45"/>
          <p:cNvSpPr txBox="1">
            <a:spLocks noGrp="1"/>
          </p:cNvSpPr>
          <p:nvPr>
            <p:ph type="body" idx="1"/>
          </p:nvPr>
        </p:nvSpPr>
        <p:spPr>
          <a:xfrm>
            <a:off x="2389717" y="7156451"/>
            <a:ext cx="7315200" cy="107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marL="1219170" lvl="1" indent="-3047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2pPr>
            <a:lvl3pPr marL="1828754" lvl="2" indent="-304792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3pPr>
            <a:lvl4pPr marL="2438339" lvl="3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6pPr>
            <a:lvl7pPr marL="4267093" lvl="6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7pPr>
            <a:lvl8pPr marL="4876678" lvl="7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8pPr>
            <a:lvl9pPr marL="5486263" lvl="8" indent="-30479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66" name="Google Shape;66;p45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67" name="Google Shape;67;p45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3103127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 rot="5400000">
            <a:off x="3078693" y="-335491"/>
            <a:ext cx="603461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4121639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>
            <a:spLocks noGrp="1"/>
          </p:cNvSpPr>
          <p:nvPr>
            <p:ph type="title"/>
          </p:nvPr>
        </p:nvSpPr>
        <p:spPr>
          <a:xfrm rot="5400000">
            <a:off x="6309785" y="2895601"/>
            <a:ext cx="780203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1"/>
          </p:nvPr>
        </p:nvSpPr>
        <p:spPr>
          <a:xfrm rot="5400000">
            <a:off x="721785" y="254000"/>
            <a:ext cx="780203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78" name="Google Shape;78;p47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79" name="Google Shape;79;p47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116676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>
            <a:extLst>
              <a:ext uri="{FF2B5EF4-FFF2-40B4-BE49-F238E27FC236}">
                <a16:creationId xmlns:a16="http://schemas.microsoft.com/office/drawing/2014/main" id="{9B9267F2-30A4-E7B7-C195-DD64D719DDA5}"/>
              </a:ext>
            </a:extLst>
          </p:cNvPr>
          <p:cNvSpPr/>
          <p:nvPr userDrawn="1"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9" descr="image3.png">
            <a:extLst>
              <a:ext uri="{FF2B5EF4-FFF2-40B4-BE49-F238E27FC236}">
                <a16:creationId xmlns:a16="http://schemas.microsoft.com/office/drawing/2014/main" id="{DAE19091-8FC6-54A4-EEFF-2079E2C893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89907" y="6301166"/>
            <a:ext cx="3611880" cy="4918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609600" y="2133601"/>
            <a:ext cx="10972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9" name="Google Shape;9;p36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79656721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609600" y="2133601"/>
            <a:ext cx="10972800" cy="603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dt" idx="10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9" name="Google Shape;9;p36"/>
          <p:cNvSpPr txBox="1">
            <a:spLocks noGrp="1"/>
          </p:cNvSpPr>
          <p:nvPr>
            <p:ph type="ftr" idx="11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219170">
              <a:buClr>
                <a:srgbClr val="000000"/>
              </a:buClr>
            </a:pPr>
            <a:endParaRPr lang="es-ES" kern="0"/>
          </a:p>
        </p:txBody>
      </p:sp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1219170">
                <a:buClr>
                  <a:srgbClr val="000000"/>
                </a:buClr>
              </a:pPr>
              <a:t>‹Nº›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78930952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524" y="-8141"/>
            <a:ext cx="6339853" cy="623825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9" y="406257"/>
            <a:ext cx="2275844" cy="1113539"/>
          </a:xfrm>
          <a:prstGeom prst="rect">
            <a:avLst/>
          </a:prstGeom>
        </p:spPr>
      </p:pic>
      <p:sp>
        <p:nvSpPr>
          <p:cNvPr id="86" name="Google Shape;86;p1"/>
          <p:cNvSpPr/>
          <p:nvPr/>
        </p:nvSpPr>
        <p:spPr>
          <a:xfrm>
            <a:off x="0" y="6230112"/>
            <a:ext cx="12192000" cy="6461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lang="es-419" sz="2400" kern="0" noProof="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" descr="asset_portada_6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74592" y="6266688"/>
            <a:ext cx="4255008" cy="56083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515862" y="1800579"/>
            <a:ext cx="11141612" cy="4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s-419" kern="0" noProof="0" dirty="0">
                <a:solidFill>
                  <a:srgbClr val="40BCFF"/>
                </a:solidFill>
                <a:latin typeface="Calibri"/>
                <a:ea typeface="Aptos"/>
                <a:cs typeface="Calibri"/>
                <a:sym typeface="Calibri"/>
              </a:rPr>
              <a:t>Programa </a:t>
            </a:r>
            <a:r>
              <a:rPr lang="es-419" kern="0" noProof="0" dirty="0">
                <a:solidFill>
                  <a:srgbClr val="40BCFF"/>
                </a:solidFill>
                <a:latin typeface="Aptos"/>
                <a:ea typeface="Aptos"/>
                <a:cs typeface="Calibri"/>
                <a:sym typeface="Calibri"/>
              </a:rPr>
              <a:t>de</a:t>
            </a:r>
            <a:r>
              <a:rPr lang="es-419" kern="0" noProof="0" dirty="0">
                <a:solidFill>
                  <a:srgbClr val="40BCFF"/>
                </a:solidFill>
                <a:latin typeface="Calibri"/>
                <a:ea typeface="Aptos"/>
                <a:cs typeface="Calibri"/>
                <a:sym typeface="Calibri"/>
              </a:rPr>
              <a:t> Formación de Formadores</a:t>
            </a:r>
          </a:p>
        </p:txBody>
      </p:sp>
      <p:sp>
        <p:nvSpPr>
          <p:cNvPr id="92" name="Google Shape;92;p1"/>
          <p:cNvSpPr txBox="1"/>
          <p:nvPr/>
        </p:nvSpPr>
        <p:spPr>
          <a:xfrm>
            <a:off x="9776851" y="827613"/>
            <a:ext cx="2224940" cy="328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s-419" sz="1333" kern="0" noProof="0" dirty="0">
                <a:solidFill>
                  <a:srgbClr val="A3C5ED"/>
                </a:solidFill>
                <a:latin typeface="Calibri"/>
                <a:ea typeface="Calibri"/>
                <a:cs typeface="Calibri"/>
                <a:sym typeface="Calibri"/>
              </a:rPr>
              <a:t>La Habana, Cuba · 2026</a:t>
            </a:r>
            <a:endParaRPr lang="es-419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658369" y="2327745"/>
            <a:ext cx="7086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s-419" sz="3800" b="1" noProof="0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FdF</a:t>
            </a:r>
            <a:r>
              <a:rPr lang="es-419" sz="3800" b="1" noProof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para el acompañamiento a NAE</a:t>
            </a:r>
            <a:endParaRPr lang="es-419" sz="3800" noProof="0" dirty="0"/>
          </a:p>
        </p:txBody>
      </p:sp>
      <p:sp>
        <p:nvSpPr>
          <p:cNvPr id="10" name="Text 2"/>
          <p:cNvSpPr/>
          <p:nvPr/>
        </p:nvSpPr>
        <p:spPr>
          <a:xfrm>
            <a:off x="658369" y="375254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2000" noProof="0" dirty="0">
                <a:solidFill>
                  <a:srgbClr val="E5EE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 ejecutivo del programa</a:t>
            </a:r>
            <a:endParaRPr lang="es-419" sz="2000" noProof="0" dirty="0"/>
          </a:p>
        </p:txBody>
      </p:sp>
      <p:sp>
        <p:nvSpPr>
          <p:cNvPr id="11" name="Shape 3"/>
          <p:cNvSpPr/>
          <p:nvPr/>
        </p:nvSpPr>
        <p:spPr>
          <a:xfrm>
            <a:off x="658369" y="4300235"/>
            <a:ext cx="3291840" cy="4572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Text 4"/>
          <p:cNvSpPr/>
          <p:nvPr/>
        </p:nvSpPr>
        <p:spPr>
          <a:xfrm>
            <a:off x="658369" y="454617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 dirty="0">
                <a:solidFill>
                  <a:srgbClr val="C7D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Formación de Formadores</a:t>
            </a:r>
            <a:endParaRPr lang="es-419" sz="1200" noProof="0" dirty="0"/>
          </a:p>
        </p:txBody>
      </p:sp>
      <p:sp>
        <p:nvSpPr>
          <p:cNvPr id="13" name="Text 5"/>
          <p:cNvSpPr/>
          <p:nvPr/>
        </p:nvSpPr>
        <p:spPr>
          <a:xfrm>
            <a:off x="658368" y="5217022"/>
            <a:ext cx="72470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000" b="1" noProof="0" dirty="0">
                <a:solidFill>
                  <a:schemeClr val="bg1"/>
                </a:solidFill>
              </a:rPr>
              <a:t>Proyecto NAE · Financiado por la </a:t>
            </a:r>
            <a:r>
              <a:rPr lang="es-419" sz="1000" b="1" noProof="0" dirty="0" err="1">
                <a:solidFill>
                  <a:schemeClr val="bg1"/>
                </a:solidFill>
              </a:rPr>
              <a:t>Agence</a:t>
            </a:r>
            <a:r>
              <a:rPr lang="es-419" sz="1000" b="1" noProof="0" dirty="0">
                <a:solidFill>
                  <a:schemeClr val="bg1"/>
                </a:solidFill>
              </a:rPr>
              <a:t> </a:t>
            </a:r>
            <a:r>
              <a:rPr lang="es-419" sz="1000" b="1" noProof="0" dirty="0" err="1">
                <a:solidFill>
                  <a:schemeClr val="bg1"/>
                </a:solidFill>
              </a:rPr>
              <a:t>Française</a:t>
            </a:r>
            <a:r>
              <a:rPr lang="es-419" sz="1000" b="1" noProof="0" dirty="0">
                <a:solidFill>
                  <a:schemeClr val="bg1"/>
                </a:solidFill>
              </a:rPr>
              <a:t> de </a:t>
            </a:r>
            <a:r>
              <a:rPr lang="es-419" sz="1000" b="1" noProof="0" dirty="0" err="1">
                <a:solidFill>
                  <a:schemeClr val="bg1"/>
                </a:solidFill>
              </a:rPr>
              <a:t>Développement</a:t>
            </a:r>
            <a:r>
              <a:rPr lang="es-419" sz="1000" b="1" noProof="0" dirty="0">
                <a:solidFill>
                  <a:schemeClr val="bg1"/>
                </a:solidFill>
              </a:rPr>
              <a:t> (AFD), con cofinanciación de la Unión Europea</a:t>
            </a:r>
          </a:p>
          <a:p>
            <a:pPr marL="0" indent="0">
              <a:buNone/>
            </a:pPr>
            <a:endParaRPr lang="es-419" sz="1000" b="1" noProof="0" dirty="0">
              <a:solidFill>
                <a:schemeClr val="bg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s-419" sz="10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 técnica</a:t>
            </a:r>
            <a:r>
              <a:rPr lang="es-419" sz="1000" b="1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s-419" sz="100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de Alicante (UA) · Parque Científico Tecnológico de La Habana (PCTH)</a:t>
            </a:r>
          </a:p>
          <a:p>
            <a:pPr marL="0" indent="0">
              <a:buNone/>
            </a:pPr>
            <a:endParaRPr lang="es-419" sz="1000" b="1" noProof="0" dirty="0">
              <a:solidFill>
                <a:schemeClr val="bg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s-419" sz="1000" noProof="0" dirty="0">
                <a:solidFill>
                  <a:srgbClr val="C7D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Habana, Cuba · 2026</a:t>
            </a:r>
            <a:endParaRPr lang="es-419" sz="1000" noProof="0" dirty="0"/>
          </a:p>
        </p:txBody>
      </p:sp>
      <p:sp>
        <p:nvSpPr>
          <p:cNvPr id="14" name="Text 7"/>
          <p:cNvSpPr/>
          <p:nvPr/>
        </p:nvSpPr>
        <p:spPr>
          <a:xfrm>
            <a:off x="515862" y="64053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850" noProof="0" dirty="0">
                <a:solidFill>
                  <a:srgbClr val="B9C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</a:t>
            </a:r>
            <a:r>
              <a:rPr lang="es-419" sz="850" noProof="0" dirty="0" err="1">
                <a:solidFill>
                  <a:srgbClr val="B9C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FdF</a:t>
            </a:r>
            <a:endParaRPr lang="es-419" sz="850" noProof="0" dirty="0"/>
          </a:p>
        </p:txBody>
      </p:sp>
    </p:spTree>
    <p:extLst>
      <p:ext uri="{BB962C8B-B14F-4D97-AF65-F5344CB8AC3E}">
        <p14:creationId xmlns:p14="http://schemas.microsoft.com/office/powerpoint/2010/main" val="3116818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377696"/>
          </a:xfrm>
          <a:prstGeom prst="rect">
            <a:avLst/>
          </a:prstGeom>
        </p:spPr>
      </p:pic>
      <p:sp>
        <p:nvSpPr>
          <p:cNvPr id="360" name="Google Shape;360;p11"/>
          <p:cNvSpPr txBox="1"/>
          <p:nvPr/>
        </p:nvSpPr>
        <p:spPr>
          <a:xfrm>
            <a:off x="548640" y="365761"/>
            <a:ext cx="9144000" cy="57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2933" dirty="0">
                <a:solidFill>
                  <a:srgbClr val="40BCFF"/>
                </a:solidFill>
                <a:latin typeface="Calibri"/>
                <a:ea typeface="Calibri"/>
                <a:cs typeface="Calibri"/>
                <a:sym typeface="Calibri"/>
              </a:rPr>
              <a:t>SÍNTESIS DEL PROGRAMA</a:t>
            </a:r>
          </a:p>
        </p:txBody>
      </p:sp>
      <p:sp>
        <p:nvSpPr>
          <p:cNvPr id="6" name="Text 1"/>
          <p:cNvSpPr/>
          <p:nvPr/>
        </p:nvSpPr>
        <p:spPr>
          <a:xfrm>
            <a:off x="676656" y="2255164"/>
            <a:ext cx="6126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Formar personas formadoras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capaces de acompañar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los NAE en territorio</a:t>
            </a:r>
            <a:endParaRPr lang="en-US" sz="3100" dirty="0"/>
          </a:p>
        </p:txBody>
      </p:sp>
      <p:sp>
        <p:nvSpPr>
          <p:cNvPr id="7" name="Text 2"/>
          <p:cNvSpPr/>
          <p:nvPr/>
        </p:nvSpPr>
        <p:spPr>
          <a:xfrm>
            <a:off x="682752" y="431175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A34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pedagógico · acompañamiento empresarial · réplica territorial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66928" y="6291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/>
          </a:p>
        </p:txBody>
      </p:sp>
      <p:pic>
        <p:nvPicPr>
          <p:cNvPr id="10" name="Google Shape;87;p1" descr="asset_portada_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4592" y="6266688"/>
            <a:ext cx="4255008" cy="56083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Shape 3"/>
          <p:cNvSpPr/>
          <p:nvPr/>
        </p:nvSpPr>
        <p:spPr>
          <a:xfrm>
            <a:off x="682752" y="5072109"/>
            <a:ext cx="3291840" cy="4572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16795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E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1417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D89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77240" y="2331720"/>
            <a:ext cx="658368" cy="4572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27706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VISIÓN DEL PROGRAMA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777240" y="349300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5EE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Propósito, perfil de salida y lógica de acompañamiento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6254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C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93192"/>
            <a:ext cx="384048" cy="32004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48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FdF-NAE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general del programa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52728"/>
            <a:ext cx="11064240" cy="0"/>
          </a:xfrm>
          <a:prstGeom prst="line">
            <a:avLst/>
          </a:prstGeom>
          <a:noFill/>
          <a:ln w="8255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64208"/>
            <a:ext cx="1078992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Fortalecer las competencias pedagógicas, metodológicas y empresariales de las personas vinculadas con las estructuras de apoyo a los NAE, para que sean capaces de diseñar, facilitar, implementar, evaluar y multiplicar procesos de formación y acompañamiento empresarial.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77240" y="3246120"/>
            <a:ext cx="2011680" cy="1024128"/>
          </a:xfrm>
          <a:prstGeom prst="rect">
            <a:avLst/>
          </a:prstGeom>
          <a:solidFill>
            <a:srgbClr val="002E54"/>
          </a:solidFill>
          <a:ln w="12700">
            <a:solidFill>
              <a:srgbClr val="002E5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341071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 h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941832" y="385876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EEF5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Duración total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3063240" y="3246120"/>
            <a:ext cx="2011680" cy="1024128"/>
          </a:xfrm>
          <a:prstGeom prst="rect">
            <a:avLst/>
          </a:prstGeom>
          <a:solidFill>
            <a:srgbClr val="00CBA8"/>
          </a:solidFill>
          <a:ln w="12700">
            <a:solidFill>
              <a:srgbClr val="00CBA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341071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227832" y="385876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EEF5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Módulos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349240" y="3246120"/>
            <a:ext cx="2011680" cy="1024128"/>
          </a:xfrm>
          <a:prstGeom prst="rect">
            <a:avLst/>
          </a:prstGeom>
          <a:solidFill>
            <a:srgbClr val="0B95D0"/>
          </a:solidFill>
          <a:ln w="12700">
            <a:solidFill>
              <a:srgbClr val="0B95D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341071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Mixta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513832" y="385876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EEF5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Presencial + virtual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635240" y="3246120"/>
            <a:ext cx="2423160" cy="1024128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3410712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UA–MES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799832" y="3858768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 err="1">
                <a:solidFill>
                  <a:srgbClr val="EEF5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Certificación</a:t>
            </a:r>
            <a:r>
              <a:rPr lang="en-US" sz="1120" dirty="0">
                <a:solidFill>
                  <a:srgbClr val="EEF5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20" dirty="0" err="1">
                <a:solidFill>
                  <a:srgbClr val="EEF5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conjunta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777240" y="482803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Enfoques transversales: género, inclusión, sostenibilidad, innovación, ética y desarrollo territorial.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566928" y="6291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201400" y="6291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93192"/>
            <a:ext cx="384048" cy="32004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48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FdF-NAE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Ficha técnica resumida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52728"/>
            <a:ext cx="11064240" cy="0"/>
          </a:xfrm>
          <a:prstGeom prst="line">
            <a:avLst/>
          </a:prstGeom>
          <a:noFill/>
          <a:ln w="8255">
            <a:solidFill>
              <a:srgbClr val="D9D4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27048"/>
            <a:ext cx="2743200" cy="576072"/>
          </a:xfrm>
          <a:prstGeom prst="rect">
            <a:avLst/>
          </a:prstGeom>
          <a:solidFill>
            <a:srgbClr val="002E54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581912"/>
            <a:ext cx="2651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01568" y="1527048"/>
            <a:ext cx="8138160" cy="576072"/>
          </a:xfrm>
          <a:prstGeom prst="rect">
            <a:avLst/>
          </a:prstGeom>
          <a:solidFill>
            <a:srgbClr val="002E54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7288" y="1581912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2103120"/>
            <a:ext cx="274320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157984"/>
            <a:ext cx="2651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Denominación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01568" y="2103120"/>
            <a:ext cx="813816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2157984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de Formación de Formadores para el acompañamiento a los Nuevos Actores Económicos (FdF-NAE)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2679192"/>
            <a:ext cx="2743200" cy="576072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734056"/>
            <a:ext cx="2651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01568" y="2679192"/>
            <a:ext cx="8138160" cy="576072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2734056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Apoyo a los nuevos actores económicos para una diversificación económica, innovativa y sostenible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3255264"/>
            <a:ext cx="274320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310128"/>
            <a:ext cx="2651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 de pedido / actividad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01568" y="3255264"/>
            <a:ext cx="813816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47288" y="3310128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 de pedido 1 · Actividad 2.3.2: Formación de Formadores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" y="3831336"/>
            <a:ext cx="2743200" cy="576072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3886200"/>
            <a:ext cx="2651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Modalidad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01568" y="3831336"/>
            <a:ext cx="8138160" cy="576072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47288" y="3886200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Mixta: presencial, virtual sincrónica y virtual asincrónica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" y="4407408"/>
            <a:ext cx="274320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4462272"/>
            <a:ext cx="2651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401568" y="4407408"/>
            <a:ext cx="813816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4462272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Teórica: prueba de conocimientos · Práctica: portafolio con evidencias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66928" y="6291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1201400" y="6291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93192"/>
            <a:ext cx="384048" cy="32004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</a:t>
            </a:r>
            <a:r>
              <a:rPr lang="es-419" sz="950" b="1" noProof="0" dirty="0" err="1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FdF</a:t>
            </a:r>
            <a:r>
              <a:rPr lang="es-419" sz="950" b="1" noProof="0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-NAE</a:t>
            </a:r>
            <a:endParaRPr lang="es-419" sz="950" noProof="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419" sz="2300" noProof="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Doble lógica de desarrollo de la competencia</a:t>
            </a:r>
            <a:endParaRPr lang="es-419" sz="2300" noProof="0" dirty="0"/>
          </a:p>
        </p:txBody>
      </p:sp>
      <p:sp>
        <p:nvSpPr>
          <p:cNvPr id="5" name="Shape 3"/>
          <p:cNvSpPr/>
          <p:nvPr/>
        </p:nvSpPr>
        <p:spPr>
          <a:xfrm>
            <a:off x="566928" y="1252728"/>
            <a:ext cx="11064240" cy="0"/>
          </a:xfrm>
          <a:prstGeom prst="line">
            <a:avLst/>
          </a:prstGeom>
          <a:noFill/>
          <a:ln w="8255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450" b="1" noProof="0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 pedagógico de la persona formadora</a:t>
            </a:r>
            <a:endParaRPr lang="es-419" sz="1450" noProof="0" dirty="0"/>
          </a:p>
        </p:txBody>
      </p:sp>
      <p:sp>
        <p:nvSpPr>
          <p:cNvPr id="7" name="Shape 5"/>
          <p:cNvSpPr/>
          <p:nvPr/>
        </p:nvSpPr>
        <p:spPr>
          <a:xfrm>
            <a:off x="658368" y="2057400"/>
            <a:ext cx="1722120" cy="804672"/>
          </a:xfrm>
          <a:prstGeom prst="chevron">
            <a:avLst/>
          </a:prstGeom>
          <a:solidFill>
            <a:srgbClr val="00CB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Text 6"/>
          <p:cNvSpPr/>
          <p:nvPr/>
        </p:nvSpPr>
        <p:spPr>
          <a:xfrm>
            <a:off x="768096" y="2286000"/>
            <a:ext cx="149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419" sz="122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Diagnosticar</a:t>
            </a:r>
            <a:endParaRPr lang="es-419" sz="1220" noProof="0" dirty="0"/>
          </a:p>
          <a:p>
            <a:pPr marL="0" indent="0" algn="ctr">
              <a:buNone/>
            </a:pPr>
            <a:r>
              <a:rPr lang="es-419" sz="122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necesidades</a:t>
            </a:r>
            <a:endParaRPr lang="es-419" sz="1220" noProof="0" dirty="0"/>
          </a:p>
        </p:txBody>
      </p:sp>
      <p:sp>
        <p:nvSpPr>
          <p:cNvPr id="9" name="Shape 7"/>
          <p:cNvSpPr/>
          <p:nvPr/>
        </p:nvSpPr>
        <p:spPr>
          <a:xfrm>
            <a:off x="2490216" y="2057400"/>
            <a:ext cx="1722120" cy="804672"/>
          </a:xfrm>
          <a:prstGeom prst="chevron">
            <a:avLst/>
          </a:prstGeom>
          <a:solidFill>
            <a:srgbClr val="0B95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0" name="Text 8"/>
          <p:cNvSpPr/>
          <p:nvPr/>
        </p:nvSpPr>
        <p:spPr>
          <a:xfrm>
            <a:off x="2599944" y="2286000"/>
            <a:ext cx="149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419" sz="122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Diseñar</a:t>
            </a:r>
            <a:endParaRPr lang="es-419" sz="1220" noProof="0" dirty="0"/>
          </a:p>
        </p:txBody>
      </p:sp>
      <p:sp>
        <p:nvSpPr>
          <p:cNvPr id="11" name="Shape 9"/>
          <p:cNvSpPr/>
          <p:nvPr/>
        </p:nvSpPr>
        <p:spPr>
          <a:xfrm>
            <a:off x="4322064" y="2057400"/>
            <a:ext cx="1722120" cy="804672"/>
          </a:xfrm>
          <a:prstGeom prst="chevron">
            <a:avLst/>
          </a:prstGeom>
          <a:solidFill>
            <a:srgbClr val="00CB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Text 10"/>
          <p:cNvSpPr/>
          <p:nvPr/>
        </p:nvSpPr>
        <p:spPr>
          <a:xfrm>
            <a:off x="4431792" y="2286000"/>
            <a:ext cx="149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419" sz="122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Facilitar</a:t>
            </a:r>
            <a:endParaRPr lang="es-419" sz="1220" noProof="0" dirty="0"/>
          </a:p>
        </p:txBody>
      </p:sp>
      <p:sp>
        <p:nvSpPr>
          <p:cNvPr id="13" name="Shape 11"/>
          <p:cNvSpPr/>
          <p:nvPr/>
        </p:nvSpPr>
        <p:spPr>
          <a:xfrm>
            <a:off x="6153912" y="2057400"/>
            <a:ext cx="1722120" cy="804672"/>
          </a:xfrm>
          <a:prstGeom prst="chevron">
            <a:avLst/>
          </a:prstGeom>
          <a:solidFill>
            <a:srgbClr val="0B95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4" name="Text 12"/>
          <p:cNvSpPr/>
          <p:nvPr/>
        </p:nvSpPr>
        <p:spPr>
          <a:xfrm>
            <a:off x="6263640" y="2286000"/>
            <a:ext cx="149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419" sz="122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Evaluar</a:t>
            </a:r>
            <a:endParaRPr lang="es-419" sz="1220" noProof="0" dirty="0"/>
          </a:p>
        </p:txBody>
      </p:sp>
      <p:sp>
        <p:nvSpPr>
          <p:cNvPr id="15" name="Shape 13"/>
          <p:cNvSpPr/>
          <p:nvPr/>
        </p:nvSpPr>
        <p:spPr>
          <a:xfrm>
            <a:off x="7985760" y="2057400"/>
            <a:ext cx="1722120" cy="804672"/>
          </a:xfrm>
          <a:prstGeom prst="chevron">
            <a:avLst/>
          </a:prstGeom>
          <a:solidFill>
            <a:srgbClr val="00CB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6" name="Text 14"/>
          <p:cNvSpPr/>
          <p:nvPr/>
        </p:nvSpPr>
        <p:spPr>
          <a:xfrm>
            <a:off x="8095488" y="2286000"/>
            <a:ext cx="149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419" sz="122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Mejorar</a:t>
            </a:r>
            <a:endParaRPr lang="es-419" sz="1220" noProof="0" dirty="0"/>
          </a:p>
        </p:txBody>
      </p:sp>
      <p:sp>
        <p:nvSpPr>
          <p:cNvPr id="17" name="Shape 15"/>
          <p:cNvSpPr/>
          <p:nvPr/>
        </p:nvSpPr>
        <p:spPr>
          <a:xfrm>
            <a:off x="9817608" y="2057400"/>
            <a:ext cx="1722120" cy="804672"/>
          </a:xfrm>
          <a:prstGeom prst="chevron">
            <a:avLst/>
          </a:prstGeom>
          <a:solidFill>
            <a:srgbClr val="0B95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8" name="Text 16"/>
          <p:cNvSpPr/>
          <p:nvPr/>
        </p:nvSpPr>
        <p:spPr>
          <a:xfrm>
            <a:off x="9927336" y="2286000"/>
            <a:ext cx="149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419" sz="122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Multiplicar</a:t>
            </a:r>
            <a:endParaRPr lang="es-419" sz="1220" noProof="0" dirty="0"/>
          </a:p>
        </p:txBody>
      </p:sp>
      <p:sp>
        <p:nvSpPr>
          <p:cNvPr id="19" name="Text 17"/>
          <p:cNvSpPr/>
          <p:nvPr/>
        </p:nvSpPr>
        <p:spPr>
          <a:xfrm>
            <a:off x="658368" y="35204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450" b="1" noProof="0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 de acompañamiento empresarial</a:t>
            </a:r>
            <a:endParaRPr lang="es-419" sz="1450" noProof="0" dirty="0"/>
          </a:p>
        </p:txBody>
      </p:sp>
      <p:sp>
        <p:nvSpPr>
          <p:cNvPr id="20" name="Shape 18"/>
          <p:cNvSpPr/>
          <p:nvPr/>
        </p:nvSpPr>
        <p:spPr>
          <a:xfrm>
            <a:off x="658368" y="4005072"/>
            <a:ext cx="1722120" cy="804672"/>
          </a:xfrm>
          <a:prstGeom prst="chevron">
            <a:avLst/>
          </a:prstGeom>
          <a:solidFill>
            <a:srgbClr val="00CB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1" name="Text 19"/>
          <p:cNvSpPr/>
          <p:nvPr/>
        </p:nvSpPr>
        <p:spPr>
          <a:xfrm>
            <a:off x="768096" y="4233672"/>
            <a:ext cx="149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419" sz="122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Diagnosticar</a:t>
            </a:r>
            <a:endParaRPr lang="es-419" sz="1220" noProof="0" dirty="0"/>
          </a:p>
          <a:p>
            <a:pPr marL="0" indent="0" algn="ctr">
              <a:buNone/>
            </a:pPr>
            <a:r>
              <a:rPr lang="es-419" sz="122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NAE</a:t>
            </a:r>
            <a:endParaRPr lang="es-419" sz="1220" noProof="0" dirty="0"/>
          </a:p>
        </p:txBody>
      </p:sp>
      <p:sp>
        <p:nvSpPr>
          <p:cNvPr id="22" name="Shape 20"/>
          <p:cNvSpPr/>
          <p:nvPr/>
        </p:nvSpPr>
        <p:spPr>
          <a:xfrm>
            <a:off x="2490216" y="4005072"/>
            <a:ext cx="1722120" cy="804672"/>
          </a:xfrm>
          <a:prstGeom prst="chevron">
            <a:avLst/>
          </a:prstGeom>
          <a:solidFill>
            <a:srgbClr val="0B95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3" name="Text 21"/>
          <p:cNvSpPr/>
          <p:nvPr/>
        </p:nvSpPr>
        <p:spPr>
          <a:xfrm>
            <a:off x="2599944" y="4233672"/>
            <a:ext cx="149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419" sz="122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Diseñar plan</a:t>
            </a:r>
            <a:endParaRPr lang="es-419" sz="1220" noProof="0" dirty="0"/>
          </a:p>
          <a:p>
            <a:pPr marL="0" indent="0" algn="ctr">
              <a:buNone/>
            </a:pPr>
            <a:r>
              <a:rPr lang="es-419" sz="122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mejora</a:t>
            </a:r>
            <a:endParaRPr lang="es-419" sz="1220" noProof="0" dirty="0"/>
          </a:p>
        </p:txBody>
      </p:sp>
      <p:sp>
        <p:nvSpPr>
          <p:cNvPr id="24" name="Shape 22"/>
          <p:cNvSpPr/>
          <p:nvPr/>
        </p:nvSpPr>
        <p:spPr>
          <a:xfrm>
            <a:off x="4322064" y="4005072"/>
            <a:ext cx="1722120" cy="804672"/>
          </a:xfrm>
          <a:prstGeom prst="chevron">
            <a:avLst/>
          </a:prstGeom>
          <a:solidFill>
            <a:srgbClr val="00CB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5" name="Text 23"/>
          <p:cNvSpPr/>
          <p:nvPr/>
        </p:nvSpPr>
        <p:spPr>
          <a:xfrm>
            <a:off x="4431792" y="4233672"/>
            <a:ext cx="149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419" sz="122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Acompañar</a:t>
            </a:r>
            <a:endParaRPr lang="es-419" sz="1220" noProof="0" dirty="0"/>
          </a:p>
          <a:p>
            <a:pPr marL="0" indent="0" algn="ctr">
              <a:buNone/>
            </a:pPr>
            <a:r>
              <a:rPr lang="es-419" sz="122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</a:t>
            </a:r>
            <a:endParaRPr lang="es-419" sz="1220" noProof="0" dirty="0"/>
          </a:p>
        </p:txBody>
      </p:sp>
      <p:sp>
        <p:nvSpPr>
          <p:cNvPr id="26" name="Shape 24"/>
          <p:cNvSpPr/>
          <p:nvPr/>
        </p:nvSpPr>
        <p:spPr>
          <a:xfrm>
            <a:off x="6153912" y="4005072"/>
            <a:ext cx="1722120" cy="804672"/>
          </a:xfrm>
          <a:prstGeom prst="chevron">
            <a:avLst/>
          </a:prstGeom>
          <a:solidFill>
            <a:srgbClr val="0B95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7" name="Text 25"/>
          <p:cNvSpPr/>
          <p:nvPr/>
        </p:nvSpPr>
        <p:spPr>
          <a:xfrm>
            <a:off x="6263640" y="4233672"/>
            <a:ext cx="149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419" sz="122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Evaluar</a:t>
            </a:r>
            <a:endParaRPr lang="es-419" sz="1220" noProof="0" dirty="0"/>
          </a:p>
          <a:p>
            <a:pPr marL="0" indent="0" algn="ctr">
              <a:buNone/>
            </a:pPr>
            <a:r>
              <a:rPr lang="es-419" sz="122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</a:t>
            </a:r>
            <a:endParaRPr lang="es-419" sz="1220" noProof="0" dirty="0"/>
          </a:p>
        </p:txBody>
      </p:sp>
      <p:sp>
        <p:nvSpPr>
          <p:cNvPr id="28" name="Shape 26"/>
          <p:cNvSpPr/>
          <p:nvPr/>
        </p:nvSpPr>
        <p:spPr>
          <a:xfrm>
            <a:off x="7985760" y="4005072"/>
            <a:ext cx="1722120" cy="804672"/>
          </a:xfrm>
          <a:prstGeom prst="chevron">
            <a:avLst/>
          </a:prstGeom>
          <a:solidFill>
            <a:srgbClr val="00CB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9" name="Text 27"/>
          <p:cNvSpPr/>
          <p:nvPr/>
        </p:nvSpPr>
        <p:spPr>
          <a:xfrm>
            <a:off x="8095488" y="4233672"/>
            <a:ext cx="149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419" sz="122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Ajustar</a:t>
            </a:r>
            <a:endParaRPr lang="es-419" sz="1220" noProof="0" dirty="0"/>
          </a:p>
        </p:txBody>
      </p:sp>
      <p:sp>
        <p:nvSpPr>
          <p:cNvPr id="30" name="Shape 28"/>
          <p:cNvSpPr/>
          <p:nvPr/>
        </p:nvSpPr>
        <p:spPr>
          <a:xfrm>
            <a:off x="9817608" y="4005072"/>
            <a:ext cx="1722120" cy="804672"/>
          </a:xfrm>
          <a:prstGeom prst="chevron">
            <a:avLst/>
          </a:prstGeom>
          <a:solidFill>
            <a:srgbClr val="0B95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1" name="Text 29"/>
          <p:cNvSpPr/>
          <p:nvPr/>
        </p:nvSpPr>
        <p:spPr>
          <a:xfrm>
            <a:off x="9927336" y="4233672"/>
            <a:ext cx="149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419" sz="122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Fortalecer</a:t>
            </a:r>
            <a:endParaRPr lang="es-419" sz="1220" noProof="0" dirty="0"/>
          </a:p>
          <a:p>
            <a:pPr marL="0" indent="0" algn="ctr">
              <a:buNone/>
            </a:pPr>
            <a:r>
              <a:rPr lang="es-419" sz="122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</a:t>
            </a:r>
            <a:endParaRPr lang="es-419" sz="1220" noProof="0" dirty="0"/>
          </a:p>
        </p:txBody>
      </p:sp>
      <p:sp>
        <p:nvSpPr>
          <p:cNvPr id="32" name="Text 30"/>
          <p:cNvSpPr/>
          <p:nvPr/>
        </p:nvSpPr>
        <p:spPr>
          <a:xfrm>
            <a:off x="658368" y="5321808"/>
            <a:ext cx="10652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550" noProof="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Elemento diferenciador: articular la formación de personas adultas con el ciclo integral de acompañamiento empresarial.</a:t>
            </a:r>
            <a:endParaRPr lang="es-419" sz="1550" noProof="0" dirty="0"/>
          </a:p>
        </p:txBody>
      </p:sp>
      <p:sp>
        <p:nvSpPr>
          <p:cNvPr id="35" name="Text 32"/>
          <p:cNvSpPr/>
          <p:nvPr/>
        </p:nvSpPr>
        <p:spPr>
          <a:xfrm>
            <a:off x="566928" y="6291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850" noProof="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</a:t>
            </a:r>
            <a:r>
              <a:rPr lang="es-419" sz="850" noProof="0" dirty="0" err="1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FdF</a:t>
            </a:r>
            <a:endParaRPr lang="es-419" sz="850" noProof="0" dirty="0"/>
          </a:p>
        </p:txBody>
      </p:sp>
      <p:sp>
        <p:nvSpPr>
          <p:cNvPr id="36" name="Text 33"/>
          <p:cNvSpPr/>
          <p:nvPr/>
        </p:nvSpPr>
        <p:spPr>
          <a:xfrm>
            <a:off x="11201400" y="6291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419" sz="850" noProof="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s-419" sz="85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93192"/>
            <a:ext cx="384048" cy="32004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48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FdF-NAE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Perfil de salida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52728"/>
            <a:ext cx="11064240" cy="0"/>
          </a:xfrm>
          <a:prstGeom prst="line">
            <a:avLst/>
          </a:prstGeom>
          <a:noFill/>
          <a:ln w="8255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54480"/>
            <a:ext cx="107899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 finalizar el programa, la persona participante será capaz de diseñar, facilitar, evaluar y multiplicar procesos de formación y acompañamiento técnico dirigidos a personas asesoras, gestoras y estructuras de apoyo a los NAE.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58368" y="2788920"/>
            <a:ext cx="525780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788920"/>
            <a:ext cx="73152" cy="859536"/>
          </a:xfrm>
          <a:prstGeom prst="rect">
            <a:avLst/>
          </a:prstGeom>
          <a:solidFill>
            <a:srgbClr val="00CBA8"/>
          </a:solidFill>
          <a:ln w="12700">
            <a:solidFill>
              <a:srgbClr val="00C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953512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Pedagogía y facilitación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59536" y="3291840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Formación de personas adultas, metodologías activas, diseño y evaluación.</a:t>
            </a:r>
            <a:endParaRPr lang="en-US" sz="1270" dirty="0"/>
          </a:p>
        </p:txBody>
      </p:sp>
      <p:sp>
        <p:nvSpPr>
          <p:cNvPr id="11" name="Shape 9"/>
          <p:cNvSpPr/>
          <p:nvPr/>
        </p:nvSpPr>
        <p:spPr>
          <a:xfrm>
            <a:off x="6281928" y="2788920"/>
            <a:ext cx="525780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1928" y="2788920"/>
            <a:ext cx="73152" cy="859536"/>
          </a:xfrm>
          <a:prstGeom prst="rect">
            <a:avLst/>
          </a:prstGeom>
          <a:solidFill>
            <a:srgbClr val="0B95D0"/>
          </a:solidFill>
          <a:ln w="12700">
            <a:solidFill>
              <a:srgbClr val="0B95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2953512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Diagnóstico y acompañamiento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83096" y="3291840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empresarial, planes de mejora, mentoría y seguimiento.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658368" y="4023360"/>
            <a:ext cx="525780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023360"/>
            <a:ext cx="73152" cy="859536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4187952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Enfoques transversales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9536" y="4526280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Género, inclusión, sostenibilidad, innovación y ética en todo el ciclo.</a:t>
            </a:r>
            <a:endParaRPr lang="en-US" sz="1270" dirty="0"/>
          </a:p>
        </p:txBody>
      </p:sp>
      <p:sp>
        <p:nvSpPr>
          <p:cNvPr id="19" name="Shape 17"/>
          <p:cNvSpPr/>
          <p:nvPr/>
        </p:nvSpPr>
        <p:spPr>
          <a:xfrm>
            <a:off x="6281928" y="4023360"/>
            <a:ext cx="525780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81928" y="4023360"/>
            <a:ext cx="73152" cy="859536"/>
          </a:xfrm>
          <a:prstGeom prst="rect">
            <a:avLst/>
          </a:prstGeom>
          <a:solidFill>
            <a:srgbClr val="00CBA8"/>
          </a:solidFill>
          <a:ln w="12700">
            <a:solidFill>
              <a:srgbClr val="00CB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3096" y="4187952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Transferencia territorial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83096" y="4526280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Multiplicación provincial, adaptación contextual y aseguramiento de calidad.</a:t>
            </a:r>
            <a:endParaRPr lang="en-US" sz="1270" dirty="0"/>
          </a:p>
        </p:txBody>
      </p:sp>
      <p:sp>
        <p:nvSpPr>
          <p:cNvPr id="25" name="Text 22"/>
          <p:cNvSpPr/>
          <p:nvPr/>
        </p:nvSpPr>
        <p:spPr>
          <a:xfrm>
            <a:off x="566928" y="6291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201400" y="6291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E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1417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D89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77240" y="2331720"/>
            <a:ext cx="658368" cy="4572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27706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CURRICULAR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777240" y="349300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5EE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Módulos, duración, ruta formativa y enfoque metodológico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6254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C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93192"/>
            <a:ext cx="384048" cy="32004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48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FdF-NAE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curricular: 40 horas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52728"/>
            <a:ext cx="11064240" cy="0"/>
          </a:xfrm>
          <a:prstGeom prst="line">
            <a:avLst/>
          </a:prstGeom>
          <a:noFill/>
          <a:ln w="8255">
            <a:solidFill>
              <a:srgbClr val="D9D4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44752"/>
            <a:ext cx="502920" cy="502920"/>
          </a:xfrm>
          <a:prstGeom prst="rect">
            <a:avLst/>
          </a:prstGeom>
          <a:solidFill>
            <a:srgbClr val="002E54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99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1005840" y="1444752"/>
            <a:ext cx="5897880" cy="502920"/>
          </a:xfrm>
          <a:prstGeom prst="rect">
            <a:avLst/>
          </a:prstGeom>
          <a:solidFill>
            <a:srgbClr val="002E54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499616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Denominación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903720" y="1444752"/>
            <a:ext cx="960120" cy="502920"/>
          </a:xfrm>
          <a:prstGeom prst="rect">
            <a:avLst/>
          </a:prstGeom>
          <a:solidFill>
            <a:srgbClr val="002E54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149961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863840" y="1444752"/>
            <a:ext cx="1005840" cy="502920"/>
          </a:xfrm>
          <a:prstGeom prst="rect">
            <a:avLst/>
          </a:prstGeom>
          <a:solidFill>
            <a:srgbClr val="002E54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149961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Sincr.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869680" y="1444752"/>
            <a:ext cx="1097280" cy="502920"/>
          </a:xfrm>
          <a:prstGeom prst="rect">
            <a:avLst/>
          </a:prstGeom>
          <a:solidFill>
            <a:srgbClr val="002E54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0" y="149961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Asincr.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9966960" y="1444752"/>
            <a:ext cx="960120" cy="502920"/>
          </a:xfrm>
          <a:prstGeom prst="rect">
            <a:avLst/>
          </a:prstGeom>
          <a:solidFill>
            <a:srgbClr val="002E54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2680" y="149961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02920" y="1947672"/>
            <a:ext cx="5029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002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1005840" y="1947672"/>
            <a:ext cx="58978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2002536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Ingeniería de la formación y facilitación de personas adultas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903720" y="1947672"/>
            <a:ext cx="9601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200253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7863840" y="1947672"/>
            <a:ext cx="100584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09560" y="200253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8869680" y="1947672"/>
            <a:ext cx="10972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15400" y="200253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9966960" y="1947672"/>
            <a:ext cx="9601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12680" y="200253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h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502920" y="2450592"/>
            <a:ext cx="50292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505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1005840" y="2450592"/>
            <a:ext cx="589788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2505456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 empresarial integral de los NAE y necesidades de acompañamiento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903720" y="2450592"/>
            <a:ext cx="96012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250545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7863840" y="2450592"/>
            <a:ext cx="100584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9560" y="250545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h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8869680" y="2450592"/>
            <a:ext cx="109728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15400" y="250545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h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9966960" y="2450592"/>
            <a:ext cx="96012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12680" y="250545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h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502920" y="2953512"/>
            <a:ext cx="5029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008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1005840" y="2953512"/>
            <a:ext cx="58978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1560" y="3008376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de planes de mejora empresarial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6903720" y="2953512"/>
            <a:ext cx="9601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300837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h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7863840" y="2953512"/>
            <a:ext cx="100584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09560" y="300837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h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8869680" y="2953512"/>
            <a:ext cx="10972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15400" y="300837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h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9966960" y="2953512"/>
            <a:ext cx="9601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012680" y="300837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</a:t>
            </a:r>
            <a:endParaRPr lang="en-US" sz="1020" dirty="0"/>
          </a:p>
        </p:txBody>
      </p:sp>
      <p:sp>
        <p:nvSpPr>
          <p:cNvPr id="54" name="Shape 52"/>
          <p:cNvSpPr/>
          <p:nvPr/>
        </p:nvSpPr>
        <p:spPr>
          <a:xfrm>
            <a:off x="502920" y="3456432"/>
            <a:ext cx="50292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3511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20" dirty="0"/>
          </a:p>
        </p:txBody>
      </p:sp>
      <p:sp>
        <p:nvSpPr>
          <p:cNvPr id="56" name="Shape 54"/>
          <p:cNvSpPr/>
          <p:nvPr/>
        </p:nvSpPr>
        <p:spPr>
          <a:xfrm>
            <a:off x="1005840" y="3456432"/>
            <a:ext cx="589788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1560" y="3511296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Implementación, mentoría y seguimiento de planes de mejora</a:t>
            </a:r>
            <a:endParaRPr lang="en-US" sz="1020" dirty="0"/>
          </a:p>
        </p:txBody>
      </p:sp>
      <p:sp>
        <p:nvSpPr>
          <p:cNvPr id="58" name="Shape 56"/>
          <p:cNvSpPr/>
          <p:nvPr/>
        </p:nvSpPr>
        <p:spPr>
          <a:xfrm>
            <a:off x="6903720" y="3456432"/>
            <a:ext cx="96012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49440" y="351129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h</a:t>
            </a:r>
            <a:endParaRPr lang="en-US" sz="1020" dirty="0"/>
          </a:p>
        </p:txBody>
      </p:sp>
      <p:sp>
        <p:nvSpPr>
          <p:cNvPr id="60" name="Shape 58"/>
          <p:cNvSpPr/>
          <p:nvPr/>
        </p:nvSpPr>
        <p:spPr>
          <a:xfrm>
            <a:off x="7863840" y="3456432"/>
            <a:ext cx="100584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09560" y="351129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</a:t>
            </a:r>
            <a:endParaRPr lang="en-US" sz="1020" dirty="0"/>
          </a:p>
        </p:txBody>
      </p:sp>
      <p:sp>
        <p:nvSpPr>
          <p:cNvPr id="62" name="Shape 60"/>
          <p:cNvSpPr/>
          <p:nvPr/>
        </p:nvSpPr>
        <p:spPr>
          <a:xfrm>
            <a:off x="8869680" y="3456432"/>
            <a:ext cx="109728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15400" y="351129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h</a:t>
            </a:r>
            <a:endParaRPr lang="en-US" sz="1020" dirty="0"/>
          </a:p>
        </p:txBody>
      </p:sp>
      <p:sp>
        <p:nvSpPr>
          <p:cNvPr id="64" name="Shape 62"/>
          <p:cNvSpPr/>
          <p:nvPr/>
        </p:nvSpPr>
        <p:spPr>
          <a:xfrm>
            <a:off x="9966960" y="3456432"/>
            <a:ext cx="96012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012680" y="351129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502920" y="3959352"/>
            <a:ext cx="5029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4014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20" dirty="0"/>
          </a:p>
        </p:txBody>
      </p:sp>
      <p:sp>
        <p:nvSpPr>
          <p:cNvPr id="68" name="Shape 66"/>
          <p:cNvSpPr/>
          <p:nvPr/>
        </p:nvSpPr>
        <p:spPr>
          <a:xfrm>
            <a:off x="1005840" y="3959352"/>
            <a:ext cx="58978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51560" y="4014216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del acompañamiento y mejora continua</a:t>
            </a:r>
            <a:endParaRPr lang="en-US" sz="1020" dirty="0"/>
          </a:p>
        </p:txBody>
      </p:sp>
      <p:sp>
        <p:nvSpPr>
          <p:cNvPr id="70" name="Shape 68"/>
          <p:cNvSpPr/>
          <p:nvPr/>
        </p:nvSpPr>
        <p:spPr>
          <a:xfrm>
            <a:off x="6903720" y="3959352"/>
            <a:ext cx="9601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49440" y="401421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h</a:t>
            </a:r>
            <a:endParaRPr lang="en-US" sz="1020" dirty="0"/>
          </a:p>
        </p:txBody>
      </p:sp>
      <p:sp>
        <p:nvSpPr>
          <p:cNvPr id="72" name="Shape 70"/>
          <p:cNvSpPr/>
          <p:nvPr/>
        </p:nvSpPr>
        <p:spPr>
          <a:xfrm>
            <a:off x="7863840" y="3959352"/>
            <a:ext cx="100584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09560" y="401421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h</a:t>
            </a:r>
            <a:endParaRPr lang="en-US" sz="1020" dirty="0"/>
          </a:p>
        </p:txBody>
      </p:sp>
      <p:sp>
        <p:nvSpPr>
          <p:cNvPr id="74" name="Shape 72"/>
          <p:cNvSpPr/>
          <p:nvPr/>
        </p:nvSpPr>
        <p:spPr>
          <a:xfrm>
            <a:off x="8869680" y="3959352"/>
            <a:ext cx="10972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915400" y="401421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h</a:t>
            </a:r>
            <a:endParaRPr lang="en-US" sz="1020" dirty="0"/>
          </a:p>
        </p:txBody>
      </p:sp>
      <p:sp>
        <p:nvSpPr>
          <p:cNvPr id="76" name="Shape 74"/>
          <p:cNvSpPr/>
          <p:nvPr/>
        </p:nvSpPr>
        <p:spPr>
          <a:xfrm>
            <a:off x="9966960" y="3959352"/>
            <a:ext cx="9601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012680" y="401421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h</a:t>
            </a:r>
            <a:endParaRPr lang="en-US" sz="1020" dirty="0"/>
          </a:p>
        </p:txBody>
      </p:sp>
      <p:sp>
        <p:nvSpPr>
          <p:cNvPr id="78" name="Shape 76"/>
          <p:cNvSpPr/>
          <p:nvPr/>
        </p:nvSpPr>
        <p:spPr>
          <a:xfrm>
            <a:off x="502920" y="4462272"/>
            <a:ext cx="50292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8640" y="4517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20" dirty="0"/>
          </a:p>
        </p:txBody>
      </p:sp>
      <p:sp>
        <p:nvSpPr>
          <p:cNvPr id="80" name="Shape 78"/>
          <p:cNvSpPr/>
          <p:nvPr/>
        </p:nvSpPr>
        <p:spPr>
          <a:xfrm>
            <a:off x="1005840" y="4462272"/>
            <a:ext cx="589788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51560" y="4517136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Elementos transversales, articulación territorial y transferencia metodológica</a:t>
            </a:r>
            <a:endParaRPr lang="en-US" sz="1020" dirty="0"/>
          </a:p>
        </p:txBody>
      </p:sp>
      <p:sp>
        <p:nvSpPr>
          <p:cNvPr id="82" name="Shape 80"/>
          <p:cNvSpPr/>
          <p:nvPr/>
        </p:nvSpPr>
        <p:spPr>
          <a:xfrm>
            <a:off x="6903720" y="4462272"/>
            <a:ext cx="96012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949440" y="451713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h</a:t>
            </a:r>
            <a:endParaRPr lang="en-US" sz="1020" dirty="0"/>
          </a:p>
        </p:txBody>
      </p:sp>
      <p:sp>
        <p:nvSpPr>
          <p:cNvPr id="84" name="Shape 82"/>
          <p:cNvSpPr/>
          <p:nvPr/>
        </p:nvSpPr>
        <p:spPr>
          <a:xfrm>
            <a:off x="7863840" y="4462272"/>
            <a:ext cx="100584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909560" y="451713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h</a:t>
            </a:r>
            <a:endParaRPr lang="en-US" sz="1020" dirty="0"/>
          </a:p>
        </p:txBody>
      </p:sp>
      <p:sp>
        <p:nvSpPr>
          <p:cNvPr id="86" name="Shape 84"/>
          <p:cNvSpPr/>
          <p:nvPr/>
        </p:nvSpPr>
        <p:spPr>
          <a:xfrm>
            <a:off x="8869680" y="4462272"/>
            <a:ext cx="109728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915400" y="451713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h</a:t>
            </a:r>
            <a:endParaRPr lang="en-US" sz="1020" dirty="0"/>
          </a:p>
        </p:txBody>
      </p:sp>
      <p:sp>
        <p:nvSpPr>
          <p:cNvPr id="88" name="Shape 86"/>
          <p:cNvSpPr/>
          <p:nvPr/>
        </p:nvSpPr>
        <p:spPr>
          <a:xfrm>
            <a:off x="9966960" y="4462272"/>
            <a:ext cx="96012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012680" y="451713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</a:t>
            </a:r>
            <a:endParaRPr lang="en-US" sz="1020" dirty="0"/>
          </a:p>
        </p:txBody>
      </p:sp>
      <p:sp>
        <p:nvSpPr>
          <p:cNvPr id="90" name="Shape 88"/>
          <p:cNvSpPr/>
          <p:nvPr/>
        </p:nvSpPr>
        <p:spPr>
          <a:xfrm>
            <a:off x="502920" y="4965192"/>
            <a:ext cx="5029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48640" y="5020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020" dirty="0"/>
          </a:p>
        </p:txBody>
      </p:sp>
      <p:sp>
        <p:nvSpPr>
          <p:cNvPr id="92" name="Shape 90"/>
          <p:cNvSpPr/>
          <p:nvPr/>
        </p:nvSpPr>
        <p:spPr>
          <a:xfrm>
            <a:off x="1005840" y="4965192"/>
            <a:ext cx="58978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51560" y="5020056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020" dirty="0"/>
          </a:p>
        </p:txBody>
      </p:sp>
      <p:sp>
        <p:nvSpPr>
          <p:cNvPr id="94" name="Shape 92"/>
          <p:cNvSpPr/>
          <p:nvPr/>
        </p:nvSpPr>
        <p:spPr>
          <a:xfrm>
            <a:off x="6903720" y="4965192"/>
            <a:ext cx="9601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949440" y="502005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h</a:t>
            </a:r>
            <a:endParaRPr lang="en-US" sz="1020" dirty="0"/>
          </a:p>
        </p:txBody>
      </p:sp>
      <p:sp>
        <p:nvSpPr>
          <p:cNvPr id="96" name="Shape 94"/>
          <p:cNvSpPr/>
          <p:nvPr/>
        </p:nvSpPr>
        <p:spPr>
          <a:xfrm>
            <a:off x="7863840" y="4965192"/>
            <a:ext cx="100584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909560" y="502005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h</a:t>
            </a:r>
            <a:endParaRPr lang="en-US" sz="1020" dirty="0"/>
          </a:p>
        </p:txBody>
      </p:sp>
      <p:sp>
        <p:nvSpPr>
          <p:cNvPr id="98" name="Shape 96"/>
          <p:cNvSpPr/>
          <p:nvPr/>
        </p:nvSpPr>
        <p:spPr>
          <a:xfrm>
            <a:off x="8869680" y="4965192"/>
            <a:ext cx="10972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915400" y="502005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h</a:t>
            </a:r>
            <a:endParaRPr lang="en-US" sz="1020" dirty="0"/>
          </a:p>
        </p:txBody>
      </p:sp>
      <p:sp>
        <p:nvSpPr>
          <p:cNvPr id="100" name="Shape 98"/>
          <p:cNvSpPr/>
          <p:nvPr/>
        </p:nvSpPr>
        <p:spPr>
          <a:xfrm>
            <a:off x="9966960" y="4965192"/>
            <a:ext cx="9601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012680" y="502005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h</a:t>
            </a:r>
            <a:endParaRPr lang="en-US" sz="1020" dirty="0"/>
          </a:p>
        </p:txBody>
      </p:sp>
      <p:sp>
        <p:nvSpPr>
          <p:cNvPr id="104" name="Text 101"/>
          <p:cNvSpPr/>
          <p:nvPr/>
        </p:nvSpPr>
        <p:spPr>
          <a:xfrm>
            <a:off x="566928" y="6291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105" name="Text 102"/>
          <p:cNvSpPr/>
          <p:nvPr/>
        </p:nvSpPr>
        <p:spPr>
          <a:xfrm>
            <a:off x="11201400" y="6291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93192"/>
            <a:ext cx="384048" cy="32004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48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FdF-NAE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formativa y cronograma general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52728"/>
            <a:ext cx="11064240" cy="0"/>
          </a:xfrm>
          <a:prstGeom prst="line">
            <a:avLst/>
          </a:prstGeom>
          <a:noFill/>
          <a:ln w="8255">
            <a:solidFill>
              <a:srgbClr val="D9D4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417320"/>
            <a:ext cx="1417320" cy="438912"/>
          </a:xfrm>
          <a:prstGeom prst="rect">
            <a:avLst/>
          </a:prstGeom>
          <a:solidFill>
            <a:srgbClr val="002E54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7218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Momento</a:t>
            </a:r>
            <a:endParaRPr lang="en-US" sz="910" dirty="0"/>
          </a:p>
        </p:txBody>
      </p:sp>
      <p:sp>
        <p:nvSpPr>
          <p:cNvPr id="8" name="Shape 6"/>
          <p:cNvSpPr/>
          <p:nvPr/>
        </p:nvSpPr>
        <p:spPr>
          <a:xfrm>
            <a:off x="1801368" y="1417320"/>
            <a:ext cx="1600200" cy="438912"/>
          </a:xfrm>
          <a:prstGeom prst="rect">
            <a:avLst/>
          </a:prstGeom>
          <a:solidFill>
            <a:srgbClr val="002E54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14721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Modalidad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3401568" y="1417320"/>
            <a:ext cx="5806440" cy="438912"/>
          </a:xfrm>
          <a:prstGeom prst="rect">
            <a:avLst/>
          </a:prstGeom>
          <a:solidFill>
            <a:srgbClr val="002E54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472184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Actividades principales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9208008" y="1417320"/>
            <a:ext cx="2148840" cy="438912"/>
          </a:xfrm>
          <a:prstGeom prst="rect">
            <a:avLst/>
          </a:prstGeom>
          <a:solidFill>
            <a:srgbClr val="002E54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53728" y="147218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384048" y="1856232"/>
            <a:ext cx="14173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91109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Preparación previa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1801368" y="1856232"/>
            <a:ext cx="16002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47088" y="191109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Asincrónica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3401568" y="1856232"/>
            <a:ext cx="58064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1911096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diagnóstica; lecturas, videos y revisión de materiales; preparación del caso.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9208008" y="1856232"/>
            <a:ext cx="21488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53728" y="191109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7–11 septiembre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384048" y="2295144"/>
            <a:ext cx="1417320" cy="438912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23500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Jornada presencial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1801368" y="2295144"/>
            <a:ext cx="1600200" cy="438912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47088" y="23500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Presencial*</a:t>
            </a:r>
            <a:endParaRPr lang="en-US" sz="910" dirty="0"/>
          </a:p>
        </p:txBody>
      </p:sp>
      <p:sp>
        <p:nvSpPr>
          <p:cNvPr id="26" name="Shape 24"/>
          <p:cNvSpPr/>
          <p:nvPr/>
        </p:nvSpPr>
        <p:spPr>
          <a:xfrm>
            <a:off x="3401568" y="2295144"/>
            <a:ext cx="5806440" cy="438912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350008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Demostraciones, simulaciones, análisis de casos, microfacilitaciones y aplicación inicial.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9208008" y="2295144"/>
            <a:ext cx="2148840" cy="438912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53728" y="235000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sep Occ.</a:t>
            </a:r>
            <a:endParaRPr lang="en-US" sz="910" dirty="0"/>
          </a:p>
          <a:p>
            <a:pPr marL="0" indent="0" algn="ctr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sep Centro</a:t>
            </a:r>
            <a:endParaRPr lang="en-US" sz="910" dirty="0"/>
          </a:p>
          <a:p>
            <a:pPr marL="0" indent="0" algn="ctr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sep Oriente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384048" y="2734056"/>
            <a:ext cx="14173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27889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1</a:t>
            </a:r>
            <a:endParaRPr lang="en-US" sz="910" dirty="0"/>
          </a:p>
        </p:txBody>
      </p:sp>
      <p:sp>
        <p:nvSpPr>
          <p:cNvPr id="32" name="Shape 30"/>
          <p:cNvSpPr/>
          <p:nvPr/>
        </p:nvSpPr>
        <p:spPr>
          <a:xfrm>
            <a:off x="1801368" y="2734056"/>
            <a:ext cx="16002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47088" y="27889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 sincr. + asincr.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3401568" y="2734056"/>
            <a:ext cx="58064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47288" y="2788920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 del diagnóstico en empresa real o simulada; intercambio y retroalimentación.</a:t>
            </a:r>
            <a:endParaRPr lang="en-US" sz="910" dirty="0"/>
          </a:p>
        </p:txBody>
      </p:sp>
      <p:sp>
        <p:nvSpPr>
          <p:cNvPr id="36" name="Shape 34"/>
          <p:cNvSpPr/>
          <p:nvPr/>
        </p:nvSpPr>
        <p:spPr>
          <a:xfrm>
            <a:off x="9208008" y="2734056"/>
            <a:ext cx="21488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53728" y="27889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 septiembre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384048" y="3172968"/>
            <a:ext cx="1417320" cy="438912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" y="322783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2</a:t>
            </a:r>
            <a:endParaRPr lang="en-US" sz="910" dirty="0"/>
          </a:p>
        </p:txBody>
      </p:sp>
      <p:sp>
        <p:nvSpPr>
          <p:cNvPr id="40" name="Shape 38"/>
          <p:cNvSpPr/>
          <p:nvPr/>
        </p:nvSpPr>
        <p:spPr>
          <a:xfrm>
            <a:off x="1801368" y="3172968"/>
            <a:ext cx="1600200" cy="438912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47088" y="32278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 sincr. + asincr.</a:t>
            </a:r>
            <a:endParaRPr lang="en-US" sz="910" dirty="0"/>
          </a:p>
        </p:txBody>
      </p:sp>
      <p:sp>
        <p:nvSpPr>
          <p:cNvPr id="42" name="Shape 40"/>
          <p:cNvSpPr/>
          <p:nvPr/>
        </p:nvSpPr>
        <p:spPr>
          <a:xfrm>
            <a:off x="3401568" y="3172968"/>
            <a:ext cx="5806440" cy="438912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47288" y="3227832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Formulación del Plan de Mejora; revisión entre pares y ajustes.</a:t>
            </a:r>
            <a:endParaRPr lang="en-US" sz="910" dirty="0"/>
          </a:p>
        </p:txBody>
      </p:sp>
      <p:sp>
        <p:nvSpPr>
          <p:cNvPr id="44" name="Shape 42"/>
          <p:cNvSpPr/>
          <p:nvPr/>
        </p:nvSpPr>
        <p:spPr>
          <a:xfrm>
            <a:off x="9208008" y="3172968"/>
            <a:ext cx="2148840" cy="438912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53728" y="32278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octubre</a:t>
            </a:r>
            <a:endParaRPr lang="en-US" sz="910" dirty="0"/>
          </a:p>
        </p:txBody>
      </p:sp>
      <p:sp>
        <p:nvSpPr>
          <p:cNvPr id="46" name="Shape 44"/>
          <p:cNvSpPr/>
          <p:nvPr/>
        </p:nvSpPr>
        <p:spPr>
          <a:xfrm>
            <a:off x="384048" y="3611880"/>
            <a:ext cx="14173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" y="366674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3</a:t>
            </a:r>
            <a:endParaRPr lang="en-US" sz="910" dirty="0"/>
          </a:p>
        </p:txBody>
      </p:sp>
      <p:sp>
        <p:nvSpPr>
          <p:cNvPr id="48" name="Shape 46"/>
          <p:cNvSpPr/>
          <p:nvPr/>
        </p:nvSpPr>
        <p:spPr>
          <a:xfrm>
            <a:off x="1801368" y="3611880"/>
            <a:ext cx="16002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47088" y="366674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 sincr. + asincr.</a:t>
            </a:r>
            <a:endParaRPr lang="en-US" sz="910" dirty="0"/>
          </a:p>
        </p:txBody>
      </p:sp>
      <p:sp>
        <p:nvSpPr>
          <p:cNvPr id="50" name="Shape 48"/>
          <p:cNvSpPr/>
          <p:nvPr/>
        </p:nvSpPr>
        <p:spPr>
          <a:xfrm>
            <a:off x="3401568" y="3611880"/>
            <a:ext cx="58064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47288" y="3666744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Mentoría, seguimiento, indicadores, evidencias y decisiones de ajuste.</a:t>
            </a:r>
            <a:endParaRPr lang="en-US" sz="910" dirty="0"/>
          </a:p>
        </p:txBody>
      </p:sp>
      <p:sp>
        <p:nvSpPr>
          <p:cNvPr id="52" name="Shape 50"/>
          <p:cNvSpPr/>
          <p:nvPr/>
        </p:nvSpPr>
        <p:spPr>
          <a:xfrm>
            <a:off x="9208008" y="3611880"/>
            <a:ext cx="21488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53728" y="366674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octubre</a:t>
            </a:r>
            <a:endParaRPr lang="en-US" sz="910" dirty="0"/>
          </a:p>
        </p:txBody>
      </p:sp>
      <p:sp>
        <p:nvSpPr>
          <p:cNvPr id="54" name="Shape 52"/>
          <p:cNvSpPr/>
          <p:nvPr/>
        </p:nvSpPr>
        <p:spPr>
          <a:xfrm>
            <a:off x="384048" y="4050792"/>
            <a:ext cx="1417320" cy="438912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9768" y="410565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4</a:t>
            </a:r>
            <a:endParaRPr lang="en-US" sz="910" dirty="0"/>
          </a:p>
        </p:txBody>
      </p:sp>
      <p:sp>
        <p:nvSpPr>
          <p:cNvPr id="56" name="Shape 54"/>
          <p:cNvSpPr/>
          <p:nvPr/>
        </p:nvSpPr>
        <p:spPr>
          <a:xfrm>
            <a:off x="1801368" y="4050792"/>
            <a:ext cx="1600200" cy="438912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47088" y="41056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 sincr. + asincr.</a:t>
            </a:r>
            <a:endParaRPr lang="en-US" sz="910" dirty="0"/>
          </a:p>
        </p:txBody>
      </p:sp>
      <p:sp>
        <p:nvSpPr>
          <p:cNvPr id="58" name="Shape 56"/>
          <p:cNvSpPr/>
          <p:nvPr/>
        </p:nvSpPr>
        <p:spPr>
          <a:xfrm>
            <a:off x="3401568" y="4050792"/>
            <a:ext cx="5806440" cy="438912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47288" y="4105656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de réplica territorial, enfoques transversales y preparación del cierre.</a:t>
            </a:r>
            <a:endParaRPr lang="en-US" sz="910" dirty="0"/>
          </a:p>
        </p:txBody>
      </p:sp>
      <p:sp>
        <p:nvSpPr>
          <p:cNvPr id="60" name="Shape 58"/>
          <p:cNvSpPr/>
          <p:nvPr/>
        </p:nvSpPr>
        <p:spPr>
          <a:xfrm>
            <a:off x="9208008" y="4050792"/>
            <a:ext cx="2148840" cy="438912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253728" y="410565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octubre</a:t>
            </a:r>
            <a:endParaRPr lang="en-US" sz="910" dirty="0"/>
          </a:p>
        </p:txBody>
      </p:sp>
      <p:sp>
        <p:nvSpPr>
          <p:cNvPr id="62" name="Shape 60"/>
          <p:cNvSpPr/>
          <p:nvPr/>
        </p:nvSpPr>
        <p:spPr>
          <a:xfrm>
            <a:off x="384048" y="4489704"/>
            <a:ext cx="14173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9768" y="45445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910" dirty="0"/>
          </a:p>
        </p:txBody>
      </p:sp>
      <p:sp>
        <p:nvSpPr>
          <p:cNvPr id="64" name="Shape 62"/>
          <p:cNvSpPr/>
          <p:nvPr/>
        </p:nvSpPr>
        <p:spPr>
          <a:xfrm>
            <a:off x="1801368" y="4489704"/>
            <a:ext cx="16002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47088" y="45445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</a:t>
            </a:r>
            <a:endParaRPr lang="en-US" sz="910" dirty="0"/>
          </a:p>
        </p:txBody>
      </p:sp>
      <p:sp>
        <p:nvSpPr>
          <p:cNvPr id="66" name="Shape 64"/>
          <p:cNvSpPr/>
          <p:nvPr/>
        </p:nvSpPr>
        <p:spPr>
          <a:xfrm>
            <a:off x="3401568" y="4489704"/>
            <a:ext cx="58064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47288" y="4544568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teórica final; cierre del portafolio; retroalimentación final.</a:t>
            </a:r>
            <a:endParaRPr lang="en-US" sz="910" dirty="0"/>
          </a:p>
        </p:txBody>
      </p:sp>
      <p:sp>
        <p:nvSpPr>
          <p:cNvPr id="68" name="Shape 66"/>
          <p:cNvSpPr/>
          <p:nvPr/>
        </p:nvSpPr>
        <p:spPr>
          <a:xfrm>
            <a:off x="9208008" y="4489704"/>
            <a:ext cx="21488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253728" y="45445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octubre</a:t>
            </a:r>
            <a:endParaRPr lang="en-US" sz="910" dirty="0"/>
          </a:p>
        </p:txBody>
      </p:sp>
      <p:sp>
        <p:nvSpPr>
          <p:cNvPr id="70" name="Text 68"/>
          <p:cNvSpPr/>
          <p:nvPr/>
        </p:nvSpPr>
        <p:spPr>
          <a:xfrm>
            <a:off x="502920" y="55321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La participación virtual sincrónica sustituye la presencialidad por razones justificadas y no incrementa la carga horaria.</a:t>
            </a:r>
            <a:endParaRPr lang="en-US" sz="980" dirty="0"/>
          </a:p>
        </p:txBody>
      </p:sp>
      <p:sp>
        <p:nvSpPr>
          <p:cNvPr id="73" name="Text 70"/>
          <p:cNvSpPr/>
          <p:nvPr/>
        </p:nvSpPr>
        <p:spPr>
          <a:xfrm>
            <a:off x="566928" y="6291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11201400" y="6291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93192"/>
            <a:ext cx="384048" cy="32004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48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FdF-NAE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Correspondencia entre competencias y módulos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52728"/>
            <a:ext cx="11064240" cy="0"/>
          </a:xfrm>
          <a:prstGeom prst="line">
            <a:avLst/>
          </a:prstGeom>
          <a:noFill/>
          <a:ln w="8255">
            <a:solidFill>
              <a:srgbClr val="D9D4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44752"/>
            <a:ext cx="1325880" cy="502920"/>
          </a:xfrm>
          <a:prstGeom prst="rect">
            <a:avLst/>
          </a:prstGeom>
          <a:solidFill>
            <a:srgbClr val="002E54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9961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Competencia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1828800" y="1444752"/>
            <a:ext cx="2788920" cy="502920"/>
          </a:xfrm>
          <a:prstGeom prst="rect">
            <a:avLst/>
          </a:prstGeom>
          <a:solidFill>
            <a:srgbClr val="002E54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49961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principal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4617720" y="1444752"/>
            <a:ext cx="6720840" cy="502920"/>
          </a:xfrm>
          <a:prstGeom prst="rect">
            <a:avLst/>
          </a:prstGeom>
          <a:solidFill>
            <a:srgbClr val="002E54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99616"/>
            <a:ext cx="6629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 curricular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502920" y="1947672"/>
            <a:ext cx="13258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0253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1828800" y="1947672"/>
            <a:ext cx="27889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200253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1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4617720" y="1947672"/>
            <a:ext cx="672084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002536"/>
            <a:ext cx="6629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 de necesidades formativas y desarrollo de capacidades.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502920" y="2450592"/>
            <a:ext cx="132588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50545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1828800" y="2450592"/>
            <a:ext cx="278892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74520" y="250545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1 + Módulo 6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4617720" y="2450592"/>
            <a:ext cx="672084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505456"/>
            <a:ext cx="6629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formativo orientado a competencias con inclusión y sostenibilidad.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502920" y="2953512"/>
            <a:ext cx="13258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00837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C3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1828800" y="2953512"/>
            <a:ext cx="27889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74520" y="300837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1 + multiplicación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4617720" y="2953512"/>
            <a:ext cx="672084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008376"/>
            <a:ext cx="6629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Facilitación activa, comunicación y gestión grupal.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502920" y="3456432"/>
            <a:ext cx="132588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51129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C4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1828800" y="3456432"/>
            <a:ext cx="278892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74520" y="351129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1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4617720" y="3456432"/>
            <a:ext cx="672084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511296"/>
            <a:ext cx="6629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del aprendizaje y mejora del proceso formativo.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502920" y="3959352"/>
            <a:ext cx="13258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01421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C5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1828800" y="3959352"/>
            <a:ext cx="27889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74520" y="401421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2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4617720" y="3959352"/>
            <a:ext cx="672084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4014216"/>
            <a:ext cx="6629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 empresarial integral, separado del diagnóstico formativo.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502920" y="4462272"/>
            <a:ext cx="132588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51713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C6</a:t>
            </a:r>
            <a:endParaRPr lang="en-US" sz="1060" dirty="0"/>
          </a:p>
        </p:txBody>
      </p:sp>
      <p:sp>
        <p:nvSpPr>
          <p:cNvPr id="44" name="Shape 42"/>
          <p:cNvSpPr/>
          <p:nvPr/>
        </p:nvSpPr>
        <p:spPr>
          <a:xfrm>
            <a:off x="1828800" y="4462272"/>
            <a:ext cx="278892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74520" y="451713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Módulos 3, 4 y 5</a:t>
            </a:r>
            <a:endParaRPr lang="en-US" sz="1060" dirty="0"/>
          </a:p>
        </p:txBody>
      </p:sp>
      <p:sp>
        <p:nvSpPr>
          <p:cNvPr id="46" name="Shape 44"/>
          <p:cNvSpPr/>
          <p:nvPr/>
        </p:nvSpPr>
        <p:spPr>
          <a:xfrm>
            <a:off x="4617720" y="4462272"/>
            <a:ext cx="6720840" cy="502920"/>
          </a:xfrm>
          <a:prstGeom prst="rect">
            <a:avLst/>
          </a:prstGeom>
          <a:solidFill>
            <a:srgbClr val="F7F7F3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4517136"/>
            <a:ext cx="6629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 de la mejora, mentoría, seguimiento y evaluación.</a:t>
            </a:r>
            <a:endParaRPr lang="en-US" sz="1060" dirty="0"/>
          </a:p>
        </p:txBody>
      </p:sp>
      <p:sp>
        <p:nvSpPr>
          <p:cNvPr id="48" name="Shape 46"/>
          <p:cNvSpPr/>
          <p:nvPr/>
        </p:nvSpPr>
        <p:spPr>
          <a:xfrm>
            <a:off x="502920" y="4965192"/>
            <a:ext cx="13258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502005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C7</a:t>
            </a:r>
            <a:endParaRPr lang="en-US" sz="1060" dirty="0"/>
          </a:p>
        </p:txBody>
      </p:sp>
      <p:sp>
        <p:nvSpPr>
          <p:cNvPr id="50" name="Shape 48"/>
          <p:cNvSpPr/>
          <p:nvPr/>
        </p:nvSpPr>
        <p:spPr>
          <a:xfrm>
            <a:off x="1828800" y="4965192"/>
            <a:ext cx="27889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74520" y="502005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6 + práctica</a:t>
            </a:r>
            <a:endParaRPr lang="en-US" sz="1060" dirty="0"/>
          </a:p>
        </p:txBody>
      </p:sp>
      <p:sp>
        <p:nvSpPr>
          <p:cNvPr id="52" name="Shape 50"/>
          <p:cNvSpPr/>
          <p:nvPr/>
        </p:nvSpPr>
        <p:spPr>
          <a:xfrm>
            <a:off x="4617720" y="4965192"/>
            <a:ext cx="672084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8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5020056"/>
            <a:ext cx="6629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Adaptación, transferencia territorial, calidad y ética profesional.</a:t>
            </a:r>
            <a:endParaRPr lang="en-US" sz="1060" dirty="0"/>
          </a:p>
        </p:txBody>
      </p:sp>
      <p:sp>
        <p:nvSpPr>
          <p:cNvPr id="56" name="Text 53"/>
          <p:cNvSpPr/>
          <p:nvPr/>
        </p:nvSpPr>
        <p:spPr>
          <a:xfrm>
            <a:off x="566928" y="6291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11201400" y="6291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93192"/>
            <a:ext cx="384048" cy="32004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48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FdF-NAE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Enfoque metodológico general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52728"/>
            <a:ext cx="11064240" cy="0"/>
          </a:xfrm>
          <a:prstGeom prst="line">
            <a:avLst/>
          </a:prstGeom>
          <a:noFill/>
          <a:ln w="8255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107899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Aprendizaje basado en la práctica: utilizar, analizar, adaptar, recibir retroalimentación y transferir herramientas en contextos territoriales.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13232" y="2606040"/>
            <a:ext cx="3310128" cy="420624"/>
          </a:xfrm>
          <a:prstGeom prst="roundRect">
            <a:avLst>
              <a:gd name="adj" fmla="val 13043"/>
            </a:avLst>
          </a:prstGeom>
          <a:solidFill>
            <a:srgbClr val="E8F5F2"/>
          </a:solidFill>
          <a:ln w="12700">
            <a:solidFill>
              <a:srgbClr val="D8E6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066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Aprendizaje experiencial</a:t>
            </a:r>
            <a:endParaRPr lang="en-US" sz="1170" dirty="0"/>
          </a:p>
        </p:txBody>
      </p:sp>
      <p:sp>
        <p:nvSpPr>
          <p:cNvPr id="9" name="Shape 7"/>
          <p:cNvSpPr/>
          <p:nvPr/>
        </p:nvSpPr>
        <p:spPr>
          <a:xfrm>
            <a:off x="4416552" y="2606040"/>
            <a:ext cx="3310128" cy="420624"/>
          </a:xfrm>
          <a:prstGeom prst="roundRect">
            <a:avLst>
              <a:gd name="adj" fmla="val 13043"/>
            </a:avLst>
          </a:prstGeom>
          <a:solidFill>
            <a:srgbClr val="EAF4F7"/>
          </a:solidFill>
          <a:ln w="12700">
            <a:solidFill>
              <a:srgbClr val="D8E6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7066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Educación de personas adultas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8119872" y="2606040"/>
            <a:ext cx="3310128" cy="420624"/>
          </a:xfrm>
          <a:prstGeom prst="roundRect">
            <a:avLst>
              <a:gd name="adj" fmla="val 13043"/>
            </a:avLst>
          </a:prstGeom>
          <a:solidFill>
            <a:srgbClr val="E8F5F2"/>
          </a:solidFill>
          <a:ln w="12700">
            <a:solidFill>
              <a:srgbClr val="D8E6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27066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Aprendizaje basado en problemas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713232" y="3264408"/>
            <a:ext cx="3310128" cy="420624"/>
          </a:xfrm>
          <a:prstGeom prst="roundRect">
            <a:avLst>
              <a:gd name="adj" fmla="val 13043"/>
            </a:avLst>
          </a:prstGeom>
          <a:solidFill>
            <a:srgbClr val="EAF4F7"/>
          </a:solidFill>
          <a:ln w="12700">
            <a:solidFill>
              <a:srgbClr val="D8E6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6499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casos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4416552" y="3264408"/>
            <a:ext cx="3310128" cy="420624"/>
          </a:xfrm>
          <a:prstGeom prst="roundRect">
            <a:avLst>
              <a:gd name="adj" fmla="val 13043"/>
            </a:avLst>
          </a:prstGeom>
          <a:solidFill>
            <a:srgbClr val="E8F5F2"/>
          </a:solidFill>
          <a:ln w="12700">
            <a:solidFill>
              <a:srgbClr val="D8E6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336499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Simulaciones y juegos de roles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8119872" y="3264408"/>
            <a:ext cx="3310128" cy="420624"/>
          </a:xfrm>
          <a:prstGeom prst="roundRect">
            <a:avLst>
              <a:gd name="adj" fmla="val 13043"/>
            </a:avLst>
          </a:prstGeom>
          <a:solidFill>
            <a:srgbClr val="EAF4F7"/>
          </a:solidFill>
          <a:ln w="12700">
            <a:solidFill>
              <a:srgbClr val="D8E6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336499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Práctica reflexiva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713232" y="3922776"/>
            <a:ext cx="3310128" cy="420624"/>
          </a:xfrm>
          <a:prstGeom prst="roundRect">
            <a:avLst>
              <a:gd name="adj" fmla="val 13043"/>
            </a:avLst>
          </a:prstGeom>
          <a:solidFill>
            <a:srgbClr val="E8F5F2"/>
          </a:solidFill>
          <a:ln w="12700">
            <a:solidFill>
              <a:srgbClr val="D8E6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0233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Aprendizaje colaborativo</a:t>
            </a:r>
            <a:endParaRPr lang="en-US" sz="1170" dirty="0"/>
          </a:p>
        </p:txBody>
      </p:sp>
      <p:sp>
        <p:nvSpPr>
          <p:cNvPr id="21" name="Shape 19"/>
          <p:cNvSpPr/>
          <p:nvPr/>
        </p:nvSpPr>
        <p:spPr>
          <a:xfrm>
            <a:off x="4416552" y="3922776"/>
            <a:ext cx="3310128" cy="420624"/>
          </a:xfrm>
          <a:prstGeom prst="roundRect">
            <a:avLst>
              <a:gd name="adj" fmla="val 13043"/>
            </a:avLst>
          </a:prstGeom>
          <a:solidFill>
            <a:srgbClr val="EAF4F7"/>
          </a:solidFill>
          <a:ln w="12700">
            <a:solidFill>
              <a:srgbClr val="D8E6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40233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Microfacilitaciones</a:t>
            </a:r>
            <a:endParaRPr lang="en-US" sz="1170" dirty="0"/>
          </a:p>
        </p:txBody>
      </p:sp>
      <p:sp>
        <p:nvSpPr>
          <p:cNvPr id="23" name="Shape 21"/>
          <p:cNvSpPr/>
          <p:nvPr/>
        </p:nvSpPr>
        <p:spPr>
          <a:xfrm>
            <a:off x="8119872" y="3922776"/>
            <a:ext cx="3310128" cy="420624"/>
          </a:xfrm>
          <a:prstGeom prst="roundRect">
            <a:avLst>
              <a:gd name="adj" fmla="val 13043"/>
            </a:avLst>
          </a:prstGeom>
          <a:solidFill>
            <a:srgbClr val="E8F5F2"/>
          </a:solidFill>
          <a:ln w="12700">
            <a:solidFill>
              <a:srgbClr val="D8E6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40233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Mentoría entre pares</a:t>
            </a:r>
            <a:endParaRPr lang="en-US" sz="1170" dirty="0"/>
          </a:p>
        </p:txBody>
      </p:sp>
      <p:sp>
        <p:nvSpPr>
          <p:cNvPr id="25" name="Shape 23"/>
          <p:cNvSpPr/>
          <p:nvPr/>
        </p:nvSpPr>
        <p:spPr>
          <a:xfrm>
            <a:off x="713232" y="4581144"/>
            <a:ext cx="3310128" cy="420624"/>
          </a:xfrm>
          <a:prstGeom prst="roundRect">
            <a:avLst>
              <a:gd name="adj" fmla="val 13043"/>
            </a:avLst>
          </a:prstGeom>
          <a:solidFill>
            <a:srgbClr val="EAF4F7"/>
          </a:solidFill>
          <a:ln w="12700">
            <a:solidFill>
              <a:srgbClr val="D8E6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68172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Retroalimentación formativa</a:t>
            </a:r>
            <a:endParaRPr lang="en-US" sz="1170" dirty="0"/>
          </a:p>
        </p:txBody>
      </p:sp>
      <p:sp>
        <p:nvSpPr>
          <p:cNvPr id="27" name="Shape 25"/>
          <p:cNvSpPr/>
          <p:nvPr/>
        </p:nvSpPr>
        <p:spPr>
          <a:xfrm>
            <a:off x="4416552" y="4581144"/>
            <a:ext cx="3310128" cy="420624"/>
          </a:xfrm>
          <a:prstGeom prst="roundRect">
            <a:avLst>
              <a:gd name="adj" fmla="val 13043"/>
            </a:avLst>
          </a:prstGeom>
          <a:solidFill>
            <a:srgbClr val="E8F5F2"/>
          </a:solidFill>
          <a:ln w="12700">
            <a:solidFill>
              <a:srgbClr val="D8E6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468172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Contextualización territorial</a:t>
            </a:r>
            <a:endParaRPr lang="en-US" sz="1170" dirty="0"/>
          </a:p>
        </p:txBody>
      </p:sp>
      <p:sp>
        <p:nvSpPr>
          <p:cNvPr id="29" name="Shape 27"/>
          <p:cNvSpPr/>
          <p:nvPr/>
        </p:nvSpPr>
        <p:spPr>
          <a:xfrm>
            <a:off x="8119872" y="4581144"/>
            <a:ext cx="3310128" cy="420624"/>
          </a:xfrm>
          <a:prstGeom prst="roundRect">
            <a:avLst>
              <a:gd name="adj" fmla="val 13043"/>
            </a:avLst>
          </a:prstGeom>
          <a:solidFill>
            <a:srgbClr val="EAF4F7"/>
          </a:solidFill>
          <a:ln w="12700">
            <a:solidFill>
              <a:srgbClr val="D8E6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468172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Materiales ligeros e imprimibles</a:t>
            </a:r>
            <a:endParaRPr lang="en-US" sz="1170" dirty="0"/>
          </a:p>
        </p:txBody>
      </p:sp>
      <p:sp>
        <p:nvSpPr>
          <p:cNvPr id="31" name="Text 29"/>
          <p:cNvSpPr/>
          <p:nvPr/>
        </p:nvSpPr>
        <p:spPr>
          <a:xfrm>
            <a:off x="685800" y="548640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NAE transversal: Diagnosticar → Planificar → Acompañar → Evaluar → Ajustar → Multiplicar.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566928" y="6291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1201400" y="6291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E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1417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D89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77240" y="2331720"/>
            <a:ext cx="658368" cy="4572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27706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MODULAR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777240" y="349300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5EE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 exacto de objetivos y énfasis de los seis módulos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6254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C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93192"/>
            <a:ext cx="384048" cy="32004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48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FdF-NAE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Módulos 1 y 2: base pedagógica y diagnóstico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52728"/>
            <a:ext cx="11064240" cy="0"/>
          </a:xfrm>
          <a:prstGeom prst="line">
            <a:avLst/>
          </a:prstGeom>
          <a:noFill/>
          <a:ln w="8255">
            <a:solidFill>
              <a:srgbClr val="D9D4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54480"/>
            <a:ext cx="53492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54480"/>
            <a:ext cx="73152" cy="3977640"/>
          </a:xfrm>
          <a:prstGeom prst="rect">
            <a:avLst/>
          </a:prstGeom>
          <a:solidFill>
            <a:srgbClr val="00CBA8"/>
          </a:solidFill>
          <a:ln w="12700">
            <a:solidFill>
              <a:srgbClr val="00CB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719072"/>
            <a:ext cx="5020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M1. Ingeniería de la formación y facilitación de personas adultas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59536" y="2057400"/>
            <a:ext cx="5020056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Núcleo pedagógico del programa. Integra diagnóstico de necesidades formativas, diseño curricular y de sesiones, facilitación activa y evaluación del aprendizaje.</a:t>
            </a:r>
            <a:endParaRPr lang="en-US" sz="1240" dirty="0"/>
          </a:p>
          <a:p>
            <a:pPr marL="0" indent="0">
              <a:buNone/>
            </a:pP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desarrollar competencias para diagnosticar, diseñar, facilitar y evaluar procesos formativos con metodologías activas, participativas, inclusivas y adaptables.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281928" y="1554480"/>
            <a:ext cx="53492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1928" y="1554480"/>
            <a:ext cx="73152" cy="3977640"/>
          </a:xfrm>
          <a:prstGeom prst="rect">
            <a:avLst/>
          </a:prstGeom>
          <a:solidFill>
            <a:srgbClr val="0B95D0"/>
          </a:solidFill>
          <a:ln w="12700">
            <a:solidFill>
              <a:srgbClr val="0B95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83096" y="1719072"/>
            <a:ext cx="5020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M2. Diagnóstico empresarial integral de los NAE y necesidades de acompañamiento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83096" y="2057400"/>
            <a:ext cx="5020056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Desarrolla la capacidad para realizar diagnósticos integrales y participativos de los NAE, identificando fortalezas, brechas, problemas, causas, riesgos y oportunidades.</a:t>
            </a:r>
            <a:endParaRPr lang="en-US" sz="1240" dirty="0"/>
          </a:p>
          <a:p>
            <a:pPr marL="0" indent="0">
              <a:buNone/>
            </a:pP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prioridades y modalidades de acompañamiento: formación, mentoría, asesoría, asistencia técnica o derivación especializada.</a:t>
            </a:r>
            <a:endParaRPr lang="en-US" sz="1240" dirty="0"/>
          </a:p>
        </p:txBody>
      </p:sp>
      <p:sp>
        <p:nvSpPr>
          <p:cNvPr id="16" name="Text 13"/>
          <p:cNvSpPr/>
          <p:nvPr/>
        </p:nvSpPr>
        <p:spPr>
          <a:xfrm>
            <a:off x="566928" y="6291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201400" y="6291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93192"/>
            <a:ext cx="384048" cy="32004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48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FdF-NAE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Módulos 3 y 4: mejora empresarial y mentoría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52728"/>
            <a:ext cx="11064240" cy="0"/>
          </a:xfrm>
          <a:prstGeom prst="line">
            <a:avLst/>
          </a:prstGeom>
          <a:noFill/>
          <a:ln w="8255">
            <a:solidFill>
              <a:srgbClr val="D9D4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54480"/>
            <a:ext cx="53492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54480"/>
            <a:ext cx="73152" cy="397764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719072"/>
            <a:ext cx="5020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M3. Diseño de planes de mejora empresarial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59536" y="2057400"/>
            <a:ext cx="5020056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 hallazgos del diagnóstico en un Plan de Mejora y Acompañamiento viable, priorizado, medible y construido participativamente con las personas responsables del NAE.</a:t>
            </a:r>
            <a:endParaRPr lang="en-US" sz="1240" dirty="0"/>
          </a:p>
          <a:p>
            <a:pPr marL="0" indent="0">
              <a:buNone/>
            </a:pP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Incluye objetivos, acciones, responsables, plazos, recursos, indicadores y medios de verificación.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281928" y="1554480"/>
            <a:ext cx="53492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1928" y="1554480"/>
            <a:ext cx="73152" cy="3977640"/>
          </a:xfrm>
          <a:prstGeom prst="rect">
            <a:avLst/>
          </a:prstGeom>
          <a:solidFill>
            <a:srgbClr val="00CBA8"/>
          </a:solidFill>
          <a:ln w="12700">
            <a:solidFill>
              <a:srgbClr val="00CB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83096" y="1719072"/>
            <a:ext cx="5020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M4. Implementación, mentoría y seguimiento de planes de mejora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83096" y="2057400"/>
            <a:ext cx="5020056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Desarrolla capacidades para acompañar la implementación mediante mentoría, seguimiento sistemático, retroalimentación y articulación con servicios especializados.</a:t>
            </a:r>
            <a:endParaRPr lang="en-US" sz="1240" dirty="0"/>
          </a:p>
          <a:p>
            <a:pPr marL="0" indent="0">
              <a:buNone/>
            </a:pP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Favorece la autonomía y capacidad de decisión de quienes gestionan los NAE.</a:t>
            </a:r>
            <a:endParaRPr lang="en-US" sz="1240" dirty="0"/>
          </a:p>
        </p:txBody>
      </p:sp>
      <p:sp>
        <p:nvSpPr>
          <p:cNvPr id="16" name="Text 13"/>
          <p:cNvSpPr/>
          <p:nvPr/>
        </p:nvSpPr>
        <p:spPr>
          <a:xfrm>
            <a:off x="566928" y="6291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201400" y="6291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93192"/>
            <a:ext cx="384048" cy="32004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48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FdF-NAE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Módulos 5 y 6: evaluación, transversalidad y réplica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52728"/>
            <a:ext cx="11064240" cy="0"/>
          </a:xfrm>
          <a:prstGeom prst="line">
            <a:avLst/>
          </a:prstGeom>
          <a:noFill/>
          <a:ln w="8255">
            <a:solidFill>
              <a:srgbClr val="D9D4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54480"/>
            <a:ext cx="53492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54480"/>
            <a:ext cx="73152" cy="3977640"/>
          </a:xfrm>
          <a:prstGeom prst="rect">
            <a:avLst/>
          </a:prstGeom>
          <a:solidFill>
            <a:srgbClr val="0B95D0"/>
          </a:solidFill>
          <a:ln w="12700">
            <a:solidFill>
              <a:srgbClr val="0B95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719072"/>
            <a:ext cx="5020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M5. Evaluación del acompañamiento y mejora continua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59536" y="2057400"/>
            <a:ext cx="5020056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Desarrolla la capacidad para monitorear y evaluar implementación, resultados y utilidad del acompañamiento empresarial.</a:t>
            </a:r>
            <a:endParaRPr lang="en-US" sz="1240" dirty="0"/>
          </a:p>
          <a:p>
            <a:pPr marL="0" indent="0">
              <a:buNone/>
            </a:pP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Utiliza evidencias para tomar decisiones, ajustar intervenciones y promover mejora continua.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281928" y="1554480"/>
            <a:ext cx="53492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1928" y="1554480"/>
            <a:ext cx="73152" cy="397764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83096" y="1719072"/>
            <a:ext cx="5020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M6. Elementos transversales, articulación territorial y transferencia metodológica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83096" y="2057400"/>
            <a:ext cx="5020056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 género, inclusión, sostenibilidad, innovación, ética y territorialidad en el ciclo de acompañamiento.</a:t>
            </a:r>
            <a:endParaRPr lang="en-US" sz="1240" dirty="0"/>
          </a:p>
          <a:p>
            <a:pPr marL="0" indent="0">
              <a:buNone/>
            </a:pP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 la adaptación, multiplicación y transferencia del programa preservando competencias, principios y estándares de calidad.</a:t>
            </a:r>
            <a:endParaRPr lang="en-US" sz="1240" dirty="0"/>
          </a:p>
        </p:txBody>
      </p:sp>
      <p:sp>
        <p:nvSpPr>
          <p:cNvPr id="16" name="Text 13"/>
          <p:cNvSpPr/>
          <p:nvPr/>
        </p:nvSpPr>
        <p:spPr>
          <a:xfrm>
            <a:off x="566928" y="6291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201400" y="6291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93192"/>
            <a:ext cx="384048" cy="32004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48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FdF-NAE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Incorporación de herramientas CVI del PNUD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52728"/>
            <a:ext cx="11064240" cy="0"/>
          </a:xfrm>
          <a:prstGeom prst="line">
            <a:avLst/>
          </a:prstGeom>
          <a:noFill/>
          <a:ln w="8255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54480"/>
            <a:ext cx="106984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herramientas del Programa Cadenas de Valor Inclusivas (CVI) se incorporan como referentes metodológicos complementarios para el acompañamiento a los NAE.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58368" y="2514600"/>
            <a:ext cx="34290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514600"/>
            <a:ext cx="73152" cy="1600200"/>
          </a:xfrm>
          <a:prstGeom prst="rect">
            <a:avLst/>
          </a:prstGeom>
          <a:solidFill>
            <a:srgbClr val="00CBA8"/>
          </a:solidFill>
          <a:ln w="12700">
            <a:solidFill>
              <a:srgbClr val="00C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679192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de uso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59536" y="3017520"/>
            <a:ext cx="30998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seleccionan según la situación empresarial, etapa de desarrollo, características, necesidades y territorio de cada NAE.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4370832" y="2514600"/>
            <a:ext cx="34290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2514600"/>
            <a:ext cx="73152" cy="1600200"/>
          </a:xfrm>
          <a:prstGeom prst="rect">
            <a:avLst/>
          </a:prstGeom>
          <a:solidFill>
            <a:srgbClr val="0B95D0"/>
          </a:solidFill>
          <a:ln w="12700">
            <a:solidFill>
              <a:srgbClr val="0B95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679192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 posibles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572000" y="3017520"/>
            <a:ext cx="30998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Marcha, ICSN y Creciendo Con Su Negocio (CCSN) pueden aprovecharse cuando resulten pertinentes según la situación, madurez y necesidades del NAE.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083296" y="2514600"/>
            <a:ext cx="34290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83296" y="2514600"/>
            <a:ext cx="73152" cy="160020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2679192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 institucional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284464" y="3017520"/>
            <a:ext cx="30998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 uso no implica acreditación, certificación ni reconocimiento como consultor/a del Programa CVI.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58368" y="4846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Principio operativo: amplían la caja de recursos, pero no sustituyen la arquitectura, competencias ni criterios de evaluación del Programa FdF-NAE.</a:t>
            </a:r>
            <a:endParaRPr lang="en-US" sz="1620" dirty="0"/>
          </a:p>
        </p:txBody>
      </p:sp>
      <p:sp>
        <p:nvSpPr>
          <p:cNvPr id="22" name="Text 19"/>
          <p:cNvSpPr/>
          <p:nvPr/>
        </p:nvSpPr>
        <p:spPr>
          <a:xfrm>
            <a:off x="566928" y="6291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201400" y="6291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2E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1417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D89A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77240" y="2331720"/>
            <a:ext cx="658368" cy="4572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27706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EVALUACIÓN, CERTIFICACIÓN Y RÉPLICA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777240" y="349300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5EE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Evidencias, portafolio, certificación y multiplicación territorial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6254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C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93192"/>
            <a:ext cx="384048" cy="32004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48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FdF-NAE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Estrategia de evaluación integral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52728"/>
            <a:ext cx="11064240" cy="0"/>
          </a:xfrm>
          <a:prstGeom prst="line">
            <a:avLst/>
          </a:prstGeom>
          <a:noFill/>
          <a:ln w="8255">
            <a:solidFill>
              <a:srgbClr val="D9D4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54480"/>
            <a:ext cx="3520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54480"/>
            <a:ext cx="73152" cy="1828800"/>
          </a:xfrm>
          <a:prstGeom prst="rect">
            <a:avLst/>
          </a:prstGeom>
          <a:solidFill>
            <a:srgbClr val="00CBA8"/>
          </a:solidFill>
          <a:ln w="12700">
            <a:solidFill>
              <a:srgbClr val="00CB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719072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Evaluación diagnóstica</a:t>
            </a:r>
            <a:endParaRPr lang="en-US" sz="1330" dirty="0"/>
          </a:p>
        </p:txBody>
      </p:sp>
      <p:sp>
        <p:nvSpPr>
          <p:cNvPr id="9" name="Text 7"/>
          <p:cNvSpPr/>
          <p:nvPr/>
        </p:nvSpPr>
        <p:spPr>
          <a:xfrm>
            <a:off x="859536" y="2057400"/>
            <a:ext cx="31912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objetiva de 30 preguntas de opción múltiple, 5 por módulo. Se aplica antes del inicio, establece línea de base y no tiene carácter calificativo.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520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554480"/>
            <a:ext cx="73152" cy="1828800"/>
          </a:xfrm>
          <a:prstGeom prst="rect">
            <a:avLst/>
          </a:prstGeom>
          <a:solidFill>
            <a:srgbClr val="0B95D0"/>
          </a:solidFill>
          <a:ln w="12700">
            <a:solidFill>
              <a:srgbClr val="0B95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719072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Evaluación formativa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4544568" y="2057400"/>
            <a:ext cx="31912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Continua y práctica. Se trabaja con empresa real o caso simulado. Los productos conforman el portafolio de evaluación formativa.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8028432" y="1554480"/>
            <a:ext cx="3520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28432" y="1554480"/>
            <a:ext cx="73152" cy="182880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719072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Evaluación teórica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8229600" y="2057400"/>
            <a:ext cx="31912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digital final similar a la diagnóstica. Duración estimada: 30 a 40 minutos. Permite comparar entrada y salida.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234440" y="4206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Calificación final = Evaluación teórica × 30 % + Evaluación formativa × 70 %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48920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 académico: calificación final igual o superior a 70/100 puntos.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566928" y="6291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201400" y="6291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93192"/>
            <a:ext cx="384048" cy="32004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48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FdF-NAE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Portafolio de evaluación formativa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52728"/>
            <a:ext cx="11064240" cy="0"/>
          </a:xfrm>
          <a:prstGeom prst="line">
            <a:avLst/>
          </a:prstGeom>
          <a:noFill/>
          <a:ln w="8255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54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productos prácticos integran las evidencias mínimas de dominio; no constituyen entregas adicionales fuera del portafolio.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58368" y="2331720"/>
            <a:ext cx="5257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331720"/>
            <a:ext cx="73152" cy="1005840"/>
          </a:xfrm>
          <a:prstGeom prst="rect">
            <a:avLst/>
          </a:prstGeom>
          <a:solidFill>
            <a:srgbClr val="00CBA8"/>
          </a:solidFill>
          <a:ln w="12700">
            <a:solidFill>
              <a:srgbClr val="00C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496312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9536" y="2834640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 empresarial integral: situación del NAE, fortalezas, brechas, problemas, causas y prioridades.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81928" y="2331720"/>
            <a:ext cx="5257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1928" y="2331720"/>
            <a:ext cx="73152" cy="1005840"/>
          </a:xfrm>
          <a:prstGeom prst="rect">
            <a:avLst/>
          </a:prstGeom>
          <a:solidFill>
            <a:srgbClr val="0B95D0"/>
          </a:solidFill>
          <a:ln w="12700">
            <a:solidFill>
              <a:srgbClr val="0B95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2496312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83096" y="2834640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Mejora: objetivos, acciones, responsables, plazos, recursos e indicadores derivados del diagnóstico.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3794760"/>
            <a:ext cx="5257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94760"/>
            <a:ext cx="73152" cy="100584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959352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" y="4297680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del Plan de Mejora: indicadores, evidencias, avances, dificultades, desviaciones y decisiones de ajuste.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81928" y="3794760"/>
            <a:ext cx="5257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81928" y="3794760"/>
            <a:ext cx="73152" cy="1005840"/>
          </a:xfrm>
          <a:prstGeom prst="rect">
            <a:avLst/>
          </a:prstGeom>
          <a:solidFill>
            <a:srgbClr val="00CBA8"/>
          </a:solidFill>
          <a:ln w="12700">
            <a:solidFill>
              <a:srgbClr val="00CB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3096" y="3959352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83096" y="4297680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de réplica territorial: destinatarios, necesidades formativas, sesión, metodología activa, evaluación, inclusión y adaptación territorial.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66928" y="6291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201400" y="6291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93192"/>
            <a:ext cx="384048" cy="32004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48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FdF-NAE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Certificación conjunta UA–MES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52728"/>
            <a:ext cx="11064240" cy="0"/>
          </a:xfrm>
          <a:prstGeom prst="line">
            <a:avLst/>
          </a:prstGeom>
          <a:noFill/>
          <a:ln w="8255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54480"/>
            <a:ext cx="106984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certificación se otorga a quienes cumplen el requisito académico y las condiciones complementarias de aplicación y multiplicación territorial.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996696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Completar al menos el 80 % de las horas de formación</a:t>
            </a:r>
            <a:endParaRPr lang="en-US" sz="1570" dirty="0"/>
          </a:p>
          <a:p>
            <a:pPr marL="0" indent="0">
              <a:buNone/>
            </a:pPr>
            <a:r>
              <a:rPr lang="en-US" sz="15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Participar en la formación regional</a:t>
            </a:r>
            <a:endParaRPr lang="en-US" sz="1570" dirty="0"/>
          </a:p>
          <a:p>
            <a:pPr marL="0" indent="0">
              <a:buNone/>
            </a:pPr>
            <a:r>
              <a:rPr lang="en-US" sz="15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Ejecutar al menos dos sesiones de formación durante la multiplicación provincial</a:t>
            </a:r>
            <a:endParaRPr lang="en-US" sz="1570" dirty="0"/>
          </a:p>
          <a:p>
            <a:pPr marL="0" indent="0">
              <a:buNone/>
            </a:pPr>
            <a:r>
              <a:rPr lang="en-US" sz="15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Aportar evidencias de aplicación de las competencias</a:t>
            </a:r>
            <a:endParaRPr lang="en-US" sz="1570" dirty="0"/>
          </a:p>
          <a:p>
            <a:pPr marL="0" indent="0">
              <a:buNone/>
            </a:pPr>
            <a:r>
              <a:rPr lang="en-US" sz="15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Alcanzar como mínimo nivel 2 en las siete competencias</a:t>
            </a:r>
            <a:endParaRPr lang="en-US" sz="1570" dirty="0"/>
          </a:p>
          <a:p>
            <a:pPr marL="0" indent="0">
              <a:buNone/>
            </a:pPr>
            <a:r>
              <a:rPr lang="en-US" sz="15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Demostrar nivel 3 en C2, C3 y C4</a:t>
            </a:r>
            <a:endParaRPr lang="en-US" sz="1570" dirty="0"/>
          </a:p>
        </p:txBody>
      </p:sp>
      <p:sp>
        <p:nvSpPr>
          <p:cNvPr id="8" name="Shape 6"/>
          <p:cNvSpPr/>
          <p:nvPr/>
        </p:nvSpPr>
        <p:spPr>
          <a:xfrm>
            <a:off x="685800" y="5440680"/>
            <a:ext cx="10835640" cy="384048"/>
          </a:xfrm>
          <a:prstGeom prst="rect">
            <a:avLst/>
          </a:prstGeom>
          <a:solidFill>
            <a:srgbClr val="E8F5F2"/>
          </a:solidFill>
          <a:ln w="12700">
            <a:solidFill>
              <a:srgbClr val="D5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5550408"/>
            <a:ext cx="10378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Certificar no es solo aprobar: exige evidencia de transferencia real durante las multiplicaciones provinciales.</a:t>
            </a:r>
            <a:endParaRPr lang="en-US" sz="1280" dirty="0"/>
          </a:p>
        </p:txBody>
      </p:sp>
      <p:sp>
        <p:nvSpPr>
          <p:cNvPr id="12" name="Text 9"/>
          <p:cNvSpPr/>
          <p:nvPr/>
        </p:nvSpPr>
        <p:spPr>
          <a:xfrm>
            <a:off x="566928" y="6291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201400" y="6291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93192"/>
            <a:ext cx="384048" cy="32004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48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FdF-NAE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Multiplicación territorial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52728"/>
            <a:ext cx="11064240" cy="0"/>
          </a:xfrm>
          <a:prstGeom prst="line">
            <a:avLst/>
          </a:prstGeom>
          <a:noFill/>
          <a:ln w="8255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54480"/>
            <a:ext cx="106984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multiplicación territorial extiende el Programa FdF-NAE hasta el nivel provincial mediante réplicas planificadas, contextualizadas y documentadas.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58368" y="2606040"/>
            <a:ext cx="5257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606040"/>
            <a:ext cx="73152" cy="2011680"/>
          </a:xfrm>
          <a:prstGeom prst="rect">
            <a:avLst/>
          </a:prstGeom>
          <a:solidFill>
            <a:srgbClr val="00CBA8"/>
          </a:solidFill>
          <a:ln w="12700">
            <a:solidFill>
              <a:srgbClr val="00C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770632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Elementos esenciales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9536" y="3108960"/>
            <a:ext cx="49286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Competencias, resultados de aprendizaje, principios metodológicos, herramientas esenciales, criterios de evaluación, enfoques transversales y estándares de calidad.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6281928" y="2606040"/>
            <a:ext cx="5257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1928" y="2606040"/>
            <a:ext cx="73152" cy="2011680"/>
          </a:xfrm>
          <a:prstGeom prst="rect">
            <a:avLst/>
          </a:prstGeom>
          <a:solidFill>
            <a:srgbClr val="0B95D0"/>
          </a:solidFill>
          <a:ln w="12700">
            <a:solidFill>
              <a:srgbClr val="0B95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2770632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Elementos adaptables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83096" y="3108960"/>
            <a:ext cx="49286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Ejemplos, casos, dinámicas, recursos, formatos, secuencias, tiempos específicos, modalidad de apoyo y recursos tecnológicos.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58368" y="51663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 adaptación debe responder a condiciones territoriales sin desvirtuar el programa.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566928" y="6291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201400" y="6291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93192"/>
            <a:ext cx="384048" cy="32004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48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FdF-NAE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Kit de Formación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52728"/>
            <a:ext cx="11064240" cy="0"/>
          </a:xfrm>
          <a:prstGeom prst="line">
            <a:avLst/>
          </a:prstGeom>
          <a:noFill/>
          <a:ln w="8255">
            <a:solidFill>
              <a:srgbClr val="D9D4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544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Kit de Formación está compuesto exclusivamente por cuatro componentes.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58368" y="2240280"/>
            <a:ext cx="5257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240280"/>
            <a:ext cx="73152" cy="960120"/>
          </a:xfrm>
          <a:prstGeom prst="rect">
            <a:avLst/>
          </a:prstGeom>
          <a:solidFill>
            <a:srgbClr val="00CBA8"/>
          </a:solidFill>
          <a:ln w="12700">
            <a:solidFill>
              <a:srgbClr val="00C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404872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Guía del facilitador/a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9536" y="2743200"/>
            <a:ext cx="49286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Orientaciones metodológicas y operativas para preparar, desarrollar y replicar la formación.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6281928" y="2240280"/>
            <a:ext cx="5257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1928" y="2240280"/>
            <a:ext cx="73152" cy="960120"/>
          </a:xfrm>
          <a:prstGeom prst="rect">
            <a:avLst/>
          </a:prstGeom>
          <a:solidFill>
            <a:srgbClr val="0B95D0"/>
          </a:solidFill>
          <a:ln w="12700">
            <a:solidFill>
              <a:srgbClr val="0B95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2404872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</a:t>
            </a:r>
            <a:r>
              <a:rPr lang="es-ES" sz="140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Presentaciones base para la formación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83096" y="2743200"/>
            <a:ext cx="49286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s-E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Presentaciones editables como soporte común para la formación regional y las multiplicaciones territoriales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658368" y="3657600"/>
            <a:ext cx="5257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657600"/>
            <a:ext cx="73152" cy="96012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822192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Caja de herramientas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" y="4160520"/>
            <a:ext cx="49286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s-E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Instrumentos y plantillas para diagnóstico, análisis, priorización, Plan de Mejora, mentoría, seguimiento, evaluación del acompañamiento y transferencia territorial.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6281928" y="3657600"/>
            <a:ext cx="5257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81928" y="3657600"/>
            <a:ext cx="73152" cy="960120"/>
          </a:xfrm>
          <a:prstGeom prst="rect">
            <a:avLst/>
          </a:prstGeom>
          <a:solidFill>
            <a:srgbClr val="00CBA8"/>
          </a:solidFill>
          <a:ln w="12700">
            <a:solidFill>
              <a:srgbClr val="00CB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3096" y="3822192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Instrumentos de evaluación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83096" y="4160520"/>
            <a:ext cx="49286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diagnóstica, formativa y teórica; calificación, rúbricas y valoración del portafolio.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658368" y="521208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Materiales editables, ligeros, imprimibles, reutilizables y adecuados para conectividad limitada.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566928" y="6291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FdF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201400" y="6291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93192"/>
            <a:ext cx="384048" cy="32004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950" b="1" noProof="0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</a:t>
            </a:r>
            <a:r>
              <a:rPr lang="es-419" sz="950" b="1" noProof="0" dirty="0" err="1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FdF</a:t>
            </a:r>
            <a:r>
              <a:rPr lang="es-419" sz="950" b="1" noProof="0" dirty="0">
                <a:solidFill>
                  <a:srgbClr val="00C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-NAE</a:t>
            </a:r>
            <a:endParaRPr lang="es-419" sz="950" noProof="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419" sz="2300" noProof="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Aseguramiento de calidad y sostenibilidad</a:t>
            </a:r>
            <a:endParaRPr lang="es-419" sz="2300" noProof="0" dirty="0"/>
          </a:p>
        </p:txBody>
      </p:sp>
      <p:sp>
        <p:nvSpPr>
          <p:cNvPr id="5" name="Shape 3"/>
          <p:cNvSpPr/>
          <p:nvPr/>
        </p:nvSpPr>
        <p:spPr>
          <a:xfrm>
            <a:off x="566928" y="1252728"/>
            <a:ext cx="11064240" cy="0"/>
          </a:xfrm>
          <a:prstGeom prst="line">
            <a:avLst/>
          </a:prstGeom>
          <a:noFill/>
          <a:ln w="8255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6" name="Text 4"/>
          <p:cNvSpPr/>
          <p:nvPr/>
        </p:nvSpPr>
        <p:spPr>
          <a:xfrm>
            <a:off x="658368" y="1554480"/>
            <a:ext cx="10698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s-419" sz="2100" noProof="0" dirty="0">
                <a:solidFill>
                  <a:srgbClr val="002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programa se concibe como capacidad instalada: transferible al MES, replicable en provincias y viable en contextos de baja conectividad.</a:t>
            </a:r>
            <a:endParaRPr lang="es-419" sz="2100" noProof="0" dirty="0"/>
          </a:p>
        </p:txBody>
      </p:sp>
      <p:sp>
        <p:nvSpPr>
          <p:cNvPr id="7" name="Shape 5"/>
          <p:cNvSpPr/>
          <p:nvPr/>
        </p:nvSpPr>
        <p:spPr>
          <a:xfrm>
            <a:off x="658368" y="2606040"/>
            <a:ext cx="34290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Shape 6"/>
          <p:cNvSpPr/>
          <p:nvPr/>
        </p:nvSpPr>
        <p:spPr>
          <a:xfrm>
            <a:off x="658368" y="2606040"/>
            <a:ext cx="73152" cy="1691640"/>
          </a:xfrm>
          <a:prstGeom prst="rect">
            <a:avLst/>
          </a:prstGeom>
          <a:solidFill>
            <a:srgbClr val="00CBA8"/>
          </a:solidFill>
          <a:ln w="12700">
            <a:solidFill>
              <a:srgbClr val="00CBA8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Text 7"/>
          <p:cNvSpPr/>
          <p:nvPr/>
        </p:nvSpPr>
        <p:spPr>
          <a:xfrm>
            <a:off x="859536" y="2770632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419" sz="1350" b="1" noProof="0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 metodológica</a:t>
            </a:r>
            <a:endParaRPr lang="es-419" sz="1350" noProof="0" dirty="0"/>
          </a:p>
        </p:txBody>
      </p:sp>
      <p:sp>
        <p:nvSpPr>
          <p:cNvPr id="10" name="Text 8"/>
          <p:cNvSpPr/>
          <p:nvPr/>
        </p:nvSpPr>
        <p:spPr>
          <a:xfrm>
            <a:off x="859536" y="3108960"/>
            <a:ext cx="30998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419" sz="1240" noProof="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Rúbricas, instrumentos comunes, evidencias de desempeño, observación de réplicas y retroalimentación entre pares.</a:t>
            </a:r>
            <a:endParaRPr lang="es-419" sz="1240" noProof="0" dirty="0"/>
          </a:p>
        </p:txBody>
      </p:sp>
      <p:sp>
        <p:nvSpPr>
          <p:cNvPr id="11" name="Shape 9"/>
          <p:cNvSpPr/>
          <p:nvPr/>
        </p:nvSpPr>
        <p:spPr>
          <a:xfrm>
            <a:off x="4370832" y="2606040"/>
            <a:ext cx="34290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Shape 10"/>
          <p:cNvSpPr/>
          <p:nvPr/>
        </p:nvSpPr>
        <p:spPr>
          <a:xfrm>
            <a:off x="4370832" y="2606040"/>
            <a:ext cx="73152" cy="1691640"/>
          </a:xfrm>
          <a:prstGeom prst="rect">
            <a:avLst/>
          </a:prstGeom>
          <a:solidFill>
            <a:srgbClr val="0B95D0"/>
          </a:solidFill>
          <a:ln w="12700">
            <a:solidFill>
              <a:srgbClr val="0B95D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3" name="Text 11"/>
          <p:cNvSpPr/>
          <p:nvPr/>
        </p:nvSpPr>
        <p:spPr>
          <a:xfrm>
            <a:off x="4572000" y="2770632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419" sz="1350" b="1" noProof="0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Adaptación al contexto cubano</a:t>
            </a:r>
            <a:endParaRPr lang="es-419" sz="1350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0" y="3108960"/>
            <a:ext cx="30998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419" sz="1240" noProof="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Materiales offline, recursos imprimibles, baja dependencia tecnológica y alternativas ante conectividad o energía limitada.</a:t>
            </a:r>
            <a:endParaRPr lang="es-419" sz="1240" noProof="0" dirty="0"/>
          </a:p>
        </p:txBody>
      </p:sp>
      <p:sp>
        <p:nvSpPr>
          <p:cNvPr id="15" name="Shape 13"/>
          <p:cNvSpPr/>
          <p:nvPr/>
        </p:nvSpPr>
        <p:spPr>
          <a:xfrm>
            <a:off x="8083296" y="2606040"/>
            <a:ext cx="34290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6" name="Shape 14"/>
          <p:cNvSpPr/>
          <p:nvPr/>
        </p:nvSpPr>
        <p:spPr>
          <a:xfrm>
            <a:off x="8083296" y="2606040"/>
            <a:ext cx="73152" cy="169164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7" name="Text 15"/>
          <p:cNvSpPr/>
          <p:nvPr/>
        </p:nvSpPr>
        <p:spPr>
          <a:xfrm>
            <a:off x="8284464" y="2770632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419" sz="1350" b="1" noProof="0" dirty="0">
                <a:solidFill>
                  <a:srgbClr val="002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Sostenibilidad institucional</a:t>
            </a:r>
            <a:endParaRPr lang="es-419" sz="1350" noProof="0" dirty="0"/>
          </a:p>
        </p:txBody>
      </p:sp>
      <p:sp>
        <p:nvSpPr>
          <p:cNvPr id="18" name="Text 16"/>
          <p:cNvSpPr/>
          <p:nvPr/>
        </p:nvSpPr>
        <p:spPr>
          <a:xfrm>
            <a:off x="8284464" y="3108960"/>
            <a:ext cx="30998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419" sz="1240" noProof="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de cascada, certificación conjunta UA–MES, transferencia territorial y sistematización de aprendizajes.</a:t>
            </a:r>
            <a:endParaRPr lang="es-419" sz="1240" noProof="0" dirty="0"/>
          </a:p>
        </p:txBody>
      </p:sp>
      <p:sp>
        <p:nvSpPr>
          <p:cNvPr id="19" name="Text 17"/>
          <p:cNvSpPr/>
          <p:nvPr/>
        </p:nvSpPr>
        <p:spPr>
          <a:xfrm>
            <a:off x="658368" y="502920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580" b="1" noProof="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esperado: red territorial de personas formadoras capaces de capacitar, diagnosticar, </a:t>
            </a:r>
            <a:r>
              <a:rPr lang="es-419" sz="1580" b="1" noProof="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mentorear</a:t>
            </a:r>
            <a:r>
              <a:rPr lang="es-419" sz="1580" b="1" noProof="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acompañar y fortalecer a los NAE.</a:t>
            </a:r>
            <a:endParaRPr lang="es-419" sz="1580" noProof="0" dirty="0"/>
          </a:p>
        </p:txBody>
      </p:sp>
      <p:sp>
        <p:nvSpPr>
          <p:cNvPr id="22" name="Text 19"/>
          <p:cNvSpPr/>
          <p:nvPr/>
        </p:nvSpPr>
        <p:spPr>
          <a:xfrm>
            <a:off x="566928" y="6291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850" noProof="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2.3.2 — </a:t>
            </a:r>
            <a:r>
              <a:rPr lang="es-419" sz="850" noProof="0" dirty="0" err="1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FdF</a:t>
            </a:r>
            <a:endParaRPr lang="es-419" sz="850" noProof="0" dirty="0"/>
          </a:p>
        </p:txBody>
      </p:sp>
      <p:sp>
        <p:nvSpPr>
          <p:cNvPr id="23" name="Text 20"/>
          <p:cNvSpPr/>
          <p:nvPr/>
        </p:nvSpPr>
        <p:spPr>
          <a:xfrm>
            <a:off x="11201400" y="6291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419" sz="850" noProof="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s-419" sz="850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524" y="-8141"/>
            <a:ext cx="6339853" cy="623825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9" y="406257"/>
            <a:ext cx="2275844" cy="1113539"/>
          </a:xfrm>
          <a:prstGeom prst="rect">
            <a:avLst/>
          </a:prstGeom>
        </p:spPr>
      </p:pic>
      <p:sp>
        <p:nvSpPr>
          <p:cNvPr id="86" name="Google Shape;86;p1"/>
          <p:cNvSpPr/>
          <p:nvPr/>
        </p:nvSpPr>
        <p:spPr>
          <a:xfrm>
            <a:off x="0" y="6230112"/>
            <a:ext cx="12192000" cy="6461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lang="es-419" sz="2400" kern="0" noProof="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" descr="asset_portada_6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74592" y="6266688"/>
            <a:ext cx="4255008" cy="5608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9776851" y="827613"/>
            <a:ext cx="2224940" cy="328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s-419" sz="1333" kern="0" noProof="0" dirty="0">
                <a:solidFill>
                  <a:srgbClr val="A3C5ED"/>
                </a:solidFill>
                <a:latin typeface="Calibri"/>
                <a:ea typeface="Calibri"/>
                <a:cs typeface="Calibri"/>
                <a:sym typeface="Calibri"/>
              </a:rPr>
              <a:t>La Habana, Cuba · 2026</a:t>
            </a:r>
            <a:endParaRPr lang="es-419" sz="1867" kern="0" noProof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Text 0"/>
          <p:cNvSpPr/>
          <p:nvPr/>
        </p:nvSpPr>
        <p:spPr>
          <a:xfrm>
            <a:off x="658369" y="2539241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3800" b="1" noProof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Gracias.</a:t>
            </a:r>
            <a:endParaRPr lang="es-419" sz="3800" noProof="0" dirty="0"/>
          </a:p>
        </p:txBody>
      </p:sp>
      <p:sp>
        <p:nvSpPr>
          <p:cNvPr id="10" name="Text 1"/>
          <p:cNvSpPr/>
          <p:nvPr/>
        </p:nvSpPr>
        <p:spPr>
          <a:xfrm>
            <a:off x="658369" y="3308861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3000" b="1" noProof="0" dirty="0">
                <a:solidFill>
                  <a:srgbClr val="AFCB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Construimos juntos.</a:t>
            </a:r>
            <a:endParaRPr lang="es-419" sz="3000" noProof="0" dirty="0"/>
          </a:p>
        </p:txBody>
      </p:sp>
      <p:sp>
        <p:nvSpPr>
          <p:cNvPr id="11" name="Shape 2"/>
          <p:cNvSpPr/>
          <p:nvPr/>
        </p:nvSpPr>
        <p:spPr>
          <a:xfrm>
            <a:off x="684873" y="4478721"/>
            <a:ext cx="3291840" cy="4572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Text 3"/>
          <p:cNvSpPr/>
          <p:nvPr/>
        </p:nvSpPr>
        <p:spPr>
          <a:xfrm>
            <a:off x="713231" y="4736592"/>
            <a:ext cx="73085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050" b="1" noProof="0" dirty="0">
                <a:solidFill>
                  <a:schemeClr val="bg1"/>
                </a:solidFill>
              </a:rPr>
              <a:t>Material elaborado en el marco del Proyecto NAE</a:t>
            </a:r>
            <a:br>
              <a:rPr lang="es-419" sz="1050" noProof="0" dirty="0">
                <a:solidFill>
                  <a:schemeClr val="bg1"/>
                </a:solidFill>
              </a:rPr>
            </a:br>
            <a:r>
              <a:rPr lang="es-419" sz="1050" b="1" noProof="0" dirty="0">
                <a:solidFill>
                  <a:schemeClr val="bg1"/>
                </a:solidFill>
              </a:rPr>
              <a:t>Financiado por la </a:t>
            </a:r>
            <a:r>
              <a:rPr lang="es-419" sz="1050" b="1" noProof="0" dirty="0" err="1">
                <a:solidFill>
                  <a:schemeClr val="bg1"/>
                </a:solidFill>
              </a:rPr>
              <a:t>Agence</a:t>
            </a:r>
            <a:r>
              <a:rPr lang="es-419" sz="1050" b="1" noProof="0" dirty="0">
                <a:solidFill>
                  <a:schemeClr val="bg1"/>
                </a:solidFill>
              </a:rPr>
              <a:t> </a:t>
            </a:r>
            <a:r>
              <a:rPr lang="es-419" sz="1050" b="1" noProof="0" dirty="0" err="1">
                <a:solidFill>
                  <a:schemeClr val="bg1"/>
                </a:solidFill>
              </a:rPr>
              <a:t>Française</a:t>
            </a:r>
            <a:r>
              <a:rPr lang="es-419" sz="1050" b="1" noProof="0" dirty="0">
                <a:solidFill>
                  <a:schemeClr val="bg1"/>
                </a:solidFill>
              </a:rPr>
              <a:t> de </a:t>
            </a:r>
            <a:r>
              <a:rPr lang="es-419" sz="1050" b="1" noProof="0" dirty="0" err="1">
                <a:solidFill>
                  <a:schemeClr val="bg1"/>
                </a:solidFill>
              </a:rPr>
              <a:t>Développement</a:t>
            </a:r>
            <a:r>
              <a:rPr lang="es-419" sz="1050" b="1" noProof="0" dirty="0">
                <a:solidFill>
                  <a:schemeClr val="bg1"/>
                </a:solidFill>
              </a:rPr>
              <a:t> (AFD), con cofinanciación de la Unión Europea</a:t>
            </a:r>
          </a:p>
          <a:p>
            <a:endParaRPr lang="es-419" sz="1050" noProof="0" dirty="0">
              <a:solidFill>
                <a:schemeClr val="bg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s-419" sz="1050" noProof="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 Técnica: Universidad de Alicante (UA) - Parque Científico Tecnológico de La Habana (PCTH)</a:t>
            </a:r>
            <a:endParaRPr lang="es-419" sz="105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338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2456</Words>
  <Application>Microsoft Office PowerPoint</Application>
  <PresentationFormat>Panorámica</PresentationFormat>
  <Paragraphs>404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Office Theme</vt:lpstr>
      <vt:lpstr>1_Office Theme</vt:lpstr>
      <vt:lpstr>2_Office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de Alicante / Parque Científico Tecnológico de La Habana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 de Formación de Formadores para el acompañamiento a NAE</dc:title>
  <dc:subject>Resumen del Programa FdF-NAE</dc:subject>
  <dc:creator>Proyecto NAE - UA/PCTH</dc:creator>
  <cp:lastModifiedBy>Dario-Acer26</cp:lastModifiedBy>
  <cp:revision>8</cp:revision>
  <dcterms:created xsi:type="dcterms:W3CDTF">2026-08-25T01:48:09Z</dcterms:created>
  <dcterms:modified xsi:type="dcterms:W3CDTF">2026-09-13T01:16:06Z</dcterms:modified>
</cp:coreProperties>
</file>