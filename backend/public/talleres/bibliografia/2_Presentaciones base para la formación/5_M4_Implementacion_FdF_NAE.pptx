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3" r:id="rId3"/>
    <p:sldMasterId id="2147483666" r:id="rId4"/>
    <p:sldMasterId id="2147483678" r:id="rId5"/>
    <p:sldMasterId id="2147483690" r:id="rId6"/>
  </p:sldMasterIdLst>
  <p:notesMasterIdLst>
    <p:notesMasterId r:id="rId46"/>
  </p:notesMasterIdLst>
  <p:sldIdLst>
    <p:sldId id="295" r:id="rId7"/>
    <p:sldId id="296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7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753F2-FB13-445A-B710-747714034611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9F458-8169-4484-BE0E-D906B69375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2089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602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8755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FdF-NAE V2, M4 y §10.2; Guía del Facilitador/a V2, §§6, 6.4 y 9.3. Se mantienen 6 horas: 1 presencial, 2 sincrónicas y 3 asincrónicas, C6 (implementación y mentoría). M4 acompaña la implementación del Plan de Mejora de M3, fortalece capacidades del NAE y aporta evidencia a M5. Simulaciones y minutas son evidencias de práctica integradas en los cuatro productos del Portafolio, no un quinto producto ni entregas calificables separadas. Ambos ciclos se articulan con aprendizaje y transferencia territorial.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C6 y §10.2; Guía V2, §§6.4 y 9.3. Observar la competencia a través de simulación con K05, minutas K06 y revisión de avances en K04.2. Un informe breve o registro de seguimiento, si se utiliza, es componente del Portafolio, no tarea calificable independiente. No añadir requisitos de aprobación.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temas y modalidades de M4; Guía V2, organización del itinerario y §6.4. La tabla expresa distribución temática, no orden cronológico rígido. La jornada presencial ocurre primero; las sesiones sincrónicas posteriores profundizan y retroalimentan. Las horas asincrónicas se distribuyen antes y durante el itinerario. La hora sincrónica del Tema 2 permite practicar K05 en rondas completas sin aumentar la carga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capítulo 7 y §§7.5–7.7; herramientas K04.2 Plan de mejora.xlsx, K05 Guion de Mentoria-Facilitador.docx y K06 Bitácora-Minuta de asistencia técnica.docx. La selección responde a situación, características, etapa de desarrollo, necesidades y territorio del NAE. K04.2 y K06 son referentes complementarios de Creciendo con su Negocio, CVI/PNUD. No imponen una secuencia universal ni sustituyen arquitectura curricular, competencias, productos integradores o criterios de evaluación FdF-NAE. K05 desarrolla mentoría centrada en la persona y autonomía.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K05, Criterio de cierre y Cierre de la conversación; Guía V2, §6.4. El compromiso verificable incluye acción, responsable, fecha, evidencia, apoyo requerido y seguimiento. El ejemplo de ventas es ilustrativo, no una acción o fecha prescrita para La Colmena. Acordar un plazo concreto y la fecha de revisión con la persona responsable y registrar en K06.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§7.5; K04.2, hojas General, Proyecto 1 y Proyecto 2. General contiene proyectos, responsable principal, instituciones de apoyo, presupuesto y cronograma. Las hojas de proyecto contienen actividades, tareas, responsables, programación semanal por mes y porcentajes de avance. P significa programado y R real. Contrastar lo realizado con evidencias y registrar decisiones de ajuste en K06, preservando el vínculo con el plan. Las marcas x y valores precargados del formato no prueban avances del NAE. Diferenciar ejecución de tareas de resultados empresariales, cuya evaluación se profundiza en M5.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M4 Tema 5; Guía V2, §§6.4 y 7.7; K06. Las tarjetas muestran información de acompañamiento que debe documentarse. K06 dispone de nombre de empresa, fecha, lugar, objetivo, agenda por tratar, resultados, compromisos, observaciones y participantes con nombres y firmas. Incorporar situación, avances, decisiones y evidencias en Resultados; acción, responsable, plazo, evidencia esperada, apoyo requerido y seguimiento en Compromisos; barreras y asuntos pendientes en Observaciones. No crear otra bitácora obligatoria.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K06 Bitácora-Minuta de asistencia técnica.docx; Guía V2, §7.7. La diapositiva es una vista resumida del registro, no una reproducción íntegra del archivo. Al trabajar, utilizar K06 con sus campos separados de Resultados, Compromisos y Observaciones, y el bloque de participantes, nombres y firmas cuando corresponda. En Resultados registrar decisiones y evidencias; en Compromisos detallar acción, responsable, fecha, apoyo y próximo seguimiento. K06 se integra como evidencia, no como producto evaluativo adicional.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M4 temas 2 y 6; Guía V2, §6.4 y enfoques transversales. Explorar incumplimientos sin culpabilizar, considerando cuidados, desigualdad de acceso a recursos y tecnología, participación, redes y autonomía. Revisar sostenibilidad económica, social y ambiental, continuidad operativa e innovaciones viables. No improvisar apoyo especializado. Los ajustes se acuerdan con el NAE y se documentan en K06 y K04.2.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Guía V2, §6.4. Conservar Modelado, Práctica presencial, Seguimiento y Caso complejo. K05 aporta roles, criterios de observación y situaciones de mentoría; K06 documenta acuerdos. Recuperar experiencias de las personas adultas y facilitar observación entre pares y retroalimentación. Las evidencias de práctica no son productos evaluativos independientes.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ficha M4 Simulación de mentoría empresarial; K05, Organización. La ficha presencial de la Guía establece 60 minutos: 0–10 modelado; 10–15 preparación; 15–42 tres rondas de 9 minutos con rotación; 42–52 retroalimentación; 52–60 cierre y minuta. K05 propone rondas completas de 12–15 minutos de conversación y 5 minutos de retroalimentación. Por jerarquía de fuentes, se mantiene la ficha presencial y se explicita que son rondas abreviadas. Desarrollar las rondas completas de K05 durante la hora sincrónica ya asignada a mentoría: tres rondas de 17–20 minutos caben en 51–60 minutos. No aumentar horas ni crear tareas calificables. Conservar propósito, autonomía, evidencia, límites y compromiso verificable en ambas modalidades.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K05 Guion de Mentoria-Facilitador.docx, partes I y II; Guía V2, §7.6. Entregar por separado la consigna de cada rol; la persona mentora no debe conocer anticipadamente todas las respuestas del NAE. La Colmena plantea inicialmente crecimiento, financiamiento, proveedores, marketing y mercados. Durante la conversación, la persona responsable introduce tres momentos: pide una solución directa; pregunta si conviene crecer u ordenar primero la empresa; solicita elegir financiamiento. La persona mentora explora evidencias, alternativas, riesgos y recursos sin decidir por la empresa, y reconoce el límite si la recomendación financiera especializada excede su competencia. Las evidencias se revelan progresivamente: 14 personas, nueve mujeres y cinco hombres; 186 pedidos con 35 retrasos; costos por producto inconsistentes; información comercial dispersa y recursos limitados. No es necesario abordar todas las dificultades ni llegar a una solución única. El observador no interviene y registra una fortaleza, evidencia concreta, oportunidad de mejora y pregunta útil. Cerrar con acción, responsable, fecha, evidencia, apoyo y seguimiento. Aplicar la organización temporal de la diapositiva 30 y completar las rondas de K05 en la hora sincrónica del Tema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§10.2; Guía V2, §§6 y 9.3; K05, reflexión y cierre. Los cuatro productos integradores son Diagnóstico empresarial integral, Plan de Mejora, Evaluación del Plan de Mejora y Diseño de réplica territorial, documentado mediante K10 Plan de Multiplicación Territorial. La observación de mentoría y los registros no generan calificaciones adicionales. La retroalimentación reconoce logros, identifica una o dos prioridades y acuerda una acción concreta. Evitar comentarios genéricos y recomendaciones que sustituyan la decisión del NAE.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K05, consigna de observación; Guía V2, §6.4. Los descriptores sirven para retroalimentar la práctica, sin introducir una rúbrica normativa o una calificación adicional. Utilizar la observación de K05 sobre escucha, preguntas, evidencias, análisis, alternativas, autonomía, límites, compromisos y cierre. Registrar conductas concretas y valorar el proceso de mentoría, no una solución empresarial predeterminada.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§6.4; K05 y K06. Mantener consignas de rol separadas también en papel; registrar manualmente K06 y el seguimiento de K04.2. Acordar llamadas, SMS o mensajería ligera según acceso real y consentimiento. Considerar horarios de cuidado y accesibilidad. Transferir la metodología al territorio conservando competencias, resultados y evidencias, con recursos locales y bajo requerimiento tecnológico.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§10.2; Guía V2, §§6, 6.4 y 9.3. M4 produce evidencias de práctica, no un nuevo producto evaluativo. La observación de mentoría, minutas y revisión de avances se integran como componentes, anexos o registros del Plan de Mejora y su Evaluación según el hito del Portafolio. Documentar lo observado y distinguir simulación de ejecución empresarial real. Los cuatro productos mantienen la arquitectura y criterios de evaluación del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§§6.5, 7.3, 7.8 y 7.10. Referencia de continuidad: M5 utiliza K03 Problemática Jerarquizada, K07 Matriz de Indicadores y K09 Informe de Evaluación del Plan de Mejora; K04.2 y K06 aportan fuentes complementarias de evidencia. No aplicar nuevamente esas herramientas como requisito de M4. Mantener evidencia de ejecución, resultados y decisiones de ajuste diferenciadas. La bibliografía de la diapositiva se conserva del Programa aprobado.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8446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325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46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751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99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509495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914400" y="2840568"/>
            <a:ext cx="10363200" cy="1960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27911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9632523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533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963084" y="3875619"/>
            <a:ext cx="10363200" cy="2000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1pPr>
            <a:lvl2pPr marL="1219139" lvl="1" indent="-304784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2pPr>
            <a:lvl3pPr marL="1828709" lvl="2" indent="-304784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8278" lvl="3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4pPr>
            <a:lvl5pPr marL="3047848" lvl="4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5pPr>
            <a:lvl6pPr marL="3657418" lvl="5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6pPr>
            <a:lvl7pPr marL="4266986" lvl="6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7pPr>
            <a:lvl8pPr marL="4876556" lvl="7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8pPr>
            <a:lvl9pPr marL="5486126" lvl="8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343203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39" lvl="1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09" lvl="2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6197601" y="2133602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39" lvl="1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09" lvl="2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754836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609601" y="2046817"/>
            <a:ext cx="5386917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39" lvl="1" indent="-304784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09" lvl="2" indent="-304784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278" lvl="3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848" lvl="4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418" lvl="5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6986" lvl="6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556" lvl="7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126" lvl="8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609601" y="2899833"/>
            <a:ext cx="5386917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39" lvl="1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278" lvl="3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848" lvl="4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418" lvl="5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6986" lvl="6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556" lvl="7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126" lvl="8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6193369" y="2046817"/>
            <a:ext cx="5389033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39" lvl="1" indent="-304784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09" lvl="2" indent="-304784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278" lvl="3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848" lvl="4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418" lvl="5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6986" lvl="6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556" lvl="7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126" lvl="8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6193369" y="2899833"/>
            <a:ext cx="5389033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39" lvl="1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278" lvl="3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848" lvl="4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418" lvl="5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6986" lvl="6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556" lvl="7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126" lvl="8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9852044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3321589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609601" y="364068"/>
            <a:ext cx="4011084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4766734" y="364068"/>
            <a:ext cx="6815667" cy="780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75705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267"/>
            </a:lvl1pPr>
            <a:lvl2pPr marL="1219139" lvl="1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733"/>
            </a:lvl2pPr>
            <a:lvl3pPr marL="1828709" lvl="2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marL="2438278" lvl="3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4pPr>
            <a:lvl5pPr marL="3047848" lvl="4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667"/>
            </a:lvl5pPr>
            <a:lvl6pPr marL="3657418" lvl="5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6pPr>
            <a:lvl7pPr marL="4266986" lvl="6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7pPr>
            <a:lvl8pPr marL="4876556" lvl="7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8pPr>
            <a:lvl9pPr marL="5486126" lvl="8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609601" y="1913468"/>
            <a:ext cx="4011084" cy="625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30478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39" lvl="1" indent="-3047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09" lvl="2" indent="-304784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278" lvl="3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848" lvl="4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418" lvl="5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6986" lvl="6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556" lvl="7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126" lvl="8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0320908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2389717" y="6400801"/>
            <a:ext cx="7315200" cy="75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2389717" y="817033"/>
            <a:ext cx="73152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2389717" y="7156452"/>
            <a:ext cx="7315200" cy="107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30478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39" lvl="1" indent="-3047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09" lvl="2" indent="-304784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278" lvl="3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848" lvl="4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418" lvl="5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6986" lvl="6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556" lvl="7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126" lvl="8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4011059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3078694" y="-335491"/>
            <a:ext cx="603461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688539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6309786" y="2895601"/>
            <a:ext cx="780203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721786" y="254001"/>
            <a:ext cx="780203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1549075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9275646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914400" y="2840568"/>
            <a:ext cx="10363200" cy="1960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7490087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1894880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533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963084" y="3875619"/>
            <a:ext cx="10363200" cy="2000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1pPr>
            <a:lvl2pPr marL="1219139" lvl="1" indent="-304784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2pPr>
            <a:lvl3pPr marL="1828709" lvl="2" indent="-304784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8278" lvl="3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4pPr>
            <a:lvl5pPr marL="3047848" lvl="4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5pPr>
            <a:lvl6pPr marL="3657418" lvl="5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6pPr>
            <a:lvl7pPr marL="4266986" lvl="6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7pPr>
            <a:lvl8pPr marL="4876556" lvl="7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8pPr>
            <a:lvl9pPr marL="5486126" lvl="8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0964734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39" lvl="1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09" lvl="2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6197601" y="2133602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39" lvl="1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09" lvl="2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8167043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609601" y="2046817"/>
            <a:ext cx="5386917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39" lvl="1" indent="-304784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09" lvl="2" indent="-304784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278" lvl="3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848" lvl="4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418" lvl="5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6986" lvl="6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556" lvl="7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126" lvl="8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609601" y="2899833"/>
            <a:ext cx="5386917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39" lvl="1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278" lvl="3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848" lvl="4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418" lvl="5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6986" lvl="6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556" lvl="7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126" lvl="8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6193369" y="2046817"/>
            <a:ext cx="5389033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39" lvl="1" indent="-304784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09" lvl="2" indent="-304784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278" lvl="3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848" lvl="4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418" lvl="5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6986" lvl="6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556" lvl="7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126" lvl="8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6193369" y="2899833"/>
            <a:ext cx="5389033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39" lvl="1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278" lvl="3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848" lvl="4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418" lvl="5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6986" lvl="6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556" lvl="7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126" lvl="8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35344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2645602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609601" y="364068"/>
            <a:ext cx="4011084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4766734" y="364068"/>
            <a:ext cx="6815667" cy="780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75705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267"/>
            </a:lvl1pPr>
            <a:lvl2pPr marL="1219139" lvl="1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733"/>
            </a:lvl2pPr>
            <a:lvl3pPr marL="1828709" lvl="2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marL="2438278" lvl="3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4pPr>
            <a:lvl5pPr marL="3047848" lvl="4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667"/>
            </a:lvl5pPr>
            <a:lvl6pPr marL="3657418" lvl="5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6pPr>
            <a:lvl7pPr marL="4266986" lvl="6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7pPr>
            <a:lvl8pPr marL="4876556" lvl="7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8pPr>
            <a:lvl9pPr marL="5486126" lvl="8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609601" y="1913468"/>
            <a:ext cx="4011084" cy="625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30478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39" lvl="1" indent="-3047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09" lvl="2" indent="-304784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278" lvl="3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848" lvl="4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418" lvl="5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6986" lvl="6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556" lvl="7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126" lvl="8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5984523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2389717" y="6400801"/>
            <a:ext cx="7315200" cy="75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2389717" y="817033"/>
            <a:ext cx="73152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2389717" y="7156452"/>
            <a:ext cx="7315200" cy="107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30478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39" lvl="1" indent="-3047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09" lvl="2" indent="-304784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278" lvl="3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848" lvl="4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418" lvl="5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6986" lvl="6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556" lvl="7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126" lvl="8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868546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3078694" y="-335491"/>
            <a:ext cx="603461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3323328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6309786" y="2895601"/>
            <a:ext cx="780203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721786" y="254001"/>
            <a:ext cx="780203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4642607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0117918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914400" y="2840568"/>
            <a:ext cx="10363200" cy="1960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6014164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2706778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533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963084" y="3875619"/>
            <a:ext cx="10363200" cy="2000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1pPr>
            <a:lvl2pPr marL="1219139" lvl="1" indent="-304784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2pPr>
            <a:lvl3pPr marL="1828709" lvl="2" indent="-304784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8278" lvl="3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4pPr>
            <a:lvl5pPr marL="3047848" lvl="4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5pPr>
            <a:lvl6pPr marL="3657418" lvl="5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6pPr>
            <a:lvl7pPr marL="4266986" lvl="6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7pPr>
            <a:lvl8pPr marL="4876556" lvl="7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8pPr>
            <a:lvl9pPr marL="5486126" lvl="8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6070945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39" lvl="1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09" lvl="2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6197601" y="2133602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39" lvl="1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09" lvl="2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5287197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609601" y="2046817"/>
            <a:ext cx="5386917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39" lvl="1" indent="-304784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09" lvl="2" indent="-304784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278" lvl="3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848" lvl="4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418" lvl="5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6986" lvl="6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556" lvl="7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126" lvl="8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609601" y="2899833"/>
            <a:ext cx="5386917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39" lvl="1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278" lvl="3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848" lvl="4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418" lvl="5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6986" lvl="6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556" lvl="7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126" lvl="8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6193369" y="2046817"/>
            <a:ext cx="5389033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39" lvl="1" indent="-304784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09" lvl="2" indent="-304784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278" lvl="3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848" lvl="4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418" lvl="5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6986" lvl="6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556" lvl="7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126" lvl="8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6193369" y="2899833"/>
            <a:ext cx="5389033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39" lvl="1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278" lvl="3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848" lvl="4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418" lvl="5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6986" lvl="6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556" lvl="7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126" lvl="8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3223711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2207523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609601" y="364068"/>
            <a:ext cx="4011084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4766734" y="364068"/>
            <a:ext cx="6815667" cy="780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75705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267"/>
            </a:lvl1pPr>
            <a:lvl2pPr marL="1219139" lvl="1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733"/>
            </a:lvl2pPr>
            <a:lvl3pPr marL="1828709" lvl="2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marL="2438278" lvl="3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4pPr>
            <a:lvl5pPr marL="3047848" lvl="4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667"/>
            </a:lvl5pPr>
            <a:lvl6pPr marL="3657418" lvl="5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6pPr>
            <a:lvl7pPr marL="4266986" lvl="6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7pPr>
            <a:lvl8pPr marL="4876556" lvl="7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8pPr>
            <a:lvl9pPr marL="5486126" lvl="8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609601" y="1913468"/>
            <a:ext cx="4011084" cy="625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30478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39" lvl="1" indent="-3047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09" lvl="2" indent="-304784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278" lvl="3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848" lvl="4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418" lvl="5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6986" lvl="6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556" lvl="7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126" lvl="8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3102287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2389717" y="6400801"/>
            <a:ext cx="7315200" cy="75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2389717" y="817033"/>
            <a:ext cx="73152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2389717" y="7156452"/>
            <a:ext cx="7315200" cy="107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30478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39" lvl="1" indent="-3047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09" lvl="2" indent="-304784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278" lvl="3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848" lvl="4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418" lvl="5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6986" lvl="6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556" lvl="7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126" lvl="8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9894652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3078694" y="-335491"/>
            <a:ext cx="603461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8046362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6309786" y="2895601"/>
            <a:ext cx="780203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721786" y="254001"/>
            <a:ext cx="780203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28136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83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9B9267F2-30A4-E7B7-C195-DD64D719DDA5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9" descr="image3.png">
            <a:extLst>
              <a:ext uri="{FF2B5EF4-FFF2-40B4-BE49-F238E27FC236}">
                <a16:creationId xmlns:a16="http://schemas.microsoft.com/office/drawing/2014/main" id="{DAE19091-8FC6-54A4-EEFF-2079E2C89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6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661075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9539048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3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3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21913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4722618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9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0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4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6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7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8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0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1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2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525" y="-8140"/>
            <a:ext cx="6339853" cy="623825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9" y="406258"/>
            <a:ext cx="2275844" cy="1113539"/>
          </a:xfrm>
          <a:prstGeom prst="rect">
            <a:avLst/>
          </a:prstGeom>
        </p:spPr>
      </p:pic>
      <p:sp>
        <p:nvSpPr>
          <p:cNvPr id="86" name="Google Shape;86;p1"/>
          <p:cNvSpPr/>
          <p:nvPr/>
        </p:nvSpPr>
        <p:spPr>
          <a:xfrm>
            <a:off x="0" y="6230112"/>
            <a:ext cx="12192000" cy="6461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39">
              <a:buClr>
                <a:srgbClr val="000000"/>
              </a:buClr>
              <a:defRPr/>
            </a:pPr>
            <a:endParaRPr sz="24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asset_portada_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4592" y="6266688"/>
            <a:ext cx="4255008" cy="56083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515863" y="1800579"/>
            <a:ext cx="11141612" cy="4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39">
              <a:buClr>
                <a:srgbClr val="000000"/>
              </a:buClr>
            </a:pPr>
            <a:r>
              <a:rPr lang="es-ES" kern="0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Programa </a:t>
            </a:r>
            <a:r>
              <a:rPr lang="es-ES" kern="0" dirty="0" err="1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FdF</a:t>
            </a:r>
            <a:r>
              <a:rPr lang="es-ES" kern="0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-NAE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9776851" y="827614"/>
            <a:ext cx="2224940" cy="32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39">
              <a:buClr>
                <a:srgbClr val="000000"/>
              </a:buClr>
              <a:defRPr/>
            </a:pPr>
            <a:r>
              <a:rPr lang="en-US" sz="1333" kern="0" dirty="0">
                <a:solidFill>
                  <a:srgbClr val="A3C5ED"/>
                </a:solidFill>
                <a:latin typeface="Calibri"/>
                <a:ea typeface="Calibri"/>
                <a:cs typeface="Calibri"/>
                <a:sym typeface="Calibri"/>
              </a:rPr>
              <a:t>La Habana, Cuba · 2026</a:t>
            </a: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58369" y="2327745"/>
            <a:ext cx="708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378">
              <a:defRPr/>
            </a:pPr>
            <a:r>
              <a:rPr lang="en-US" sz="3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</a:t>
            </a: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4</a:t>
            </a:r>
            <a:endParaRPr lang="en-US" sz="3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58369" y="4300235"/>
            <a:ext cx="3291840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2" name="Text 4"/>
          <p:cNvSpPr/>
          <p:nvPr/>
        </p:nvSpPr>
        <p:spPr>
          <a:xfrm>
            <a:off x="658369" y="454617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>
              <a:defRPr/>
            </a:pPr>
            <a:r>
              <a:rPr lang="en-US" sz="1200" dirty="0">
                <a:solidFill>
                  <a:srgbClr val="C7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Formación de Formadores</a:t>
            </a: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7"/>
          <p:cNvSpPr/>
          <p:nvPr/>
        </p:nvSpPr>
        <p:spPr>
          <a:xfrm>
            <a:off x="515862" y="64053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>
              <a:defRPr/>
            </a:pPr>
            <a:r>
              <a:rPr lang="en-US" sz="850" dirty="0">
                <a:solidFill>
                  <a:srgbClr val="B9C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635509" y="3146853"/>
            <a:ext cx="590753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378"/>
            <a:r>
              <a:rPr lang="en-US" sz="2500" dirty="0" err="1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Implementación</a:t>
            </a:r>
            <a:r>
              <a:rPr lang="en-US" sz="2500" dirty="0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, </a:t>
            </a:r>
            <a:r>
              <a:rPr lang="en-US" sz="2500" dirty="0" err="1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mentoría</a:t>
            </a:r>
            <a:r>
              <a:rPr lang="en-US" sz="2500" dirty="0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 y </a:t>
            </a:r>
            <a:r>
              <a:rPr lang="en-US" sz="2500" dirty="0" err="1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seguimiento</a:t>
            </a:r>
            <a:r>
              <a:rPr lang="en-US" sz="2500" dirty="0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 de planes de </a:t>
            </a:r>
            <a:r>
              <a:rPr lang="en-US" sz="2500" dirty="0" err="1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mejora</a:t>
            </a:r>
            <a:r>
              <a:rPr lang="en-US" sz="2500" dirty="0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 </a:t>
            </a:r>
            <a:endParaRPr lang="en-US" sz="25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85C90D8E-857E-8D33-BEBD-AEEB5EBB2465}"/>
              </a:ext>
            </a:extLst>
          </p:cNvPr>
          <p:cNvSpPr/>
          <p:nvPr/>
        </p:nvSpPr>
        <p:spPr>
          <a:xfrm>
            <a:off x="658368" y="5217022"/>
            <a:ext cx="72470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000" b="1" noProof="0" dirty="0">
                <a:solidFill>
                  <a:schemeClr val="bg1"/>
                </a:solidFill>
              </a:rPr>
              <a:t>Proyecto NAE · Financiado por la </a:t>
            </a:r>
            <a:r>
              <a:rPr lang="es-419" sz="1000" b="1" noProof="0" dirty="0" err="1">
                <a:solidFill>
                  <a:schemeClr val="bg1"/>
                </a:solidFill>
              </a:rPr>
              <a:t>Agence</a:t>
            </a:r>
            <a:r>
              <a:rPr lang="es-419" sz="1000" b="1" noProof="0" dirty="0">
                <a:solidFill>
                  <a:schemeClr val="bg1"/>
                </a:solidFill>
              </a:rPr>
              <a:t> </a:t>
            </a:r>
            <a:r>
              <a:rPr lang="es-419" sz="1000" b="1" noProof="0" dirty="0" err="1">
                <a:solidFill>
                  <a:schemeClr val="bg1"/>
                </a:solidFill>
              </a:rPr>
              <a:t>Française</a:t>
            </a:r>
            <a:r>
              <a:rPr lang="es-419" sz="1000" b="1" noProof="0" dirty="0">
                <a:solidFill>
                  <a:schemeClr val="bg1"/>
                </a:solidFill>
              </a:rPr>
              <a:t> de </a:t>
            </a:r>
            <a:r>
              <a:rPr lang="es-419" sz="1000" b="1" noProof="0" dirty="0" err="1">
                <a:solidFill>
                  <a:schemeClr val="bg1"/>
                </a:solidFill>
              </a:rPr>
              <a:t>Développement</a:t>
            </a:r>
            <a:r>
              <a:rPr lang="es-419" sz="1000" b="1" noProof="0" dirty="0">
                <a:solidFill>
                  <a:schemeClr val="bg1"/>
                </a:solidFill>
              </a:rPr>
              <a:t> (AFD), con cofinanciación de la Unión Europea</a:t>
            </a:r>
          </a:p>
          <a:p>
            <a:pPr marL="0" indent="0">
              <a:buNone/>
            </a:pPr>
            <a:endParaRPr lang="es-419" sz="1000" b="1" noProof="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s-419" sz="10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técnica</a:t>
            </a:r>
            <a:r>
              <a:rPr lang="es-419" sz="1000" b="1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s-419" sz="10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Alicante (UA) · Parque Científico Tecnológico de La Habana (PCTH)</a:t>
            </a:r>
          </a:p>
          <a:p>
            <a:pPr marL="0" indent="0">
              <a:buNone/>
            </a:pPr>
            <a:endParaRPr lang="es-419" sz="1000" b="1" noProof="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s-419" sz="1000" noProof="0" dirty="0">
                <a:solidFill>
                  <a:srgbClr val="C7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Habana, Cuba · 2026</a:t>
            </a:r>
            <a:endParaRPr lang="es-419" sz="1000" noProof="0" dirty="0"/>
          </a:p>
        </p:txBody>
      </p:sp>
    </p:spTree>
    <p:extLst>
      <p:ext uri="{BB962C8B-B14F-4D97-AF65-F5344CB8AC3E}">
        <p14:creationId xmlns:p14="http://schemas.microsoft.com/office/powerpoint/2010/main" val="3726079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776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>
              <a:defRPr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Google Shape;87;p1" descr="asset_portada_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4592" y="6266688"/>
            <a:ext cx="4255008" cy="56083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hape 3"/>
          <p:cNvSpPr/>
          <p:nvPr/>
        </p:nvSpPr>
        <p:spPr>
          <a:xfrm>
            <a:off x="658368" y="5049250"/>
            <a:ext cx="4218432" cy="45719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1" name="Text 1"/>
          <p:cNvSpPr/>
          <p:nvPr/>
        </p:nvSpPr>
        <p:spPr>
          <a:xfrm>
            <a:off x="676656" y="2176272"/>
            <a:ext cx="6252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3100" b="1" dirty="0" err="1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</a:t>
            </a:r>
            <a:r>
              <a:rPr lang="en-US" sz="3100" b="1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, </a:t>
            </a:r>
            <a:r>
              <a:rPr lang="en-US" sz="3100" b="1" dirty="0" err="1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mentoría</a:t>
            </a:r>
            <a:r>
              <a:rPr lang="en-US" sz="3100" b="1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</a:t>
            </a:r>
            <a:r>
              <a:rPr lang="en-US" sz="3100" b="1" dirty="0" err="1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seguimiento</a:t>
            </a:r>
            <a:r>
              <a:rPr lang="en-US" sz="3100" b="1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planes de </a:t>
            </a:r>
            <a:r>
              <a:rPr lang="en-US" sz="3100" b="1" dirty="0" err="1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</a:t>
            </a:r>
            <a:r>
              <a:rPr lang="en-US" sz="3100" b="1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31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58368" y="4150209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s-ES" sz="19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Competencia C6 · Implementación y </a:t>
            </a:r>
            <a:r>
              <a:rPr lang="es-ES" sz="1900" dirty="0" err="1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mentoría</a:t>
            </a:r>
            <a:r>
              <a:rPr lang="es-ES" sz="19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acompañar planes de mejora con seguimiento, evidencia y mejoría del NAE</a:t>
            </a:r>
          </a:p>
        </p:txBody>
      </p:sp>
      <p:sp>
        <p:nvSpPr>
          <p:cNvPr id="8" name="Google Shape;360;p11"/>
          <p:cNvSpPr txBox="1"/>
          <p:nvPr/>
        </p:nvSpPr>
        <p:spPr>
          <a:xfrm>
            <a:off x="545592" y="473449"/>
            <a:ext cx="6858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defTabSz="685800"/>
            <a:r>
              <a:rPr lang="en-US" sz="2200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PRESENTACIÓN DEL MÓDULO</a:t>
            </a:r>
          </a:p>
        </p:txBody>
      </p:sp>
    </p:spTree>
    <p:extLst>
      <p:ext uri="{BB962C8B-B14F-4D97-AF65-F5344CB8AC3E}">
        <p14:creationId xmlns:p14="http://schemas.microsoft.com/office/powerpoint/2010/main" val="3014611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9808" y="1965960"/>
            <a:ext cx="9144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D89D2E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615184"/>
            <a:ext cx="411480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889504"/>
            <a:ext cx="640080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3000" b="0">
                <a:solidFill>
                  <a:srgbClr val="FFFFFF"/>
                </a:solidFill>
                <a:latin typeface="Aptos Display"/>
              </a:defRPr>
            </a:pPr>
            <a:r>
              <a:t>MARCO DEL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66160"/>
            <a:ext cx="5943600" cy="6217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50" b="0">
                <a:solidFill>
                  <a:srgbClr val="E1E6E3"/>
                </a:solidFill>
                <a:latin typeface="Aptos"/>
              </a:defRPr>
            </a:pPr>
            <a:r>
              <a:t>Propósito, competencia, resultados de aprendizaje y ruta de implementación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8C8"/>
                </a:solidFill>
              </a:defRPr>
            </a:pPr>
            <a:r>
              <a:t>Actividad 2.3.2 — FdF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8">
            <a:extLst>
              <a:ext uri="{FF2B5EF4-FFF2-40B4-BE49-F238E27FC236}">
                <a16:creationId xmlns:a16="http://schemas.microsoft.com/office/drawing/2014/main" id="{C08B7566-C558-3FDE-7565-668B4A2C93D5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9" descr="image3.png">
            <a:extLst>
              <a:ext uri="{FF2B5EF4-FFF2-40B4-BE49-F238E27FC236}">
                <a16:creationId xmlns:a16="http://schemas.microsoft.com/office/drawing/2014/main" id="{98F83A53-6D1B-D925-2237-42EF647B7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Ficha técnica del Módulo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874519" cy="822960"/>
          </a:xfrm>
          <a:prstGeom prst="round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783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FFFFFF"/>
                </a:solidFill>
                <a:latin typeface="Aptos"/>
              </a:defRPr>
            </a:pPr>
            <a:r>
              <a:t>6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19072"/>
            <a:ext cx="178308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Aptos"/>
              </a:defRPr>
            </a:pPr>
            <a:r>
              <a:t>Duración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1325880"/>
            <a:ext cx="1874519" cy="822960"/>
          </a:xfrm>
          <a:prstGeom prst="round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417320"/>
            <a:ext cx="1783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FFFFFF"/>
                </a:solidFill>
                <a:latin typeface="Aptos"/>
              </a:defRPr>
            </a:pPr>
            <a:r>
              <a:t>1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719072"/>
            <a:ext cx="178308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Aptos"/>
              </a:defRPr>
            </a:pPr>
            <a:r>
              <a:t>Presencial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325880"/>
            <a:ext cx="1874519" cy="822960"/>
          </a:xfrm>
          <a:prstGeom prst="round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48655" y="1417320"/>
            <a:ext cx="1783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FFFFFF"/>
                </a:solidFill>
                <a:latin typeface="Aptos"/>
              </a:defRPr>
            </a:pPr>
            <a:r>
              <a:t>2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5" y="1719072"/>
            <a:ext cx="178308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Aptos"/>
              </a:defRPr>
            </a:pPr>
            <a:r>
              <a:t>Virtual sincrónica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3" y="1325880"/>
            <a:ext cx="1874519" cy="822960"/>
          </a:xfrm>
          <a:prstGeom prst="round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61504" y="1417320"/>
            <a:ext cx="1783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FFFFFF"/>
                </a:solidFill>
                <a:latin typeface="Aptos"/>
              </a:defRPr>
            </a:pPr>
            <a:r>
              <a:t>3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1719072"/>
            <a:ext cx="178308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Aptos"/>
              </a:defRPr>
            </a:pPr>
            <a:r>
              <a:t>Virtual asincrónica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28632" y="1325880"/>
            <a:ext cx="1874519" cy="822960"/>
          </a:xfrm>
          <a:prstGeom prst="round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74352" y="1417320"/>
            <a:ext cx="1783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FFFFFF"/>
                </a:solidFill>
                <a:latin typeface="Aptos"/>
              </a:defRPr>
            </a:pPr>
            <a:r>
              <a:t>C6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1719072"/>
            <a:ext cx="178308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Aptos"/>
              </a:defRPr>
            </a:pPr>
            <a:r>
              <a:t>Implementación y mentoría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423160"/>
            <a:ext cx="5212080" cy="12344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2423160"/>
            <a:ext cx="73152" cy="12344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253288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Propósito de facilitación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880360"/>
            <a:ext cx="4983480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4E585D"/>
                </a:solidFill>
                <a:latin typeface="Aptos"/>
              </a:defRPr>
            </a:pPr>
            <a:r>
              <a:t>Desarrollar mentoría, seguimiento, gestión de compromisos y derivación, favoreciendo la autonomía de quienes gestionan los NAE.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2423160"/>
            <a:ext cx="5212080" cy="12344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9632" y="2423160"/>
            <a:ext cx="73152" cy="12344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253288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Evidencias de práctica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880360"/>
            <a:ext cx="4983480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4E585D"/>
                </a:solidFill>
                <a:latin typeface="Aptos"/>
              </a:defRPr>
            </a:pPr>
            <a:r>
              <a:t>Simulación con K05, minuta K06 y seguimiento en K04.2. Se integran en el Portafolio, sin constituir un producto evaluativo adicional.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977639"/>
            <a:ext cx="10634472" cy="102412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" y="3977639"/>
            <a:ext cx="73152" cy="1024128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087368"/>
            <a:ext cx="10405872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Dos ciclos articulados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434840"/>
            <a:ext cx="10405872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4E585D"/>
                </a:solidFill>
                <a:latin typeface="Aptos"/>
              </a:defRPr>
            </a:pPr>
            <a:r>
              <a:t>Pedagógico: Diagnosticar necesidades de aprendizaje → Diseñar → Facilitar → Evaluar → Mejorar → Multiplicar.
Empresarial: Diagnosticar el NAE → Diseñar el Plan de Mejora → Acompañar su implementación → Evaluar resultados → Ajustar → Fortalecer capacidades.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2D8F1BDE-B202-BB88-A934-A63493852FC1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9" descr="image3.png">
            <a:extLst>
              <a:ext uri="{FF2B5EF4-FFF2-40B4-BE49-F238E27FC236}">
                <a16:creationId xmlns:a16="http://schemas.microsoft.com/office/drawing/2014/main" id="{F8C5443F-BC5D-D0E0-AA1C-046FA2E17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Objetivo del módulo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789920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900" b="0">
                <a:solidFill>
                  <a:srgbClr val="002D46"/>
                </a:solidFill>
                <a:latin typeface="Aptos"/>
              </a:defRPr>
            </a:pPr>
            <a:r>
              <a:t>Desarrollar capacidades para acompañar la implementación de planes de mejora mediante mentoría, seguimiento sistemático, retroalimentación y articulación con servicios especializados, favoreciendo la autonomía y capacidad de decisión de quienes gestionan los NAE.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Implementación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Traducir el plan en decisiones, responsabilidades, plazos y evidencias verificables.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62432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Mentoría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7180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Acompañar sin sustituir la decisión del NAE: escuchar, preguntar, retroalimentar y fortalecer autonomía.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4048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84048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Documentar avances en K04.2 y decisiones, compromisos y seguimiento en K06.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73152" cy="100584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95020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Articulación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Reconocer límites profesionales y derivar a servicios especializados cuando corresponda.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8">
            <a:extLst>
              <a:ext uri="{FF2B5EF4-FFF2-40B4-BE49-F238E27FC236}">
                <a16:creationId xmlns:a16="http://schemas.microsoft.com/office/drawing/2014/main" id="{4A242FD7-4415-57B9-2663-BD90A694C6AD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Competencia C6: implementación y mentoría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0652760" cy="109728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325880"/>
            <a:ext cx="73152" cy="109728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35607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Competencia del módulo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1042416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4E585D"/>
                </a:solidFill>
                <a:latin typeface="Aptos"/>
              </a:defRPr>
            </a:pPr>
            <a:r>
              <a:t>Acompañar la mejora empresarial mediante planes de acción y mentoría centrada en la persona, con énfasis en implementación, seguimiento y aprendizaje durante la ejecución.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80360"/>
            <a:ext cx="2015337" cy="713232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990088"/>
            <a:ext cx="1923897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Plan de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mejora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2829153" y="310896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48025" y="2880360"/>
            <a:ext cx="2015337" cy="713232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93745" y="2990088"/>
            <a:ext cx="1923897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Acuerdo de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acompañamiento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4954219" y="310896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73091" y="2880360"/>
            <a:ext cx="2015337" cy="713232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18811" y="2990088"/>
            <a:ext cx="1923897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Mentoría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centrada en la persona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7079284" y="310896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98156" y="2880360"/>
            <a:ext cx="2015337" cy="713232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3876" y="2990088"/>
            <a:ext cx="1923897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Compromisos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verificables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9204350" y="310896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323222" y="2880360"/>
            <a:ext cx="2015337" cy="713232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68942" y="2990088"/>
            <a:ext cx="1923897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Seguimiento y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ajustes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6052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416052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27024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Evidencias de práctica de C6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498348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Observación de mentoría con K05; minutas K06 y revisión de avances en K04.2. Se integran como registros o componentes del Portafolio, sin entregas calificables adicionales.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16052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16052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427024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Criterio de calidad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17720"/>
            <a:ext cx="498348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La persona formadora no decide por el NAE: facilita análisis, opciones, compromisos, evidencias y derivaciones pertinentes.</a:t>
            </a:r>
          </a:p>
        </p:txBody>
      </p:sp>
      <p:pic>
        <p:nvPicPr>
          <p:cNvPr id="37" name="Picture 9" descr="image3.png">
            <a:extLst>
              <a:ext uri="{FF2B5EF4-FFF2-40B4-BE49-F238E27FC236}">
                <a16:creationId xmlns:a16="http://schemas.microsoft.com/office/drawing/2014/main" id="{90291583-EC97-3FD9-6D4A-6E5CBE16C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8">
            <a:extLst>
              <a:ext uri="{FF2B5EF4-FFF2-40B4-BE49-F238E27FC236}">
                <a16:creationId xmlns:a16="http://schemas.microsoft.com/office/drawing/2014/main" id="{D02F3D3B-E46A-EF46-0DFF-BE2ED2E1180F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9" descr="image3.png">
            <a:extLst>
              <a:ext uri="{FF2B5EF4-FFF2-40B4-BE49-F238E27FC236}">
                <a16:creationId xmlns:a16="http://schemas.microsoft.com/office/drawing/2014/main" id="{A41BC760-00D0-11FA-8BC0-3A8B142C6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Resultados esperados de aprendizaje 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411480" cy="310896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80744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344168"/>
            <a:ext cx="47548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Diferenciar los roles de formador/a, asesor/a, consultor/a y mentor/a.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411480" cy="310896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380744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344168"/>
            <a:ext cx="47548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Establecer acuerdos de acompañamiento y delimitar responsabilidades.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331720"/>
            <a:ext cx="411480" cy="310896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386584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350008"/>
            <a:ext cx="47548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Generar relaciones profesionales basadas en confianza, respeto y confidencialidad.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31720"/>
            <a:ext cx="411480" cy="310896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386584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350008"/>
            <a:ext cx="47548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Aplicar escucha activa.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37560"/>
            <a:ext cx="411480" cy="310896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392424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3355848"/>
            <a:ext cx="47548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Formular preguntas que promuevan análisis y toma de decisiones.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37560"/>
            <a:ext cx="411480" cy="310896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392424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355848"/>
            <a:ext cx="47548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Proporcionar retroalimentación orientada a resultados.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8">
            <a:extLst>
              <a:ext uri="{FF2B5EF4-FFF2-40B4-BE49-F238E27FC236}">
                <a16:creationId xmlns:a16="http://schemas.microsoft.com/office/drawing/2014/main" id="{B034C279-EBF4-1128-D53B-6AFC8CC83F75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9" descr="image3.png">
            <a:extLst>
              <a:ext uri="{FF2B5EF4-FFF2-40B4-BE49-F238E27FC236}">
                <a16:creationId xmlns:a16="http://schemas.microsoft.com/office/drawing/2014/main" id="{BDA295A5-C4F3-8153-E700-6572A9FE4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Resultados esperados de aprendizaje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02920" cy="310896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80744"/>
            <a:ext cx="411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344168"/>
            <a:ext cx="45720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Convertir las decisiones en compromisos verificables.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2920" cy="310896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380744"/>
            <a:ext cx="411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1344168"/>
            <a:ext cx="45720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Dar seguimiento sistemático al avance del plan de mejora.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331720"/>
            <a:ext cx="502920" cy="310896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386584"/>
            <a:ext cx="411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2350008"/>
            <a:ext cx="45720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Utilizar una bitácora de acompañamiento.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31720"/>
            <a:ext cx="502920" cy="310896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386584"/>
            <a:ext cx="411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350008"/>
            <a:ext cx="45720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Adaptar el plan cuando las condiciones cambien.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37560"/>
            <a:ext cx="502920" cy="310896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392424"/>
            <a:ext cx="411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3355848"/>
            <a:ext cx="45720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Reconocer los límites de su competencia profesional.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37560"/>
            <a:ext cx="502920" cy="310896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392424"/>
            <a:ext cx="411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355848"/>
            <a:ext cx="45720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002D46"/>
                </a:solidFill>
                <a:latin typeface="Aptos"/>
              </a:defRPr>
            </a:pPr>
            <a:r>
              <a:t>Derivar adecuadamente situaciones que requieran asistencia especializada.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76C92C6A-5B5F-1AC0-5B9C-DE5833D0E2D5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9" descr="image3.png">
            <a:extLst>
              <a:ext uri="{FF2B5EF4-FFF2-40B4-BE49-F238E27FC236}">
                <a16:creationId xmlns:a16="http://schemas.microsoft.com/office/drawing/2014/main" id="{444DEF21-A77B-5908-D96F-DE15A85EA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Ruta del Módulo 4 por modalidad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110185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Tema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Carga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Modalidad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Foco operativo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1. Acompañamiento empresarial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0,5 h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asincrónica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Propósito, alcance, roles, límites y corresponsabilidad.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2. Mentoría empresarial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 h + 1 h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Presencial + sincrónica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Confianza, acuerdos, escucha, preguntas, alternativas, decisiones y autonomía.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3. Gestión de compromisos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0,5 h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asincrónica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Acuerdos, responsables, fechas, evidencias, obstáculos y próximos pasos.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4. Seguimiento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0,5 h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sincrónica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Frecuencia, hitos, avances, dificultades, revisión, adaptación y documentación.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5. Minuta/bitácora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 h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asincrónica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Registro de situación, avance, problema, decisión, compromiso, evidencia y seguimiento.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6. Situaciones complejas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0,5 h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sincrónica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Incumplimiento, resistencia, conflictos, crisis, límites profesionales y derivación.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7. Ecosistema de apoyo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 h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asincrónica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Universidades, CUM, DDM, parques, centros, especialistas y redes.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9144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D89D2E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615184"/>
            <a:ext cx="411480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889504"/>
            <a:ext cx="640080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3000" b="0">
                <a:solidFill>
                  <a:srgbClr val="FFFFFF"/>
                </a:solidFill>
                <a:latin typeface="Aptos Display"/>
              </a:defRPr>
            </a:pPr>
            <a:r>
              <a:t>ACOMPAÑAMIENTO Y MENTORÍA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66160"/>
            <a:ext cx="5943600" cy="6217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50" b="0">
                <a:solidFill>
                  <a:srgbClr val="E1E6E3"/>
                </a:solidFill>
                <a:latin typeface="Aptos"/>
              </a:defRPr>
            </a:pPr>
            <a:r>
              <a:t>Del plan de mejora a una relación profesional basada en confianza, autonomía y evidencia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8C8"/>
                </a:solidFill>
              </a:defRPr>
            </a:pPr>
            <a:r>
              <a:t>Actividad 2.3.2 — FdF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8">
            <a:extLst>
              <a:ext uri="{FF2B5EF4-FFF2-40B4-BE49-F238E27FC236}">
                <a16:creationId xmlns:a16="http://schemas.microsoft.com/office/drawing/2014/main" id="{1881DB4C-8B1C-5F66-9097-252AEE5AD57A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9" descr="image3.png">
            <a:extLst>
              <a:ext uri="{FF2B5EF4-FFF2-40B4-BE49-F238E27FC236}">
                <a16:creationId xmlns:a16="http://schemas.microsoft.com/office/drawing/2014/main" id="{00869BFA-2732-10FB-C371-B332E01CB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Del Plan de Mejora a la implementación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1737360" cy="713232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527048"/>
            <a:ext cx="1645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Plan de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Mejora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386584" y="164592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05456" y="1417320"/>
            <a:ext cx="1737360" cy="713232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51176" y="1527048"/>
            <a:ext cx="1645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Acuerdos de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acompañamiento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4233672" y="164592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52544" y="1417320"/>
            <a:ext cx="1737360" cy="713232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1527048"/>
            <a:ext cx="1645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Sesiones de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mentoría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6080760" y="164592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99632" y="1417320"/>
            <a:ext cx="1737360" cy="713232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1527048"/>
            <a:ext cx="1645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Compromisos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verificables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7927848" y="164592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20" y="1417320"/>
            <a:ext cx="1737360" cy="713232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1527048"/>
            <a:ext cx="1645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Evidencias y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9774936" y="1645920"/>
            <a:ext cx="164592" cy="256032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93808" y="1417320"/>
            <a:ext cx="1737360" cy="713232"/>
          </a:xfrm>
          <a:prstGeom prst="roundRect">
            <a:avLst/>
          </a:prstGeom>
          <a:solidFill>
            <a:srgbClr val="77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39528" y="1527048"/>
            <a:ext cx="1645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Ajustes o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derivación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697480"/>
            <a:ext cx="5212080" cy="11430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2697480"/>
            <a:ext cx="73152" cy="114300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280720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Herramientas pertinentes al NAE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154680"/>
            <a:ext cx="4983480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K04.2 organiza el seguimiento; K05 orienta la práctica de mentoría y K06 registra las sesiones. Seleccionar su uso según necesidades y territorio.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697480"/>
            <a:ext cx="5212080" cy="11430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2697480"/>
            <a:ext cx="73152" cy="114300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80720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Acuerdos de sesión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4983480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Acción, responsable, fecha, evidencia, apoyo requerido y próximo seguimiento, acordados con el NAE.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160520"/>
            <a:ext cx="10652760" cy="9144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4160520"/>
            <a:ext cx="73152" cy="91440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27024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Referentes complementarios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617720"/>
            <a:ext cx="104241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K04.2 y K06 proceden de CVI/PNUD. Su uso no es una secuencia rígida ni sustituye la arquitectura, competencias, productos o evaluación del FdF-NAE.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CCBF187E-82CF-3BA4-E215-DF7B6FD2553E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9" descr="image3.png">
            <a:extLst>
              <a:ext uri="{FF2B5EF4-FFF2-40B4-BE49-F238E27FC236}">
                <a16:creationId xmlns:a16="http://schemas.microsoft.com/office/drawing/2014/main" id="{DA545270-1F29-6368-E82A-54081F312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Tema 1 · El acompañamiento empresarial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0,5 h virtual asincrónica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0992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Acompañar la ejecución del plan, fortalecer capacidades y apoyar decisiones basadas en evidencias.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70992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Alcances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5740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Orientar, retroalimentar, facilitar análisis, dar seguimiento y conectar con apoyos pertinentes.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2608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92608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03580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Roles y límites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8328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Distinguir formación, asesoría, consultoría, mentoría y derivación especializada.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73152" cy="100584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03580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Corresponsabilidad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8328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El NAE conserva la decisión; la persona mentora facilita reflexión, compromiso y aprendizaje.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83EE54C5-29D3-F8F1-39D8-762DA47DAD61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9" descr="image3.png">
            <a:extLst>
              <a:ext uri="{FF2B5EF4-FFF2-40B4-BE49-F238E27FC236}">
                <a16:creationId xmlns:a16="http://schemas.microsoft.com/office/drawing/2014/main" id="{0E96F38E-3C74-45E0-A376-6A3CC09C5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Diferenciar roles durante el acompañamiento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881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Foco principal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Riesgo si se confunde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Formador/a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Desarrolla competencias mediante experiencias de aprendizaje.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Convertir una brecha empresarial en curso sin diagnóstico.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Asesor/a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Orienta técnicamente sobre opciones y decisiones.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Dar soluciones sin evidencia o fuera de contexto.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Consultor/a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Analiza problemas específicos y propone soluciones técnicas.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Sustituir la decisión y apropiación del NAE.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Mentor/a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Facilita reflexión, autonomía, compromisos y seguimiento.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Convertirse en consejero/a directivo/a o supervisor/a.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4983480"/>
            <a:ext cx="1060704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4983480"/>
            <a:ext cx="73152" cy="73152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93208"/>
            <a:ext cx="103784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Clave de facilitación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3784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Antes de intervenir, preguntar: ¿esta situación requiere formación, asesoría, consultoría, mentoría o derivación especializada?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8">
            <a:extLst>
              <a:ext uri="{FF2B5EF4-FFF2-40B4-BE49-F238E27FC236}">
                <a16:creationId xmlns:a16="http://schemas.microsoft.com/office/drawing/2014/main" id="{2E1487E8-9FF8-066A-456B-E4311DE9AD1D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9" descr="image3.png">
            <a:extLst>
              <a:ext uri="{FF2B5EF4-FFF2-40B4-BE49-F238E27FC236}">
                <a16:creationId xmlns:a16="http://schemas.microsoft.com/office/drawing/2014/main" id="{A702B6AE-098C-5119-6092-C2D68DB3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Tema 2 · Mentoría empresarial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4572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1 h presencial + 1 h virtual 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287018" cy="594360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82495"/>
            <a:ext cx="119557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FFFFFF"/>
                </a:solidFill>
                <a:latin typeface="Aptos"/>
              </a:defRPr>
            </a:pPr>
            <a:r>
              <a:t>Confianza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1872234" y="1801368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91105" y="1572768"/>
            <a:ext cx="1287018" cy="594360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36825" y="1682495"/>
            <a:ext cx="119557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FFFFFF"/>
                </a:solidFill>
                <a:latin typeface="Aptos"/>
              </a:defRPr>
            </a:pPr>
            <a:r>
              <a:t>Acuerdos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3268980" y="1801368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87851" y="1572768"/>
            <a:ext cx="1287018" cy="594360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33571" y="1682495"/>
            <a:ext cx="119557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FFFFFF"/>
                </a:solidFill>
                <a:latin typeface="Aptos"/>
              </a:defRPr>
            </a:pPr>
            <a:r>
              <a:t>Escucha activa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4665726" y="1801368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84598" y="1572768"/>
            <a:ext cx="1287018" cy="594360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30318" y="1682495"/>
            <a:ext cx="119557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FFFFFF"/>
                </a:solidFill>
                <a:latin typeface="Aptos"/>
              </a:defRPr>
            </a:pPr>
            <a:r>
              <a:t>Preguntas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6062472" y="1801368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81344" y="1572768"/>
            <a:ext cx="1287018" cy="594360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7064" y="1682495"/>
            <a:ext cx="119557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FFFFFF"/>
                </a:solidFill>
                <a:latin typeface="Aptos"/>
              </a:defRPr>
            </a:pPr>
            <a:r>
              <a:t>Alternativas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7459218" y="1801368"/>
            <a:ext cx="164592" cy="256032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78090" y="1572768"/>
            <a:ext cx="1287018" cy="594360"/>
          </a:xfrm>
          <a:prstGeom prst="roundRect">
            <a:avLst/>
          </a:prstGeom>
          <a:solidFill>
            <a:srgbClr val="77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23810" y="1682495"/>
            <a:ext cx="119557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FFFFFF"/>
                </a:solidFill>
                <a:latin typeface="Aptos"/>
              </a:defRPr>
            </a:pPr>
            <a:r>
              <a:t>Decisión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8855964" y="1801368"/>
            <a:ext cx="164592" cy="256032"/>
          </a:xfrm>
          <a:prstGeom prst="rtTriangle">
            <a:avLst/>
          </a:prstGeom>
          <a:solidFill>
            <a:srgbClr val="77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74836" y="1572768"/>
            <a:ext cx="1287018" cy="594360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20556" y="1682495"/>
            <a:ext cx="119557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FFFFFF"/>
                </a:solidFill>
                <a:latin typeface="Aptos"/>
              </a:defRPr>
            </a:pPr>
            <a:r>
              <a:t>Retroalimentación</a:t>
            </a:r>
          </a:p>
        </p:txBody>
      </p:sp>
      <p:sp>
        <p:nvSpPr>
          <p:cNvPr id="29" name="Right Triangle 28"/>
          <p:cNvSpPr/>
          <p:nvPr/>
        </p:nvSpPr>
        <p:spPr>
          <a:xfrm>
            <a:off x="10252710" y="1801368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371582" y="1572768"/>
            <a:ext cx="1287018" cy="594360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7302" y="1682495"/>
            <a:ext cx="119557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FFFFFF"/>
                </a:solidFill>
                <a:latin typeface="Aptos"/>
              </a:defRPr>
            </a:pPr>
            <a:r>
              <a:t>Autonomía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2606040"/>
            <a:ext cx="5166360" cy="11887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2606040"/>
            <a:ext cx="73152" cy="118872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2715768"/>
            <a:ext cx="4937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Construcción de relación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063240"/>
            <a:ext cx="49377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La mentoría profesional requiere confianza, respeto, confidencialidad y claridad sobre expectativas y responsabilidades.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2606040"/>
            <a:ext cx="5166360" cy="11887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2606040"/>
            <a:ext cx="73152" cy="118872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2715768"/>
            <a:ext cx="4937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Toma de decisiones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063240"/>
            <a:ext cx="49377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La persona mentora no impone la solución: ayuda a analizar alternativas, ventajas, riesgos y próximos pasos.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160520"/>
            <a:ext cx="1065276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416052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427024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Referente técnico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617720"/>
            <a:ext cx="104241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La profesionalización de la mentoría exige atender la relación, acuerdos, ética, confidencialidad, escucha activa, preguntas y reconocimiento de límites profesionales (European Mentoring and Coaching Council, 2015).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A46842BD-B115-293F-0FCD-D9120E1811A3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9" descr="image3.png">
            <a:extLst>
              <a:ext uri="{FF2B5EF4-FFF2-40B4-BE49-F238E27FC236}">
                <a16:creationId xmlns:a16="http://schemas.microsoft.com/office/drawing/2014/main" id="{F31A449B-17B7-5FCD-2B8D-33C0C50D3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Mentoría con enfoque de género e inclusión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002D46"/>
                </a:solidFill>
                <a:latin typeface="Aptos"/>
              </a:defRPr>
            </a:pPr>
            <a:r>
              <a:t>La mentoría debe reconocer que las personas acompañadas pueden enfrentar barreras diferenciadas para participar, decidir, acceder a recursos o sostener compromisos.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16712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Sesgos y barreras de acceso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Identificar condiciones que limitan participación, financiamiento, redes o tecnología.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5740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05740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16712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Responsabilidades de cuidado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Acordar horarios, compromisos y seguimiento realistas.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8328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49300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Recursos y tecnología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No asumir acceso igual a conectividad, equipos o información.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8328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383280"/>
            <a:ext cx="73152" cy="100584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49300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Redes y decisión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84048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Promover autonomía, liderazgo y participación en espacios de decisión.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9603DF70-FA1B-36C6-F92A-A2467F9C0EAE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9" descr="image3.png">
            <a:extLst>
              <a:ext uri="{FF2B5EF4-FFF2-40B4-BE49-F238E27FC236}">
                <a16:creationId xmlns:a16="http://schemas.microsoft.com/office/drawing/2014/main" id="{94F8090A-8F6E-2454-45E2-BB0C5C77D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Técnicas centrales de mentoría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074920" cy="11430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73152" cy="114300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270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Escucha activa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4846320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Comprender antes de responder: observar, preguntar, parafrasear y validar comprensión.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074920" cy="11430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73152" cy="114300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5270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Preguntas reflexivas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4846320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Abrir análisis, alternativas, consecuencias, recursos y compromisos.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80360"/>
            <a:ext cx="5074920" cy="11430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2880360"/>
            <a:ext cx="73152" cy="114300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99008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Retroalimentación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4846320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Vincular evidencia observada con el criterio de mejora y una acción concreta.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80360"/>
            <a:ext cx="5074920" cy="11430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73152" cy="11430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99008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Autonomía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37560"/>
            <a:ext cx="4846320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Mantener la decisión en la persona responsable del NAE y fortalecer su capacidad de gestión.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103327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1D584E"/>
                </a:solidFill>
                <a:latin typeface="Aptos"/>
              </a:defRPr>
            </a:pPr>
            <a:r>
              <a:t>Regla práctica: menos consejo inmediato, más escucha, evidencia, opciones y compromiso verificable.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8">
            <a:extLst>
              <a:ext uri="{FF2B5EF4-FFF2-40B4-BE49-F238E27FC236}">
                <a16:creationId xmlns:a16="http://schemas.microsoft.com/office/drawing/2014/main" id="{FF4FEC0E-B3EA-F3CD-A245-AF7A6F393BF8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9" descr="image3.png">
            <a:extLst>
              <a:ext uri="{FF2B5EF4-FFF2-40B4-BE49-F238E27FC236}">
                <a16:creationId xmlns:a16="http://schemas.microsoft.com/office/drawing/2014/main" id="{08EDE0B7-EA6C-0F18-95E5-2B41F21B6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Preguntas que promueven análisis y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88720"/>
            <a:ext cx="5074920" cy="74980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188720"/>
            <a:ext cx="73152" cy="749808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2984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846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¿Qué resultado sería importante para usted en este momento?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074920" cy="74980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73152" cy="749808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2984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Evidencia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4846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¿Qué evidencia tiene de que ese es el problema principal?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148840"/>
            <a:ext cx="5074920" cy="74980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2148840"/>
            <a:ext cx="73152" cy="749808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25856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Alternativas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606040"/>
            <a:ext cx="4846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¿Qué alternativas ha considerado?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148840"/>
            <a:ext cx="5074920" cy="74980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148840"/>
            <a:ext cx="73152" cy="749808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25856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Riesgos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06040"/>
            <a:ext cx="4846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¿Qué ventajas y riesgos observa en cada opción?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08960"/>
            <a:ext cx="5074920" cy="74980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108960"/>
            <a:ext cx="73152" cy="749808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21868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Recursos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566160"/>
            <a:ext cx="4846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¿Qué puede hacer con los recursos actuales?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108960"/>
            <a:ext cx="5074920" cy="74980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108960"/>
            <a:ext cx="73152" cy="749808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321868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Apoyo externo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566160"/>
            <a:ext cx="4846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¿Qué apoyo externo sería necesario?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069080"/>
            <a:ext cx="5074920" cy="74980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4069080"/>
            <a:ext cx="73152" cy="749808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17880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Compromiso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26280"/>
            <a:ext cx="4846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¿Cuál será el próximo paso, quién lo realizará y para cuándo?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9144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D89D2E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615184"/>
            <a:ext cx="411480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889504"/>
            <a:ext cx="640080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3000" b="0">
                <a:solidFill>
                  <a:srgbClr val="FFFFFF"/>
                </a:solidFill>
                <a:latin typeface="Aptos Display"/>
              </a:defRPr>
            </a:pPr>
            <a:r>
              <a:t>GESTIÓN Y SEGUIMIENTO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66160"/>
            <a:ext cx="5943600" cy="6217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50" b="0">
                <a:solidFill>
                  <a:srgbClr val="E1E6E3"/>
                </a:solidFill>
                <a:latin typeface="Aptos"/>
              </a:defRPr>
            </a:pPr>
            <a:r>
              <a:t>Compromisos, bitácoras, situaciones complejas y ecosistema de apoyo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8C8"/>
                </a:solidFill>
              </a:defRPr>
            </a:pPr>
            <a:r>
              <a:t>Actividad 2.3.2 — FdF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8">
            <a:extLst>
              <a:ext uri="{FF2B5EF4-FFF2-40B4-BE49-F238E27FC236}">
                <a16:creationId xmlns:a16="http://schemas.microsoft.com/office/drawing/2014/main" id="{1BBAE12E-4DB1-2505-922E-3AD198B78EFE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9" descr="image3.png">
            <a:extLst>
              <a:ext uri="{FF2B5EF4-FFF2-40B4-BE49-F238E27FC236}">
                <a16:creationId xmlns:a16="http://schemas.microsoft.com/office/drawing/2014/main" id="{C1ECEDEE-4B03-BA79-A877-27EA704DD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Tema 3 · Gestión de compromisos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0,5 h virtual asincrónica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1645920" cy="713232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155448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Acuerdo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2459736" y="182880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78608" y="1600200"/>
            <a:ext cx="1645920" cy="713232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24327" y="1709928"/>
            <a:ext cx="155448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Responsable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215384" y="182880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34256" y="1600200"/>
            <a:ext cx="1645920" cy="713232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9976" y="1709928"/>
            <a:ext cx="155448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Fecha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5971032" y="182880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89904" y="1600200"/>
            <a:ext cx="1645920" cy="713232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35624" y="1709928"/>
            <a:ext cx="155448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Evidencia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7726680" y="182880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845552" y="1600200"/>
            <a:ext cx="1645920" cy="713232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91272" y="1709928"/>
            <a:ext cx="155448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Obstáculo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9482328" y="1828800"/>
            <a:ext cx="164592" cy="256032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01200" y="1600200"/>
            <a:ext cx="1645920" cy="713232"/>
          </a:xfrm>
          <a:prstGeom prst="roundRect">
            <a:avLst/>
          </a:prstGeom>
          <a:solidFill>
            <a:srgbClr val="77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46920" y="1709928"/>
            <a:ext cx="155448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Próximo paso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283464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283464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294436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De la conversación a la acción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291840"/>
            <a:ext cx="498348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Registrar en K06 acción, responsable, fecha, evidencia, apoyo requerido y próximo seguimiento.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3464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283464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294436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Gestión de obstáculos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291840"/>
            <a:ext cx="498348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Registrar barreras, supuestos y apoyos necesarios evita que los compromisos queden como intenciones generales.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251960"/>
            <a:ext cx="106527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4251960"/>
            <a:ext cx="73152" cy="73152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36168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Pregunta de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709160"/>
            <a:ext cx="104241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4E585D"/>
                </a:solidFill>
                <a:latin typeface="Aptos"/>
              </a:defRPr>
            </a:pPr>
            <a:r>
              <a:t>¿Este compromiso puede revisarse objetivamente en la próxima sesión?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62ED397B-9DE7-8FDB-412B-841E383A5899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9" descr="image3.png">
            <a:extLst>
              <a:ext uri="{FF2B5EF4-FFF2-40B4-BE49-F238E27FC236}">
                <a16:creationId xmlns:a16="http://schemas.microsoft.com/office/drawing/2014/main" id="{03B03865-98AE-EDCE-7094-1B4BB3981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Compromisos verificables: fórmula mínima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325880"/>
          <a:ext cx="10607039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Elemento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Pregunta de verificación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Ejemplo operativo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Acción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¿Qué se hará exactamente?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Actualizar registro semanal de ventas.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Responsable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¿Quién lo hará?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Responsable comercial / persona designada.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Fecha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¿Para cuándo estará listo?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Fecha concreta acordada con el NAE.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Evidencia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¿Cómo se comprobará?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Registro, foto, documento, reporte o minuta.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Apoyo requerido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¿Qué recurso o acompañamiento necesita?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Plantilla, llamada técnica, enlace institucional.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5166360"/>
            <a:ext cx="10607040" cy="77288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5166360"/>
            <a:ext cx="118872" cy="754598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276088"/>
            <a:ext cx="103784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Cierre y seguimiento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378440" cy="182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Acordar también cuándo se revisará el compromiso. Evitar acuerdos generales sin responsable, fecha ni evidencia.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8">
            <a:extLst>
              <a:ext uri="{FF2B5EF4-FFF2-40B4-BE49-F238E27FC236}">
                <a16:creationId xmlns:a16="http://schemas.microsoft.com/office/drawing/2014/main" id="{B8611B1A-DF8C-0CBC-B6BA-9DE50EE40C43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9" descr="image3.png">
            <a:extLst>
              <a:ext uri="{FF2B5EF4-FFF2-40B4-BE49-F238E27FC236}">
                <a16:creationId xmlns:a16="http://schemas.microsoft.com/office/drawing/2014/main" id="{CA73DF5E-755C-6739-FA9C-D81AD5A81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Tema 4 · Seguimiento con K04.2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0,5 h virtual 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0992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Hoja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Revisar proyectos, responsables, apoyos, presupuesto y cronograma del Plan de Mejora.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70992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Hojas de proyecto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5740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Contrastar actividades y tareas: P (programado), R (real), porcentaje de avance y evidencias.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2608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92608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03580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Revisión y adaptación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8328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Acordar ajustes ante cambios de recursos, prioridades, riesgos o contexto, con participación del NAE.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73152" cy="100584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03580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Documentación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83280"/>
            <a:ext cx="48463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Registrar decisiones y compromisos en K06 y mantener su vínculo con las actividades de K04.2.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24128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1D584E"/>
                </a:solidFill>
                <a:latin typeface="Aptos"/>
              </a:defRPr>
            </a:pPr>
            <a:r>
              <a:t>Seguimiento sistemático = observar avances + interpretar evidencias + decidir ajustes.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8">
            <a:extLst>
              <a:ext uri="{FF2B5EF4-FFF2-40B4-BE49-F238E27FC236}">
                <a16:creationId xmlns:a16="http://schemas.microsoft.com/office/drawing/2014/main" id="{BFD2A265-1907-60C4-97B1-66D423FF7329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9" descr="image3.png">
            <a:extLst>
              <a:ext uri="{FF2B5EF4-FFF2-40B4-BE49-F238E27FC236}">
                <a16:creationId xmlns:a16="http://schemas.microsoft.com/office/drawing/2014/main" id="{7BBD01A1-7C5F-CCCB-5C79-05E018D79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Tema 5 · Registro de acompañamiento con K06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1 h virtual asincrónica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33375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554480"/>
            <a:ext cx="73152" cy="73152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7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Fecha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3108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19" b="0">
                <a:solidFill>
                  <a:srgbClr val="4E585D"/>
                </a:solidFill>
                <a:latin typeface="Aptos"/>
              </a:defRPr>
            </a:pPr>
            <a:r>
              <a:t>Cuándo ocurrió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3375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73152" cy="73152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664207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Situación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108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19" b="0">
                <a:solidFill>
                  <a:srgbClr val="4E585D"/>
                </a:solidFill>
                <a:latin typeface="Aptos"/>
              </a:defRPr>
            </a:pPr>
            <a:r>
              <a:t>Qué se revisó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54480"/>
            <a:ext cx="33375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554480"/>
            <a:ext cx="73152" cy="73152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664207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Avance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108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19" b="0">
                <a:solidFill>
                  <a:srgbClr val="4E585D"/>
                </a:solidFill>
                <a:latin typeface="Aptos"/>
              </a:defRPr>
            </a:pPr>
            <a:r>
              <a:t>Qué cambió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514600"/>
            <a:ext cx="33375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514600"/>
            <a:ext cx="73152" cy="73152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2624328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971800"/>
            <a:ext cx="3108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19" b="0">
                <a:solidFill>
                  <a:srgbClr val="4E585D"/>
                </a:solidFill>
                <a:latin typeface="Aptos"/>
              </a:defRPr>
            </a:pPr>
            <a:r>
              <a:t>Qué obstáculo apareció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514600"/>
            <a:ext cx="33375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2514600"/>
            <a:ext cx="73152" cy="73152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2624328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Decisión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971800"/>
            <a:ext cx="3108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19" b="0">
                <a:solidFill>
                  <a:srgbClr val="4E585D"/>
                </a:solidFill>
                <a:latin typeface="Aptos"/>
              </a:defRPr>
            </a:pPr>
            <a:r>
              <a:t>Qué se acordó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514600"/>
            <a:ext cx="33375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92440" y="2514600"/>
            <a:ext cx="73152" cy="73152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2624328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Compromiso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71800"/>
            <a:ext cx="3108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19" b="0">
                <a:solidFill>
                  <a:srgbClr val="4E585D"/>
                </a:solidFill>
                <a:latin typeface="Aptos"/>
              </a:defRPr>
            </a:pPr>
            <a:r>
              <a:t>Qué se hará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474720"/>
            <a:ext cx="33375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474720"/>
            <a:ext cx="73152" cy="73152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584448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Responsable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931920"/>
            <a:ext cx="3108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19" b="0">
                <a:solidFill>
                  <a:srgbClr val="4E585D"/>
                </a:solidFill>
                <a:latin typeface="Aptos"/>
              </a:defRPr>
            </a:pPr>
            <a:r>
              <a:t>Quién lo hará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3474720"/>
            <a:ext cx="33375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89120" y="3474720"/>
            <a:ext cx="73152" cy="73152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26280" y="3584448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Evidencia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3931920"/>
            <a:ext cx="3108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19" b="0">
                <a:solidFill>
                  <a:srgbClr val="4E585D"/>
                </a:solidFill>
                <a:latin typeface="Aptos"/>
              </a:defRPr>
            </a:pPr>
            <a:r>
              <a:t>Cómo se verificará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3474720"/>
            <a:ext cx="33375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92440" y="3474720"/>
            <a:ext cx="73152" cy="73152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0" y="3584448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931920"/>
            <a:ext cx="3108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19" b="0">
                <a:solidFill>
                  <a:srgbClr val="4E585D"/>
                </a:solidFill>
                <a:latin typeface="Aptos"/>
              </a:defRPr>
            </a:pPr>
            <a:r>
              <a:t>Cuándo se revisa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800600"/>
            <a:ext cx="10652760" cy="65836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77240" y="4800600"/>
            <a:ext cx="73152" cy="658368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491032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Criterio de uso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257800"/>
            <a:ext cx="1042416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K06 documenta objetivo, agenda, resultados, compromisos y observaciones. Incorporar evidencia y seguimiento en esos campos, sin crear otra bitácora.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F49E13C8-742D-7E69-0D66-000C1270228D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9" descr="image3.png">
            <a:extLst>
              <a:ext uri="{FF2B5EF4-FFF2-40B4-BE49-F238E27FC236}">
                <a16:creationId xmlns:a16="http://schemas.microsoft.com/office/drawing/2014/main" id="{A1A549B9-357A-BCD0-A9F4-A575B1374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K06 · Minuta de asistencia técnica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89611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Vista resumida: K06 separa resultados y compromisos e incluye nombres y firmas de participantes.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508760"/>
            <a:ext cx="10424160" cy="4297680"/>
          </a:xfrm>
          <a:prstGeom prst="rect">
            <a:avLst/>
          </a:prstGeom>
          <a:noFill/>
          <a:ln w="12700">
            <a:solidFill>
              <a:srgbClr val="4E5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27632"/>
            <a:ext cx="29260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02D46"/>
                </a:solidFill>
                <a:latin typeface="Aptos"/>
              </a:defRPr>
            </a:pPr>
            <a:r>
              <a:t>Nombre de la Empresa: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2996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2D46"/>
                </a:solidFill>
                <a:latin typeface="Aptos"/>
              </a:defRPr>
            </a:pPr>
            <a:r>
              <a:t>Fecha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2996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2D46"/>
                </a:solidFill>
                <a:latin typeface="Aptos"/>
              </a:defRPr>
            </a:pPr>
            <a:r>
              <a:rPr dirty="0"/>
              <a:t>Lugar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487168"/>
            <a:ext cx="10424160" cy="9144"/>
          </a:xfrm>
          <a:prstGeom prst="rect">
            <a:avLst/>
          </a:prstGeom>
          <a:solidFill>
            <a:srgbClr val="AFA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218688"/>
            <a:ext cx="10424160" cy="9144"/>
          </a:xfrm>
          <a:prstGeom prst="rect">
            <a:avLst/>
          </a:prstGeom>
          <a:solidFill>
            <a:srgbClr val="AFA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4133087"/>
            <a:ext cx="10424160" cy="9144"/>
          </a:xfrm>
          <a:prstGeom prst="rect">
            <a:avLst/>
          </a:prstGeom>
          <a:solidFill>
            <a:srgbClr val="AFA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4983480"/>
            <a:ext cx="10424160" cy="9144"/>
          </a:xfrm>
          <a:prstGeom prst="rect">
            <a:avLst/>
          </a:prstGeom>
          <a:solidFill>
            <a:srgbClr val="AFA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2578608"/>
            <a:ext cx="1920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02D46"/>
                </a:solidFill>
                <a:latin typeface="Aptos"/>
              </a:defRPr>
            </a:pPr>
            <a:r>
              <a:t>Objetivo: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10128"/>
            <a:ext cx="1920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02D46"/>
                </a:solidFill>
                <a:latin typeface="Aptos"/>
              </a:defRPr>
            </a:pPr>
            <a:r>
              <a:t>Agenda por tratar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24528"/>
            <a:ext cx="2194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02D46"/>
                </a:solidFill>
                <a:latin typeface="Aptos"/>
              </a:defRPr>
            </a:pPr>
            <a:r>
              <a:t>Resultados / compromisos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20"/>
            <a:ext cx="1920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02D46"/>
                </a:solidFill>
                <a:latin typeface="Aptos"/>
              </a:defRPr>
            </a:pPr>
            <a:r>
              <a:t>Observaciones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8">
            <a:extLst>
              <a:ext uri="{FF2B5EF4-FFF2-40B4-BE49-F238E27FC236}">
                <a16:creationId xmlns:a16="http://schemas.microsoft.com/office/drawing/2014/main" id="{8B95792D-1415-2BF6-DB39-FC888D233EB8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9" descr="image3.png">
            <a:extLst>
              <a:ext uri="{FF2B5EF4-FFF2-40B4-BE49-F238E27FC236}">
                <a16:creationId xmlns:a16="http://schemas.microsoft.com/office/drawing/2014/main" id="{A03906DB-37CF-F6C9-0749-7338883E9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Tema 6 · Situaciones complejas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0,5 h virtual 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074920" cy="65836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463040"/>
            <a:ext cx="73152" cy="658368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002D46"/>
                </a:solidFill>
                <a:latin typeface="Aptos"/>
              </a:defRPr>
            </a:pPr>
            <a:r>
              <a:t>Incumplimiento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4632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4E585D"/>
                </a:solidFill>
                <a:latin typeface="Aptos"/>
              </a:defRPr>
            </a:pPr>
            <a:r>
              <a:t>Revisar causas, recursos y compromiso; no culpabilizar sin evidencia.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074920" cy="65836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73152" cy="658368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57276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002D46"/>
                </a:solidFill>
                <a:latin typeface="Aptos"/>
              </a:defRPr>
            </a:pPr>
            <a:r>
              <a:t>Resistencia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484632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4E585D"/>
                </a:solidFill>
                <a:latin typeface="Aptos"/>
              </a:defRPr>
            </a:pPr>
            <a:r>
              <a:t>Explorar razones, experiencia previa y condiciones reales.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331720"/>
            <a:ext cx="5074920" cy="65836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331720"/>
            <a:ext cx="73152" cy="658368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4414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002D46"/>
                </a:solidFill>
                <a:latin typeface="Aptos"/>
              </a:defRPr>
            </a:pPr>
            <a:r>
              <a:t>Conflictos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88920"/>
            <a:ext cx="484632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4E585D"/>
                </a:solidFill>
                <a:latin typeface="Aptos"/>
              </a:defRPr>
            </a:pPr>
            <a:r>
              <a:t>Separar personas de argumentos y volver a acuerdos y evidencias.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331720"/>
            <a:ext cx="5074920" cy="65836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331720"/>
            <a:ext cx="73152" cy="658368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24414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002D46"/>
                </a:solidFill>
                <a:latin typeface="Aptos"/>
              </a:defRPr>
            </a:pPr>
            <a:r>
              <a:t>Crisis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88920"/>
            <a:ext cx="484632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4E585D"/>
                </a:solidFill>
                <a:latin typeface="Aptos"/>
              </a:defRPr>
            </a:pPr>
            <a:r>
              <a:t>Priorizar continuidad, sostenibilidad y apoyos especializados según la situación del NAE.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200400"/>
            <a:ext cx="5074920" cy="65836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3200400"/>
            <a:ext cx="73152" cy="658368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31012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002D46"/>
                </a:solidFill>
                <a:latin typeface="Aptos"/>
              </a:defRPr>
            </a:pPr>
            <a:r>
              <a:t>Cambio de prioridades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657600"/>
            <a:ext cx="484632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4E585D"/>
                </a:solidFill>
                <a:latin typeface="Aptos"/>
              </a:defRPr>
            </a:pPr>
            <a:r>
              <a:t>Acordar mejoras e innovaciones viables, considerando impacto, recursos y sostenibilidad.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00400"/>
            <a:ext cx="5074920" cy="65836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200400"/>
            <a:ext cx="73152" cy="658368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31012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002D46"/>
                </a:solidFill>
                <a:latin typeface="Aptos"/>
              </a:defRPr>
            </a:pPr>
            <a:r>
              <a:t>Dependencia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657600"/>
            <a:ext cx="484632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4E585D"/>
                </a:solidFill>
                <a:latin typeface="Aptos"/>
              </a:defRPr>
            </a:pPr>
            <a:r>
              <a:t>Devolver decisión al NAE y fortalecer autonomía.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069079"/>
            <a:ext cx="5074920" cy="65836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4069079"/>
            <a:ext cx="73152" cy="658368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178807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002D46"/>
                </a:solidFill>
                <a:latin typeface="Aptos"/>
              </a:defRPr>
            </a:pPr>
            <a:r>
              <a:t>Límites profesionales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526279"/>
            <a:ext cx="484632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4E585D"/>
                </a:solidFill>
                <a:latin typeface="Aptos"/>
              </a:defRPr>
            </a:pPr>
            <a:r>
              <a:t>Reconocer cuándo el caso excede la competencia.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069079"/>
            <a:ext cx="5074920" cy="65836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4069079"/>
            <a:ext cx="73152" cy="658368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4178807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002D46"/>
                </a:solidFill>
                <a:latin typeface="Aptos"/>
              </a:defRPr>
            </a:pPr>
            <a:r>
              <a:t>Derivación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526279"/>
            <a:ext cx="484632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4E585D"/>
                </a:solidFill>
                <a:latin typeface="Aptos"/>
              </a:defRPr>
            </a:pPr>
            <a:r>
              <a:t>Conectar responsablemente con servicios especializados.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8">
            <a:extLst>
              <a:ext uri="{FF2B5EF4-FFF2-40B4-BE49-F238E27FC236}">
                <a16:creationId xmlns:a16="http://schemas.microsoft.com/office/drawing/2014/main" id="{9491A5E2-45A0-87B7-4C7E-B91FD61EF190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9" descr="image3.png">
            <a:extLst>
              <a:ext uri="{FF2B5EF4-FFF2-40B4-BE49-F238E27FC236}">
                <a16:creationId xmlns:a16="http://schemas.microsoft.com/office/drawing/2014/main" id="{B5B569D3-6D39-A60F-54F2-760C9D510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Límites profesionales y derivación responsable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997049" cy="777240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1905609" cy="61264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Situación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identificada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810865" y="164592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29737" y="1417320"/>
            <a:ext cx="1997049" cy="777240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5457" y="1527048"/>
            <a:ext cx="1905609" cy="61264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¿Está dentro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del rol?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4917643" y="164592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36515" y="1417320"/>
            <a:ext cx="1997049" cy="777240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82235" y="1527048"/>
            <a:ext cx="1905609" cy="61264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¿Hay evidencia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suficiente?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7024420" y="164592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43292" y="1417320"/>
            <a:ext cx="1997049" cy="777240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89012" y="1527048"/>
            <a:ext cx="1905609" cy="61264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¿Requiere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especialista?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9131198" y="164592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50070" y="1417320"/>
            <a:ext cx="1997049" cy="777240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5790" y="1527048"/>
            <a:ext cx="1905609" cy="61264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Derivar y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registrar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4320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274320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285292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Dentro del 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498348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Acompañar análisis, opciones, compromisos y seguimiento con base en evidencia.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4320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74320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285292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Fuera del 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00400"/>
            <a:ext cx="498348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No improvisar asesoría jurídica, financiera, técnica o psicológica especializada. Derivar con responsabilidad.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160520"/>
            <a:ext cx="10652760" cy="86868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4160520"/>
            <a:ext cx="73152" cy="86868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27024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Ética del acompañamiento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17720"/>
            <a:ext cx="10424160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La confidencialidad, el consentimiento, la imparcialidad y el manejo responsable de información son condiciones básicas del acompañamiento.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8">
            <a:extLst>
              <a:ext uri="{FF2B5EF4-FFF2-40B4-BE49-F238E27FC236}">
                <a16:creationId xmlns:a16="http://schemas.microsoft.com/office/drawing/2014/main" id="{A2F59201-B255-1154-5A21-98F43ABECEF5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9" descr="image3.png">
            <a:extLst>
              <a:ext uri="{FF2B5EF4-FFF2-40B4-BE49-F238E27FC236}">
                <a16:creationId xmlns:a16="http://schemas.microsoft.com/office/drawing/2014/main" id="{7EAD2CAF-EA59-C6B9-C3A0-AD9AB69BF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Tema 7 · Ecosistema de apoyo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1 h virtual asincrónica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25603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18488"/>
            <a:ext cx="2331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Universidades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80" b="0">
                <a:solidFill>
                  <a:srgbClr val="4E585D"/>
                </a:solidFill>
                <a:latin typeface="Aptos"/>
              </a:defRPr>
            </a:pPr>
            <a:r>
              <a:t>capacidades académicas y técnicas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508760"/>
            <a:ext cx="25603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50876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1618488"/>
            <a:ext cx="2331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CUM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965960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80" b="0">
                <a:solidFill>
                  <a:srgbClr val="4E585D"/>
                </a:solidFill>
                <a:latin typeface="Aptos"/>
              </a:defRPr>
            </a:pPr>
            <a:r>
              <a:t>nodos territoriales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508760"/>
            <a:ext cx="25603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50876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618488"/>
            <a:ext cx="2331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DDM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65960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80" b="0">
                <a:solidFill>
                  <a:srgbClr val="4E585D"/>
                </a:solidFill>
                <a:latin typeface="Aptos"/>
              </a:defRPr>
            </a:pPr>
            <a:r>
              <a:t>desarrollo municipal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508760"/>
            <a:ext cx="25603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20" y="1508760"/>
            <a:ext cx="73152" cy="100584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1618488"/>
            <a:ext cx="2331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Parques tecnológicos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965960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80" b="0">
                <a:solidFill>
                  <a:srgbClr val="4E585D"/>
                </a:solidFill>
                <a:latin typeface="Aptos"/>
              </a:defRPr>
            </a:pPr>
            <a:r>
              <a:t>innovación y transferencia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926080"/>
            <a:ext cx="25603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2608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035808"/>
            <a:ext cx="2331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Centros de investigación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383280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80" b="0">
                <a:solidFill>
                  <a:srgbClr val="4E585D"/>
                </a:solidFill>
                <a:latin typeface="Aptos"/>
              </a:defRPr>
            </a:pPr>
            <a:r>
              <a:t>servicios especializados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2926080"/>
            <a:ext cx="25603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20440" y="292608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0" y="3035808"/>
            <a:ext cx="2331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Instituciones de apoyo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383280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80" b="0">
                <a:solidFill>
                  <a:srgbClr val="4E585D"/>
                </a:solidFill>
                <a:latin typeface="Aptos"/>
              </a:defRPr>
            </a:pPr>
            <a:r>
              <a:t>articulación y regulación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2926080"/>
            <a:ext cx="25603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55080" y="292608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3035808"/>
            <a:ext cx="2331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Especialistas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383280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80" b="0">
                <a:solidFill>
                  <a:srgbClr val="4E585D"/>
                </a:solidFill>
                <a:latin typeface="Aptos"/>
              </a:defRPr>
            </a:pPr>
            <a:r>
              <a:t>derivación técnica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2926080"/>
            <a:ext cx="25603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89720" y="2926080"/>
            <a:ext cx="73152" cy="100584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0" y="3035808"/>
            <a:ext cx="2331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Redes empresariales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383280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80" b="0">
                <a:solidFill>
                  <a:srgbClr val="4E585D"/>
                </a:solidFill>
                <a:latin typeface="Aptos"/>
              </a:defRPr>
            </a:pPr>
            <a:r>
              <a:t>aprendizaje y alianzas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800600"/>
            <a:ext cx="10652760" cy="64008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77240" y="4800600"/>
            <a:ext cx="73152" cy="64008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491032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Uso práctico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257800"/>
            <a:ext cx="1042416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El ecosistema permite que la persona mentora no actúe sola: identifica apoyos, deriva y fortalece capacidades territoriales sostenibles.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2CE240CD-14EB-569D-6982-DD13F9C316FE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9" descr="image3.png">
            <a:extLst>
              <a:ext uri="{FF2B5EF4-FFF2-40B4-BE49-F238E27FC236}">
                <a16:creationId xmlns:a16="http://schemas.microsoft.com/office/drawing/2014/main" id="{68E0297A-489C-77AD-1088-1F5BFE32A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Mapa rápido de articulación territorial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234440"/>
          <a:ext cx="108356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Necesidad del NAE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Tipo de apoyo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Actor potencial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Evidencia de derivación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Formalización / normativa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Asistencia especializada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Institución competente / especialista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Contacto, orientación o cita registrada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Innovación de procesos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Asesoría técnica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Universidad, parque tecnológico, centro I+D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Acuerdo de apoyo o referencia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Gestión empresarial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Formación / mentoría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CUM, universidad, red de formadores/as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Sesión, minuta o plan ajustado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Finanzas o costos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Asistencia técnica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Especialista financiero / programa de apoyo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Recomendación y seguimiento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Articulación comercial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Redes y alianzas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Red empresarial, DDM, actores territoriales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Contacto, compromiso o actividad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9144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D89D2E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615184"/>
            <a:ext cx="411480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889504"/>
            <a:ext cx="640080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3000" b="0">
                <a:solidFill>
                  <a:srgbClr val="FFFFFF"/>
                </a:solidFill>
                <a:latin typeface="Aptos Display"/>
              </a:defRPr>
            </a:pPr>
            <a:r>
              <a:t>TALLER PRESENCIAL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66160"/>
            <a:ext cx="5943600" cy="6217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50" b="0">
                <a:solidFill>
                  <a:srgbClr val="E1E6E3"/>
                </a:solidFill>
                <a:latin typeface="Aptos"/>
              </a:defRPr>
            </a:pPr>
            <a:r>
              <a:t>Simulación de mentoría y gestión de compromisos en 60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8C8"/>
                </a:solidFill>
              </a:defRPr>
            </a:pPr>
            <a:r>
              <a:t>Actividad 2.3.2 — FdF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1EDFA107-35DB-0305-6225-42B32037ED5A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9" descr="image3.png">
            <a:extLst>
              <a:ext uri="{FF2B5EF4-FFF2-40B4-BE49-F238E27FC236}">
                <a16:creationId xmlns:a16="http://schemas.microsoft.com/office/drawing/2014/main" id="{95E827BC-E59D-B5E5-AAFF-7B8A5D54D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Secuencia didáctica recomendada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Momento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Acción del facilitador/a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Acción de participantes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Evidencia de práctica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Modelado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Mostrar una conversación de mentoría eficaz y otra directiva.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Identificar diferencias.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Criterios de buena mentoría.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Práctica presencial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Organizar tríadas con K05 y rotar roles.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Mentorizar, representar NAE y observar.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Observación del desempeño con K05.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Seguimiento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Modelar el registro de sesión en K06.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Registrar acuerdos, evidencias y próximos pasos.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Minuta completa.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Caso complejo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Plantear resistencia, sesgos, barreras de acceso o límites profesionales.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Argumentar respuesta, ajuste, compromiso y posible derivación.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Decisión argumentada.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5394960"/>
            <a:ext cx="10652760" cy="5029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5394960"/>
            <a:ext cx="73152" cy="50292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50468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Criterio metodológico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04114"/>
            <a:ext cx="10424160" cy="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práctica</a:t>
            </a:r>
            <a:r>
              <a:rPr dirty="0"/>
              <a:t> </a:t>
            </a:r>
            <a:r>
              <a:rPr dirty="0" err="1"/>
              <a:t>presencial</a:t>
            </a:r>
            <a:r>
              <a:rPr dirty="0"/>
              <a:t> se </a:t>
            </a:r>
            <a:r>
              <a:rPr dirty="0" err="1"/>
              <a:t>concentra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simular</a:t>
            </a:r>
            <a:r>
              <a:rPr dirty="0"/>
              <a:t>, </a:t>
            </a:r>
            <a:r>
              <a:rPr dirty="0" err="1"/>
              <a:t>observar</a:t>
            </a:r>
            <a:r>
              <a:rPr dirty="0"/>
              <a:t>, registrar, </a:t>
            </a:r>
            <a:r>
              <a:rPr dirty="0" err="1"/>
              <a:t>retroalimentar</a:t>
            </a:r>
            <a:r>
              <a:rPr dirty="0"/>
              <a:t> y </a:t>
            </a:r>
            <a:r>
              <a:rPr dirty="0" err="1"/>
              <a:t>ajustar</a:t>
            </a:r>
            <a:r>
              <a:rPr dirty="0"/>
              <a:t>; no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exposición</a:t>
            </a:r>
            <a:r>
              <a:rPr dirty="0"/>
              <a:t> </a:t>
            </a:r>
            <a:r>
              <a:rPr dirty="0" err="1"/>
              <a:t>teórica</a:t>
            </a:r>
            <a:r>
              <a:rPr dirty="0"/>
              <a:t> extensa.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3032847C-CA1C-039C-2DEE-E2B98DFF33CF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9" descr="image3.png">
            <a:extLst>
              <a:ext uri="{FF2B5EF4-FFF2-40B4-BE49-F238E27FC236}">
                <a16:creationId xmlns:a16="http://schemas.microsoft.com/office/drawing/2014/main" id="{ABA1F6F2-895B-DDDB-F056-BB0DBA721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Agenda operativa del taller presencial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234440"/>
          <a:ext cx="108356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Tiempo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Momento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Actividad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Evidencia de práctica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0–10 min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Modelado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Comparar intervención prescriptiva y mentoría centrada en la autonomía.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Criterios de buena mentoría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10–15 min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Preparación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Asignar tríadas y entregar por separado las consignas de K05.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Roles y acuerdos de práctica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15–42 min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Tres rondas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Tres rondas abreviadas de 9 minutos, con rotación de los tres roles.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Observación del desempeño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42–52 min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Retroalimentación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Contrastar escucha, preguntas, autonomía, límites y compromisos observados.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Fortaleza y prioridad de mejora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52–60 min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Cierre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Registrar en K06 decisión, compromiso, responsable, evidencia y fecha.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Minuta de práctica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68B2EE31-AF60-8AD7-6E8E-7665C6658B46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9" descr="image3.png">
            <a:extLst>
              <a:ext uri="{FF2B5EF4-FFF2-40B4-BE49-F238E27FC236}">
                <a16:creationId xmlns:a16="http://schemas.microsoft.com/office/drawing/2014/main" id="{92F7E0F9-9F01-4535-C304-5535637FC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K05 · Guion de Mentoría: roles y consignas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417320"/>
          <a:ext cx="106070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Consigna operativa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Responsable del NAE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Representa a La Colmena. Presenta su demanda y aporta evidencias progresivamente según su consigna privada.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Mentor/a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Explora la situación mediante escucha y preguntas, ayuda a analizar alternativas, evita decidir por la empresa y cierra con compromisos verificables.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Observador/a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Observa escucha, preguntas, evidencias, análisis, alternativas, autonomía, límites, compromisos y cierre.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4709160"/>
            <a:ext cx="1060704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4709160"/>
            <a:ext cx="73152" cy="73152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818888"/>
            <a:ext cx="103784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Rondas completas en la hora sincrónica de mentoría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784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K05: 12–15 min de conversación + 5 min de retroalimentación. Completar la rotación en la hora prevista. Entregar consignas por separado.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8">
            <a:extLst>
              <a:ext uri="{FF2B5EF4-FFF2-40B4-BE49-F238E27FC236}">
                <a16:creationId xmlns:a16="http://schemas.microsoft.com/office/drawing/2014/main" id="{A2773CE4-A07B-C59B-7149-B77FA10FC665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9" descr="image3.png">
            <a:extLst>
              <a:ext uri="{FF2B5EF4-FFF2-40B4-BE49-F238E27FC236}">
                <a16:creationId xmlns:a16="http://schemas.microsoft.com/office/drawing/2014/main" id="{D2C06C7C-15E4-ED02-0CBB-02AB447CA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Retroalimentación y evaluación de la práctica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997049" cy="731520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190560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Evidencia</a:t>
            </a:r>
          </a:p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observada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810865" y="164592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29737" y="1417320"/>
            <a:ext cx="1997049" cy="731520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5457" y="1527048"/>
            <a:ext cx="190560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Criterio</a:t>
            </a:r>
          </a:p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relacionado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4917643" y="164592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36515" y="1417320"/>
            <a:ext cx="1997049" cy="731520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82235" y="1527048"/>
            <a:ext cx="190560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Logro</a:t>
            </a:r>
          </a:p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identificado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7024420" y="164592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43292" y="1417320"/>
            <a:ext cx="1997049" cy="731520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89012" y="1527048"/>
            <a:ext cx="190560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Prioridad de</a:t>
            </a:r>
          </a:p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mejora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9131198" y="164592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50070" y="1417320"/>
            <a:ext cx="1997049" cy="731520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5790" y="1527048"/>
            <a:ext cx="190560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Acción</a:t>
            </a:r>
          </a:p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concreta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43200"/>
            <a:ext cx="5212080" cy="109728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2743200"/>
            <a:ext cx="73152" cy="109728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285292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Retroalimentación útil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498348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Debe ser específica, oportuna, respetuosa y orientada al desarrollo. Se basa en lo observado, no en juicios personales.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43200"/>
            <a:ext cx="5212080" cy="109728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743200"/>
            <a:ext cx="73152" cy="109728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285292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Revisión del desempeño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00400"/>
            <a:ext cx="498348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Usar la observación de K05 y permitir una nueva práctica. Valorar el proceso de mentoría, sin exigir una solución predeterminada.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251960"/>
            <a:ext cx="106527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4251960"/>
            <a:ext cx="73152" cy="73152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36168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Cuatro productos integradores del Portafolio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09160"/>
            <a:ext cx="104241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Diagnóstico empresarial integral; Plan de Mejora; Evaluación del Plan de Mejora; Diseño de réplica territorial (K10 Plan de Multiplicación Territorial).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D95BA6E6-C8BC-47B3-4449-563E371D7A0B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9" descr="image3.png">
            <a:extLst>
              <a:ext uri="{FF2B5EF4-FFF2-40B4-BE49-F238E27FC236}">
                <a16:creationId xmlns:a16="http://schemas.microsoft.com/office/drawing/2014/main" id="{E7EA8452-F8DE-5C0C-9355-7A9A2D1DE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Descriptores para retroalimentar la mentoría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43000"/>
          <a:ext cx="112014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9620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Criterio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Logrado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 desarrollo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Requiere mejora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Escucha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Escucha, parafrasea y profundiza antes de proponer.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Escucha irregular.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Interrumpe o dirige prematuramente.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Preguntas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Preguntas abiertas promueven análisis y decisión.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Combina preguntas útiles con otras directivas.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Predominan consejos o interrogatorio.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Autonomía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La decisión permanece en la persona responsable del NAE.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Autonomía parcial.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Mentor/a decide por el NAE.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Compromisos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Acuerda acción, responsable, fecha, evidencia, apoyo y seguimiento.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Compromiso parcialmente definido.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Cierre ambiguo.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Ética/límites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Reconoce límites y protege confidencialidad.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Aplicación parcial.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Ignora límites o información sensible.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8">
            <a:extLst>
              <a:ext uri="{FF2B5EF4-FFF2-40B4-BE49-F238E27FC236}">
                <a16:creationId xmlns:a16="http://schemas.microsoft.com/office/drawing/2014/main" id="{8649597D-3202-DF39-58B5-62F25DAF01F8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9" descr="image3.png">
            <a:extLst>
              <a:ext uri="{FF2B5EF4-FFF2-40B4-BE49-F238E27FC236}">
                <a16:creationId xmlns:a16="http://schemas.microsoft.com/office/drawing/2014/main" id="{9CE45B44-8B4A-847E-4D2A-D183AFB78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Alertas pedagógicas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07492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73152" cy="105156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270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Mentoría prescriptiva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4846320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No convertir la mentoría en consultoría directiva ni en una lista de consejos.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07492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73152" cy="105156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5270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Compromisos ambiguos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4846320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Evitar acuerdos sin responsable, fecha, evidencia o próximo seguimiento.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88920"/>
            <a:ext cx="507492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2788920"/>
            <a:ext cx="73152" cy="105156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8986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Confidencialidad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4846320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Proteger información sensible del NAE y de las personas acompañadas.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88920"/>
            <a:ext cx="507492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788920"/>
            <a:ext cx="73152" cy="105156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8986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Límites de competencia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246120"/>
            <a:ext cx="4846320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No improvisar respuestas técnicas especializadas; derivar cuando corresponda.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72000"/>
            <a:ext cx="10652760" cy="7772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4572000"/>
            <a:ext cx="73152" cy="7772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68172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Riesgo central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1042416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Una mentoría mal conducida puede crear dependencia, reducir autonomía o generar decisiones sin evidencia.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8">
            <a:extLst>
              <a:ext uri="{FF2B5EF4-FFF2-40B4-BE49-F238E27FC236}">
                <a16:creationId xmlns:a16="http://schemas.microsoft.com/office/drawing/2014/main" id="{849FECEE-9D23-85F2-D159-1C8B7B99F6D9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9" descr="image3.png">
            <a:extLst>
              <a:ext uri="{FF2B5EF4-FFF2-40B4-BE49-F238E27FC236}">
                <a16:creationId xmlns:a16="http://schemas.microsoft.com/office/drawing/2014/main" id="{7A57DFDA-E280-5C27-522D-8E4D1C90A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Adaptación a baja conectividad o interrupciones energéticas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07492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73152" cy="105156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270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Guiones impresos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4846320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Entregar las consignas de K05 por separado y registrar la observación en papel.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07492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73152" cy="105156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5270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K06 y K04.2 en papel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4846320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Registrar compromisos en K06 y avances en K04.2; consolidar posteriormente.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88920"/>
            <a:ext cx="507492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2788920"/>
            <a:ext cx="73152" cy="105156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8986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Seguimiento alternativo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4846320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Usar llamada, SMS o mensajería ligera si no es posible videoconferencia.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88920"/>
            <a:ext cx="507492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788920"/>
            <a:ext cx="73152" cy="105156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89864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Entrega diferida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246120"/>
            <a:ext cx="4846320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Permitir consolidación posterior cuando la interrupción impida cierre sincrónico.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72000"/>
            <a:ext cx="10652760" cy="7772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4572000"/>
            <a:ext cx="73152" cy="7772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68172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Principio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1042416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La adaptación puede cambiar el medio, pero no debe alterar competencia, resultado ni evidencia esperada.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9144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D89D2E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615184"/>
            <a:ext cx="411480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889504"/>
            <a:ext cx="640080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3000" b="0">
                <a:solidFill>
                  <a:srgbClr val="FFFFFF"/>
                </a:solidFill>
                <a:latin typeface="Aptos Display"/>
              </a:defRPr>
            </a:pPr>
            <a:r>
              <a:t>EVALUACIÓN Y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66160"/>
            <a:ext cx="5943600" cy="6217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50" b="0">
                <a:solidFill>
                  <a:srgbClr val="E1E6E3"/>
                </a:solidFill>
                <a:latin typeface="Aptos"/>
              </a:defRPr>
            </a:pPr>
            <a:r>
              <a:t>Evidencias, portafolio, transversalidad, bibliografía y continuidad hacia el Módulo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8C8"/>
                </a:solidFill>
              </a:defRPr>
            </a:pPr>
            <a:r>
              <a:t>Actividad 2.3.2 — FdF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8">
            <a:extLst>
              <a:ext uri="{FF2B5EF4-FFF2-40B4-BE49-F238E27FC236}">
                <a16:creationId xmlns:a16="http://schemas.microsoft.com/office/drawing/2014/main" id="{12BAA986-FA57-015A-0556-B4A2E9956654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9" descr="image3.png">
            <a:extLst>
              <a:ext uri="{FF2B5EF4-FFF2-40B4-BE49-F238E27FC236}">
                <a16:creationId xmlns:a16="http://schemas.microsoft.com/office/drawing/2014/main" id="{B61990BD-069B-7521-774C-F2EA22DD9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Evidencias de práctica y cierre del módulo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80160"/>
            <a:ext cx="1065276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28016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8988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Integración en el Portafolio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104241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4E585D"/>
                </a:solidFill>
                <a:latin typeface="Aptos"/>
              </a:defRPr>
            </a:pPr>
            <a:r>
              <a:t>K05, K06 y el seguimiento en K04.2 aportan evidencias al Plan de Mejora y a su Evaluación. M4 no añade un producto evaluativo.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51760"/>
            <a:ext cx="5074920" cy="804672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651760"/>
            <a:ext cx="73152" cy="804672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76148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Registro de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K06: objetivo, agenda, resultados, compromisos, observaciones y participantes.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651760"/>
            <a:ext cx="73152" cy="804672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76148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Compromiso verificable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108960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Acción, responsable, fecha, evidencia, apoyo requerido y próximo seguimiento.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49039"/>
            <a:ext cx="5074920" cy="804672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749039"/>
            <a:ext cx="73152" cy="804672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85876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Criterios de mentoría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Observación de escucha, evidencias, alternativas, autonomía, compromisos, ética y límites.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49039"/>
            <a:ext cx="5074920" cy="804672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749039"/>
            <a:ext cx="73152" cy="804672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858768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Derivación responsable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206240"/>
            <a:ext cx="4846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4E585D"/>
                </a:solidFill>
                <a:latin typeface="Aptos"/>
              </a:defRPr>
            </a:pPr>
            <a:r>
              <a:t>Identificación del apoyo especializado cuando corresponda.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8">
            <a:extLst>
              <a:ext uri="{FF2B5EF4-FFF2-40B4-BE49-F238E27FC236}">
                <a16:creationId xmlns:a16="http://schemas.microsoft.com/office/drawing/2014/main" id="{1E09F807-3ED1-998C-B615-A4BD192501C3}"/>
              </a:ext>
            </a:extLst>
          </p:cNvPr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9" descr="image3.png">
            <a:extLst>
              <a:ext uri="{FF2B5EF4-FFF2-40B4-BE49-F238E27FC236}">
                <a16:creationId xmlns:a16="http://schemas.microsoft.com/office/drawing/2014/main" id="{84677276-B62A-E704-78AD-A89F49C00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8778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1D584E"/>
                </a:solidFill>
                <a:latin typeface="Aptos Display"/>
              </a:defRPr>
            </a:pPr>
            <a:r>
              <a:t>Continuidad hacia Módulo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1645920" cy="731520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15544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Implementación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459736" y="155448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78608" y="1325880"/>
            <a:ext cx="1645920" cy="731520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24327" y="1435607"/>
            <a:ext cx="15544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K06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4215384" y="155448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34256" y="1325880"/>
            <a:ext cx="1645920" cy="731520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1435607"/>
            <a:ext cx="15544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Indicadores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5971032" y="155448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89904" y="1325880"/>
            <a:ext cx="1645920" cy="731520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35624" y="1435607"/>
            <a:ext cx="15544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Evidencias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7726680" y="155448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845552" y="1325880"/>
            <a:ext cx="1645920" cy="731520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91272" y="1435607"/>
            <a:ext cx="15544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Evaluación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9482328" y="1554480"/>
            <a:ext cx="164592" cy="256032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0" y="1325880"/>
            <a:ext cx="1645920" cy="731520"/>
          </a:xfrm>
          <a:prstGeom prst="roundRect">
            <a:avLst/>
          </a:prstGeom>
          <a:solidFill>
            <a:srgbClr val="77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6920" y="1435607"/>
            <a:ext cx="15544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Ajustes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560320"/>
            <a:ext cx="5212080" cy="11430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2560320"/>
            <a:ext cx="73152" cy="114300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267004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Puente metodológico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017520"/>
            <a:ext cx="4983480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K04.2 y K06 aportan evidencias complementarias a M5, que utiliza K03, K07 y K09 para evaluar el Plan de Mejora y decidir ajustes.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560320"/>
            <a:ext cx="5212080" cy="11430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2560320"/>
            <a:ext cx="73152" cy="114300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670048"/>
            <a:ext cx="4983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Pregunta de cierre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017520"/>
            <a:ext cx="4983480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¿Qué evidencia permitirá saber que el plan se está implementando y qué decisión debe tomarse en la próxima sesión?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069080"/>
            <a:ext cx="10652760" cy="9144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4069080"/>
            <a:ext cx="73152" cy="9144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178808"/>
            <a:ext cx="10424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2D46"/>
                </a:solidFill>
                <a:latin typeface="Aptos"/>
              </a:defRPr>
            </a:pPr>
            <a:r>
              <a:t>Bibliografía básica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526280"/>
            <a:ext cx="104241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940" b="0">
                <a:solidFill>
                  <a:srgbClr val="4E585D"/>
                </a:solidFill>
                <a:latin typeface="Aptos"/>
              </a:defRPr>
            </a:pPr>
            <a:r>
              <a:t>European Mentoring and Coaching Council. (2015). EMCC competence framework V2. EMCC International.</a:t>
            </a:r>
          </a:p>
          <a:p>
            <a:pPr algn="l">
              <a:lnSpc>
                <a:spcPct val="100000"/>
              </a:lnSpc>
              <a:defRPr sz="940" b="0">
                <a:solidFill>
                  <a:srgbClr val="4E585D"/>
                </a:solidFill>
                <a:latin typeface="Aptos"/>
              </a:defRPr>
            </a:pPr>
            <a:r>
              <a:t>International Labour Organization. (2014). SIYB implementation guide. International Labour Office.</a:t>
            </a:r>
          </a:p>
          <a:p>
            <a:pPr algn="l">
              <a:lnSpc>
                <a:spcPct val="100000"/>
              </a:lnSpc>
              <a:defRPr sz="940" b="0">
                <a:solidFill>
                  <a:srgbClr val="4E585D"/>
                </a:solidFill>
                <a:latin typeface="Aptos"/>
              </a:defRPr>
            </a:pPr>
            <a:r>
              <a:t>International Labour Organization. (s. f.). Start and Improve Your Business (SIYB). International Labour Organization.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525" y="-8140"/>
            <a:ext cx="6339853" cy="623825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9" y="406258"/>
            <a:ext cx="2275844" cy="1113539"/>
          </a:xfrm>
          <a:prstGeom prst="rect">
            <a:avLst/>
          </a:prstGeom>
        </p:spPr>
      </p:pic>
      <p:sp>
        <p:nvSpPr>
          <p:cNvPr id="86" name="Google Shape;86;p1"/>
          <p:cNvSpPr/>
          <p:nvPr/>
        </p:nvSpPr>
        <p:spPr>
          <a:xfrm>
            <a:off x="0" y="6230112"/>
            <a:ext cx="12192000" cy="6461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39">
              <a:buClr>
                <a:srgbClr val="000000"/>
              </a:buClr>
              <a:defRPr/>
            </a:pPr>
            <a:endParaRPr sz="24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asset_portada_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4592" y="6266688"/>
            <a:ext cx="4255008" cy="5608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9776851" y="827614"/>
            <a:ext cx="2224940" cy="32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39">
              <a:buClr>
                <a:srgbClr val="000000"/>
              </a:buClr>
              <a:defRPr/>
            </a:pPr>
            <a:r>
              <a:rPr lang="en-US" sz="1333" kern="0" dirty="0">
                <a:solidFill>
                  <a:srgbClr val="A3C5ED"/>
                </a:solidFill>
                <a:latin typeface="Calibri"/>
                <a:ea typeface="Calibri"/>
                <a:cs typeface="Calibri"/>
                <a:sym typeface="Calibri"/>
              </a:rPr>
              <a:t>La Habana, Cuba · 2026</a:t>
            </a: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 0"/>
          <p:cNvSpPr/>
          <p:nvPr/>
        </p:nvSpPr>
        <p:spPr>
          <a:xfrm>
            <a:off x="658369" y="2539241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>
              <a:defRPr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Gracias.</a:t>
            </a:r>
            <a:endParaRPr lang="en-US" sz="3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658369" y="3308861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>
              <a:defRPr/>
            </a:pPr>
            <a:r>
              <a:rPr lang="en-US" sz="3000" b="1" dirty="0">
                <a:solidFill>
                  <a:srgbClr val="AFCB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Construimos juntos.</a:t>
            </a:r>
            <a:endParaRPr lang="en-US" sz="3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684873" y="4478721"/>
            <a:ext cx="3291840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0F53790-5024-F507-9C2D-B9B750D11931}"/>
              </a:ext>
            </a:extLst>
          </p:cNvPr>
          <p:cNvSpPr/>
          <p:nvPr/>
        </p:nvSpPr>
        <p:spPr>
          <a:xfrm>
            <a:off x="713231" y="4736592"/>
            <a:ext cx="73085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050" b="1" noProof="0" dirty="0">
                <a:solidFill>
                  <a:schemeClr val="bg1"/>
                </a:solidFill>
              </a:rPr>
              <a:t>Material elaborado en el marco del Proyecto NAE</a:t>
            </a:r>
            <a:br>
              <a:rPr lang="es-419" sz="1050" noProof="0" dirty="0">
                <a:solidFill>
                  <a:schemeClr val="bg1"/>
                </a:solidFill>
              </a:rPr>
            </a:br>
            <a:r>
              <a:rPr lang="es-419" sz="1050" b="1" noProof="0" dirty="0">
                <a:solidFill>
                  <a:schemeClr val="bg1"/>
                </a:solidFill>
              </a:rPr>
              <a:t>Financiado por la </a:t>
            </a:r>
            <a:r>
              <a:rPr lang="es-419" sz="1050" b="1" noProof="0" dirty="0" err="1">
                <a:solidFill>
                  <a:schemeClr val="bg1"/>
                </a:solidFill>
              </a:rPr>
              <a:t>Agence</a:t>
            </a:r>
            <a:r>
              <a:rPr lang="es-419" sz="1050" b="1" noProof="0" dirty="0">
                <a:solidFill>
                  <a:schemeClr val="bg1"/>
                </a:solidFill>
              </a:rPr>
              <a:t> </a:t>
            </a:r>
            <a:r>
              <a:rPr lang="es-419" sz="1050" b="1" noProof="0" dirty="0" err="1">
                <a:solidFill>
                  <a:schemeClr val="bg1"/>
                </a:solidFill>
              </a:rPr>
              <a:t>Française</a:t>
            </a:r>
            <a:r>
              <a:rPr lang="es-419" sz="1050" b="1" noProof="0" dirty="0">
                <a:solidFill>
                  <a:schemeClr val="bg1"/>
                </a:solidFill>
              </a:rPr>
              <a:t> de </a:t>
            </a:r>
            <a:r>
              <a:rPr lang="es-419" sz="1050" b="1" noProof="0" dirty="0" err="1">
                <a:solidFill>
                  <a:schemeClr val="bg1"/>
                </a:solidFill>
              </a:rPr>
              <a:t>Développement</a:t>
            </a:r>
            <a:r>
              <a:rPr lang="es-419" sz="1050" b="1" noProof="0" dirty="0">
                <a:solidFill>
                  <a:schemeClr val="bg1"/>
                </a:solidFill>
              </a:rPr>
              <a:t> (AFD), con cofinanciación de la Unión Europea</a:t>
            </a:r>
          </a:p>
          <a:p>
            <a:endParaRPr lang="es-419" sz="1050" noProof="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s-419" sz="105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Técnica: Universidad de Alicante (UA) - Parque Científico Tecnológico de La Habana (PCTH)</a:t>
            </a:r>
            <a:endParaRPr lang="es-419" sz="10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627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4940</Words>
  <Application>Microsoft Office PowerPoint</Application>
  <PresentationFormat>Panorámica</PresentationFormat>
  <Paragraphs>613</Paragraphs>
  <Slides>39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Office Theme</vt:lpstr>
      <vt:lpstr>1_Office Theme</vt:lpstr>
      <vt:lpstr>2_Office Theme</vt:lpstr>
      <vt:lpstr>3_Office Theme</vt:lpstr>
      <vt:lpstr>4_Office Theme</vt:lpstr>
      <vt:lpstr>5_Office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Darío Calahorrano</dc:creator>
  <cp:keywords/>
  <dc:description>generated using python-pptx</dc:description>
  <cp:lastModifiedBy>Dario-Acer26</cp:lastModifiedBy>
  <cp:revision>9</cp:revision>
  <dcterms:created xsi:type="dcterms:W3CDTF">2013-01-27T09:14:16Z</dcterms:created>
  <dcterms:modified xsi:type="dcterms:W3CDTF">2026-09-13T01:15:53Z</dcterms:modified>
  <cp:category/>
</cp:coreProperties>
</file>