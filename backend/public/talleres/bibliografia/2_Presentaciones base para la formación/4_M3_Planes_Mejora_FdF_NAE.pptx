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20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21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22.xml" ContentType="application/vnd.openxmlformats-officedocument.presentationml.notesSlide+xml"/>
  <Override PartName="/ppt/theme/themeOverride18.xml" ContentType="application/vnd.openxmlformats-officedocument.themeOverride+xml"/>
  <Override PartName="/ppt/notesSlides/notesSlide23.xml" ContentType="application/vnd.openxmlformats-officedocument.presentationml.notesSlide+xml"/>
  <Override PartName="/ppt/theme/themeOverride19.xml" ContentType="application/vnd.openxmlformats-officedocument.themeOverr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heme/themeOverride20.xml" ContentType="application/vnd.openxmlformats-officedocument.themeOverride+xml"/>
  <Override PartName="/ppt/notesSlides/notesSlide26.xml" ContentType="application/vnd.openxmlformats-officedocument.presentationml.notesSlide+xml"/>
  <Override PartName="/ppt/theme/themeOverride21.xml" ContentType="application/vnd.openxmlformats-officedocument.themeOverride+xml"/>
  <Override PartName="/ppt/notesSlides/notesSlide27.xml" ContentType="application/vnd.openxmlformats-officedocument.presentationml.notesSlide+xml"/>
  <Override PartName="/ppt/theme/themeOverride22.xml" ContentType="application/vnd.openxmlformats-officedocument.themeOverride+xml"/>
  <Override PartName="/ppt/notesSlides/notesSlide28.xml" ContentType="application/vnd.openxmlformats-officedocument.presentationml.notesSlide+xml"/>
  <Override PartName="/ppt/theme/themeOverride23.xml" ContentType="application/vnd.openxmlformats-officedocument.themeOverride+xml"/>
  <Override PartName="/ppt/notesSlides/notesSlide29.xml" ContentType="application/vnd.openxmlformats-officedocument.presentationml.notesSlide+xml"/>
  <Override PartName="/ppt/theme/themeOverride24.xml" ContentType="application/vnd.openxmlformats-officedocument.themeOverride+xml"/>
  <Override PartName="/ppt/notesSlides/notesSlide30.xml" ContentType="application/vnd.openxmlformats-officedocument.presentationml.notesSlide+xml"/>
  <Override PartName="/ppt/theme/themeOverride25.xml" ContentType="application/vnd.openxmlformats-officedocument.themeOverride+xml"/>
  <Override PartName="/ppt/notesSlides/notesSlide31.xml" ContentType="application/vnd.openxmlformats-officedocument.presentationml.notesSlide+xml"/>
  <Override PartName="/ppt/theme/themeOverride26.xml" ContentType="application/vnd.openxmlformats-officedocument.themeOverr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heme/themeOverride27.xml" ContentType="application/vnd.openxmlformats-officedocument.themeOverride+xml"/>
  <Override PartName="/ppt/notesSlides/notesSlide34.xml" ContentType="application/vnd.openxmlformats-officedocument.presentationml.notesSlide+xml"/>
  <Override PartName="/ppt/theme/themeOverride28.xml" ContentType="application/vnd.openxmlformats-officedocument.themeOverride+xml"/>
  <Override PartName="/ppt/notesSlides/notesSlide35.xml" ContentType="application/vnd.openxmlformats-officedocument.presentationml.notesSlide+xml"/>
  <Override PartName="/ppt/theme/themeOverride29.xml" ContentType="application/vnd.openxmlformats-officedocument.themeOverride+xml"/>
  <Override PartName="/ppt/notesSlides/notesSlide36.xml" ContentType="application/vnd.openxmlformats-officedocument.presentationml.notesSlide+xml"/>
  <Override PartName="/ppt/theme/themeOverride30.xml" ContentType="application/vnd.openxmlformats-officedocument.themeOverr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52" r:id="rId3"/>
    <p:sldMasterId id="2147483664" r:id="rId4"/>
    <p:sldMasterId id="2147483676" r:id="rId5"/>
  </p:sldMasterIdLst>
  <p:notesMasterIdLst>
    <p:notesMasterId r:id="rId44"/>
  </p:notesMasterIdLst>
  <p:sldIdLst>
    <p:sldId id="296" r:id="rId6"/>
    <p:sldId id="29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8" r:id="rId43"/>
  </p:sldIdLst>
  <p:sldSz cx="16256000" cy="9144000"/>
  <p:notesSz cx="9144000" cy="162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2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336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470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868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FdF-NAE V2, Módulo 3; Guía del Facilitador/a V2, §6.3. C6 (planificación), 6 horas: 1 presencial, 1 sincrónica y 4 asincrónicas. M3 transforma el diagnóstico del M2 en el Plan de Mejora y prepara implementación, mentoría y seguimiento en M4. Contribuye al diseño del acompañamiento y, cuando se identifican necesidades de aprendizaje, al diseño formativo. La transferencia requiere adaptación territorial, no repetir mecánicamente los formatos.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V2, perfil de C6, Módulo 3 y §10.2; Guía V2, §§6 y 9.3. En M3 se trabaja la planificación. La revisión de avances de implementación corresponde a M4 y su evaluación a M5. Perfiles, matrices impacto-esfuerzo, borradores y revisiones entre pares son evidencias de práctica que se integran en el Plan de Mejora; no son tareas calificables independientes.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V2, Módulo 3; Guía V2, distribución de modalidades y §6.3. La tabla expresa la asignación temática de las seis horas, no una cronología rígida. La jornada presencial ocurre primero; las sesiones sincrónicas posteriores profundizan y retroalimentan la aplicación. El trabajo asincrónico se distribuye antes y durante el itinerario. Comunicar la preparación requerida según el cronograma.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V2, M3, Tema 2; Guía V2, §§6.3 y 7.3–7.5. La tabla es una síntesis didáctica de los componentes del Plan de Mejora, no una herramienta K04 independiente ni una reproducción de K04.2. Utilizar los archivos seleccionados: K03 para problemáticas y línea de base, K04.1 para estructurar proyectos y K04.2 para programar actividades y responsables. Indicadores, metas, medios de verificación y causas deben conservar su trazabilidad entre los registros. No añadir nuevas entregas.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Guía V2, capítulo 7, §§7.3–7.5 y 7.9; K03 Problemática jerarquizada.xlsx; K04.1 Perfiles de Proyectos.docx; K04.2 Plan de mejora.xlsx. K03 y K04.2 proceden de Creciendo con su Negocio, CVI/PNUD; la Guía incorpora los perfiles como referente complementario del mismo marco. Los códigos antiguos 2D, 2E y 2F no se presentan como herramientas adicionales. La selección responde a situación, características, etapa de desarrollo, necesidades y territorio del NAE. Mantener la coherencia entre diagnóstico, proyectos y actividades sin imponer el llenado de todos los formatos en todos los casos. K08 es opcional según necesidades y se describe con base en la Guía, no se requiere su aplicación.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Guía V2, §7.3; K03, pestañas LineaBase, Ejemplo LineaBase y Guía Indicadores. K03 registra problemáticas ya priorizadas, línea de base, indicador y valores inicial, esperado y final; no es la matriz de análisis causal. Recuperar la evidencia de M2 para acordar la meta del Plan de Mejora. Las referencias a etapas del CVI en el archivo no redefinen los módulos FdF-NAE. La medición final ocurre tras la implementación y se utiliza en M5. No inventar valores ni presentar expectativas como logros.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Guía V2, §7.4; K04.1 Perfiles de Proyectos.docx. El instrumento contiene número/nombre del proyecto, oportunidad de mejora, objetivo, indicadores de éxito, tiempos, alcance e impacto, entregables, recursos, actividades, instrumentos/programas de apoyo y líneas de base con valores inicial, esperado y final. Los entregables de este formulario son resultados del proyecto empresarial, no productos evaluativos adicionales del curso. Cada perfil responde a una problemática priorizada y alimenta el Plan de Mejora. Recoger el valor final después de implementar.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Guía V2, §7.5; K04.2 Plan de mejora.xlsx, hojas General, Proyecto 1 y Proyecto 2. General incluye proyectos, responsables, instituciones de apoyo, presupuesto rotulado USD y ocho meses. Las hojas de proyecto desagregan actividades, tareas, responsables, programación semanal dentro de cada mes y porcentaje de avance. P significa programado y R real. En M3 se planifica; en M4 se registra lo ejecutado y se contrasta con evidencias. Los meses del formato no fijan una duración obligatoria del acompañamiento ni del curso. Contextualizar rótulos territoriales como cantón o parroquia y explicitar la unidad monetaria acordada, conservando trazabilidad. No tomar marcas x o ceros de la plantilla como decisiones o avances del NAE.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V2, resultados de M3; Guía V2, §6.3. La lista guía revisión y retroalimentación, sin crear un instrumento codificado adicional de la Caja de Herramientas ni una calificación aparte. Verificar coherencia entre causa, objetivo, actividad, herramienta y evidencia, así como riesgos, apoyos y transversalidad.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Guía V2, §6.3. Conservar la secuencia Puente, Construcción, Priorización presencial y Revisión. Recuperar experiencias de las personas adultas, modelar y trabajar entre pares. Revisar causas, recursos, riesgos, género, inclusión, sostenibilidad y ética. La práctica debe fortalecer la autonomía del NAE y su capacidad para decidir. El borrador y la secuencia priorizada forman parte del Producto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Guía V2, ficha M3 Taller de priorización y construcción del plan de mejora. Mantener 60 minutos: Puente 0–10, Diseño 10–25, Priorización 25–40, Viabilidad 40–50 y Cierre 50–60. Se articula con cuatro horas asincrónicas y una sincrónica. En el cierre validar indicador, responsable y plazo de la primera acción; reconocer logros, señalar una o dos prioridades y acordar revisión. La evidencia de práctica se integra en el Plan de Mejora y se entrega según el hito del Portafolio. No añadir requisitos de certificación.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V2, §10.2; Guía V2, §§6 y 9.3. Los cuatro productos evaluativos integradores son Diagnóstico empresarial integral, Plan de Mejora, Evaluación del Plan de Mejora y Diseño de réplica territorial, documentado mediante K10 Plan de Multiplicación Territorial. Perfiles, simulaciones, fichas, matrices y registros no son entregas calificables adicionales. La retroalimentación evita juicios personales y no sustituye la decisión del NAE.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V2, resultados de aprendizaje del M3 y §10.2; Guía V2, §6.3. Estos criterios orientan la observación y retroalimentación del Plan de Mejora, sin presentarse como una nueva rúbrica normativa o codificada. La calificación del Producto 2 se realiza con los instrumentos de evaluación del Programa. Integrar los enfoques transversales de la diapositiva 35.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Guía V2, §6.3, adaptación a baja conectividad o interrupciones energéticas. Usar formatos descargados o impresos, tarjetas físicas y entrega fotografiada o posterior. Diferenciar una línea de base preliminar de una validada: anotar datos faltantes, fuentes y verificación pendiente. No reemplazar ausencia de información con cero. Mantener resultados, competencia y evidencia al transferir la metodología a otros territorios.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V2, §10.2; Guía V2, §§6.3 y 9.3. Producto 2: Plan de Mejora. K03, los perfiles K04.1, el cronograma K04.2 y las revisiones aportan componentes o registros del producto, no calificaciones separadas. El Plan debe documentar causas, objetivos, resultados esperados, acciones, responsables, plazos, recursos, indicadores, medios de verificación, apoyos y criterios transversales. Los hitos de entrega siguen el cronograma del Programa y permiten mejora con retroalimentación.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Programa V2, M3; Guía V2, §§6.3 y 8. Integrar género, inclusión, sostenibilidad económica, social y ambiental, innovación, ética y territorio en decisiones observables. Preguntar quién participa, qué barreras de cuidado o acceso existen, cómo se usan los recursos y qué mejoras pueden sostenerse. La innovación debe responder a necesidades diagnosticadas y a capacidades reales del NAE, incluidas opciones frugales y de bajo requerimiento tecnológico.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Guía V2, §§6.4, 7.5–7.7. Referencia de continuidad, no aplicación obligatoria en M3: M4 usa K04.2 para seguimiento, K05 Guion de Mentoría y K06 Minuta/registro de asistencia técnica y acompañamiento. Evitar presentar una bitácora independiente como nueva herramienta o entrega. La implementación debe favorecer autonomía, acuerdos verificables y derivación responsable.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normativas y operativas de esta presentación: Programa FdF-NAE V2, Módulo 3 y §10.2; Guía del Facilitador/a FdF-NAE V2, §6.3, ficha del taller M3, §§7.3–7.5, 7.9 y 9.3. Herramientas consultadas: K03 Problemática jerarquizada.xlsx, K04.1 Perfiles de Proyectos.docx y K04.2 Plan de mejora.xlsx. Las referencias bibliográficas de la tabla se conservan del Programa aprobado.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3334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323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477909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1219200" y="3787424"/>
            <a:ext cx="13817600" cy="2613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2438400" y="6908800"/>
            <a:ext cx="11379200" cy="3115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137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996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851352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1"/>
          </p:nvPr>
        </p:nvSpPr>
        <p:spPr>
          <a:xfrm>
            <a:off x="812800" y="2844802"/>
            <a:ext cx="14630400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625519" lvl="1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5" name="Google Shape;25;p39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111561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1284112" y="7834489"/>
            <a:ext cx="13817600" cy="242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711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1284112" y="5167491"/>
            <a:ext cx="13817600" cy="266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812760" lvl="0" indent="-406379" algn="l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3556">
                <a:solidFill>
                  <a:srgbClr val="888888"/>
                </a:solidFill>
              </a:defRPr>
            </a:lvl1pPr>
            <a:lvl2pPr marL="1625519" lvl="1" indent="-406379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3200">
                <a:solidFill>
                  <a:srgbClr val="888888"/>
                </a:solidFill>
              </a:defRPr>
            </a:lvl2pPr>
            <a:lvl3pPr marL="2438278" lvl="2" indent="-406379" algn="l">
              <a:spcBef>
                <a:spcPts val="56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844">
                <a:solidFill>
                  <a:srgbClr val="888888"/>
                </a:solidFill>
              </a:defRPr>
            </a:lvl3pPr>
            <a:lvl4pPr marL="3251037" lvl="3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4pPr>
            <a:lvl5pPr marL="4063797" lvl="4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5pPr>
            <a:lvl6pPr marL="4876557" lvl="5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6pPr>
            <a:lvl7pPr marL="5689315" lvl="6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7pPr>
            <a:lvl8pPr marL="6502075" lvl="7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8pPr>
            <a:lvl9pPr marL="7314834" lvl="8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31727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812800" y="2844802"/>
            <a:ext cx="7179733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722453" algn="l">
              <a:spcBef>
                <a:spcPts val="996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4977"/>
            </a:lvl1pPr>
            <a:lvl2pPr marL="1625519" lvl="1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4267"/>
            </a:lvl2pPr>
            <a:lvl3pPr marL="2438278" lvl="2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3200"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3200"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2"/>
          </p:nvPr>
        </p:nvSpPr>
        <p:spPr>
          <a:xfrm>
            <a:off x="8263467" y="2844802"/>
            <a:ext cx="7179733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722453" algn="l">
              <a:spcBef>
                <a:spcPts val="996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4977"/>
            </a:lvl1pPr>
            <a:lvl2pPr marL="1625519" lvl="1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4267"/>
            </a:lvl2pPr>
            <a:lvl3pPr marL="2438278" lvl="2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3200"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3200"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8" name="Google Shape;38;p41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22619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812801" y="2729089"/>
            <a:ext cx="7182556" cy="1137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812760" lvl="0" indent="-40637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4267" b="1"/>
            </a:lvl1pPr>
            <a:lvl2pPr marL="1625519" lvl="1" indent="-406379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56" b="1"/>
            </a:lvl2pPr>
            <a:lvl3pPr marL="2438278" lvl="2" indent="-40637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/>
            </a:lvl3pPr>
            <a:lvl4pPr marL="3251037" lvl="3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4pPr>
            <a:lvl5pPr marL="4063797" lvl="4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5pPr>
            <a:lvl6pPr marL="4876557" lvl="5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6pPr>
            <a:lvl7pPr marL="5689315" lvl="6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7pPr>
            <a:lvl8pPr marL="6502075" lvl="7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8pPr>
            <a:lvl9pPr marL="7314834" lvl="8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812801" y="3866444"/>
            <a:ext cx="7182556" cy="702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4267"/>
            </a:lvl1pPr>
            <a:lvl2pPr marL="1625519" lvl="1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3556"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3pPr>
            <a:lvl4pPr marL="3251037" lvl="3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844"/>
            </a:lvl4pPr>
            <a:lvl5pPr marL="4063797" lvl="4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844"/>
            </a:lvl5pPr>
            <a:lvl6pPr marL="4876557" lvl="5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6pPr>
            <a:lvl7pPr marL="5689315" lvl="6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7pPr>
            <a:lvl8pPr marL="6502075" lvl="7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8pPr>
            <a:lvl9pPr marL="7314834" lvl="8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body" idx="3"/>
          </p:nvPr>
        </p:nvSpPr>
        <p:spPr>
          <a:xfrm>
            <a:off x="8257825" y="2729089"/>
            <a:ext cx="7185377" cy="1137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812760" lvl="0" indent="-40637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4267" b="1"/>
            </a:lvl1pPr>
            <a:lvl2pPr marL="1625519" lvl="1" indent="-406379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56" b="1"/>
            </a:lvl2pPr>
            <a:lvl3pPr marL="2438278" lvl="2" indent="-40637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/>
            </a:lvl3pPr>
            <a:lvl4pPr marL="3251037" lvl="3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4pPr>
            <a:lvl5pPr marL="4063797" lvl="4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5pPr>
            <a:lvl6pPr marL="4876557" lvl="5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6pPr>
            <a:lvl7pPr marL="5689315" lvl="6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7pPr>
            <a:lvl8pPr marL="6502075" lvl="7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8pPr>
            <a:lvl9pPr marL="7314834" lvl="8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body" idx="4"/>
          </p:nvPr>
        </p:nvSpPr>
        <p:spPr>
          <a:xfrm>
            <a:off x="8257825" y="3866444"/>
            <a:ext cx="7185377" cy="702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4267"/>
            </a:lvl1pPr>
            <a:lvl2pPr marL="1625519" lvl="1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3556"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3pPr>
            <a:lvl4pPr marL="3251037" lvl="3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844"/>
            </a:lvl4pPr>
            <a:lvl5pPr marL="4063797" lvl="4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844"/>
            </a:lvl5pPr>
            <a:lvl6pPr marL="4876557" lvl="5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6pPr>
            <a:lvl7pPr marL="5689315" lvl="6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7pPr>
            <a:lvl8pPr marL="6502075" lvl="7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8pPr>
            <a:lvl9pPr marL="7314834" lvl="8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47" name="Google Shape;47;p42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657765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7551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title"/>
          </p:nvPr>
        </p:nvSpPr>
        <p:spPr>
          <a:xfrm>
            <a:off x="812801" y="485423"/>
            <a:ext cx="5348112" cy="2065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3556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body" idx="1"/>
          </p:nvPr>
        </p:nvSpPr>
        <p:spPr>
          <a:xfrm>
            <a:off x="6355645" y="485423"/>
            <a:ext cx="9087556" cy="10405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767606" algn="l">
              <a:spcBef>
                <a:spcPts val="1137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5689"/>
            </a:lvl1pPr>
            <a:lvl2pPr marL="1625519" lvl="1" indent="-722453" algn="l">
              <a:spcBef>
                <a:spcPts val="996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4977"/>
            </a:lvl2pPr>
            <a:lvl3pPr marL="2438278" lvl="2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4267"/>
            </a:lvl3pPr>
            <a:lvl4pPr marL="3251037" lvl="3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3556"/>
            </a:lvl4pPr>
            <a:lvl5pPr marL="4063797" lvl="4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3556"/>
            </a:lvl5pPr>
            <a:lvl6pPr marL="4876557" lvl="5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6pPr>
            <a:lvl7pPr marL="5689315" lvl="6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7pPr>
            <a:lvl8pPr marL="6502075" lvl="7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8pPr>
            <a:lvl9pPr marL="7314834" lvl="8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body" idx="2"/>
          </p:nvPr>
        </p:nvSpPr>
        <p:spPr>
          <a:xfrm>
            <a:off x="812801" y="2551290"/>
            <a:ext cx="5348112" cy="8339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406379" algn="l">
              <a:spcBef>
                <a:spcPts val="49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489"/>
            </a:lvl1pPr>
            <a:lvl2pPr marL="1625519" lvl="1" indent="-406379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/>
            </a:lvl2pPr>
            <a:lvl3pPr marL="2438278" lvl="2" indent="-406379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777"/>
            </a:lvl3pPr>
            <a:lvl4pPr marL="3251037" lvl="3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4pPr>
            <a:lvl5pPr marL="4063797" lvl="4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5pPr>
            <a:lvl6pPr marL="4876557" lvl="5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6pPr>
            <a:lvl7pPr marL="5689315" lvl="6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7pPr>
            <a:lvl8pPr marL="6502075" lvl="7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8pPr>
            <a:lvl9pPr marL="7314834" lvl="8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9pPr>
          </a:lstStyle>
          <a:p>
            <a:endParaRPr/>
          </a:p>
        </p:txBody>
      </p:sp>
      <p:sp>
        <p:nvSpPr>
          <p:cNvPr id="58" name="Google Shape;58;p44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9" name="Google Shape;59;p44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0" name="Google Shape;60;p44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493271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>
            <a:spLocks noGrp="1"/>
          </p:cNvSpPr>
          <p:nvPr>
            <p:ph type="title"/>
          </p:nvPr>
        </p:nvSpPr>
        <p:spPr>
          <a:xfrm>
            <a:off x="3186289" y="8534401"/>
            <a:ext cx="9753600" cy="1007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3556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>
            <a:spLocks noGrp="1"/>
          </p:cNvSpPr>
          <p:nvPr>
            <p:ph type="pic" idx="2"/>
          </p:nvPr>
        </p:nvSpPr>
        <p:spPr>
          <a:xfrm>
            <a:off x="3186289" y="1089377"/>
            <a:ext cx="9753600" cy="731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Google Shape;64;p45"/>
          <p:cNvSpPr txBox="1">
            <a:spLocks noGrp="1"/>
          </p:cNvSpPr>
          <p:nvPr>
            <p:ph type="body" idx="1"/>
          </p:nvPr>
        </p:nvSpPr>
        <p:spPr>
          <a:xfrm>
            <a:off x="3186289" y="9541936"/>
            <a:ext cx="9753600" cy="143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406379" algn="l">
              <a:spcBef>
                <a:spcPts val="49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489"/>
            </a:lvl1pPr>
            <a:lvl2pPr marL="1625519" lvl="1" indent="-406379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/>
            </a:lvl2pPr>
            <a:lvl3pPr marL="2438278" lvl="2" indent="-406379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777"/>
            </a:lvl3pPr>
            <a:lvl4pPr marL="3251037" lvl="3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4pPr>
            <a:lvl5pPr marL="4063797" lvl="4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5pPr>
            <a:lvl6pPr marL="4876557" lvl="5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6pPr>
            <a:lvl7pPr marL="5689315" lvl="6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7pPr>
            <a:lvl8pPr marL="6502075" lvl="7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8pPr>
            <a:lvl9pPr marL="7314834" lvl="8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6" name="Google Shape;66;p45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7" name="Google Shape;67;p45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978042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1"/>
          </p:nvPr>
        </p:nvSpPr>
        <p:spPr>
          <a:xfrm rot="5400000">
            <a:off x="4104925" y="-447321"/>
            <a:ext cx="8046156" cy="146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625519" lvl="1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2" name="Google Shape;72;p46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3" name="Google Shape;73;p46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276054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>
            <a:spLocks noGrp="1"/>
          </p:cNvSpPr>
          <p:nvPr>
            <p:ph type="title"/>
          </p:nvPr>
        </p:nvSpPr>
        <p:spPr>
          <a:xfrm rot="5400000">
            <a:off x="8413047" y="3860801"/>
            <a:ext cx="10402711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body" idx="1"/>
          </p:nvPr>
        </p:nvSpPr>
        <p:spPr>
          <a:xfrm rot="5400000">
            <a:off x="962381" y="338667"/>
            <a:ext cx="10402711" cy="1070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625519" lvl="1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8" name="Google Shape;78;p47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9" name="Google Shape;79;p47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9651899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679940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1219200" y="3787424"/>
            <a:ext cx="13817600" cy="2613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2438400" y="6908800"/>
            <a:ext cx="11379200" cy="3115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137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996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7727618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1"/>
          </p:nvPr>
        </p:nvSpPr>
        <p:spPr>
          <a:xfrm>
            <a:off x="812800" y="2844802"/>
            <a:ext cx="14630400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625519" lvl="1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5" name="Google Shape;25;p39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6341336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1284112" y="7834489"/>
            <a:ext cx="13817600" cy="242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711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1284112" y="5167491"/>
            <a:ext cx="13817600" cy="266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812760" lvl="0" indent="-406379" algn="l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3556">
                <a:solidFill>
                  <a:srgbClr val="888888"/>
                </a:solidFill>
              </a:defRPr>
            </a:lvl1pPr>
            <a:lvl2pPr marL="1625519" lvl="1" indent="-406379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3200">
                <a:solidFill>
                  <a:srgbClr val="888888"/>
                </a:solidFill>
              </a:defRPr>
            </a:lvl2pPr>
            <a:lvl3pPr marL="2438278" lvl="2" indent="-406379" algn="l">
              <a:spcBef>
                <a:spcPts val="56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844">
                <a:solidFill>
                  <a:srgbClr val="888888"/>
                </a:solidFill>
              </a:defRPr>
            </a:lvl3pPr>
            <a:lvl4pPr marL="3251037" lvl="3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4pPr>
            <a:lvl5pPr marL="4063797" lvl="4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5pPr>
            <a:lvl6pPr marL="4876557" lvl="5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6pPr>
            <a:lvl7pPr marL="5689315" lvl="6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7pPr>
            <a:lvl8pPr marL="6502075" lvl="7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8pPr>
            <a:lvl9pPr marL="7314834" lvl="8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7562129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812800" y="2844802"/>
            <a:ext cx="7179733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722453" algn="l">
              <a:spcBef>
                <a:spcPts val="996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4977"/>
            </a:lvl1pPr>
            <a:lvl2pPr marL="1625519" lvl="1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4267"/>
            </a:lvl2pPr>
            <a:lvl3pPr marL="2438278" lvl="2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3200"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3200"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2"/>
          </p:nvPr>
        </p:nvSpPr>
        <p:spPr>
          <a:xfrm>
            <a:off x="8263467" y="2844802"/>
            <a:ext cx="7179733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722453" algn="l">
              <a:spcBef>
                <a:spcPts val="996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4977"/>
            </a:lvl1pPr>
            <a:lvl2pPr marL="1625519" lvl="1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4267"/>
            </a:lvl2pPr>
            <a:lvl3pPr marL="2438278" lvl="2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3200"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3200"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8" name="Google Shape;38;p41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4931394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812801" y="2729089"/>
            <a:ext cx="7182556" cy="1137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812760" lvl="0" indent="-40637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4267" b="1"/>
            </a:lvl1pPr>
            <a:lvl2pPr marL="1625519" lvl="1" indent="-406379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56" b="1"/>
            </a:lvl2pPr>
            <a:lvl3pPr marL="2438278" lvl="2" indent="-40637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/>
            </a:lvl3pPr>
            <a:lvl4pPr marL="3251037" lvl="3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4pPr>
            <a:lvl5pPr marL="4063797" lvl="4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5pPr>
            <a:lvl6pPr marL="4876557" lvl="5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6pPr>
            <a:lvl7pPr marL="5689315" lvl="6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7pPr>
            <a:lvl8pPr marL="6502075" lvl="7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8pPr>
            <a:lvl9pPr marL="7314834" lvl="8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812801" y="3866444"/>
            <a:ext cx="7182556" cy="702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4267"/>
            </a:lvl1pPr>
            <a:lvl2pPr marL="1625519" lvl="1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3556"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3pPr>
            <a:lvl4pPr marL="3251037" lvl="3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844"/>
            </a:lvl4pPr>
            <a:lvl5pPr marL="4063797" lvl="4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844"/>
            </a:lvl5pPr>
            <a:lvl6pPr marL="4876557" lvl="5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6pPr>
            <a:lvl7pPr marL="5689315" lvl="6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7pPr>
            <a:lvl8pPr marL="6502075" lvl="7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8pPr>
            <a:lvl9pPr marL="7314834" lvl="8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body" idx="3"/>
          </p:nvPr>
        </p:nvSpPr>
        <p:spPr>
          <a:xfrm>
            <a:off x="8257825" y="2729089"/>
            <a:ext cx="7185377" cy="1137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812760" lvl="0" indent="-40637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4267" b="1"/>
            </a:lvl1pPr>
            <a:lvl2pPr marL="1625519" lvl="1" indent="-406379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56" b="1"/>
            </a:lvl2pPr>
            <a:lvl3pPr marL="2438278" lvl="2" indent="-40637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/>
            </a:lvl3pPr>
            <a:lvl4pPr marL="3251037" lvl="3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4pPr>
            <a:lvl5pPr marL="4063797" lvl="4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5pPr>
            <a:lvl6pPr marL="4876557" lvl="5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6pPr>
            <a:lvl7pPr marL="5689315" lvl="6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7pPr>
            <a:lvl8pPr marL="6502075" lvl="7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8pPr>
            <a:lvl9pPr marL="7314834" lvl="8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body" idx="4"/>
          </p:nvPr>
        </p:nvSpPr>
        <p:spPr>
          <a:xfrm>
            <a:off x="8257825" y="3866444"/>
            <a:ext cx="7185377" cy="702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4267"/>
            </a:lvl1pPr>
            <a:lvl2pPr marL="1625519" lvl="1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3556"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3pPr>
            <a:lvl4pPr marL="3251037" lvl="3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844"/>
            </a:lvl4pPr>
            <a:lvl5pPr marL="4063797" lvl="4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844"/>
            </a:lvl5pPr>
            <a:lvl6pPr marL="4876557" lvl="5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6pPr>
            <a:lvl7pPr marL="5689315" lvl="6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7pPr>
            <a:lvl8pPr marL="6502075" lvl="7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8pPr>
            <a:lvl9pPr marL="7314834" lvl="8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47" name="Google Shape;47;p42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9211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6078214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title"/>
          </p:nvPr>
        </p:nvSpPr>
        <p:spPr>
          <a:xfrm>
            <a:off x="812801" y="485423"/>
            <a:ext cx="5348112" cy="2065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3556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body" idx="1"/>
          </p:nvPr>
        </p:nvSpPr>
        <p:spPr>
          <a:xfrm>
            <a:off x="6355645" y="485423"/>
            <a:ext cx="9087556" cy="10405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767606" algn="l">
              <a:spcBef>
                <a:spcPts val="1137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5689"/>
            </a:lvl1pPr>
            <a:lvl2pPr marL="1625519" lvl="1" indent="-722453" algn="l">
              <a:spcBef>
                <a:spcPts val="996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4977"/>
            </a:lvl2pPr>
            <a:lvl3pPr marL="2438278" lvl="2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4267"/>
            </a:lvl3pPr>
            <a:lvl4pPr marL="3251037" lvl="3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3556"/>
            </a:lvl4pPr>
            <a:lvl5pPr marL="4063797" lvl="4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3556"/>
            </a:lvl5pPr>
            <a:lvl6pPr marL="4876557" lvl="5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6pPr>
            <a:lvl7pPr marL="5689315" lvl="6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7pPr>
            <a:lvl8pPr marL="6502075" lvl="7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8pPr>
            <a:lvl9pPr marL="7314834" lvl="8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body" idx="2"/>
          </p:nvPr>
        </p:nvSpPr>
        <p:spPr>
          <a:xfrm>
            <a:off x="812801" y="2551290"/>
            <a:ext cx="5348112" cy="8339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406379" algn="l">
              <a:spcBef>
                <a:spcPts val="49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489"/>
            </a:lvl1pPr>
            <a:lvl2pPr marL="1625519" lvl="1" indent="-406379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/>
            </a:lvl2pPr>
            <a:lvl3pPr marL="2438278" lvl="2" indent="-406379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777"/>
            </a:lvl3pPr>
            <a:lvl4pPr marL="3251037" lvl="3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4pPr>
            <a:lvl5pPr marL="4063797" lvl="4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5pPr>
            <a:lvl6pPr marL="4876557" lvl="5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6pPr>
            <a:lvl7pPr marL="5689315" lvl="6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7pPr>
            <a:lvl8pPr marL="6502075" lvl="7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8pPr>
            <a:lvl9pPr marL="7314834" lvl="8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9pPr>
          </a:lstStyle>
          <a:p>
            <a:endParaRPr/>
          </a:p>
        </p:txBody>
      </p:sp>
      <p:sp>
        <p:nvSpPr>
          <p:cNvPr id="58" name="Google Shape;58;p44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9" name="Google Shape;59;p44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0" name="Google Shape;60;p44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7181916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>
            <a:spLocks noGrp="1"/>
          </p:cNvSpPr>
          <p:nvPr>
            <p:ph type="title"/>
          </p:nvPr>
        </p:nvSpPr>
        <p:spPr>
          <a:xfrm>
            <a:off x="3186289" y="8534401"/>
            <a:ext cx="9753600" cy="1007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3556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>
            <a:spLocks noGrp="1"/>
          </p:cNvSpPr>
          <p:nvPr>
            <p:ph type="pic" idx="2"/>
          </p:nvPr>
        </p:nvSpPr>
        <p:spPr>
          <a:xfrm>
            <a:off x="3186289" y="1089377"/>
            <a:ext cx="9753600" cy="731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Google Shape;64;p45"/>
          <p:cNvSpPr txBox="1">
            <a:spLocks noGrp="1"/>
          </p:cNvSpPr>
          <p:nvPr>
            <p:ph type="body" idx="1"/>
          </p:nvPr>
        </p:nvSpPr>
        <p:spPr>
          <a:xfrm>
            <a:off x="3186289" y="9541936"/>
            <a:ext cx="9753600" cy="143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406379" algn="l">
              <a:spcBef>
                <a:spcPts val="49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489"/>
            </a:lvl1pPr>
            <a:lvl2pPr marL="1625519" lvl="1" indent="-406379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/>
            </a:lvl2pPr>
            <a:lvl3pPr marL="2438278" lvl="2" indent="-406379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777"/>
            </a:lvl3pPr>
            <a:lvl4pPr marL="3251037" lvl="3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4pPr>
            <a:lvl5pPr marL="4063797" lvl="4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5pPr>
            <a:lvl6pPr marL="4876557" lvl="5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6pPr>
            <a:lvl7pPr marL="5689315" lvl="6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7pPr>
            <a:lvl8pPr marL="6502075" lvl="7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8pPr>
            <a:lvl9pPr marL="7314834" lvl="8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6" name="Google Shape;66;p45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7" name="Google Shape;67;p45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8691815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1"/>
          </p:nvPr>
        </p:nvSpPr>
        <p:spPr>
          <a:xfrm rot="5400000">
            <a:off x="4104925" y="-447321"/>
            <a:ext cx="8046156" cy="146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625519" lvl="1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2" name="Google Shape;72;p46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3" name="Google Shape;73;p46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4787232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>
            <a:spLocks noGrp="1"/>
          </p:cNvSpPr>
          <p:nvPr>
            <p:ph type="title"/>
          </p:nvPr>
        </p:nvSpPr>
        <p:spPr>
          <a:xfrm rot="5400000">
            <a:off x="8413047" y="3860801"/>
            <a:ext cx="10402711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body" idx="1"/>
          </p:nvPr>
        </p:nvSpPr>
        <p:spPr>
          <a:xfrm rot="5400000">
            <a:off x="962381" y="338667"/>
            <a:ext cx="10402711" cy="1070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625519" lvl="1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8" name="Google Shape;78;p47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9" name="Google Shape;79;p47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0709696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2445907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1219200" y="3787424"/>
            <a:ext cx="13817600" cy="2613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2438400" y="6908800"/>
            <a:ext cx="11379200" cy="3115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137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996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9760333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1"/>
          </p:nvPr>
        </p:nvSpPr>
        <p:spPr>
          <a:xfrm>
            <a:off x="812800" y="2844802"/>
            <a:ext cx="14630400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625519" lvl="1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5" name="Google Shape;25;p39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1237521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1284112" y="7834489"/>
            <a:ext cx="13817600" cy="242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711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1284112" y="5167491"/>
            <a:ext cx="13817600" cy="266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812760" lvl="0" indent="-406379" algn="l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3556">
                <a:solidFill>
                  <a:srgbClr val="888888"/>
                </a:solidFill>
              </a:defRPr>
            </a:lvl1pPr>
            <a:lvl2pPr marL="1625519" lvl="1" indent="-406379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3200">
                <a:solidFill>
                  <a:srgbClr val="888888"/>
                </a:solidFill>
              </a:defRPr>
            </a:lvl2pPr>
            <a:lvl3pPr marL="2438278" lvl="2" indent="-406379" algn="l">
              <a:spcBef>
                <a:spcPts val="56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844">
                <a:solidFill>
                  <a:srgbClr val="888888"/>
                </a:solidFill>
              </a:defRPr>
            </a:lvl3pPr>
            <a:lvl4pPr marL="3251037" lvl="3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4pPr>
            <a:lvl5pPr marL="4063797" lvl="4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5pPr>
            <a:lvl6pPr marL="4876557" lvl="5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6pPr>
            <a:lvl7pPr marL="5689315" lvl="6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7pPr>
            <a:lvl8pPr marL="6502075" lvl="7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8pPr>
            <a:lvl9pPr marL="7314834" lvl="8" indent="-406379" algn="l">
              <a:spcBef>
                <a:spcPts val="49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489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1830864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812800" y="2844802"/>
            <a:ext cx="7179733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722453" algn="l">
              <a:spcBef>
                <a:spcPts val="996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4977"/>
            </a:lvl1pPr>
            <a:lvl2pPr marL="1625519" lvl="1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4267"/>
            </a:lvl2pPr>
            <a:lvl3pPr marL="2438278" lvl="2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3200"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3200"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2"/>
          </p:nvPr>
        </p:nvSpPr>
        <p:spPr>
          <a:xfrm>
            <a:off x="8263467" y="2844802"/>
            <a:ext cx="7179733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722453" algn="l">
              <a:spcBef>
                <a:spcPts val="996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4977"/>
            </a:lvl1pPr>
            <a:lvl2pPr marL="1625519" lvl="1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4267"/>
            </a:lvl2pPr>
            <a:lvl3pPr marL="2438278" lvl="2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3200"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3200"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8" name="Google Shape;38;p41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757068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812801" y="2729089"/>
            <a:ext cx="7182556" cy="1137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812760" lvl="0" indent="-40637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4267" b="1"/>
            </a:lvl1pPr>
            <a:lvl2pPr marL="1625519" lvl="1" indent="-406379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56" b="1"/>
            </a:lvl2pPr>
            <a:lvl3pPr marL="2438278" lvl="2" indent="-40637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/>
            </a:lvl3pPr>
            <a:lvl4pPr marL="3251037" lvl="3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4pPr>
            <a:lvl5pPr marL="4063797" lvl="4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5pPr>
            <a:lvl6pPr marL="4876557" lvl="5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6pPr>
            <a:lvl7pPr marL="5689315" lvl="6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7pPr>
            <a:lvl8pPr marL="6502075" lvl="7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8pPr>
            <a:lvl9pPr marL="7314834" lvl="8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812801" y="3866444"/>
            <a:ext cx="7182556" cy="702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4267"/>
            </a:lvl1pPr>
            <a:lvl2pPr marL="1625519" lvl="1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3556"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3pPr>
            <a:lvl4pPr marL="3251037" lvl="3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844"/>
            </a:lvl4pPr>
            <a:lvl5pPr marL="4063797" lvl="4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844"/>
            </a:lvl5pPr>
            <a:lvl6pPr marL="4876557" lvl="5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6pPr>
            <a:lvl7pPr marL="5689315" lvl="6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7pPr>
            <a:lvl8pPr marL="6502075" lvl="7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8pPr>
            <a:lvl9pPr marL="7314834" lvl="8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body" idx="3"/>
          </p:nvPr>
        </p:nvSpPr>
        <p:spPr>
          <a:xfrm>
            <a:off x="8257825" y="2729089"/>
            <a:ext cx="7185377" cy="1137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812760" lvl="0" indent="-40637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4267" b="1"/>
            </a:lvl1pPr>
            <a:lvl2pPr marL="1625519" lvl="1" indent="-406379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56" b="1"/>
            </a:lvl2pPr>
            <a:lvl3pPr marL="2438278" lvl="2" indent="-40637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/>
            </a:lvl3pPr>
            <a:lvl4pPr marL="3251037" lvl="3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4pPr>
            <a:lvl5pPr marL="4063797" lvl="4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5pPr>
            <a:lvl6pPr marL="4876557" lvl="5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6pPr>
            <a:lvl7pPr marL="5689315" lvl="6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7pPr>
            <a:lvl8pPr marL="6502075" lvl="7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8pPr>
            <a:lvl9pPr marL="7314834" lvl="8" indent="-406379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844" b="1"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body" idx="4"/>
          </p:nvPr>
        </p:nvSpPr>
        <p:spPr>
          <a:xfrm>
            <a:off x="8257825" y="3866444"/>
            <a:ext cx="7185377" cy="702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4267"/>
            </a:lvl1pPr>
            <a:lvl2pPr marL="1625519" lvl="1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3556"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3pPr>
            <a:lvl4pPr marL="3251037" lvl="3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844"/>
            </a:lvl4pPr>
            <a:lvl5pPr marL="4063797" lvl="4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844"/>
            </a:lvl5pPr>
            <a:lvl6pPr marL="4876557" lvl="5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6pPr>
            <a:lvl7pPr marL="5689315" lvl="6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7pPr>
            <a:lvl8pPr marL="6502075" lvl="7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8pPr>
            <a:lvl9pPr marL="7314834" lvl="8" indent="-586993" algn="l">
              <a:spcBef>
                <a:spcPts val="569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844"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47" name="Google Shape;47;p42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9318475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2558878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title"/>
          </p:nvPr>
        </p:nvSpPr>
        <p:spPr>
          <a:xfrm>
            <a:off x="812801" y="485423"/>
            <a:ext cx="5348112" cy="2065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3556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body" idx="1"/>
          </p:nvPr>
        </p:nvSpPr>
        <p:spPr>
          <a:xfrm>
            <a:off x="6355645" y="485423"/>
            <a:ext cx="9087556" cy="10405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767606" algn="l">
              <a:spcBef>
                <a:spcPts val="1137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5689"/>
            </a:lvl1pPr>
            <a:lvl2pPr marL="1625519" lvl="1" indent="-722453" algn="l">
              <a:spcBef>
                <a:spcPts val="996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4977"/>
            </a:lvl2pPr>
            <a:lvl3pPr marL="2438278" lvl="2" indent="-67729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4267"/>
            </a:lvl3pPr>
            <a:lvl4pPr marL="3251037" lvl="3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3556"/>
            </a:lvl4pPr>
            <a:lvl5pPr marL="4063797" lvl="4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3556"/>
            </a:lvl5pPr>
            <a:lvl6pPr marL="4876557" lvl="5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6pPr>
            <a:lvl7pPr marL="5689315" lvl="6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7pPr>
            <a:lvl8pPr marL="6502075" lvl="7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8pPr>
            <a:lvl9pPr marL="7314834" lvl="8" indent="-632146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556"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body" idx="2"/>
          </p:nvPr>
        </p:nvSpPr>
        <p:spPr>
          <a:xfrm>
            <a:off x="812801" y="2551290"/>
            <a:ext cx="5348112" cy="8339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406379" algn="l">
              <a:spcBef>
                <a:spcPts val="49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489"/>
            </a:lvl1pPr>
            <a:lvl2pPr marL="1625519" lvl="1" indent="-406379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/>
            </a:lvl2pPr>
            <a:lvl3pPr marL="2438278" lvl="2" indent="-406379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777"/>
            </a:lvl3pPr>
            <a:lvl4pPr marL="3251037" lvl="3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4pPr>
            <a:lvl5pPr marL="4063797" lvl="4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5pPr>
            <a:lvl6pPr marL="4876557" lvl="5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6pPr>
            <a:lvl7pPr marL="5689315" lvl="6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7pPr>
            <a:lvl8pPr marL="6502075" lvl="7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8pPr>
            <a:lvl9pPr marL="7314834" lvl="8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9pPr>
          </a:lstStyle>
          <a:p>
            <a:endParaRPr/>
          </a:p>
        </p:txBody>
      </p:sp>
      <p:sp>
        <p:nvSpPr>
          <p:cNvPr id="58" name="Google Shape;58;p44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59" name="Google Shape;59;p44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0" name="Google Shape;60;p44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5461794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>
            <a:spLocks noGrp="1"/>
          </p:cNvSpPr>
          <p:nvPr>
            <p:ph type="title"/>
          </p:nvPr>
        </p:nvSpPr>
        <p:spPr>
          <a:xfrm>
            <a:off x="3186289" y="8534401"/>
            <a:ext cx="9753600" cy="1007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3556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>
            <a:spLocks noGrp="1"/>
          </p:cNvSpPr>
          <p:nvPr>
            <p:ph type="pic" idx="2"/>
          </p:nvPr>
        </p:nvSpPr>
        <p:spPr>
          <a:xfrm>
            <a:off x="3186289" y="1089377"/>
            <a:ext cx="9753600" cy="731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Google Shape;64;p45"/>
          <p:cNvSpPr txBox="1">
            <a:spLocks noGrp="1"/>
          </p:cNvSpPr>
          <p:nvPr>
            <p:ph type="body" idx="1"/>
          </p:nvPr>
        </p:nvSpPr>
        <p:spPr>
          <a:xfrm>
            <a:off x="3186289" y="9541936"/>
            <a:ext cx="9753600" cy="143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406379" algn="l">
              <a:spcBef>
                <a:spcPts val="49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489"/>
            </a:lvl1pPr>
            <a:lvl2pPr marL="1625519" lvl="1" indent="-406379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133"/>
            </a:lvl2pPr>
            <a:lvl3pPr marL="2438278" lvl="2" indent="-406379" algn="l">
              <a:spcBef>
                <a:spcPts val="356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777"/>
            </a:lvl3pPr>
            <a:lvl4pPr marL="3251037" lvl="3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4pPr>
            <a:lvl5pPr marL="4063797" lvl="4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5pPr>
            <a:lvl6pPr marL="4876557" lvl="5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6pPr>
            <a:lvl7pPr marL="5689315" lvl="6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7pPr>
            <a:lvl8pPr marL="6502075" lvl="7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8pPr>
            <a:lvl9pPr marL="7314834" lvl="8" indent="-4063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600"/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6" name="Google Shape;66;p45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67" name="Google Shape;67;p45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796281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1"/>
          </p:nvPr>
        </p:nvSpPr>
        <p:spPr>
          <a:xfrm rot="5400000">
            <a:off x="4104925" y="-447321"/>
            <a:ext cx="8046156" cy="146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625519" lvl="1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2" name="Google Shape;72;p46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3" name="Google Shape;73;p46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3286895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>
            <a:spLocks noGrp="1"/>
          </p:cNvSpPr>
          <p:nvPr>
            <p:ph type="title"/>
          </p:nvPr>
        </p:nvSpPr>
        <p:spPr>
          <a:xfrm rot="5400000">
            <a:off x="8413047" y="3860801"/>
            <a:ext cx="10402711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body" idx="1"/>
          </p:nvPr>
        </p:nvSpPr>
        <p:spPr>
          <a:xfrm rot="5400000">
            <a:off x="962381" y="338667"/>
            <a:ext cx="10402711" cy="1070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812760" lvl="0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625519" lvl="1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2438278" lvl="2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251037" lvl="3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4063797" lvl="4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4876557" lvl="5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5689315" lvl="6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6502075" lvl="7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7314834" lvl="8" indent="-60957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8" name="Google Shape;78;p47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79" name="Google Shape;79;p47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126698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9957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812800" y="2844802"/>
            <a:ext cx="14630400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9" name="Google Shape;9;p36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0" name="Google Shape;10;p36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77860372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812800" y="2844802"/>
            <a:ext cx="14630400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9" name="Google Shape;9;p36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0" name="Google Shape;10;p36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44088110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812800" y="488245"/>
            <a:ext cx="146304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812800" y="2844802"/>
            <a:ext cx="14630400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dt" idx="10"/>
          </p:nvPr>
        </p:nvSpPr>
        <p:spPr>
          <a:xfrm>
            <a:off x="812800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9" name="Google Shape;9;p36"/>
          <p:cNvSpPr txBox="1">
            <a:spLocks noGrp="1"/>
          </p:cNvSpPr>
          <p:nvPr>
            <p:ph type="ftr" idx="11"/>
          </p:nvPr>
        </p:nvSpPr>
        <p:spPr>
          <a:xfrm>
            <a:off x="5554134" y="11300179"/>
            <a:ext cx="5147733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625519">
              <a:buClr>
                <a:srgbClr val="000000"/>
              </a:buClr>
              <a:defRPr/>
            </a:pPr>
            <a:endParaRPr lang="es-ES" kern="0"/>
          </a:p>
        </p:txBody>
      </p:sp>
      <p:sp>
        <p:nvSpPr>
          <p:cNvPr id="10" name="Google Shape;10;p36"/>
          <p:cNvSpPr txBox="1">
            <a:spLocks noGrp="1"/>
          </p:cNvSpPr>
          <p:nvPr>
            <p:ph type="sldNum" idx="12"/>
          </p:nvPr>
        </p:nvSpPr>
        <p:spPr>
          <a:xfrm>
            <a:off x="11650133" y="11300179"/>
            <a:ext cx="3793067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1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625519">
              <a:buClr>
                <a:srgbClr val="000000"/>
              </a:buClr>
              <a:defRPr/>
            </a:pPr>
            <a:fld id="{00000000-1234-1234-1234-123412341234}" type="slidenum">
              <a:rPr lang="en-US" kern="0" smtClean="0"/>
              <a:pPr defTabSz="1625519">
                <a:buClr>
                  <a:srgbClr val="000000"/>
                </a:buClr>
                <a:defRPr/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02738742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8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0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3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4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5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6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7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8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9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0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700" y="-10854"/>
            <a:ext cx="8453137" cy="831767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825" y="541677"/>
            <a:ext cx="3034459" cy="1484719"/>
          </a:xfrm>
          <a:prstGeom prst="rect">
            <a:avLst/>
          </a:prstGeom>
        </p:spPr>
      </p:pic>
      <p:sp>
        <p:nvSpPr>
          <p:cNvPr id="86" name="Google Shape;86;p1"/>
          <p:cNvSpPr/>
          <p:nvPr/>
        </p:nvSpPr>
        <p:spPr>
          <a:xfrm>
            <a:off x="0" y="8306816"/>
            <a:ext cx="16256000" cy="8615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62533" tIns="81244" rIns="162533" bIns="81244" anchor="ctr" anchorCtr="0">
            <a:noAutofit/>
          </a:bodyPr>
          <a:lstStyle/>
          <a:p>
            <a:pPr algn="ctr" defTabSz="1625519">
              <a:buClr>
                <a:srgbClr val="000000"/>
              </a:buClr>
              <a:defRPr/>
            </a:pPr>
            <a:endParaRPr sz="3200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" descr="asset_portada_6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99456" y="8355584"/>
            <a:ext cx="5673344" cy="74777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687816" y="2400772"/>
            <a:ext cx="14855483" cy="53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t" anchorCtr="0">
            <a:spAutoFit/>
          </a:bodyPr>
          <a:lstStyle/>
          <a:p>
            <a:pPr defTabSz="1625519">
              <a:buClr>
                <a:srgbClr val="000000"/>
              </a:buClr>
            </a:pPr>
            <a:r>
              <a:rPr lang="es-ES" sz="2400" kern="0" dirty="0">
                <a:solidFill>
                  <a:srgbClr val="40BCFF"/>
                </a:solidFill>
                <a:latin typeface="Calibri"/>
                <a:ea typeface="Aptos"/>
                <a:cs typeface="Calibri"/>
                <a:sym typeface="Calibri"/>
              </a:rPr>
              <a:t>Programa </a:t>
            </a:r>
            <a:r>
              <a:rPr lang="es-ES" sz="2400" kern="0" dirty="0" err="1">
                <a:solidFill>
                  <a:srgbClr val="40BCFF"/>
                </a:solidFill>
                <a:latin typeface="Calibri"/>
                <a:ea typeface="Aptos"/>
                <a:cs typeface="Calibri"/>
                <a:sym typeface="Calibri"/>
              </a:rPr>
              <a:t>FdF</a:t>
            </a:r>
            <a:r>
              <a:rPr lang="es-ES" sz="2400" kern="0" dirty="0">
                <a:solidFill>
                  <a:srgbClr val="40BCFF"/>
                </a:solidFill>
                <a:latin typeface="Calibri"/>
                <a:ea typeface="Aptos"/>
                <a:cs typeface="Calibri"/>
                <a:sym typeface="Calibri"/>
              </a:rPr>
              <a:t>-NAE</a:t>
            </a:r>
          </a:p>
        </p:txBody>
      </p:sp>
      <p:sp>
        <p:nvSpPr>
          <p:cNvPr id="92" name="Google Shape;92;p1"/>
          <p:cNvSpPr txBox="1"/>
          <p:nvPr/>
        </p:nvSpPr>
        <p:spPr>
          <a:xfrm>
            <a:off x="13035801" y="1103485"/>
            <a:ext cx="2966587" cy="43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t" anchorCtr="0">
            <a:spAutoFit/>
          </a:bodyPr>
          <a:lstStyle/>
          <a:p>
            <a:pPr defTabSz="1625519">
              <a:buClr>
                <a:srgbClr val="000000"/>
              </a:buClr>
              <a:defRPr/>
            </a:pPr>
            <a:r>
              <a:rPr lang="en-US" sz="1777" kern="0" dirty="0">
                <a:solidFill>
                  <a:srgbClr val="A3C5ED"/>
                </a:solidFill>
                <a:latin typeface="Calibri"/>
                <a:ea typeface="Calibri"/>
                <a:cs typeface="Calibri"/>
                <a:sym typeface="Calibri"/>
              </a:rPr>
              <a:t>La Habana, Cuba · 2026</a:t>
            </a:r>
            <a:endParaRPr sz="2489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877825" y="3103660"/>
            <a:ext cx="944880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1219170">
              <a:defRPr/>
            </a:pPr>
            <a:r>
              <a:rPr lang="en-US" sz="5067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</a:t>
            </a:r>
            <a:r>
              <a:rPr lang="en-US" sz="5067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3</a:t>
            </a:r>
            <a:endParaRPr lang="en-US" sz="5067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877825" y="5733647"/>
            <a:ext cx="4389120" cy="6096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12" name="Text 4"/>
          <p:cNvSpPr/>
          <p:nvPr/>
        </p:nvSpPr>
        <p:spPr>
          <a:xfrm>
            <a:off x="877825" y="6061568"/>
            <a:ext cx="8290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1600" dirty="0">
                <a:solidFill>
                  <a:srgbClr val="C7D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Formación de Formadores</a:t>
            </a:r>
            <a:endParaRPr lang="en-US"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7"/>
          <p:cNvSpPr/>
          <p:nvPr/>
        </p:nvSpPr>
        <p:spPr>
          <a:xfrm>
            <a:off x="687816" y="8540496"/>
            <a:ext cx="3535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1133" dirty="0">
                <a:solidFill>
                  <a:srgbClr val="B9C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1133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847345" y="4195804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1219170"/>
            <a:r>
              <a:rPr lang="en-US" sz="3333" dirty="0" err="1">
                <a:solidFill>
                  <a:srgbClr val="E5EE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</a:t>
            </a:r>
            <a:r>
              <a:rPr lang="en-US" sz="3333" dirty="0">
                <a:solidFill>
                  <a:srgbClr val="E5EE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planes de </a:t>
            </a:r>
            <a:r>
              <a:rPr lang="en-US" sz="3333" dirty="0" err="1">
                <a:solidFill>
                  <a:srgbClr val="E5EE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mejora</a:t>
            </a:r>
            <a:r>
              <a:rPr lang="en-US" sz="3333" dirty="0">
                <a:solidFill>
                  <a:srgbClr val="E5EE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3333" dirty="0" err="1">
                <a:solidFill>
                  <a:srgbClr val="E5EE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empresarial</a:t>
            </a:r>
            <a:endParaRPr lang="en-US" sz="3333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1E81D92A-2682-BF18-B3A7-54A16505C49C}"/>
              </a:ext>
            </a:extLst>
          </p:cNvPr>
          <p:cNvSpPr/>
          <p:nvPr/>
        </p:nvSpPr>
        <p:spPr>
          <a:xfrm>
            <a:off x="869379" y="6975020"/>
            <a:ext cx="89686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b="1" noProof="0" dirty="0">
                <a:solidFill>
                  <a:schemeClr val="bg1"/>
                </a:solidFill>
                <a:latin typeface="Aptos" panose="020B0004020202020204" pitchFamily="34" charset="0"/>
              </a:rPr>
              <a:t>Proyecto NAE · Financiado por la </a:t>
            </a:r>
            <a:r>
              <a:rPr lang="es-419" sz="1400" b="1" noProof="0" dirty="0" err="1">
                <a:solidFill>
                  <a:schemeClr val="bg1"/>
                </a:solidFill>
                <a:latin typeface="Aptos" panose="020B0004020202020204" pitchFamily="34" charset="0"/>
              </a:rPr>
              <a:t>Agence</a:t>
            </a:r>
            <a:r>
              <a:rPr lang="es-419" sz="1400" b="1" noProof="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s-419" sz="1400" b="1" noProof="0" dirty="0" err="1">
                <a:solidFill>
                  <a:schemeClr val="bg1"/>
                </a:solidFill>
                <a:latin typeface="Aptos" panose="020B0004020202020204" pitchFamily="34" charset="0"/>
              </a:rPr>
              <a:t>Française</a:t>
            </a:r>
            <a:r>
              <a:rPr lang="es-419" sz="1400" b="1" noProof="0" dirty="0">
                <a:solidFill>
                  <a:schemeClr val="bg1"/>
                </a:solidFill>
                <a:latin typeface="Aptos" panose="020B0004020202020204" pitchFamily="34" charset="0"/>
              </a:rPr>
              <a:t> de </a:t>
            </a:r>
            <a:r>
              <a:rPr lang="es-419" sz="1400" b="1" noProof="0" dirty="0" err="1">
                <a:solidFill>
                  <a:schemeClr val="bg1"/>
                </a:solidFill>
                <a:latin typeface="Aptos" panose="020B0004020202020204" pitchFamily="34" charset="0"/>
              </a:rPr>
              <a:t>Développement</a:t>
            </a:r>
            <a:r>
              <a:rPr lang="es-419" sz="1400" b="1" noProof="0" dirty="0">
                <a:solidFill>
                  <a:schemeClr val="bg1"/>
                </a:solidFill>
                <a:latin typeface="Aptos" panose="020B0004020202020204" pitchFamily="34" charset="0"/>
              </a:rPr>
              <a:t> (AFD), con cofinanciación de la Unión Europea</a:t>
            </a:r>
          </a:p>
          <a:p>
            <a:pPr marL="0" indent="0">
              <a:buNone/>
            </a:pPr>
            <a:endParaRPr lang="es-419" sz="1400" b="1" noProof="0" dirty="0">
              <a:solidFill>
                <a:schemeClr val="bg1"/>
              </a:solidFill>
              <a:latin typeface="Aptos" panose="020B0004020202020204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s-419" sz="1400" noProof="0" dirty="0">
                <a:solidFill>
                  <a:schemeClr val="bg1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Implementación técnica</a:t>
            </a:r>
            <a:r>
              <a:rPr lang="es-419" sz="1400" b="1" noProof="0" dirty="0">
                <a:solidFill>
                  <a:schemeClr val="bg1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s-419" sz="1400" noProof="0" dirty="0">
                <a:solidFill>
                  <a:schemeClr val="bg1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Universidad de Alicante (UA) · Parque Científico Tecnológico de La Habana (PCTH)</a:t>
            </a:r>
          </a:p>
          <a:p>
            <a:pPr marL="0" indent="0">
              <a:buNone/>
            </a:pPr>
            <a:endParaRPr lang="es-419" sz="1400" b="1" noProof="0" dirty="0">
              <a:solidFill>
                <a:schemeClr val="bg1"/>
              </a:solidFill>
              <a:latin typeface="Aptos" panose="020B0004020202020204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s-419" sz="1400" noProof="0" dirty="0">
                <a:solidFill>
                  <a:srgbClr val="C7D7E2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La Habana, Cuba · 2026</a:t>
            </a:r>
            <a:endParaRPr lang="es-419" sz="1400" noProof="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807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183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5904" y="8388096"/>
            <a:ext cx="3535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1133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1133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Google Shape;87;p1" descr="asset_portada_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99456" y="8355584"/>
            <a:ext cx="5673344" cy="74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Shape 3"/>
          <p:cNvSpPr/>
          <p:nvPr/>
        </p:nvSpPr>
        <p:spPr>
          <a:xfrm>
            <a:off x="910336" y="6762813"/>
            <a:ext cx="5286216" cy="60959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11" name="Text 1"/>
          <p:cNvSpPr/>
          <p:nvPr/>
        </p:nvSpPr>
        <p:spPr>
          <a:xfrm>
            <a:off x="902208" y="2901696"/>
            <a:ext cx="7559040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133" b="1" dirty="0" err="1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</a:t>
            </a:r>
            <a:r>
              <a:rPr lang="en-US" sz="4133" b="1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planes de </a:t>
            </a:r>
            <a:r>
              <a:rPr lang="en-US" sz="4133" b="1" dirty="0" err="1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mejora</a:t>
            </a:r>
            <a:r>
              <a:rPr lang="en-US" sz="4133" b="1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4133" b="1" dirty="0" err="1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empresarial</a:t>
            </a:r>
            <a:endParaRPr lang="en-US" sz="4133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902208" y="5765259"/>
            <a:ext cx="6827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s-ES" sz="2533" dirty="0">
                <a:solidFill>
                  <a:srgbClr val="0A34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Competencia C6 · Planificación de la mejora empresarial con enfoque participativo, medible y viable</a:t>
            </a:r>
          </a:p>
        </p:txBody>
      </p:sp>
      <p:sp>
        <p:nvSpPr>
          <p:cNvPr id="8" name="Google Shape;360;p11"/>
          <p:cNvSpPr txBox="1"/>
          <p:nvPr/>
        </p:nvSpPr>
        <p:spPr>
          <a:xfrm>
            <a:off x="727456" y="631265"/>
            <a:ext cx="9144000" cy="57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2933" dirty="0">
                <a:solidFill>
                  <a:srgbClr val="40BCFF"/>
                </a:solidFill>
                <a:latin typeface="Calibri"/>
                <a:ea typeface="Aptos"/>
                <a:cs typeface="Calibri"/>
                <a:sym typeface="Calibri"/>
              </a:rPr>
              <a:t>PRESENTACIÓN DEL MÓDULO</a:t>
            </a:r>
          </a:p>
        </p:txBody>
      </p:sp>
    </p:spTree>
    <p:extLst>
      <p:ext uri="{BB962C8B-B14F-4D97-AF65-F5344CB8AC3E}">
        <p14:creationId xmlns:p14="http://schemas.microsoft.com/office/powerpoint/2010/main" val="1257950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inspect/ppt/media/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02A2B">
              <a:alpha val="85000"/>
            </a:srgbClr>
          </a:solidFill>
          <a:ln w="12700">
            <a:solidFill>
              <a:srgbClr val="102A2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4984" y="1901952"/>
            <a:ext cx="2542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C88D2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1014984" y="3300984"/>
            <a:ext cx="758952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4984" y="3557016"/>
            <a:ext cx="11612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MARCO DEL MÓDULO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14984" y="437997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3E1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Propósito, competencia, resultados de aprendizaje y ruta de implementación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4984" y="838504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3CC4F790-66FA-F40C-B649-2C4CFD703D67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33" name="Image 2" descr="/mnt/data/template_inspect/ppt/media/image3.png">
            <a:extLst>
              <a:ext uri="{FF2B5EF4-FFF2-40B4-BE49-F238E27FC236}">
                <a16:creationId xmlns:a16="http://schemas.microsoft.com/office/drawing/2014/main" id="{28E44551-0FEC-8B43-3D45-D29A359CA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Ficha técnica del Módulo 3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58952" y="1691640"/>
            <a:ext cx="2834640" cy="1051560"/>
          </a:xfrm>
          <a:prstGeom prst="rect">
            <a:avLst/>
          </a:prstGeom>
          <a:solidFill>
            <a:srgbClr val="002F4E"/>
          </a:solidFill>
          <a:ln w="12700">
            <a:solidFill>
              <a:srgbClr val="002F4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 h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96112" y="22219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DDE6E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Duración total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3794760" y="1691640"/>
            <a:ext cx="2834640" cy="1051560"/>
          </a:xfrm>
          <a:prstGeom prst="rect">
            <a:avLst/>
          </a:prstGeom>
          <a:solidFill>
            <a:srgbClr val="002F4E"/>
          </a:solidFill>
          <a:ln w="12700">
            <a:solidFill>
              <a:srgbClr val="002F4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7647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 h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931920" y="22219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DDE6E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Presencial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830568" y="1691640"/>
            <a:ext cx="2834640" cy="1051560"/>
          </a:xfrm>
          <a:prstGeom prst="rect">
            <a:avLst/>
          </a:prstGeom>
          <a:solidFill>
            <a:srgbClr val="002F4E"/>
          </a:solidFill>
          <a:ln w="12700">
            <a:solidFill>
              <a:srgbClr val="002F4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67728" y="17647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 h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67728" y="22219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DDE6E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Virtual sincrónica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9866376" y="1691640"/>
            <a:ext cx="2834640" cy="1051560"/>
          </a:xfrm>
          <a:prstGeom prst="rect">
            <a:avLst/>
          </a:prstGeom>
          <a:solidFill>
            <a:srgbClr val="002F4E"/>
          </a:solidFill>
          <a:ln w="12700">
            <a:solidFill>
              <a:srgbClr val="002F4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03536" y="17647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h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003536" y="22219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DDE6E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Virtual asincrónica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12902184" y="1691640"/>
            <a:ext cx="2578608" cy="1051560"/>
          </a:xfrm>
          <a:prstGeom prst="rect">
            <a:avLst/>
          </a:prstGeom>
          <a:solidFill>
            <a:srgbClr val="002F4E"/>
          </a:solidFill>
          <a:ln w="12700">
            <a:solidFill>
              <a:srgbClr val="002F4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039344" y="1764792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C6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3039344" y="222199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DDE6E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Planificación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758952" y="3246120"/>
            <a:ext cx="7040880" cy="187452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344728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Propósito de facilitación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987552" y="3886200"/>
            <a:ext cx="6583680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Transformar hallazgos priorizados en un plan viable, medible, participativo y conectado con causas.</a:t>
            </a:r>
            <a:endParaRPr lang="en-US" sz="1270" dirty="0"/>
          </a:p>
        </p:txBody>
      </p:sp>
      <p:sp>
        <p:nvSpPr>
          <p:cNvPr id="24" name="Shape 22"/>
          <p:cNvSpPr/>
          <p:nvPr/>
        </p:nvSpPr>
        <p:spPr>
          <a:xfrm>
            <a:off x="8385048" y="3246120"/>
            <a:ext cx="7095744" cy="187452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13648" y="3447288"/>
            <a:ext cx="6638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Producto 2 del Portafolio</a:t>
            </a:r>
            <a:endParaRPr lang="en-US" sz="1520" dirty="0"/>
          </a:p>
        </p:txBody>
      </p:sp>
      <p:sp>
        <p:nvSpPr>
          <p:cNvPr id="26" name="Text 24"/>
          <p:cNvSpPr/>
          <p:nvPr/>
        </p:nvSpPr>
        <p:spPr>
          <a:xfrm>
            <a:off x="8613648" y="3886200"/>
            <a:ext cx="6638544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Mejora y Acompañamiento con objetivos, acciones, responsables, plazos, recursos, indicadores, medios de verificación y apoyo requerido.</a:t>
            </a:r>
            <a:endParaRPr lang="en-US" sz="1270" dirty="0"/>
          </a:p>
        </p:txBody>
      </p:sp>
      <p:sp>
        <p:nvSpPr>
          <p:cNvPr id="27" name="Shape 25"/>
          <p:cNvSpPr/>
          <p:nvPr/>
        </p:nvSpPr>
        <p:spPr>
          <a:xfrm>
            <a:off x="758952" y="5532120"/>
            <a:ext cx="14721840" cy="141732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5733288"/>
            <a:ext cx="1426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Dos ciclos articulados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987552" y="6172200"/>
            <a:ext cx="142646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Pedagógico: Diagnosticar necesidades de aprendizaje → Diseñar → Facilitar → Evaluar → Mejorar → Multiplicar.
Empresarial: Diagnosticar el NAE → Diseñar el Plan de Mejora → Acompañar su implementación → Evaluar resultados → Ajustar → Fortalecer capacidades.</a:t>
            </a:r>
            <a:endParaRPr lang="en-US" sz="127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>
            <a:extLst>
              <a:ext uri="{FF2B5EF4-FFF2-40B4-BE49-F238E27FC236}">
                <a16:creationId xmlns:a16="http://schemas.microsoft.com/office/drawing/2014/main" id="{4776B016-BCC2-BD08-026E-42F6640E531D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20" name="Image 2" descr="/mnt/data/template_inspect/ppt/media/image3.png">
            <a:extLst>
              <a:ext uri="{FF2B5EF4-FFF2-40B4-BE49-F238E27FC236}">
                <a16:creationId xmlns:a16="http://schemas.microsoft.com/office/drawing/2014/main" id="{E2BEB414-0DF7-6C7F-C3C3-AF963154C3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Objetivo del módulo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58952" y="1691640"/>
            <a:ext cx="14721840" cy="1874520"/>
          </a:xfrm>
          <a:prstGeom prst="rect">
            <a:avLst/>
          </a:prstGeom>
          <a:solidFill>
            <a:srgbClr val="E9EEE8"/>
          </a:solidFill>
          <a:ln w="12700">
            <a:solidFill>
              <a:srgbClr val="00856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993392"/>
            <a:ext cx="1394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Desarrollar la capacidad para transformar los hallazgos del diagnóstico en un Plan de Mejora y Acompañamiento viable, priorizado, medible y construido participativamente con las personas responsables del NAE.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58952" y="4160520"/>
            <a:ext cx="4709160" cy="205740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43616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Viable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987552" y="4800600"/>
            <a:ext cx="425196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 recursos, capacidades internas, restricciones, riesgos, supuestos y contingencias.</a:t>
            </a:r>
            <a:endParaRPr lang="en-US" sz="1270" dirty="0"/>
          </a:p>
        </p:txBody>
      </p:sp>
      <p:sp>
        <p:nvSpPr>
          <p:cNvPr id="11" name="Shape 9"/>
          <p:cNvSpPr/>
          <p:nvPr/>
        </p:nvSpPr>
        <p:spPr>
          <a:xfrm>
            <a:off x="5779008" y="4160520"/>
            <a:ext cx="4709160" cy="205740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07608" y="43616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Priorizado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6007608" y="4800600"/>
            <a:ext cx="425196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 acciones por impacto, esfuerzo, urgencia, importancia y dependencias.</a:t>
            </a:r>
            <a:endParaRPr lang="en-US" sz="1270" dirty="0"/>
          </a:p>
        </p:txBody>
      </p:sp>
      <p:sp>
        <p:nvSpPr>
          <p:cNvPr id="14" name="Shape 12"/>
          <p:cNvSpPr/>
          <p:nvPr/>
        </p:nvSpPr>
        <p:spPr>
          <a:xfrm>
            <a:off x="10799064" y="4160520"/>
            <a:ext cx="4681728" cy="205740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27664" y="4361688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Medible y participativo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11027664" y="4800600"/>
            <a:ext cx="4224528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indicadores, medios de verificación y responsabilidades acordadas con el NAE.</a:t>
            </a:r>
            <a:endParaRPr lang="en-US" sz="127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>
            <a:extLst>
              <a:ext uri="{FF2B5EF4-FFF2-40B4-BE49-F238E27FC236}">
                <a16:creationId xmlns:a16="http://schemas.microsoft.com/office/drawing/2014/main" id="{CB9F5E66-0198-1C7C-CCE9-B31AC6F07F14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29" name="Image 2" descr="/mnt/data/template_inspect/ppt/media/image3.png">
            <a:extLst>
              <a:ext uri="{FF2B5EF4-FFF2-40B4-BE49-F238E27FC236}">
                <a16:creationId xmlns:a16="http://schemas.microsoft.com/office/drawing/2014/main" id="{FF48E83F-A6FC-5756-656E-1304DAC5A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Competencia C6: planificación de la mejora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58952" y="1691640"/>
            <a:ext cx="7040880" cy="224028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89280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Competencia del módulo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987552" y="2331720"/>
            <a:ext cx="658368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Acompañar la mejora empresarial mediante planes de acción y mentoría centrada en la persona, con énfasis en la planificación.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8385048" y="1691640"/>
            <a:ext cx="7095744" cy="224028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13648" y="1892808"/>
            <a:ext cx="6638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Evidencias de planificación en M3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8613648" y="2331720"/>
            <a:ext cx="6638544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Mejora con indicadores y cronograma, basado en K03 y articulado con K04.1 y K04.2. Los perfiles y borradores se integran en el Producto 2, sin entregas adicionales.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758952" y="42976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Desempeño esperado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58952" y="4892040"/>
            <a:ext cx="2856586" cy="868680"/>
          </a:xfrm>
          <a:prstGeom prst="chevron">
            <a:avLst/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038344"/>
            <a:ext cx="2627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Problema y causa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prioritaria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3725266" y="4892040"/>
            <a:ext cx="2856586" cy="868680"/>
          </a:xfrm>
          <a:prstGeom prst="chevron">
            <a:avLst/>
          </a:prstGeom>
          <a:solidFill>
            <a:srgbClr val="00A3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34994" y="5038344"/>
            <a:ext cx="2627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Objetivo de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mejora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6691579" y="4892040"/>
            <a:ext cx="2856586" cy="868680"/>
          </a:xfrm>
          <a:prstGeom prst="chevron">
            <a:avLst/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1307" y="5038344"/>
            <a:ext cx="2627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Acciones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verificables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9657893" y="4892040"/>
            <a:ext cx="2856586" cy="868680"/>
          </a:xfrm>
          <a:prstGeom prst="chevron">
            <a:avLst/>
          </a:prstGeom>
          <a:solidFill>
            <a:srgbClr val="00A3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67621" y="5038344"/>
            <a:ext cx="2627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Responsables,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recursos y plazos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12624206" y="4892040"/>
            <a:ext cx="2856586" cy="868680"/>
          </a:xfrm>
          <a:prstGeom prst="chevron">
            <a:avLst/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733934" y="5038344"/>
            <a:ext cx="2627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Indicadores y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apoyo requerido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758952" y="6355080"/>
            <a:ext cx="14721840" cy="96012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6556248"/>
            <a:ext cx="1426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Criterio de trazabilidad</a:t>
            </a:r>
            <a:endParaRPr lang="en-US" sz="1520" dirty="0"/>
          </a:p>
        </p:txBody>
      </p:sp>
      <p:sp>
        <p:nvSpPr>
          <p:cNvPr id="25" name="Text 23"/>
          <p:cNvSpPr/>
          <p:nvPr/>
        </p:nvSpPr>
        <p:spPr>
          <a:xfrm>
            <a:off x="987552" y="6995160"/>
            <a:ext cx="1426464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acción debe responder a una causa identificada durante el diagnóstico y debe poder verificarse mediante evidencia.</a:t>
            </a:r>
            <a:endParaRPr lang="en-US" sz="127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9B5B6209-65D4-19A8-6C5A-9BEFB36EB4B2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10" name="Image 2" descr="/mnt/data/template_inspect/ppt/media/image3.png">
            <a:extLst>
              <a:ext uri="{FF2B5EF4-FFF2-40B4-BE49-F238E27FC236}">
                <a16:creationId xmlns:a16="http://schemas.microsoft.com/office/drawing/2014/main" id="{3D94B6FB-0F52-7571-7CBD-5ACCD3C53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Resultados esperados de aprendizaje 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1600200"/>
          <a:ext cx="14721840" cy="557783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9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6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Capacidad esperada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Transformar los problemas priorizados en objetivos concretos de mejora.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6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Relacionar cada acción propuesta con las causas identificadas durante el diagnóstico.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6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Formular acciones específicas, realistas y verificables.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6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Determinar responsables, recursos y plazos.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6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Establecer indicadores y medios de verificación.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Priorizar acciones considerando su impacto y esfuerzo.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CC388502-6BA3-2D20-62F9-5B3F7D4C289C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10" name="Image 2" descr="/mnt/data/template_inspect/ppt/media/image3.png">
            <a:extLst>
              <a:ext uri="{FF2B5EF4-FFF2-40B4-BE49-F238E27FC236}">
                <a16:creationId xmlns:a16="http://schemas.microsoft.com/office/drawing/2014/main" id="{1FD2F893-4A01-8141-FF8F-7211EA988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Resultados esperados de aprendizaje II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1691640"/>
          <a:ext cx="14721840" cy="5212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9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13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Capacidad esperada</a:t>
                      </a:r>
                      <a:endParaRPr lang="en-US" sz="13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Diferenciar acciones inmediatas, de corto y mediano plazo.</a:t>
                      </a:r>
                      <a:endParaRPr lang="en-US" sz="13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3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Identificar riesgos y condiciones necesarias para la implementación.</a:t>
                      </a:r>
                      <a:endParaRPr lang="en-US" sz="13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3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Incorporar las capacidades y recursos existentes en el propio NAE.</a:t>
                      </a:r>
                      <a:endParaRPr lang="en-US" sz="13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3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Determinar las necesidades de acompañamiento externo.</a:t>
                      </a:r>
                      <a:endParaRPr lang="en-US" sz="13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3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Integrar criterios de género, inclusión, sostenibilidad y ética en la formulación del Plan de Mejora y Acompañamiento.</a:t>
                      </a:r>
                      <a:endParaRPr lang="en-US" sz="13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5355964D-9942-522D-4277-F809356E7C40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9" name="Image 2" descr="/mnt/data/template_inspect/ppt/media/image3.png">
            <a:extLst>
              <a:ext uri="{FF2B5EF4-FFF2-40B4-BE49-F238E27FC236}">
                <a16:creationId xmlns:a16="http://schemas.microsoft.com/office/drawing/2014/main" id="{C5B4E2B2-271A-8FE7-3B6C-89F41889B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Ruta del Módulo 3 por modalidad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1572768"/>
          <a:ext cx="14721840" cy="612648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1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Tema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central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Modalidad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1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Del diagnóstico al Plan de Mejora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Problema priorizado, causas, situación actual y deseada, brecha y objetivos de mejora.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h asincrónica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1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Estructura del Plan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Problema, causa prioritaria, objetivo, resultado esperado, acción, responsable, plazo, recursos, indicador, medio de verificación y apoyo requerido.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h asincrónicas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1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Priorización de acciones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 y esfuerzo; urgencia e importancia; acciones inmediatas; mejoras de corto y mediano plazo; dependencias.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h presencial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1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Viabilidad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Capacidades internas, recursos disponibles, restricciones, riesgos y supuestos, contingencias y sostenibilidad de las acciones.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h asincrónica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1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Articulación de servicios de apoyo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Formación, mentoría, asesoramiento, servicios técnicos especializados, incubación, aceleración, innovación, financiamiento y articulación institucional.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h sincrónica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inspect/ppt/media/image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02A2B">
              <a:alpha val="85000"/>
            </a:srgbClr>
          </a:solidFill>
          <a:ln w="12700">
            <a:solidFill>
              <a:srgbClr val="102A2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4984" y="1901952"/>
            <a:ext cx="2542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C88D2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1014984" y="3300984"/>
            <a:ext cx="758952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4984" y="3557016"/>
            <a:ext cx="11612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DISEÑO DEL PLAN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14984" y="437997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3E1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Del diagnóstico empresarial a objetivos, acciones, indicadores y responsabilidades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4984" y="838504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FD01D23B-CAB2-436F-2DD5-1E56D60B2204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28" name="Image 2" descr="/mnt/data/template_inspect/ppt/media/image3.png">
            <a:extLst>
              <a:ext uri="{FF2B5EF4-FFF2-40B4-BE49-F238E27FC236}">
                <a16:creationId xmlns:a16="http://schemas.microsoft.com/office/drawing/2014/main" id="{AD6891C0-54AA-2353-ADAB-60DB2CF77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Del diagnóstico al Plan de Mejora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58952" y="1828800"/>
            <a:ext cx="2856586" cy="868680"/>
          </a:xfrm>
          <a:prstGeom prst="chevron">
            <a:avLst/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75104"/>
            <a:ext cx="2627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Diagnóstico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empresarial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3725266" y="1828800"/>
            <a:ext cx="2856586" cy="868680"/>
          </a:xfrm>
          <a:prstGeom prst="chevron">
            <a:avLst/>
          </a:prstGeom>
          <a:solidFill>
            <a:srgbClr val="00A3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34994" y="1975104"/>
            <a:ext cx="2627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Problema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priorizado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691579" y="1828800"/>
            <a:ext cx="2856586" cy="868680"/>
          </a:xfrm>
          <a:prstGeom prst="chevron">
            <a:avLst/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01307" y="1975104"/>
            <a:ext cx="2627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Causa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prioritaria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9657893" y="1828800"/>
            <a:ext cx="2856586" cy="868680"/>
          </a:xfrm>
          <a:prstGeom prst="chevron">
            <a:avLst/>
          </a:prstGeom>
          <a:solidFill>
            <a:srgbClr val="00A3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67621" y="1975104"/>
            <a:ext cx="2627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Objetivo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 mejora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12624206" y="1828800"/>
            <a:ext cx="2856586" cy="868680"/>
          </a:xfrm>
          <a:prstGeom prst="chevron">
            <a:avLst/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733934" y="1975104"/>
            <a:ext cx="2627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Plan de acción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medible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758952" y="3246120"/>
            <a:ext cx="7040880" cy="182880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44728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Punto de partida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987552" y="3886200"/>
            <a:ext cx="658368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Recuperar el diagnóstico del M2 y las problemáticas y líneas de base de K03 para seleccionar objetivos y alternativas de mejora.</a:t>
            </a:r>
            <a:endParaRPr lang="en-US" sz="1270" dirty="0"/>
          </a:p>
        </p:txBody>
      </p:sp>
      <p:sp>
        <p:nvSpPr>
          <p:cNvPr id="19" name="Shape 17"/>
          <p:cNvSpPr/>
          <p:nvPr/>
        </p:nvSpPr>
        <p:spPr>
          <a:xfrm>
            <a:off x="8385048" y="3246120"/>
            <a:ext cx="7095744" cy="182880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13648" y="3447288"/>
            <a:ext cx="6638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Producto esperado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8613648" y="3886200"/>
            <a:ext cx="6638544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Plan de Mejora y Acompañamiento viable, priorizado, medible y construido con las personas responsables del NAE.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758952" y="5532120"/>
            <a:ext cx="14721840" cy="123444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5733288"/>
            <a:ext cx="1426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Principio metodológico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987552" y="6172200"/>
            <a:ext cx="142646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diseña un plan “para” el NAE, sino “con” el NAE: la corresponsabilidad aumenta la viabilidad, la apropiación y la sostenibilidad de las acciones.</a:t>
            </a:r>
            <a:endParaRPr lang="en-US" sz="127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4E6F454C-267A-DF08-4ADC-E8707D557A09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10" name="Image 2" descr="/mnt/data/template_inspect/ppt/media/image3.png">
            <a:extLst>
              <a:ext uri="{FF2B5EF4-FFF2-40B4-BE49-F238E27FC236}">
                <a16:creationId xmlns:a16="http://schemas.microsoft.com/office/drawing/2014/main" id="{2A9117DE-6340-C0D9-5FE7-D1CA12C0F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Tema 1 · Del diagnóstico al Plan de Mejora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417320"/>
            <a:ext cx="1435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 virtual asincrónica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1691640"/>
          <a:ext cx="14721840" cy="5303522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7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Elemento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Pregunta guía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Evidencia de práctica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7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Problema priorizado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¿Qué situación limita el desempeño del NAE?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Problema focal definido.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Causas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¿Qué causa explica el problema y puede ser intervenida?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Causa prioritaria seleccionada.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7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Situación actual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¿Cuál es la condición de partida?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de base e indicador de K03.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7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Situación deseada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¿Qué cambio concreto se busca?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esperado acordado con el NAE.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7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Brecha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¿Qué distancia existe entre lo actual y lo deseado?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Brecha de mejora.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7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¿Qué se quiere lograr de manera observable?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 de mejora.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81565507-D111-2CB3-719C-4D75E94A0F4E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10" name="Image 2" descr="/mnt/data/template_inspect/ppt/media/image3.png">
            <a:extLst>
              <a:ext uri="{FF2B5EF4-FFF2-40B4-BE49-F238E27FC236}">
                <a16:creationId xmlns:a16="http://schemas.microsoft.com/office/drawing/2014/main" id="{374AE1D4-8A07-3CB7-92C8-88BF30106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Tema 2 · Estructura del Plan de Mejora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417320"/>
            <a:ext cx="1435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 virtuales asincrónicas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1536192"/>
          <a:ext cx="14721840" cy="635508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6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Definición operativa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Problema / causa prioritaria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Situación y causa sobre la que se actuará.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 de mejora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Cambio concreto que se espera lograr.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esperado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Condición verificable que indica avance o logro.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Actividad específica, realista y verificable.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Responsable y plazo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 o equipo responsable y fecha de cumplimiento.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Recursos disponibles o necesarios para ejecutar.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 y medio de verificación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se medirá y con qué evidencia se comprobará.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Apoyo requerido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Formación, mentoría, asesoría, servicio técnico, financiamiento o articulación.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>
            <a:extLst>
              <a:ext uri="{FF2B5EF4-FFF2-40B4-BE49-F238E27FC236}">
                <a16:creationId xmlns:a16="http://schemas.microsoft.com/office/drawing/2014/main" id="{6EABE8B9-9A6F-8895-FD57-BA6440FDE4DD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22" name="Image 2" descr="/mnt/data/template_inspect/ppt/media/image3.png">
            <a:extLst>
              <a:ext uri="{FF2B5EF4-FFF2-40B4-BE49-F238E27FC236}">
                <a16:creationId xmlns:a16="http://schemas.microsoft.com/office/drawing/2014/main" id="{A1807B9C-20EC-B66B-B707-03F8603EF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Plan de Mejora: síntesis para la práctica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1691640"/>
          <a:ext cx="14721840" cy="16002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Problema / causa prioritaria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 de mejora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Acción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Responsable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Plazo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Recursos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 de verificación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Apoyo requerido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¿Qué se modifica?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¿Qué cambio se busca?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¿Qué se hará?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¿Quién asume?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¿Cuándo?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¿Con qué?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¿Cómo se mide?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¿Con qué evidencia?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¿Qué apoyo externo?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8952" y="3703320"/>
            <a:ext cx="4709160" cy="205740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39044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Trazabilidad</a:t>
            </a:r>
            <a:endParaRPr lang="en-US" sz="1520" dirty="0"/>
          </a:p>
        </p:txBody>
      </p:sp>
      <p:sp>
        <p:nvSpPr>
          <p:cNvPr id="9" name="Text 6"/>
          <p:cNvSpPr/>
          <p:nvPr/>
        </p:nvSpPr>
        <p:spPr>
          <a:xfrm>
            <a:off x="987552" y="4343400"/>
            <a:ext cx="425196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acción responde a una causa identificada y a una prioridad del diagnóstico.</a:t>
            </a:r>
            <a:endParaRPr lang="en-US" sz="1270" dirty="0"/>
          </a:p>
        </p:txBody>
      </p:sp>
      <p:sp>
        <p:nvSpPr>
          <p:cNvPr id="10" name="Shape 7"/>
          <p:cNvSpPr/>
          <p:nvPr/>
        </p:nvSpPr>
        <p:spPr>
          <a:xfrm>
            <a:off x="5779008" y="3703320"/>
            <a:ext cx="4709160" cy="205740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07608" y="39044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Verificación</a:t>
            </a:r>
            <a:endParaRPr lang="en-US" sz="1520" dirty="0"/>
          </a:p>
        </p:txBody>
      </p:sp>
      <p:sp>
        <p:nvSpPr>
          <p:cNvPr id="12" name="Text 9"/>
          <p:cNvSpPr/>
          <p:nvPr/>
        </p:nvSpPr>
        <p:spPr>
          <a:xfrm>
            <a:off x="6007608" y="4343400"/>
            <a:ext cx="425196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indicador debe tener medio de verificación y permitir seguimiento útil.</a:t>
            </a:r>
            <a:endParaRPr lang="en-US" sz="1270" dirty="0"/>
          </a:p>
        </p:txBody>
      </p:sp>
      <p:sp>
        <p:nvSpPr>
          <p:cNvPr id="13" name="Shape 10"/>
          <p:cNvSpPr/>
          <p:nvPr/>
        </p:nvSpPr>
        <p:spPr>
          <a:xfrm>
            <a:off x="10799064" y="3703320"/>
            <a:ext cx="4681728" cy="205740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027664" y="3904488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Corresponsabilidad</a:t>
            </a:r>
            <a:endParaRPr lang="en-US" sz="1520" dirty="0"/>
          </a:p>
        </p:txBody>
      </p:sp>
      <p:sp>
        <p:nvSpPr>
          <p:cNvPr id="6" name="Text 12"/>
          <p:cNvSpPr/>
          <p:nvPr/>
        </p:nvSpPr>
        <p:spPr>
          <a:xfrm>
            <a:off x="11027664" y="4343400"/>
            <a:ext cx="4224528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Responsables, apoyos y plazos se acuerdan con el NAE, no se imponen externamente.</a:t>
            </a:r>
            <a:endParaRPr lang="en-US" sz="1270" dirty="0"/>
          </a:p>
        </p:txBody>
      </p:sp>
      <p:sp>
        <p:nvSpPr>
          <p:cNvPr id="16" name="Shape 13"/>
          <p:cNvSpPr/>
          <p:nvPr/>
        </p:nvSpPr>
        <p:spPr>
          <a:xfrm>
            <a:off x="758952" y="6263640"/>
            <a:ext cx="14721840" cy="77724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" y="6464808"/>
            <a:ext cx="1426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Uso recomendado</a:t>
            </a:r>
            <a:endParaRPr lang="en-US" sz="1520" dirty="0"/>
          </a:p>
        </p:txBody>
      </p:sp>
      <p:sp>
        <p:nvSpPr>
          <p:cNvPr id="18" name="Text 15"/>
          <p:cNvSpPr/>
          <p:nvPr/>
        </p:nvSpPr>
        <p:spPr>
          <a:xfrm>
            <a:off x="987552" y="6783720"/>
            <a:ext cx="14264640" cy="24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síntesis orienta la práctica. K03 aporta prioridades y línea de base; K04.1 estructura los proyectos y K04.2 organiza su ejecución.</a:t>
            </a:r>
            <a:endParaRPr lang="en-US" sz="127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>
            <a:extLst>
              <a:ext uri="{FF2B5EF4-FFF2-40B4-BE49-F238E27FC236}">
                <a16:creationId xmlns:a16="http://schemas.microsoft.com/office/drawing/2014/main" id="{E2E1BB67-B843-D1D7-ECA6-F0EEF8CB8A96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20" name="Image 2" descr="/mnt/data/template_inspect/ppt/media/image3.png">
            <a:extLst>
              <a:ext uri="{FF2B5EF4-FFF2-40B4-BE49-F238E27FC236}">
                <a16:creationId xmlns:a16="http://schemas.microsoft.com/office/drawing/2014/main" id="{28D9DFAE-D2D0-9E53-C3AD-96C048C42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Tema 3 · Priorización de acciones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417320"/>
            <a:ext cx="1435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 presencial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58952" y="1691640"/>
            <a:ext cx="4709160" cy="210312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8928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Impacto y esfuerzo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87552" y="2331720"/>
            <a:ext cx="42519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Seleccionar acciones con mayor potencial de mejora y nivel de esfuerzo manejable para el NAE.</a:t>
            </a:r>
            <a:endParaRPr lang="en-US" sz="1270" dirty="0"/>
          </a:p>
        </p:txBody>
      </p:sp>
      <p:sp>
        <p:nvSpPr>
          <p:cNvPr id="10" name="Shape 8"/>
          <p:cNvSpPr/>
          <p:nvPr/>
        </p:nvSpPr>
        <p:spPr>
          <a:xfrm>
            <a:off x="5779008" y="1691640"/>
            <a:ext cx="4709160" cy="210312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07608" y="18928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Urgencia e importancia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6007608" y="2331720"/>
            <a:ext cx="42519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Distinguir acciones críticas inmediatas de mejoras de corto y mediano plazo.</a:t>
            </a:r>
            <a:endParaRPr lang="en-US" sz="1270" dirty="0"/>
          </a:p>
        </p:txBody>
      </p:sp>
      <p:sp>
        <p:nvSpPr>
          <p:cNvPr id="13" name="Shape 11"/>
          <p:cNvSpPr/>
          <p:nvPr/>
        </p:nvSpPr>
        <p:spPr>
          <a:xfrm>
            <a:off x="10799064" y="1691640"/>
            <a:ext cx="4681728" cy="210312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27664" y="1892808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Dependencias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11027664" y="2331720"/>
            <a:ext cx="4224528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Ordenar acciones considerando qué debe ocurrir primero para que otras mejoras sean viables.</a:t>
            </a:r>
            <a:endParaRPr lang="en-US" sz="127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4343400"/>
          <a:ext cx="14721840" cy="292608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de acción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 de decisión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Tratamiento sugerido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 impacto / bajo esfuerzo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Beneficio rápido y factible.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Priorizar como acción inmediata.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 impacto / alto esfuerzo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Beneficio relevante, requiere recursos.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Planificar por fases y buscar apoyo.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 impacto / bajo esfuerzo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Mejora menor, fácil de ejecutar.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Ejecutar si no desplaza acciones críticas.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 impacto / alto esfuerzo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Costo alto y poco beneficio.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Postergar, rediseñar o descartar.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>
            <a:extLst>
              <a:ext uri="{FF2B5EF4-FFF2-40B4-BE49-F238E27FC236}">
                <a16:creationId xmlns:a16="http://schemas.microsoft.com/office/drawing/2014/main" id="{4DE132CD-6796-CDAC-416C-DC7F810F139F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Matriz impacto–esfuerzo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194560" y="6309360"/>
            <a:ext cx="11704320" cy="0"/>
          </a:xfrm>
          <a:prstGeom prst="line">
            <a:avLst/>
          </a:prstGeom>
          <a:noFill/>
          <a:ln w="15240">
            <a:solidFill>
              <a:srgbClr val="002F4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43200" y="6675120"/>
            <a:ext cx="0" cy="0"/>
          </a:xfrm>
          <a:prstGeom prst="line">
            <a:avLst/>
          </a:prstGeom>
          <a:noFill/>
          <a:ln w="15240">
            <a:solidFill>
              <a:srgbClr val="002F4E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589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Esfuerzo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 rot="16200000">
            <a:off x="118872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Impacto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08960" y="1828800"/>
            <a:ext cx="4937760" cy="1828800"/>
          </a:xfrm>
          <a:prstGeom prst="roundRect">
            <a:avLst/>
          </a:prstGeom>
          <a:solidFill>
            <a:srgbClr val="DCEFE6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0299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Priorizar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3337560" y="2468880"/>
            <a:ext cx="448056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impacto / bajo esfuerzo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Acciones inmediatas o de corto plazo.</a:t>
            </a:r>
            <a:endParaRPr lang="en-US" sz="1270" dirty="0"/>
          </a:p>
        </p:txBody>
      </p:sp>
      <p:sp>
        <p:nvSpPr>
          <p:cNvPr id="13" name="Shape 11"/>
          <p:cNvSpPr/>
          <p:nvPr/>
        </p:nvSpPr>
        <p:spPr>
          <a:xfrm>
            <a:off x="8595360" y="1828800"/>
            <a:ext cx="4937760" cy="1828800"/>
          </a:xfrm>
          <a:prstGeom prst="roundRect">
            <a:avLst/>
          </a:prstGeom>
          <a:solidFill>
            <a:srgbClr val="E7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23960" y="20299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Planificar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8823960" y="2468880"/>
            <a:ext cx="448056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impacto / alto esfuerzo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Dividir en fases, buscar recursos y alianzas.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3108960" y="4251960"/>
            <a:ext cx="4937760" cy="1828800"/>
          </a:xfrm>
          <a:prstGeom prst="roundRect">
            <a:avLst/>
          </a:prstGeom>
          <a:solidFill>
            <a:srgbClr val="F6F4EE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44531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Ejecutar si aporta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3337560" y="4892040"/>
            <a:ext cx="448056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 impacto / bajo esfuerzo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solo si complementa prioridades.</a:t>
            </a:r>
            <a:endParaRPr lang="en-US" sz="1270" dirty="0"/>
          </a:p>
        </p:txBody>
      </p:sp>
      <p:sp>
        <p:nvSpPr>
          <p:cNvPr id="19" name="Shape 17"/>
          <p:cNvSpPr/>
          <p:nvPr/>
        </p:nvSpPr>
        <p:spPr>
          <a:xfrm>
            <a:off x="8595360" y="4251960"/>
            <a:ext cx="4937760" cy="1828800"/>
          </a:xfrm>
          <a:prstGeom prst="roundRect">
            <a:avLst/>
          </a:prstGeom>
          <a:solidFill>
            <a:srgbClr val="F5E9E5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23960" y="44531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Postergar o rediseñar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8823960" y="4892040"/>
            <a:ext cx="448056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 impacto / alto esfuerzo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consumir recursos críticos.</a:t>
            </a:r>
            <a:endParaRPr lang="en-US" sz="1270" dirty="0"/>
          </a:p>
        </p:txBody>
      </p:sp>
      <p:pic>
        <p:nvPicPr>
          <p:cNvPr id="25" name="Image 2" descr="/mnt/data/template_inspect/ppt/media/image3.png">
            <a:extLst>
              <a:ext uri="{FF2B5EF4-FFF2-40B4-BE49-F238E27FC236}">
                <a16:creationId xmlns:a16="http://schemas.microsoft.com/office/drawing/2014/main" id="{304EDC5E-EF93-1AEC-E027-E85C040609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8AF5A769-CE32-99BE-7234-8E6820107A8C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16" name="Image 2" descr="/mnt/data/template_inspect/ppt/media/image3.png">
            <a:extLst>
              <a:ext uri="{FF2B5EF4-FFF2-40B4-BE49-F238E27FC236}">
                <a16:creationId xmlns:a16="http://schemas.microsoft.com/office/drawing/2014/main" id="{9DF9869B-0B17-1E49-5A1A-2712D2AF55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Tema 4 · Viabilidad del plan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417320"/>
            <a:ext cx="1435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 virtual asincrónica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58952" y="1691640"/>
            <a:ext cx="7040880" cy="525780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89280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Factores de viabilidad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87552" y="2331720"/>
            <a:ext cx="6583680" cy="4453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Capacidades internas del NAE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Recursos disponibles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Restricciones operativas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Riesgos y supuestos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Contingencias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Sostenibilidad de las acciones</a:t>
            </a:r>
            <a:endParaRPr lang="en-US" sz="1270" dirty="0"/>
          </a:p>
        </p:txBody>
      </p:sp>
      <p:sp>
        <p:nvSpPr>
          <p:cNvPr id="10" name="Shape 8"/>
          <p:cNvSpPr/>
          <p:nvPr/>
        </p:nvSpPr>
        <p:spPr>
          <a:xfrm>
            <a:off x="8385048" y="1691640"/>
            <a:ext cx="7095744" cy="525780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13648" y="1892808"/>
            <a:ext cx="6638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Preguntas de control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8613648" y="2331720"/>
            <a:ext cx="6638544" cy="4453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¿La acción puede ejecutarse con los recursos actuales?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¿Qué condición debe cumplirse para avanzar?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¿Qué riesgo puede impedir la implementación?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¿Qué alternativa se activa si falla la conectividad, energía o logística?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¿La acción puede sostenerse después del acompañamiento?</a:t>
            </a:r>
            <a:endParaRPr lang="en-US" sz="127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>
            <a:extLst>
              <a:ext uri="{FF2B5EF4-FFF2-40B4-BE49-F238E27FC236}">
                <a16:creationId xmlns:a16="http://schemas.microsoft.com/office/drawing/2014/main" id="{35C8F5B6-A7EE-119D-198F-06CAE9FC0BB2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13" name="Image 2" descr="/mnt/data/template_inspect/ppt/media/image3.png">
            <a:extLst>
              <a:ext uri="{FF2B5EF4-FFF2-40B4-BE49-F238E27FC236}">
                <a16:creationId xmlns:a16="http://schemas.microsoft.com/office/drawing/2014/main" id="{6C695BAD-9257-65BA-0060-1451FE889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Tema 5 · Articulación de servicios de apoyo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417320"/>
            <a:ext cx="1435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 virtual sincrónica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1691640"/>
          <a:ext cx="14721840" cy="489204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5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Servicio de apoyo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corresponde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Formación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Existe una brecha de capacidades que puede abordarse mediante aprendizaje estructurado.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Mentoría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requiere acompañar decisiones, opciones, compromisos y autonomía de gestión.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Asesoramiento / asistencia técnica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necesita conocimiento especializado para resolver un problema específico.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Incubación / aceleración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NAE requiere apoyo intensivo para estructurar o escalar el modelo de negocio.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Innovación / financiamiento / articulación institucional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mejora requiere nuevos procesos, recursos, alianzas, acceso a instrumentos o vínculo territorial.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58952" y="6903720"/>
            <a:ext cx="14721840" cy="82296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7104888"/>
            <a:ext cx="1426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Referencia territorial</a:t>
            </a:r>
            <a:endParaRPr lang="en-US" sz="1520" dirty="0"/>
          </a:p>
        </p:txBody>
      </p:sp>
      <p:sp>
        <p:nvSpPr>
          <p:cNvPr id="10" name="Text 7"/>
          <p:cNvSpPr/>
          <p:nvPr/>
        </p:nvSpPr>
        <p:spPr>
          <a:xfrm>
            <a:off x="987552" y="7423800"/>
            <a:ext cx="14264640" cy="24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PADIT es pertinente por su énfasis en capacidades territoriales, diversificación de actores, desarrollo económico local, inclusión y sostenibilidad.</a:t>
            </a:r>
            <a:endParaRPr lang="en-US" sz="127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inspect/ppt/media/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02A2B">
              <a:alpha val="85000"/>
            </a:srgbClr>
          </a:solidFill>
          <a:ln w="12700">
            <a:solidFill>
              <a:srgbClr val="102A2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4984" y="1901952"/>
            <a:ext cx="2542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C88D2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1014984" y="3300984"/>
            <a:ext cx="758952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4984" y="3557016"/>
            <a:ext cx="11612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HERRAMIENTAS DEL MÓDULO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14984" y="437997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3E1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Plantillas, línea base, perfiles de proyecto, cronograma y control de calidad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4984" y="838504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EE06B2EF-25B8-001C-0FEE-DF87EF084AE3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9" name="Image 2" descr="/mnt/data/template_inspect/ppt/media/image3.png">
            <a:extLst>
              <a:ext uri="{FF2B5EF4-FFF2-40B4-BE49-F238E27FC236}">
                <a16:creationId xmlns:a16="http://schemas.microsoft.com/office/drawing/2014/main" id="{C8B91640-4D5D-C7C6-AB7E-1FB1A1CE31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Herramientas principales del Módulo 3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1691640"/>
          <a:ext cx="14721840" cy="544068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9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6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Herramienta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en el módulo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6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K03 · Problemática Jerarquizada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Recupera problemáticas priorizadas, líneas de base e indicadores. Permite acordar valores esperados y comparar resultados posteriormente.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6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K04.1 · Perfiles de Proyecto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Estructura oportunidad de mejora, objetivo, indicadores, alcance, actividades, tiempos, recursos y apoyos.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6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K04.2 · Plan de Mejora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 proyectos, responsables, apoyos, presupuesto y cronograma. Desagrega actividades y tareas para su seguimiento.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6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K08 · Modelo de Negocio de Impacto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Complementario, solo cuando las necesidades identificadas justifiquen revisar el modelo, la propuesta de valor, el mercado o la sostenibilidad.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6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Selección según necesidades y territorio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Referentes CVI/PNUD complementarios. No imponen una secuencia rígida ni sustituyen arquitectura, competencias, productos o evaluación del FdF-NAE.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356835EB-548C-5873-CC68-A438A194FF05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9" name="Image 2" descr="/mnt/data/template_inspect/ppt/media/image3.png">
            <a:extLst>
              <a:ext uri="{FF2B5EF4-FFF2-40B4-BE49-F238E27FC236}">
                <a16:creationId xmlns:a16="http://schemas.microsoft.com/office/drawing/2014/main" id="{4DCA53F5-2BD2-06E7-4671-10C3FC773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K03 · Problemática Jerarquizada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1508760"/>
          <a:ext cx="14721840" cy="621791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82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Función dentro del Plan de Mejora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82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Problemática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Describe un impacto negativo para la operación del negocio. De una problemática pueden derivarse varias líneas base.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82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de base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Describe la situación actual de la problemática. Cada línea base debe tener un indicador cualitativo o cuantitativo.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82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Permite medir la línea base y comparar avances posteriores.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82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inicial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de partida sustentado en evidencias, con período y unidad definidos.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82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esperado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acordada con el NAE, coherente con objetivos, recursos y capacidades.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82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final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registra tras implementar el Plan de Mejora y se compara con el valor inicial y el esperado.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2C49E015-98C6-0F81-E97D-01F28F6E4D2C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K04.1 · Perfiles de Proyecto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58952" y="1691640"/>
            <a:ext cx="14721840" cy="77724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892808"/>
            <a:ext cx="1426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Propósito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987552" y="2211720"/>
            <a:ext cx="14264640" cy="24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una oportunidad de mejora priorizada. El perfil se integra en el Plan de Mejora, sin constituir un producto evaluativo adicional.</a:t>
            </a:r>
            <a:endParaRPr lang="en-US" sz="127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2788920"/>
          <a:ext cx="14721840" cy="39776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Campos principales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Identificación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No./Nombre del proyecto; oportunidad de mejora a la que responde.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Diseño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 del proyecto; indicadores de éxito; alcance e impacto.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Planificación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Tiempos; actividades; entregables del proyecto; recursos.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Apoyo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Instrumentos o programas de apoyo a considerar.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Medición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de base e indicador vinculados a K03. Valores inicial y esperado; final tras implementar.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Image 2" descr="/mnt/data/template_inspect/ppt/media/image3.png">
            <a:extLst>
              <a:ext uri="{FF2B5EF4-FFF2-40B4-BE49-F238E27FC236}">
                <a16:creationId xmlns:a16="http://schemas.microsoft.com/office/drawing/2014/main" id="{89229021-D242-C78A-E465-77CB96AC3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7AF86861-DAA3-9267-42A5-5C06A83E9A77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12" name="Image 2" descr="/mnt/data/template_inspect/ppt/media/image3.png">
            <a:extLst>
              <a:ext uri="{FF2B5EF4-FFF2-40B4-BE49-F238E27FC236}">
                <a16:creationId xmlns:a16="http://schemas.microsoft.com/office/drawing/2014/main" id="{6BB09145-3AA7-0A8D-949B-D3DB29453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K04.2 · Plan de Mejora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1691640"/>
          <a:ext cx="14721840" cy="5303522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7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Componente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operativo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7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Hoja General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 proyectos priorizados, responsable principal, apoyos, presupuesto y cronograma.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Responsable principal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 responsable de coordinar la ejecución.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7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Programas o instituciones de apoyo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Actores externos que pueden aportar asistencia, financiamiento, mentoría o servicios técnicos.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7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Presupuesto USD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Estimación de recursos financieros para la implementación.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7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Cronograma Mes 1–Mes 8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del formato. Acordar fechas según el NAE; los ocho meses no fijan la duración del Programa.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7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Proyecto 1 / Proyecto 2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Desagrega actividades y tareas, responsables, semanas, P (programado), R (real) y porcentaje de avance.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8952" y="7178040"/>
            <a:ext cx="14721840" cy="68580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7379208"/>
            <a:ext cx="1426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Criterio de uso</a:t>
            </a:r>
            <a:endParaRPr lang="en-US" sz="1520" dirty="0"/>
          </a:p>
        </p:txBody>
      </p:sp>
      <p:sp>
        <p:nvSpPr>
          <p:cNvPr id="9" name="Text 6"/>
          <p:cNvSpPr/>
          <p:nvPr/>
        </p:nvSpPr>
        <p:spPr>
          <a:xfrm>
            <a:off x="987552" y="7618120"/>
            <a:ext cx="14264640" cy="24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M3 se programa la ejecución. En M4 se registra el avance real con evidencias, manteniendo el vínculo con K03 y K04.2.</a:t>
            </a:r>
            <a:endParaRPr lang="en-US" sz="127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B3370C0D-5BEC-388D-6743-1E72582DE221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9" name="Image 2" descr="/mnt/data/template_inspect/ppt/media/image3.png">
            <a:extLst>
              <a:ext uri="{FF2B5EF4-FFF2-40B4-BE49-F238E27FC236}">
                <a16:creationId xmlns:a16="http://schemas.microsoft.com/office/drawing/2014/main" id="{2A34C973-3D82-77C1-B93E-482937C59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Lista de cotejo para revisar el Plan de Mejora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1691640"/>
          <a:ext cx="14721840" cy="534924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86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Pregunta de verificación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Coherencia causal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¿Cada acción responde a una causa identificada?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 claro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¿Los objetivos describen un cambio concreto?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Responsabilidad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¿Hay responsables y plazos definidos?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Viabilidad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¿Los recursos y restricciones fueron considerados?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Medición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¿Los indicadores tienen línea de base, meta y medio de verificación?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Apoyo externo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¿Se identifican apoyos externos cuando son necesarios?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Participación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4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¿El NAE participó? ¿Se integraron género, inclusión, sostenibilidad y ética?</a:t>
                      </a:r>
                      <a:endParaRPr lang="en-US" sz="12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inspect/ppt/media/image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02A2B">
              <a:alpha val="85000"/>
            </a:srgbClr>
          </a:solidFill>
          <a:ln w="12700">
            <a:solidFill>
              <a:srgbClr val="102A2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4984" y="1901952"/>
            <a:ext cx="2542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C88D2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1014984" y="3300984"/>
            <a:ext cx="758952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4984" y="3557016"/>
            <a:ext cx="11612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TALLER PRESENCIAL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14984" y="437997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3E1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Priorización y construcción del plan de mejora en 60 minutos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4984" y="838504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E3C1E71B-EFE3-8783-4722-E2BAFB752BF0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12" name="Image 2" descr="/mnt/data/template_inspect/ppt/media/image3.png">
            <a:extLst>
              <a:ext uri="{FF2B5EF4-FFF2-40B4-BE49-F238E27FC236}">
                <a16:creationId xmlns:a16="http://schemas.microsoft.com/office/drawing/2014/main" id="{D96D7709-8CC5-9D46-E729-4ABB30208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Secuencia didáctica recomendada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1691640"/>
          <a:ext cx="14721840" cy="50292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Momento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Acción del facilitador/a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Acción de participantes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Evidencia de práctica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Puente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Recuperar causas del diagnóstico y prioridades de K03.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Seleccionar problema y causa de trabajo.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Problema focal.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Construcción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Modelar el perfil K04.1 y su articulación con K04.2.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Definir objetivo, acciones, responsables, plazos, recursos e indicadores.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Borrador de plan.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Priorización presencial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Facilitar matriz impacto–esfuerzo.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Ordenar acciones y dependencias.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Secuencia priorizada.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Revisión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Aplicar prueba de viabilidad, coherencia y transversalidad.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Revisar entre pares causas, recursos, riesgos, género, inclusión, sostenibilidad y ética.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ajustado.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8952" y="7040880"/>
            <a:ext cx="14721840" cy="77724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7242048"/>
            <a:ext cx="1426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Criterio metodológico</a:t>
            </a:r>
            <a:endParaRPr lang="en-US" sz="1520" dirty="0"/>
          </a:p>
        </p:txBody>
      </p:sp>
      <p:sp>
        <p:nvSpPr>
          <p:cNvPr id="9" name="Text 6"/>
          <p:cNvSpPr/>
          <p:nvPr/>
        </p:nvSpPr>
        <p:spPr>
          <a:xfrm>
            <a:off x="987552" y="7560960"/>
            <a:ext cx="14264640" cy="24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práctica presencial se concentra en priorizar, construir, revisar y retroalimentar; no en exposición teórica extensa.</a:t>
            </a:r>
            <a:endParaRPr lang="en-US" sz="127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7055C563-0A8F-3F45-40CE-6DF02AE01B98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12" name="Image 2" descr="/mnt/data/template_inspect/ppt/media/image3.png">
            <a:extLst>
              <a:ext uri="{FF2B5EF4-FFF2-40B4-BE49-F238E27FC236}">
                <a16:creationId xmlns:a16="http://schemas.microsoft.com/office/drawing/2014/main" id="{0EE798C7-4D32-819D-2A8F-9DF783C03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Agenda operativa del taller presencial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1691640"/>
          <a:ext cx="14721840" cy="46634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Tiempo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Momento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Orientación operativa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0–10 min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Recuperar el diagnóstico y K03. Seleccionar una causa prioritaria.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10–25 min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Diseño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Formular objetivo, resultado y acciones con K04.1 para organizar el plan en K04.2.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25–40 min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Priorización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Ubicar acciones en matriz impacto–esfuerzo y ordenar dependencias.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40–50 min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Viabilidad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Revisar recursos, riesgos, capacidades internas y apoyo externo.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50–60 min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Cierre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Validar indicador, responsable y plazo. Retroalimentar y acordar revisión.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8952" y="6720840"/>
            <a:ext cx="14721840" cy="91440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6922008"/>
            <a:ext cx="1426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Evidencia de práctica para el Producto 2</a:t>
            </a:r>
            <a:endParaRPr lang="en-US" sz="1520" dirty="0"/>
          </a:p>
        </p:txBody>
      </p:sp>
      <p:sp>
        <p:nvSpPr>
          <p:cNvPr id="9" name="Text 6"/>
          <p:cNvSpPr/>
          <p:nvPr/>
        </p:nvSpPr>
        <p:spPr>
          <a:xfrm>
            <a:off x="987552" y="7240920"/>
            <a:ext cx="14264640" cy="24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del Plan de Mejora priorizado y verificable. Recibe retroalimentación y se integra en el producto del Portafolio, según el hito previsto.</a:t>
            </a:r>
            <a:endParaRPr lang="en-US" sz="127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>
            <a:extLst>
              <a:ext uri="{FF2B5EF4-FFF2-40B4-BE49-F238E27FC236}">
                <a16:creationId xmlns:a16="http://schemas.microsoft.com/office/drawing/2014/main" id="{D22D7B32-00DB-D0DF-D494-1A5B85430445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21" name="Image 2" descr="/mnt/data/template_inspect/ppt/media/image3.png">
            <a:extLst>
              <a:ext uri="{FF2B5EF4-FFF2-40B4-BE49-F238E27FC236}">
                <a16:creationId xmlns:a16="http://schemas.microsoft.com/office/drawing/2014/main" id="{E861E59D-C210-428E-49B8-E8A2A4634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Preguntas detonadoras para facilitar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58952" y="1691640"/>
            <a:ext cx="4709160" cy="187452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8928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Causalidad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987552" y="2331720"/>
            <a:ext cx="4251960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causa prioritaria pretende modificar esta acción?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causa modifica esta acción?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5779008" y="1691640"/>
            <a:ext cx="4709160" cy="187452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07608" y="18928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Viabilidad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6007608" y="2331720"/>
            <a:ext cx="4251960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 viable con los recursos y capacidades actuales del NAE?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puede asumirla realmente?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10799064" y="1691640"/>
            <a:ext cx="4681728" cy="187452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27664" y="1892808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Medición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1027664" y="2331720"/>
            <a:ext cx="4224528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sabremos que la acción se ejecutó y produjo el cambio esperado?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sabremos que avanzó?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758952" y="4160520"/>
            <a:ext cx="14721840" cy="137160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361688"/>
            <a:ext cx="1426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Uso del facilitador/a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987552" y="4800600"/>
            <a:ext cx="142646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preguntas deben ayudar a que el equipo pase de una lista de ideas a un conjunto de decisiones trazables, verificables y asumidas por responsables concretos.</a:t>
            </a:r>
            <a:endParaRPr lang="en-US" sz="127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0E3C62C7-2465-AEEE-8304-8AA02932706C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28" name="Image 2" descr="/mnt/data/template_inspect/ppt/media/image3.png">
            <a:extLst>
              <a:ext uri="{FF2B5EF4-FFF2-40B4-BE49-F238E27FC236}">
                <a16:creationId xmlns:a16="http://schemas.microsoft.com/office/drawing/2014/main" id="{F5E41022-1D52-8904-A1DB-797AB336E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Retroalimentación del diseño del Plan de Mejora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58952" y="1828800"/>
            <a:ext cx="2856586" cy="868680"/>
          </a:xfrm>
          <a:prstGeom prst="chevron">
            <a:avLst/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75104"/>
            <a:ext cx="2627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Evidencia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observada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3725266" y="1828800"/>
            <a:ext cx="2856586" cy="868680"/>
          </a:xfrm>
          <a:prstGeom prst="chevron">
            <a:avLst/>
          </a:prstGeom>
          <a:solidFill>
            <a:srgbClr val="00A3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34994" y="1975104"/>
            <a:ext cx="2627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Criterio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relacionado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691579" y="1828800"/>
            <a:ext cx="2856586" cy="868680"/>
          </a:xfrm>
          <a:prstGeom prst="chevron">
            <a:avLst/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01307" y="1975104"/>
            <a:ext cx="2627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Logro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identificado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9657893" y="1828800"/>
            <a:ext cx="2856586" cy="868680"/>
          </a:xfrm>
          <a:prstGeom prst="chevron">
            <a:avLst/>
          </a:prstGeom>
          <a:solidFill>
            <a:srgbClr val="00A3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67621" y="1975104"/>
            <a:ext cx="2627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Prioridad de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mejora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12624206" y="1828800"/>
            <a:ext cx="2856586" cy="868680"/>
          </a:xfrm>
          <a:prstGeom prst="chevron">
            <a:avLst/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733934" y="1975104"/>
            <a:ext cx="2627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Acción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concreta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758952" y="3337560"/>
            <a:ext cx="7040880" cy="214884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53872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Retroalimentación útil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987552" y="3977640"/>
            <a:ext cx="6583680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 referirse a evidencias observables, comenzar por logros, señalar una o dos prioridades y cerrar con una acción concreta de revisión.</a:t>
            </a:r>
            <a:endParaRPr lang="en-US" sz="1270" dirty="0"/>
          </a:p>
        </p:txBody>
      </p:sp>
      <p:sp>
        <p:nvSpPr>
          <p:cNvPr id="19" name="Shape 17"/>
          <p:cNvSpPr/>
          <p:nvPr/>
        </p:nvSpPr>
        <p:spPr>
          <a:xfrm>
            <a:off x="8385048" y="3337560"/>
            <a:ext cx="7095744" cy="214884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13648" y="3538728"/>
            <a:ext cx="6638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Revisión del plan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8613648" y="3977640"/>
            <a:ext cx="6638544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corresponda, utilizar rúbrica o lista de cotejo y permitir una versión ajustada del producto.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758952" y="5989320"/>
            <a:ext cx="14721840" cy="91440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6190488"/>
            <a:ext cx="1426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Cuatro productos integradores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987552" y="6509400"/>
            <a:ext cx="14264640" cy="24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empresarial integral; Plan de Mejora; Evaluación del Plan de Mejora; Diseño de réplica territorial (K10 Plan de Multiplicación Territorial).</a:t>
            </a:r>
            <a:endParaRPr lang="en-US" sz="127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7BA9140A-393A-D533-8C48-BB05DA9DB11C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12" name="Image 2" descr="/mnt/data/template_inspect/ppt/media/image3.png">
            <a:extLst>
              <a:ext uri="{FF2B5EF4-FFF2-40B4-BE49-F238E27FC236}">
                <a16:creationId xmlns:a16="http://schemas.microsoft.com/office/drawing/2014/main" id="{FE50EAE7-22D6-2A48-816D-D1BE8C232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Criterios para retroalimentar el Plan de Mejora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1691640"/>
          <a:ext cx="14721840" cy="452628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Desempeño esperado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Coherencia causal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acciones responden directamente a causas priorizadas.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Especificidad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Objetivos y acciones son claros y verificables.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Viabilidad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 recursos, restricciones, riesgos y contingencias.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Indicadores y evidencias permiten seguimiento útil.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Corresponsabilidad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Responsables y apoyos están claramente acordados.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8952" y="6629400"/>
            <a:ext cx="14721840" cy="96012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6830568"/>
            <a:ext cx="1426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Uso sugerido</a:t>
            </a:r>
            <a:endParaRPr lang="en-US" sz="1520" dirty="0"/>
          </a:p>
        </p:txBody>
      </p:sp>
      <p:sp>
        <p:nvSpPr>
          <p:cNvPr id="9" name="Text 6"/>
          <p:cNvSpPr/>
          <p:nvPr/>
        </p:nvSpPr>
        <p:spPr>
          <a:xfrm>
            <a:off x="987552" y="7269480"/>
            <a:ext cx="1426464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Orientan la revisión del Producto 2. Los ejercicios, perfiles y matrices aportan evidencias de práctica, sin calificaciones adicionales.</a:t>
            </a:r>
            <a:endParaRPr lang="en-US" sz="127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>
            <a:extLst>
              <a:ext uri="{FF2B5EF4-FFF2-40B4-BE49-F238E27FC236}">
                <a16:creationId xmlns:a16="http://schemas.microsoft.com/office/drawing/2014/main" id="{E124CB57-6A16-CFC9-8BEC-0237FDEE702C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21" name="Image 2" descr="/mnt/data/template_inspect/ppt/media/image3.png">
            <a:extLst>
              <a:ext uri="{FF2B5EF4-FFF2-40B4-BE49-F238E27FC236}">
                <a16:creationId xmlns:a16="http://schemas.microsoft.com/office/drawing/2014/main" id="{E6C58740-86B8-980D-0DCA-ED614FDCD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Alertas pedagógicas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58952" y="1691640"/>
            <a:ext cx="4709160" cy="210312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8928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Acciones sin causa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987552" y="2331720"/>
            <a:ext cx="42519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planes con acciones desconectadas de las causas identificadas en el diagnóstico.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5779008" y="1691640"/>
            <a:ext cx="4709160" cy="210312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07608" y="18928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Indicadores débiles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6007608" y="2331720"/>
            <a:ext cx="42519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indicadores vagos, imposibles de verificar o sin fuente de evidencia.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10799064" y="1691640"/>
            <a:ext cx="4681728" cy="210312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27664" y="1892808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Plan impuesto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1027664" y="2331720"/>
            <a:ext cx="4224528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diseñar el plan “para” el NAE sin participación de sus responsables.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758952" y="4343400"/>
            <a:ext cx="14721840" cy="146304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544568"/>
            <a:ext cx="1426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Riesgo central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987552" y="4983480"/>
            <a:ext cx="142646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plan de mejora mal formulado puede verse ordenado, pero no generar cambios si no modifica causas, no tiene responsables reales o no puede medirse.</a:t>
            </a:r>
            <a:endParaRPr lang="en-US" sz="127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16B64E12-B391-232B-E9FD-819E61A2B38C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12" name="Image 2" descr="/mnt/data/template_inspect/ppt/media/image3.png">
            <a:extLst>
              <a:ext uri="{FF2B5EF4-FFF2-40B4-BE49-F238E27FC236}">
                <a16:creationId xmlns:a16="http://schemas.microsoft.com/office/drawing/2014/main" id="{58375D39-BAD2-365C-B70D-B30A2687E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Adaptación a baja conectividad o interrupciones energéticas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1691640"/>
          <a:ext cx="14721840" cy="429768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Riesgo operativo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Alternativa metodológica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Conectividad inestable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Usar K03, K04.1 y K04.2 descargados o impresos; permitir entrega fotografiada o posterior.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Falla eléctrica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Realizar priorización con tarjetas físicas, papelógrafo o fichas impresas.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proyector o dispositivos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Modelar la estructura del plan en pizarra, hojas grandes o copias impresas.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Limitaciones de datos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Recuperar la línea de base de K03. Anotar datos faltantes y fuentes por consultar, sin inventar valores.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8952" y="6446520"/>
            <a:ext cx="14721840" cy="86868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6647688"/>
            <a:ext cx="1426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Principio</a:t>
            </a:r>
            <a:endParaRPr lang="en-US" sz="1520" dirty="0"/>
          </a:p>
        </p:txBody>
      </p:sp>
      <p:sp>
        <p:nvSpPr>
          <p:cNvPr id="9" name="Text 6"/>
          <p:cNvSpPr/>
          <p:nvPr/>
        </p:nvSpPr>
        <p:spPr>
          <a:xfrm>
            <a:off x="987552" y="6966600"/>
            <a:ext cx="14264640" cy="24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adaptación puede cambiar el recurso, pero no debe alterar la competencia, el resultado de aprendizaje ni la evidencia esperada.</a:t>
            </a:r>
            <a:endParaRPr lang="en-US" sz="127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inspect/ppt/media/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02A2B">
              <a:alpha val="85000"/>
            </a:srgbClr>
          </a:solidFill>
          <a:ln w="12700">
            <a:solidFill>
              <a:srgbClr val="102A2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4984" y="1901952"/>
            <a:ext cx="2542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C88D2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1014984" y="3300984"/>
            <a:ext cx="758952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4984" y="3557016"/>
            <a:ext cx="11612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EVALUACIÓN Y CIERRE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14984" y="437997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3E1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Evidencias, portafolio, transversalidad, bibliografía y continuidad hacia el Módulo 4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4984" y="838504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01A0A1EE-BC04-B317-8AE0-FC674D462BF1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12" name="Image 2" descr="/mnt/data/template_inspect/ppt/media/image3.png">
            <a:extLst>
              <a:ext uri="{FF2B5EF4-FFF2-40B4-BE49-F238E27FC236}">
                <a16:creationId xmlns:a16="http://schemas.microsoft.com/office/drawing/2014/main" id="{F4878C60-EACE-4CA1-F47F-ECC25B6CD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Plan de Mejora: Producto 2 del Portafolio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58952" y="1691640"/>
            <a:ext cx="14721840" cy="105156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892808"/>
            <a:ext cx="1426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Producto evaluativo integrador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987552" y="2331720"/>
            <a:ext cx="142646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Mejora basado en el diagnóstico del M2. Integra perfiles y registros de práctica, sin productos evaluativos adicionales.</a:t>
            </a:r>
            <a:endParaRPr lang="en-US" sz="127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2971800"/>
          <a:ext cx="14721840" cy="416052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Componente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Debe evidenciar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Problema y causa prioritaria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Prioridades y líneas de base de K03 conectadas con los proyectos de K04.1.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 y resultado esperado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Cambio concreto, alcanzable y verificable.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Acciones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Especificidad, realismo y relación directa con las causas.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Responsables, plazos y recursos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Programación en K04.2 y acuerdos con responsables del NAE.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Indicadores y medios de verificación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de base, valor esperado y medio de verificación. El valor final se recoge tras implementar.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Apoyo requerido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Servicios de apoyo o derivación cuando corresponda.</a:t>
                      </a:r>
                      <a:endParaRPr lang="en-US" sz="12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380EF5B5-F8D9-179D-538E-F427701B4446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12" name="Image 2" descr="/mnt/data/template_inspect/ppt/media/image3.png">
            <a:extLst>
              <a:ext uri="{FF2B5EF4-FFF2-40B4-BE49-F238E27FC236}">
                <a16:creationId xmlns:a16="http://schemas.microsoft.com/office/drawing/2014/main" id="{529E88A7-DB95-C268-B637-F78848753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Integración transversal en el plan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1691640"/>
          <a:ext cx="14721840" cy="5029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7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Enfoque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se integra en el Plan de Mejora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Género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Identificar barreras diferenciadas y acciones que promuevan participación y liderazgo de mujeres.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Inclusión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Considerar juventudes, diversidad, accesibilidad y condiciones de participación.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Sostenibilidad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Incorporar sostenibilidad económica, social y ambiental y uso responsable de recursos.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Ética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Proteger confidencialidad, consentimiento, imparcialidad y manejo responsable de información.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Territorio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3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Reconocer actores, capacidades, recursos, conectividad, energía y logística del contexto.</a:t>
                      </a:r>
                      <a:endParaRPr lang="en-US" sz="12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8952" y="7040880"/>
            <a:ext cx="14721840" cy="77724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7242048"/>
            <a:ext cx="1426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Innovación y aplicación transversal</a:t>
            </a:r>
            <a:endParaRPr lang="en-US" sz="1520" dirty="0"/>
          </a:p>
        </p:txBody>
      </p:sp>
      <p:sp>
        <p:nvSpPr>
          <p:cNvPr id="9" name="Text 6"/>
          <p:cNvSpPr/>
          <p:nvPr/>
        </p:nvSpPr>
        <p:spPr>
          <a:xfrm>
            <a:off x="987552" y="7560960"/>
            <a:ext cx="14264640" cy="24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Incorporar mejoras pertinentes en productos, procesos, organización o comercialización, con género, inclusión, sostenibilidad y ética en acciones e indicadores.</a:t>
            </a:r>
            <a:endParaRPr lang="en-US" sz="127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F2C7B147-5A08-E52F-0161-4160376DB767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28" name="Image 2" descr="/mnt/data/template_inspect/ppt/media/image3.png">
            <a:extLst>
              <a:ext uri="{FF2B5EF4-FFF2-40B4-BE49-F238E27FC236}">
                <a16:creationId xmlns:a16="http://schemas.microsoft.com/office/drawing/2014/main" id="{71C53103-628C-BE07-29BA-9660AAE3C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Continuidad hacia Módulo 4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58952" y="1828800"/>
            <a:ext cx="2856586" cy="868680"/>
          </a:xfrm>
          <a:prstGeom prst="chevron">
            <a:avLst/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75104"/>
            <a:ext cx="2627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Plan de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Mejora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3725266" y="1828800"/>
            <a:ext cx="2856586" cy="868680"/>
          </a:xfrm>
          <a:prstGeom prst="chevron">
            <a:avLst/>
          </a:prstGeom>
          <a:solidFill>
            <a:srgbClr val="00A3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34994" y="1975104"/>
            <a:ext cx="2627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Acuerdos de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acompañamiento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691579" y="1828800"/>
            <a:ext cx="2856586" cy="868680"/>
          </a:xfrm>
          <a:prstGeom prst="chevron">
            <a:avLst/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01307" y="1975104"/>
            <a:ext cx="2627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Mentoría y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seguimiento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9657893" y="1828800"/>
            <a:ext cx="2856586" cy="868680"/>
          </a:xfrm>
          <a:prstGeom prst="chevron">
            <a:avLst/>
          </a:prstGeom>
          <a:solidFill>
            <a:srgbClr val="00A3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67621" y="1975104"/>
            <a:ext cx="2627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Registro de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avances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12624206" y="1828800"/>
            <a:ext cx="2856586" cy="868680"/>
          </a:xfrm>
          <a:prstGeom prst="chevron">
            <a:avLst/>
          </a:prstGeom>
          <a:solidFill>
            <a:srgbClr val="0085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733934" y="1975104"/>
            <a:ext cx="2627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Ajustes y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derivación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758952" y="3337560"/>
            <a:ext cx="7040880" cy="205740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53872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Puente metodológico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987552" y="3977640"/>
            <a:ext cx="658368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plan adquiere valor cuando se traduce en decisiones, compromisos, seguimiento y aprendizaje durante la implementación.</a:t>
            </a:r>
            <a:endParaRPr lang="en-US" sz="1270" dirty="0"/>
          </a:p>
        </p:txBody>
      </p:sp>
      <p:sp>
        <p:nvSpPr>
          <p:cNvPr id="19" name="Shape 17"/>
          <p:cNvSpPr/>
          <p:nvPr/>
        </p:nvSpPr>
        <p:spPr>
          <a:xfrm>
            <a:off x="8385048" y="3337560"/>
            <a:ext cx="7095744" cy="205740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13648" y="3538728"/>
            <a:ext cx="6638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Próximo módulo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8613648" y="3977640"/>
            <a:ext cx="6638544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M4 utiliza K04.2, K05 Guion de Mentoría y K06 Minuta/registro de asistencia técnica y acompañamiento.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758952" y="5897880"/>
            <a:ext cx="14721840" cy="91440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6099048"/>
            <a:ext cx="1426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Pregunta de cierre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987552" y="6417960"/>
            <a:ext cx="14264640" cy="24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primera acción del plan puede implementarse con claridad de responsable, plazo, evidencia y apoyo requerido?</a:t>
            </a:r>
            <a:endParaRPr lang="en-US" sz="127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DAC939E5-8376-26AB-E53E-0DE422B8202F}"/>
              </a:ext>
            </a:extLst>
          </p:cNvPr>
          <p:cNvSpPr/>
          <p:nvPr/>
        </p:nvSpPr>
        <p:spPr>
          <a:xfrm>
            <a:off x="0" y="8302752"/>
            <a:ext cx="16256000" cy="859536"/>
          </a:xfrm>
          <a:prstGeom prst="rect">
            <a:avLst/>
          </a:prstGeom>
          <a:solidFill>
            <a:schemeClr val="bg1"/>
          </a:solidFill>
          <a:ln w="12700">
            <a:solidFill>
              <a:srgbClr val="F2F0EA">
                <a:alpha val="0"/>
              </a:srgbClr>
            </a:solidFill>
            <a:prstDash val="solid"/>
          </a:ln>
        </p:spPr>
      </p:sp>
      <p:pic>
        <p:nvPicPr>
          <p:cNvPr id="12" name="Image 2" descr="/mnt/data/template_inspect/ppt/media/image3.png">
            <a:extLst>
              <a:ext uri="{FF2B5EF4-FFF2-40B4-BE49-F238E27FC236}">
                <a16:creationId xmlns:a16="http://schemas.microsoft.com/office/drawing/2014/main" id="{C17E3862-BC3E-FEA2-F448-2266E8DB4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8357616"/>
            <a:ext cx="5669280" cy="7498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58952" y="530352"/>
            <a:ext cx="512064" cy="54864"/>
          </a:xfrm>
          <a:prstGeom prst="rect">
            <a:avLst/>
          </a:prstGeom>
          <a:solidFill>
            <a:srgbClr val="C88D2D"/>
          </a:solidFill>
          <a:ln w="12700">
            <a:solidFill>
              <a:srgbClr val="C88D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94944"/>
            <a:ext cx="1444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856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Bibliografía básica del módulo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271016"/>
            <a:ext cx="14730984" cy="0"/>
          </a:xfrm>
          <a:prstGeom prst="line">
            <a:avLst/>
          </a:prstGeom>
          <a:noFill/>
          <a:ln w="10160">
            <a:solidFill>
              <a:srgbClr val="D5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31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2.3.2 — FdF</a:t>
            </a:r>
            <a:endParaRPr lang="en-US" sz="8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1691640"/>
          <a:ext cx="14721840" cy="4297680"/>
        </p:xfrm>
        <a:graphic>
          <a:graphicData uri="http://schemas.openxmlformats.org/drawingml/2006/table">
            <a:tbl>
              <a:tblPr/>
              <a:tblGrid>
                <a:gridCol w="6583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4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Referencia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en el módulo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International Labour Organization (2014). SIYB implementation guide.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Referencia para servicios de desarrollo empresarial y planificación de mejoras.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PNUD Cuba (s. f.). Plataforma Articulada para el Desarrollo Integral Territorial (PADIT).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Articulación territorial, desarrollo económico local, inclusión y sostenibilidad.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Bacigalupo et al. (2016). EntreComp: The entrepreneurship competence framework.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Marco de competencias emprendedoras para convertir oportunidades en valor.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C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8952" y="6537960"/>
            <a:ext cx="14721840" cy="914400"/>
          </a:xfrm>
          <a:prstGeom prst="roundRect">
            <a:avLst/>
          </a:prstGeom>
          <a:solidFill>
            <a:srgbClr val="E9EEE8"/>
          </a:solidFill>
          <a:ln w="6350">
            <a:solidFill>
              <a:srgbClr val="D8D5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6739128"/>
            <a:ext cx="1426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2F4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Materiales operativos</a:t>
            </a:r>
            <a:endParaRPr lang="en-US" sz="1520" dirty="0"/>
          </a:p>
        </p:txBody>
      </p:sp>
      <p:sp>
        <p:nvSpPr>
          <p:cNvPr id="9" name="Text 6"/>
          <p:cNvSpPr/>
          <p:nvPr/>
        </p:nvSpPr>
        <p:spPr>
          <a:xfrm>
            <a:off x="987552" y="7058040"/>
            <a:ext cx="14264640" cy="24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K03, K04.1 y K04.2 apoyan la práctica. Adaptar su uso al NAE y al territorio, con opciones impresas. K08 solo si las necesidades lo justifican.</a:t>
            </a:r>
            <a:endParaRPr lang="en-US" sz="127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700" y="-10854"/>
            <a:ext cx="8453137" cy="831767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825" y="541677"/>
            <a:ext cx="3034459" cy="1484719"/>
          </a:xfrm>
          <a:prstGeom prst="rect">
            <a:avLst/>
          </a:prstGeom>
        </p:spPr>
      </p:pic>
      <p:sp>
        <p:nvSpPr>
          <p:cNvPr id="86" name="Google Shape;86;p1"/>
          <p:cNvSpPr/>
          <p:nvPr/>
        </p:nvSpPr>
        <p:spPr>
          <a:xfrm>
            <a:off x="0" y="8306816"/>
            <a:ext cx="16256000" cy="8615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62533" tIns="81244" rIns="162533" bIns="81244" anchor="ctr" anchorCtr="0">
            <a:noAutofit/>
          </a:bodyPr>
          <a:lstStyle/>
          <a:p>
            <a:pPr algn="ctr" defTabSz="1625519">
              <a:buClr>
                <a:srgbClr val="000000"/>
              </a:buClr>
              <a:defRPr/>
            </a:pPr>
            <a:endParaRPr sz="3200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" descr="asset_portada_6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99456" y="8355584"/>
            <a:ext cx="5673344" cy="747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13035801" y="1103485"/>
            <a:ext cx="2966587" cy="43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t" anchorCtr="0">
            <a:spAutoFit/>
          </a:bodyPr>
          <a:lstStyle/>
          <a:p>
            <a:pPr defTabSz="1625519">
              <a:buClr>
                <a:srgbClr val="000000"/>
              </a:buClr>
              <a:defRPr/>
            </a:pPr>
            <a:r>
              <a:rPr lang="en-US" sz="1777" kern="0" dirty="0">
                <a:solidFill>
                  <a:srgbClr val="A3C5ED"/>
                </a:solidFill>
                <a:latin typeface="Calibri"/>
                <a:ea typeface="Calibri"/>
                <a:cs typeface="Calibri"/>
                <a:sym typeface="Calibri"/>
              </a:rPr>
              <a:t>La Habana, Cuba · 2026</a:t>
            </a:r>
            <a:endParaRPr sz="2489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" name="Text 0"/>
          <p:cNvSpPr/>
          <p:nvPr/>
        </p:nvSpPr>
        <p:spPr>
          <a:xfrm>
            <a:off x="877825" y="3385655"/>
            <a:ext cx="70713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5067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Gracias.</a:t>
            </a:r>
            <a:endParaRPr lang="en-US" sz="5067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1"/>
          <p:cNvSpPr/>
          <p:nvPr/>
        </p:nvSpPr>
        <p:spPr>
          <a:xfrm>
            <a:off x="877825" y="4411815"/>
            <a:ext cx="75590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4000" b="1" dirty="0">
                <a:solidFill>
                  <a:srgbClr val="AFCB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Construimos juntos.</a:t>
            </a:r>
            <a:endParaRPr lang="en-US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2"/>
          <p:cNvSpPr/>
          <p:nvPr/>
        </p:nvSpPr>
        <p:spPr>
          <a:xfrm>
            <a:off x="913164" y="5971628"/>
            <a:ext cx="4389120" cy="6096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12" name="Text 3"/>
          <p:cNvSpPr/>
          <p:nvPr/>
        </p:nvSpPr>
        <p:spPr>
          <a:xfrm>
            <a:off x="950976" y="6315456"/>
            <a:ext cx="829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1400" dirty="0">
                <a:solidFill>
                  <a:srgbClr val="C7D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de Alicante (UA)</a:t>
            </a:r>
            <a:endParaRPr lang="en-US" sz="1400" dirty="0">
              <a:solidFill>
                <a:srgbClr val="000000"/>
              </a:solidFill>
              <a:latin typeface="Arial"/>
            </a:endParaRPr>
          </a:p>
          <a:p>
            <a:pPr defTabSz="1219170">
              <a:defRPr/>
            </a:pPr>
            <a:r>
              <a:rPr lang="en-US" sz="1400" dirty="0">
                <a:solidFill>
                  <a:srgbClr val="C7D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Parque Científico Tecnológico de La Habana (PCTH)</a:t>
            </a:r>
            <a:endParaRPr lang="en-US" sz="1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8652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Narro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5114</Words>
  <Application>Microsoft Office PowerPoint</Application>
  <PresentationFormat>Personalizado</PresentationFormat>
  <Paragraphs>616</Paragraphs>
  <Slides>38</Slides>
  <Notes>38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38</vt:i4>
      </vt:variant>
    </vt:vector>
  </HeadingPairs>
  <TitlesOfParts>
    <vt:vector size="48" baseType="lpstr">
      <vt:lpstr>Aptos</vt:lpstr>
      <vt:lpstr>Aptos Display</vt:lpstr>
      <vt:lpstr>Arial</vt:lpstr>
      <vt:lpstr>Arial Narrow</vt:lpstr>
      <vt:lpstr>Calibri</vt:lpstr>
      <vt:lpstr>Office Theme</vt:lpstr>
      <vt:lpstr>1_Office Theme</vt:lpstr>
      <vt:lpstr>2_Office Theme</vt:lpstr>
      <vt:lpstr>3_Office Theme</vt:lpstr>
      <vt:lpstr>4_Office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Proyecto NAE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3 · Diseño de planes de mejora empresarial</dc:title>
  <dc:subject>Programa FdF-NAE · Módulo 3</dc:subject>
  <dc:creator>OpenAI</dc:creator>
  <cp:lastModifiedBy>Dario-Acer26</cp:lastModifiedBy>
  <cp:revision>9</cp:revision>
  <dcterms:created xsi:type="dcterms:W3CDTF">2026-08-26T02:23:56Z</dcterms:created>
  <dcterms:modified xsi:type="dcterms:W3CDTF">2026-09-13T01:15:55Z</dcterms:modified>
</cp:coreProperties>
</file>